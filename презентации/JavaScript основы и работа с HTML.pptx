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embeddedFontLst>
    <p:embeddedFont>
      <p:font typeface="Carlito" panose="020F0502020204030204" pitchFamily="34" charset="0"/>
      <p:regular r:id="rId41"/>
      <p:bold r:id="rId42"/>
      <p:italic r:id="rId43"/>
      <p:boldItalic r:id="rId44"/>
    </p:embeddedFont>
    <p:embeddedFont>
      <p:font typeface="JetBrains Mono" panose="020B0604020202020204" charset="0"/>
      <p:regular r:id="rId45"/>
      <p:bold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3" d="100"/>
          <a:sy n="173" d="100"/>
        </p:scale>
        <p:origin x="200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666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Обложка. Презентация в два этапа: сначала сам язык, потом его использование на веб-странице вместе с HTML.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JavaScript не имеет отношения к Java, это разные языки. Название выбрали из маркетинговых соображений.</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открытие консоли клавишей F12 и выполнение первой строки кода.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Показать, что console.log принимает любые значения: числа, строки, массивы, объекты.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Имена: буквы, цифры, _ и $, нельзя начинать с цифры. Регистр важен: age и Age — разные переменные. Принято писать в camelCase: userName.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Динамическая типизация: у переменной нет фиксированного типа, он определяется значением. let x = 5; потом x = "пять" допустимо.</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Шаблонные строки заменяют склейку через плюс: "Привет, " + name + "!" и `Привет, ${name}!` дают одно и то же.</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денег лучше считать в копейках целыми числами или округлять через toFixed.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Тернарный оператор условие ? а : б — короткая запись if/else для выбора значения.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выбора между двумя значениями удобен тернарный оператор, для множества значений одной переменной — switch.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массивов часто удобнее методы forEach, map, filter — они будут на следующих слайдах.</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Объявленную через function функцию можно вызвать до её описания в коде, а стрелочную и выражение — только после.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обратиться к имени own вне функции без typeof, будет ReferenceError: own is not defined.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Массив — это объект особого вида: typeof [] даёт "object", а проверить массив можно через Array.isArray.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Методы map, filter и reduce не меняют исходный массив, а возвращают новый результат.</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Свойство, которого нет, вернёт undefined, а не ошибку. Безопасный доступ к вложенному свойству: user.address?.city.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 делает поверхностную копию: вложенные объекты остаются общими.</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используют в запросах к серверу, в файлах настроек и в localStorage, который хранит только строки.</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Класс — это «обёртка» над прототипами. Для небольших программ достаточно обычных объектов и функций.</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Ошибки полезно читать: в консоли указаны тип, сообщение и строка, где всё произошло.</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Порядок вывода показывает суть асинхронности: «идём дальше» печатается раньше, чем завершится ожидание.</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Начало второй части. До этого JavaScript рассматривался сам по себе, теперь он работает вместе с HTML-страницей.</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скрипт без defer стоит в head, он выполнится до появления элементов и не найдёт их. Поэтому его ставят в конец body или добавляют defer.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 — это «живое» представление страницы: любое изменение объекта сразу видно на экране.</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Селекторы те же, что в CSS, поэтому знания о CSS переиспользуются. Проверяйте результат на null, если элемента может не быть.</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Правило: если нужен только текст — используйте textContent.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Лучше переключать классы, а не писать стили в JS: так проще менять оформление и разделять обязанности.</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Алгоритм: создать, настроить, вставить. Первый элемент «Хлеб» был удалён строкой remove, а «Сыр» добавлен в конец.</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Один элемент может иметь несколько обработчиков одного события. Они вызываются в порядке добавления.</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События «всплывают» от внутреннего элемента к родителям, поэтому обработчик на ul видит клики по li.</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Значение поля всегда строка. Для чисел применяйте Number(value) и проверяйте результат на NaN.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Время задаётся в миллисекундах: 1000 мс — одна секунда. Нужно сохранять идентификатор таймера, чтобы его остановить.</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Объём хранилища около 5 МБ на сайт. Если ключа нет, getItem вернёт null, поэтому добавлено ??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отправки данных: fetch(url, {method: "POST", headers: {"Content-Type": "application/json"}, body: JSON.stringify(data)}). Адрес /api/users здесь условный.</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Стили для краткости опущены, их можно добавить из презентации по CSS. Результат показан на следующем слайде.</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Предложите слушателям добавить удаление: обработчик клика на li и метод tasks.splice.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Шпаргалка для повторения: слева тема, в середине запись, справа что она делает.</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Финальный слайд: короткие итоги и приглашение к вопросам.</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97299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000" y="304800"/>
            <a:ext cx="9207500" cy="446980"/>
          </a:xfrm>
          <a:prstGeom prst="rect">
            <a:avLst/>
          </a:prstGeom>
          <a:noFill/>
          <a:ln/>
        </p:spPr>
        <p:txBody>
          <a:bodyPr wrap="square" lIns="0" tIns="0" rIns="0" bIns="0" rtlCol="0" anchor="t"/>
          <a:lstStyle>
            <a:lvl1pPr marL="0" indent="0" algn="l">
              <a:lnSpc>
                <a:spcPct val="115000"/>
              </a:lnSpc>
              <a:buNone/>
              <a:defRPr lang="en-US" sz="3200" dirty="0">
                <a:solidFill>
                  <a:srgbClr val="FFFFFF"/>
                </a:solidFill>
                <a:latin typeface="Carlito" pitchFamily="34" charset="0"/>
                <a:ea typeface="Carlito" pitchFamily="34" charset="-122"/>
                <a:cs typeface="Carlit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635000" y="1056580"/>
            <a:ext cx="10744200" cy="4988620"/>
          </a:xfrm>
          <a:prstGeom prst="rect">
            <a:avLst/>
          </a:prstGeom>
          <a:noFill/>
          <a:ln/>
        </p:spPr>
        <p:txBody>
          <a:bodyPr wrap="square" lIns="0" tIns="0" rIns="0" bIns="0" rtlCol="0" anchor="t"/>
          <a:lstStyle>
            <a:lvl1pPr marL="0" indent="0" algn="l">
              <a:lnSpc>
                <a:spcPct val="140000"/>
              </a:lnSpc>
              <a:buNone/>
              <a:defRPr lang="en-US" sz="1600" dirty="0">
                <a:solidFill>
                  <a:srgbClr val="FFFFFF"/>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7299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000" y="304800"/>
            <a:ext cx="9207500" cy="446980"/>
          </a:xfrm>
          <a:prstGeom prst="rect">
            <a:avLst/>
          </a:prstGeom>
          <a:noFill/>
          <a:ln/>
        </p:spPr>
        <p:txBody>
          <a:bodyPr wrap="square" lIns="0" tIns="0" rIns="0" bIns="0" rtlCol="0" anchor="t"/>
          <a:lstStyle>
            <a:lvl1pPr marL="0" indent="0" algn="l">
              <a:lnSpc>
                <a:spcPct val="115000"/>
              </a:lnSpc>
              <a:buNone/>
              <a:defRPr lang="en-US" sz="3200" dirty="0">
                <a:solidFill>
                  <a:srgbClr val="FFFFFF"/>
                </a:solidFill>
                <a:latin typeface="Carlito" pitchFamily="34" charset="0"/>
                <a:ea typeface="Carlito" pitchFamily="34" charset="-122"/>
                <a:cs typeface="Carlit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635000" y="1056580"/>
            <a:ext cx="10744200" cy="4988620"/>
          </a:xfrm>
          <a:prstGeom prst="rect">
            <a:avLst/>
          </a:prstGeom>
          <a:noFill/>
          <a:ln/>
        </p:spPr>
        <p:txBody>
          <a:bodyPr wrap="square" lIns="0" tIns="0" rIns="0" bIns="0" rtlCol="0" anchor="t"/>
          <a:lstStyle>
            <a:lvl1pPr marL="0" indent="0" algn="l">
              <a:lnSpc>
                <a:spcPct val="140000"/>
              </a:lnSpc>
              <a:buNone/>
              <a:defRPr lang="en-US" sz="1600" dirty="0">
                <a:solidFill>
                  <a:srgbClr val="FFFFFF"/>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1090670" y="76200"/>
            <a:ext cx="7848600" cy="958850"/>
          </a:xfrm>
          <a:prstGeom prst="rect">
            <a:avLst/>
          </a:prstGeom>
          <a:noFill/>
          <a:ln/>
        </p:spPr>
        <p:txBody>
          <a:bodyPr wrap="square" lIns="0" tIns="0" rIns="0" bIns="0" rtlCol="0" anchor="t">
            <a:normAutofit/>
          </a:bodyPr>
          <a:lstStyle/>
          <a:p>
            <a:pPr marL="0" indent="0" algn="l">
              <a:lnSpc>
                <a:spcPts val="7350"/>
              </a:lnSpc>
              <a:buNone/>
            </a:pPr>
            <a:r>
              <a:rPr lang="en-US" sz="7000" b="1" i="0" dirty="0">
                <a:solidFill>
                  <a:srgbClr val="FFFFFF"/>
                </a:solidFill>
                <a:latin typeface="Carlito" pitchFamily="34" charset="0"/>
                <a:ea typeface="Carlito" pitchFamily="34" charset="-122"/>
                <a:cs typeface="Carlito" pitchFamily="34" charset="-120"/>
              </a:rPr>
              <a:t>JavaScript</a:t>
            </a:r>
            <a:endParaRPr lang="en-US" sz="7000" dirty="0"/>
          </a:p>
        </p:txBody>
      </p:sp>
      <p:sp>
        <p:nvSpPr>
          <p:cNvPr id="5" name="Text 2"/>
          <p:cNvSpPr/>
          <p:nvPr/>
        </p:nvSpPr>
        <p:spPr>
          <a:xfrm>
            <a:off x="1052111" y="1035050"/>
            <a:ext cx="7848600" cy="42158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FFFFFF"/>
                </a:solidFill>
                <a:latin typeface="Carlito" pitchFamily="34" charset="0"/>
                <a:ea typeface="Carlito" pitchFamily="34" charset="-122"/>
                <a:cs typeface="Carlito" pitchFamily="34" charset="-120"/>
              </a:rPr>
              <a:t>Основы языка и работа вместе с HTML</a:t>
            </a:r>
            <a:endParaRPr lang="en-US" sz="2600" dirty="0"/>
          </a:p>
        </p:txBody>
      </p:sp>
      <p:pic>
        <p:nvPicPr>
          <p:cNvPr id="7" name="Рисунок 6"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156145" y="286630"/>
            <a:ext cx="737272" cy="7259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Что такое JavaScript</a:t>
            </a:r>
            <a:endParaRPr lang="en-US" sz="3200" dirty="0"/>
          </a:p>
        </p:txBody>
      </p:sp>
      <p:sp>
        <p:nvSpPr>
          <p:cNvPr id="5" name="Text 2"/>
          <p:cNvSpPr/>
          <p:nvPr/>
        </p:nvSpPr>
        <p:spPr>
          <a:xfrm>
            <a:off x="635000" y="891480"/>
            <a:ext cx="11118850" cy="932061"/>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JavaScript</a:t>
            </a:r>
            <a:r>
              <a:rPr lang="en-US" sz="1700" dirty="0">
                <a:solidFill>
                  <a:srgbClr val="111111"/>
                </a:solidFill>
                <a:latin typeface="Carlito" pitchFamily="34" charset="0"/>
                <a:ea typeface="Carlito" pitchFamily="34" charset="-122"/>
                <a:cs typeface="Carlito" pitchFamily="34" charset="-120"/>
              </a:rPr>
              <a:t> — язык программирования, который оживляет веб-страницы: реагирует на клики, проверяет формы, меняет содержимое без перезагрузки. Он появился в 1995 году в браузере Netscape, а его стандарт называется </a:t>
            </a:r>
            <a:r>
              <a:rPr lang="en-US" sz="1700" b="1" dirty="0">
                <a:solidFill>
                  <a:srgbClr val="111111"/>
                </a:solidFill>
                <a:latin typeface="Carlito" pitchFamily="34" charset="0"/>
                <a:ea typeface="Carlito" pitchFamily="34" charset="-122"/>
                <a:cs typeface="Carlito" pitchFamily="34" charset="-120"/>
              </a:rPr>
              <a:t>ECMAScript</a:t>
            </a:r>
            <a:r>
              <a:rPr lang="en-US" sz="1700" dirty="0">
                <a:solidFill>
                  <a:srgbClr val="111111"/>
                </a:solidFill>
                <a:latin typeface="Carlito" pitchFamily="34" charset="0"/>
                <a:ea typeface="Carlito" pitchFamily="34" charset="-122"/>
                <a:cs typeface="Carlito" pitchFamily="34" charset="-120"/>
              </a:rPr>
              <a:t>. Сегодня JavaScript работает не только в браузере.</a:t>
            </a:r>
            <a:endParaRPr lang="en-US" sz="1700" dirty="0"/>
          </a:p>
        </p:txBody>
      </p:sp>
      <p:sp>
        <p:nvSpPr>
          <p:cNvPr id="6" name="Shape 3"/>
          <p:cNvSpPr/>
          <p:nvPr/>
        </p:nvSpPr>
        <p:spPr>
          <a:xfrm>
            <a:off x="647700" y="1950541"/>
            <a:ext cx="3496667" cy="1982986"/>
          </a:xfrm>
          <a:prstGeom prst="roundRect">
            <a:avLst>
              <a:gd name="adj" fmla="val 5124"/>
            </a:avLst>
          </a:prstGeom>
          <a:noFill/>
          <a:ln w="25400">
            <a:solidFill>
              <a:srgbClr val="972996"/>
            </a:solidFill>
            <a:prstDash val="solid"/>
          </a:ln>
        </p:spPr>
      </p:sp>
      <p:sp>
        <p:nvSpPr>
          <p:cNvPr id="7" name="Text 4"/>
          <p:cNvSpPr/>
          <p:nvPr/>
        </p:nvSpPr>
        <p:spPr>
          <a:xfrm>
            <a:off x="850900" y="2128341"/>
            <a:ext cx="3182975"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972996"/>
                </a:solidFill>
                <a:latin typeface="Carlito" pitchFamily="34" charset="0"/>
                <a:ea typeface="Carlito" pitchFamily="34" charset="-122"/>
                <a:cs typeface="Carlito" pitchFamily="34" charset="-120"/>
              </a:rPr>
              <a:t>Браузер</a:t>
            </a:r>
            <a:endParaRPr lang="en-US" sz="2400" dirty="0"/>
          </a:p>
        </p:txBody>
      </p:sp>
      <p:sp>
        <p:nvSpPr>
          <p:cNvPr id="8" name="Text 5"/>
          <p:cNvSpPr/>
          <p:nvPr/>
        </p:nvSpPr>
        <p:spPr>
          <a:xfrm>
            <a:off x="850900" y="2618482"/>
            <a:ext cx="3182975"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Интерактивность</a:t>
            </a:r>
            <a:endParaRPr lang="en-US" sz="1700" dirty="0"/>
          </a:p>
        </p:txBody>
      </p:sp>
      <p:sp>
        <p:nvSpPr>
          <p:cNvPr id="9" name="Text 6"/>
          <p:cNvSpPr/>
          <p:nvPr/>
        </p:nvSpPr>
        <p:spPr>
          <a:xfrm>
            <a:off x="850900" y="2984202"/>
            <a:ext cx="3182975"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11111"/>
                </a:solidFill>
                <a:latin typeface="Carlito" pitchFamily="34" charset="0"/>
                <a:ea typeface="Carlito" pitchFamily="34" charset="-122"/>
                <a:cs typeface="Carlito" pitchFamily="34" charset="-120"/>
              </a:rPr>
              <a:t>Меню, слайдеры, формы, игры, анимации. Здесь JavaScript работает вместе с HTML и CSS.</a:t>
            </a:r>
            <a:endParaRPr lang="en-US" sz="1500" dirty="0"/>
          </a:p>
        </p:txBody>
      </p:sp>
      <p:sp>
        <p:nvSpPr>
          <p:cNvPr id="10" name="Shape 7"/>
          <p:cNvSpPr/>
          <p:nvPr/>
        </p:nvSpPr>
        <p:spPr>
          <a:xfrm>
            <a:off x="4347567" y="1950541"/>
            <a:ext cx="3496766" cy="1982986"/>
          </a:xfrm>
          <a:prstGeom prst="roundRect">
            <a:avLst>
              <a:gd name="adj" fmla="val 5124"/>
            </a:avLst>
          </a:prstGeom>
          <a:noFill/>
          <a:ln w="25400">
            <a:solidFill>
              <a:srgbClr val="972996"/>
            </a:solidFill>
            <a:prstDash val="solid"/>
          </a:ln>
        </p:spPr>
      </p:sp>
      <p:sp>
        <p:nvSpPr>
          <p:cNvPr id="11" name="Text 8"/>
          <p:cNvSpPr/>
          <p:nvPr/>
        </p:nvSpPr>
        <p:spPr>
          <a:xfrm>
            <a:off x="4550767" y="2128341"/>
            <a:ext cx="3183077"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972996"/>
                </a:solidFill>
                <a:latin typeface="Carlito" pitchFamily="34" charset="0"/>
                <a:ea typeface="Carlito" pitchFamily="34" charset="-122"/>
                <a:cs typeface="Carlito" pitchFamily="34" charset="-120"/>
              </a:rPr>
              <a:t>Сервер</a:t>
            </a:r>
            <a:endParaRPr lang="en-US" sz="2400" dirty="0"/>
          </a:p>
        </p:txBody>
      </p:sp>
      <p:sp>
        <p:nvSpPr>
          <p:cNvPr id="12" name="Text 9"/>
          <p:cNvSpPr/>
          <p:nvPr/>
        </p:nvSpPr>
        <p:spPr>
          <a:xfrm>
            <a:off x="4550767" y="2618482"/>
            <a:ext cx="3183077"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Node.js</a:t>
            </a:r>
            <a:endParaRPr lang="en-US" sz="1700" dirty="0"/>
          </a:p>
        </p:txBody>
      </p:sp>
      <p:sp>
        <p:nvSpPr>
          <p:cNvPr id="13" name="Text 10"/>
          <p:cNvSpPr/>
          <p:nvPr/>
        </p:nvSpPr>
        <p:spPr>
          <a:xfrm>
            <a:off x="4550767" y="2984202"/>
            <a:ext cx="318307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11111"/>
                </a:solidFill>
                <a:latin typeface="Carlito" pitchFamily="34" charset="0"/>
                <a:ea typeface="Carlito" pitchFamily="34" charset="-122"/>
                <a:cs typeface="Carlito" pitchFamily="34" charset="-120"/>
              </a:rPr>
              <a:t>Сайты, API, работа с файлами и базами данных. Тот же язык, но вне браузера.</a:t>
            </a:r>
            <a:endParaRPr lang="en-US" sz="1500" dirty="0"/>
          </a:p>
        </p:txBody>
      </p:sp>
      <p:sp>
        <p:nvSpPr>
          <p:cNvPr id="14" name="Shape 11"/>
          <p:cNvSpPr/>
          <p:nvPr/>
        </p:nvSpPr>
        <p:spPr>
          <a:xfrm>
            <a:off x="8047534" y="1950541"/>
            <a:ext cx="3496766" cy="1982986"/>
          </a:xfrm>
          <a:prstGeom prst="roundRect">
            <a:avLst>
              <a:gd name="adj" fmla="val 5124"/>
            </a:avLst>
          </a:prstGeom>
          <a:noFill/>
          <a:ln w="25400">
            <a:solidFill>
              <a:srgbClr val="972996"/>
            </a:solidFill>
            <a:prstDash val="solid"/>
          </a:ln>
        </p:spPr>
      </p:sp>
      <p:sp>
        <p:nvSpPr>
          <p:cNvPr id="15" name="Text 12"/>
          <p:cNvSpPr/>
          <p:nvPr/>
        </p:nvSpPr>
        <p:spPr>
          <a:xfrm>
            <a:off x="8250734" y="2128341"/>
            <a:ext cx="3183077"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972996"/>
                </a:solidFill>
                <a:latin typeface="Carlito" pitchFamily="34" charset="0"/>
                <a:ea typeface="Carlito" pitchFamily="34" charset="-122"/>
                <a:cs typeface="Carlito" pitchFamily="34" charset="-120"/>
              </a:rPr>
              <a:t>Приложения</a:t>
            </a:r>
            <a:endParaRPr lang="en-US" sz="2400" dirty="0"/>
          </a:p>
        </p:txBody>
      </p:sp>
      <p:sp>
        <p:nvSpPr>
          <p:cNvPr id="16" name="Text 13"/>
          <p:cNvSpPr/>
          <p:nvPr/>
        </p:nvSpPr>
        <p:spPr>
          <a:xfrm>
            <a:off x="8250734" y="2618482"/>
            <a:ext cx="3183077"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Carlito" pitchFamily="34" charset="0"/>
                <a:ea typeface="Carlito" pitchFamily="34" charset="-122"/>
                <a:cs typeface="Carlito" pitchFamily="34" charset="-120"/>
              </a:rPr>
              <a:t>Мобильные и десктоп</a:t>
            </a:r>
            <a:endParaRPr lang="en-US" sz="1700" dirty="0"/>
          </a:p>
        </p:txBody>
      </p:sp>
      <p:sp>
        <p:nvSpPr>
          <p:cNvPr id="17" name="Text 14"/>
          <p:cNvSpPr/>
          <p:nvPr/>
        </p:nvSpPr>
        <p:spPr>
          <a:xfrm>
            <a:off x="8250734" y="2984202"/>
            <a:ext cx="318307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11111"/>
                </a:solidFill>
                <a:latin typeface="Carlito" pitchFamily="34" charset="0"/>
                <a:ea typeface="Carlito" pitchFamily="34" charset="-122"/>
                <a:cs typeface="Carlito" pitchFamily="34" charset="-120"/>
              </a:rPr>
              <a:t>Программы для телефона и компьютера, боты, скрипты автоматизации.</a:t>
            </a:r>
            <a:endParaRPr lang="en-US" sz="1500" dirty="0"/>
          </a:p>
        </p:txBody>
      </p:sp>
      <p:sp>
        <p:nvSpPr>
          <p:cNvPr id="18" name="Text 15"/>
          <p:cNvSpPr/>
          <p:nvPr/>
        </p:nvSpPr>
        <p:spPr>
          <a:xfrm>
            <a:off x="635000" y="4085927"/>
            <a:ext cx="10795000" cy="833041"/>
          </a:xfrm>
          <a:prstGeom prst="roundRect">
            <a:avLst>
              <a:gd name="adj" fmla="val 10672"/>
            </a:avLst>
          </a:prstGeom>
          <a:solidFill>
            <a:srgbClr val="972996"/>
          </a:solidFill>
          <a:ln/>
        </p:spPr>
        <p:txBody>
          <a:bodyPr wrap="square" lIns="164462" tIns="88262" rIns="0" bIns="62862" rtlCol="0" anchor="t">
            <a:normAutofit/>
          </a:bodyPr>
          <a:lstStyle/>
          <a:p>
            <a:pPr marL="0" indent="0" algn="l">
              <a:lnSpc>
                <a:spcPts val="2380"/>
              </a:lnSpc>
              <a:buNone/>
            </a:pPr>
            <a:r>
              <a:rPr lang="en-US" sz="1700" dirty="0">
                <a:solidFill>
                  <a:srgbClr val="FFFFFF"/>
                </a:solidFill>
                <a:latin typeface="Carlito" pitchFamily="34" charset="0"/>
                <a:ea typeface="Carlito" pitchFamily="34" charset="-122"/>
                <a:cs typeface="Carlito" pitchFamily="34" charset="-120"/>
              </a:rPr>
              <a:t>Сравнение с домом: HTML — стены, CSS — отделка, JavaScript — электричество и лифт. Он делает страницу живой.</a:t>
            </a:r>
            <a:endParaRPr lang="en-US" sz="17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762072" y="127401"/>
            <a:ext cx="737272" cy="7259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Как запустить код</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Три способа: от самого быстрого до «настоящего» сайта</a:t>
            </a:r>
            <a:endParaRPr lang="en-US" sz="1600" dirty="0"/>
          </a:p>
        </p:txBody>
      </p:sp>
      <p:sp>
        <p:nvSpPr>
          <p:cNvPr id="6" name="Shape 3"/>
          <p:cNvSpPr/>
          <p:nvPr/>
        </p:nvSpPr>
        <p:spPr>
          <a:xfrm>
            <a:off x="635000" y="1269901"/>
            <a:ext cx="3522067" cy="2897981"/>
          </a:xfrm>
          <a:prstGeom prst="roundRect">
            <a:avLst>
              <a:gd name="adj" fmla="val 3506"/>
            </a:avLst>
          </a:prstGeom>
          <a:solidFill>
            <a:srgbClr val="7A1F79"/>
          </a:solidFill>
          <a:ln/>
        </p:spPr>
      </p:sp>
      <p:sp>
        <p:nvSpPr>
          <p:cNvPr id="7" name="Text 4"/>
          <p:cNvSpPr/>
          <p:nvPr/>
        </p:nvSpPr>
        <p:spPr>
          <a:xfrm>
            <a:off x="812800" y="1435001"/>
            <a:ext cx="326146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D6FF"/>
                </a:solidFill>
                <a:latin typeface="Carlito" pitchFamily="34" charset="0"/>
                <a:ea typeface="Carlito" pitchFamily="34" charset="-122"/>
                <a:cs typeface="Carlito" pitchFamily="34" charset="-120"/>
              </a:rPr>
              <a:t>1. Консоль браузера</a:t>
            </a:r>
            <a:endParaRPr lang="en-US" sz="2000" dirty="0"/>
          </a:p>
        </p:txBody>
      </p:sp>
      <p:sp>
        <p:nvSpPr>
          <p:cNvPr id="8" name="Text 5"/>
          <p:cNvSpPr/>
          <p:nvPr/>
        </p:nvSpPr>
        <p:spPr>
          <a:xfrm>
            <a:off x="812800" y="1879501"/>
            <a:ext cx="3261461"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Нажмите F12, откройте вкладку Console, введите код и Enter. Результат виден сразу.</a:t>
            </a:r>
            <a:endParaRPr lang="en-US" sz="1400" dirty="0"/>
          </a:p>
        </p:txBody>
      </p:sp>
      <p:sp>
        <p:nvSpPr>
          <p:cNvPr id="9" name="Text 6"/>
          <p:cNvSpPr/>
          <p:nvPr/>
        </p:nvSpPr>
        <p:spPr>
          <a:xfrm>
            <a:off x="812800" y="2688431"/>
            <a:ext cx="3166467" cy="1112441"/>
          </a:xfrm>
          <a:prstGeom prst="roundRect">
            <a:avLst>
              <a:gd name="adj" fmla="val 6850"/>
            </a:avLst>
          </a:prstGeom>
          <a:solidFill>
            <a:srgbClr val="2A002A"/>
          </a:solidFill>
          <a:ln/>
        </p:spPr>
        <p:txBody>
          <a:bodyPr wrap="square" lIns="130082" tIns="91982" rIns="44232" bIns="66582" rtlCol="0" anchor="t">
            <a:normAutofit/>
          </a:bodyPr>
          <a:lstStyle/>
          <a:p>
            <a:pPr marL="0" indent="0" algn="l">
              <a:lnSpc>
                <a:spcPts val="1740"/>
              </a:lnSpc>
              <a:buNone/>
            </a:pPr>
            <a:r>
              <a:rPr lang="en-US" sz="1200" dirty="0">
                <a:solidFill>
                  <a:srgbClr val="C9A0C9"/>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8FD3FF"/>
                </a:solidFill>
                <a:latin typeface="JetBrains Mono" pitchFamily="49" charset="0"/>
                <a:ea typeface="JetBrains Mono" pitchFamily="49" charset="-122"/>
                <a:cs typeface="JetBrains Mono" pitchFamily="49" charset="-120"/>
              </a:rPr>
              <a:t>2</a:t>
            </a:r>
            <a:endParaRPr lang="en-US" sz="1200" dirty="0"/>
          </a:p>
          <a:p>
            <a:pPr marL="0" indent="0" algn="l">
              <a:lnSpc>
                <a:spcPts val="1740"/>
              </a:lnSpc>
              <a:buNone/>
            </a:pPr>
            <a:r>
              <a:rPr lang="en-US" sz="1200" dirty="0">
                <a:solidFill>
                  <a:srgbClr val="8FD3FF"/>
                </a:solidFill>
                <a:latin typeface="JetBrains Mono" pitchFamily="49" charset="0"/>
                <a:ea typeface="JetBrains Mono" pitchFamily="49" charset="-122"/>
                <a:cs typeface="JetBrains Mono" pitchFamily="49" charset="-120"/>
              </a:rPr>
              <a:t>4</a:t>
            </a:r>
            <a:endParaRPr lang="en-US" sz="1200" dirty="0"/>
          </a:p>
          <a:p>
            <a:pPr marL="0" indent="0" algn="l">
              <a:lnSpc>
                <a:spcPts val="1740"/>
              </a:lnSpc>
              <a:buNone/>
            </a:pPr>
            <a:r>
              <a:rPr lang="en-US" sz="1200" dirty="0">
                <a:solidFill>
                  <a:srgbClr val="C9A0C9"/>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"привет"</a:t>
            </a:r>
            <a:r>
              <a:rPr lang="en-US" sz="1200" dirty="0">
                <a:solidFill>
                  <a:srgbClr val="FFFFFF"/>
                </a:solidFill>
                <a:latin typeface="JetBrains Mono" pitchFamily="49" charset="0"/>
                <a:ea typeface="JetBrains Mono" pitchFamily="49" charset="-122"/>
                <a:cs typeface="JetBrains Mono" pitchFamily="49" charset="-120"/>
              </a:rPr>
              <a:t>.length</a:t>
            </a:r>
            <a:endParaRPr lang="en-US" sz="1200" dirty="0"/>
          </a:p>
          <a:p>
            <a:pPr marL="0" indent="0" algn="l">
              <a:lnSpc>
                <a:spcPts val="1740"/>
              </a:lnSpc>
              <a:buNone/>
            </a:pPr>
            <a:r>
              <a:rPr lang="en-US" sz="1200" dirty="0">
                <a:solidFill>
                  <a:srgbClr val="8FD3FF"/>
                </a:solidFill>
                <a:latin typeface="JetBrains Mono" pitchFamily="49" charset="0"/>
                <a:ea typeface="JetBrains Mono" pitchFamily="49" charset="-122"/>
                <a:cs typeface="JetBrains Mono" pitchFamily="49" charset="-120"/>
              </a:rPr>
              <a:t>6</a:t>
            </a:r>
            <a:endParaRPr lang="en-US" sz="1200" dirty="0"/>
          </a:p>
        </p:txBody>
      </p:sp>
      <p:sp>
        <p:nvSpPr>
          <p:cNvPr id="10" name="Shape 7"/>
          <p:cNvSpPr/>
          <p:nvPr/>
        </p:nvSpPr>
        <p:spPr>
          <a:xfrm>
            <a:off x="4334867" y="1269901"/>
            <a:ext cx="3522166" cy="2897981"/>
          </a:xfrm>
          <a:prstGeom prst="roundRect">
            <a:avLst>
              <a:gd name="adj" fmla="val 3506"/>
            </a:avLst>
          </a:prstGeom>
          <a:solidFill>
            <a:srgbClr val="7A1F79"/>
          </a:solidFill>
          <a:ln/>
        </p:spPr>
      </p:sp>
      <p:sp>
        <p:nvSpPr>
          <p:cNvPr id="11" name="Text 8"/>
          <p:cNvSpPr/>
          <p:nvPr/>
        </p:nvSpPr>
        <p:spPr>
          <a:xfrm>
            <a:off x="4512667" y="1435001"/>
            <a:ext cx="326156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D6FF"/>
                </a:solidFill>
                <a:latin typeface="Carlito" pitchFamily="34" charset="0"/>
                <a:ea typeface="Carlito" pitchFamily="34" charset="-122"/>
                <a:cs typeface="Carlito" pitchFamily="34" charset="-120"/>
              </a:rPr>
              <a:t>2. Node.js</a:t>
            </a:r>
            <a:endParaRPr lang="en-US" sz="2000" dirty="0"/>
          </a:p>
        </p:txBody>
      </p:sp>
      <p:sp>
        <p:nvSpPr>
          <p:cNvPr id="12" name="Text 9"/>
          <p:cNvSpPr/>
          <p:nvPr/>
        </p:nvSpPr>
        <p:spPr>
          <a:xfrm>
            <a:off x="4512667" y="1879501"/>
            <a:ext cx="326156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Установите Node.js, сохраните код в файл и запустите его в терминале.</a:t>
            </a:r>
            <a:endParaRPr lang="en-US" sz="1400" dirty="0"/>
          </a:p>
        </p:txBody>
      </p:sp>
      <p:sp>
        <p:nvSpPr>
          <p:cNvPr id="13" name="Text 10"/>
          <p:cNvSpPr/>
          <p:nvPr/>
        </p:nvSpPr>
        <p:spPr>
          <a:xfrm>
            <a:off x="4512667" y="2448421"/>
            <a:ext cx="3166566" cy="1554361"/>
          </a:xfrm>
          <a:prstGeom prst="roundRect">
            <a:avLst>
              <a:gd name="adj" fmla="val 4902"/>
            </a:avLst>
          </a:prstGeom>
          <a:solidFill>
            <a:srgbClr val="2A002A"/>
          </a:solidFill>
          <a:ln/>
        </p:spPr>
        <p:txBody>
          <a:bodyPr wrap="square" lIns="130082" tIns="91982" rIns="44229" bIns="66582" rtlCol="0" anchor="t">
            <a:normAutofit/>
          </a:bodyPr>
          <a:lstStyle/>
          <a:p>
            <a:pPr marL="0" indent="0" algn="l">
              <a:lnSpc>
                <a:spcPts val="1740"/>
              </a:lnSpc>
              <a:buNone/>
            </a:pPr>
            <a:r>
              <a:rPr lang="en-US" sz="1200" dirty="0">
                <a:solidFill>
                  <a:srgbClr val="C9A0C9"/>
                </a:solidFill>
                <a:latin typeface="JetBrains Mono" pitchFamily="49" charset="0"/>
                <a:ea typeface="JetBrains Mono" pitchFamily="49" charset="-122"/>
                <a:cs typeface="JetBrains Mono" pitchFamily="49" charset="-120"/>
              </a:rPr>
              <a:t>// app.js</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"Привет"</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endParaRPr lang="en-US" sz="1200" dirty="0"/>
          </a:p>
          <a:p>
            <a:pPr marL="0" indent="0" algn="l">
              <a:lnSpc>
                <a:spcPts val="1740"/>
              </a:lnSpc>
              <a:buNone/>
            </a:pPr>
            <a:r>
              <a:rPr lang="en-US" sz="1200" dirty="0">
                <a:solidFill>
                  <a:srgbClr val="C9A0C9"/>
                </a:solidFill>
                <a:latin typeface="JetBrains Mono" pitchFamily="49" charset="0"/>
                <a:ea typeface="JetBrains Mono" pitchFamily="49" charset="-122"/>
                <a:cs typeface="JetBrains Mono" pitchFamily="49" charset="-120"/>
              </a:rPr>
              <a:t>// в терминале</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node app.js</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Привет</a:t>
            </a:r>
            <a:endParaRPr lang="en-US" sz="1200" dirty="0"/>
          </a:p>
        </p:txBody>
      </p:sp>
      <p:sp>
        <p:nvSpPr>
          <p:cNvPr id="14" name="Shape 11"/>
          <p:cNvSpPr/>
          <p:nvPr/>
        </p:nvSpPr>
        <p:spPr>
          <a:xfrm>
            <a:off x="8034834" y="1269901"/>
            <a:ext cx="3522166" cy="2897981"/>
          </a:xfrm>
          <a:prstGeom prst="roundRect">
            <a:avLst>
              <a:gd name="adj" fmla="val 3506"/>
            </a:avLst>
          </a:prstGeom>
          <a:solidFill>
            <a:srgbClr val="7A1F79"/>
          </a:solidFill>
          <a:ln/>
        </p:spPr>
      </p:sp>
      <p:sp>
        <p:nvSpPr>
          <p:cNvPr id="15" name="Text 12"/>
          <p:cNvSpPr/>
          <p:nvPr/>
        </p:nvSpPr>
        <p:spPr>
          <a:xfrm>
            <a:off x="8212634" y="1435001"/>
            <a:ext cx="326156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D6FF"/>
                </a:solidFill>
                <a:latin typeface="Carlito" pitchFamily="34" charset="0"/>
                <a:ea typeface="Carlito" pitchFamily="34" charset="-122"/>
                <a:cs typeface="Carlito" pitchFamily="34" charset="-120"/>
              </a:rPr>
              <a:t>3. Страница HTML</a:t>
            </a:r>
            <a:endParaRPr lang="en-US" sz="2000" dirty="0"/>
          </a:p>
        </p:txBody>
      </p:sp>
      <p:sp>
        <p:nvSpPr>
          <p:cNvPr id="16" name="Text 13"/>
          <p:cNvSpPr/>
          <p:nvPr/>
        </p:nvSpPr>
        <p:spPr>
          <a:xfrm>
            <a:off x="8212634" y="1879501"/>
            <a:ext cx="326156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Код вставляют в страницу тегом script. Откройте файл в браузере.</a:t>
            </a:r>
            <a:endParaRPr lang="en-US" sz="1400" dirty="0"/>
          </a:p>
        </p:txBody>
      </p:sp>
      <p:sp>
        <p:nvSpPr>
          <p:cNvPr id="17" name="Text 14"/>
          <p:cNvSpPr/>
          <p:nvPr/>
        </p:nvSpPr>
        <p:spPr>
          <a:xfrm>
            <a:off x="8212634" y="2448421"/>
            <a:ext cx="3166566" cy="891480"/>
          </a:xfrm>
          <a:prstGeom prst="roundRect">
            <a:avLst>
              <a:gd name="adj" fmla="val 8548"/>
            </a:avLst>
          </a:prstGeom>
          <a:solidFill>
            <a:srgbClr val="2A002A"/>
          </a:solidFill>
          <a:ln/>
        </p:spPr>
        <p:txBody>
          <a:bodyPr wrap="square" lIns="130082" tIns="91982" rIns="44229" bIns="66582" rtlCol="0" anchor="t">
            <a:normAutofit/>
          </a:bodyPr>
          <a:lstStyle/>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&lt;script&gt;</a:t>
            </a:r>
            <a:endParaRPr lang="en-US" sz="1200" dirty="0"/>
          </a:p>
          <a:p>
            <a:pPr marL="0" indent="0" algn="l">
              <a:lnSpc>
                <a:spcPts val="174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alert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"Привет"</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740"/>
              </a:lnSpc>
              <a:buNone/>
            </a:pPr>
            <a:r>
              <a:rPr lang="en-US" sz="1200" dirty="0">
                <a:solidFill>
                  <a:srgbClr val="FF9DE2"/>
                </a:solidFill>
                <a:latin typeface="JetBrains Mono" pitchFamily="49" charset="0"/>
                <a:ea typeface="JetBrains Mono" pitchFamily="49" charset="-122"/>
                <a:cs typeface="JetBrains Mono" pitchFamily="49" charset="-120"/>
              </a:rPr>
              <a:t>&lt;/script&gt;</a:t>
            </a:r>
            <a:endParaRPr lang="en-US" sz="1200" dirty="0"/>
          </a:p>
        </p:txBody>
      </p:sp>
      <p:sp>
        <p:nvSpPr>
          <p:cNvPr id="18" name="Text 15"/>
          <p:cNvSpPr/>
          <p:nvPr/>
        </p:nvSpPr>
        <p:spPr>
          <a:xfrm>
            <a:off x="635000" y="4294882"/>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Для обучения удобнее всего консоль браузера: ничего не нужно устанавливать. Для проектов используют файлы .js, которые подключаются к HTML или запускаются в Node.js.</a:t>
            </a:r>
            <a:endParaRPr lang="en-US" sz="1500" dirty="0"/>
          </a:p>
        </p:txBody>
      </p:sp>
      <p:pic>
        <p:nvPicPr>
          <p:cNvPr id="19" name="Рисунок 1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81990" y="244030"/>
            <a:ext cx="737272" cy="7259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Вывод и комментарии</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console.log — главный помощник при изучении и отладке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336800"/>
          </a:xfrm>
          <a:prstGeom prst="roundRect">
            <a:avLst>
              <a:gd name="adj" fmla="val 3261"/>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C9A0C9"/>
                </a:solidFill>
                <a:latin typeface="JetBrains Mono" pitchFamily="49" charset="0"/>
                <a:ea typeface="JetBrains Mono" pitchFamily="49" charset="-122"/>
                <a:cs typeface="JetBrains Mono" pitchFamily="49" charset="-120"/>
              </a:rPr>
              <a:t>// однострочный комментарий</a:t>
            </a:r>
            <a:endParaRPr lang="en-US" sz="1200" dirty="0"/>
          </a:p>
          <a:p>
            <a:pPr marL="0" indent="0" algn="l">
              <a:lnSpc>
                <a:spcPts val="1800"/>
              </a:lnSpc>
              <a:buNone/>
            </a:pPr>
            <a:r>
              <a:rPr lang="en-US" sz="1200" dirty="0">
                <a:solidFill>
                  <a:srgbClr val="C9A0C9"/>
                </a:solidFill>
                <a:latin typeface="JetBrains Mono" pitchFamily="49" charset="0"/>
                <a:ea typeface="JetBrains Mono" pitchFamily="49" charset="-122"/>
                <a:cs typeface="JetBrains Mono" pitchFamily="49" charset="-120"/>
              </a:rPr>
              <a:t>/* многострочный</a:t>
            </a:r>
            <a:endParaRPr lang="en-US" sz="1200" dirty="0"/>
          </a:p>
          <a:p>
            <a:pPr marL="0" indent="0" algn="l">
              <a:lnSpc>
                <a:spcPts val="1800"/>
              </a:lnSpc>
              <a:buNone/>
            </a:pPr>
            <a:r>
              <a:rPr lang="en-US" sz="1200" dirty="0">
                <a:solidFill>
                  <a:srgbClr val="C9A0C9"/>
                </a:solidFill>
                <a:latin typeface="JetBrains Mono" pitchFamily="49" charset="0"/>
                <a:ea typeface="JetBrains Mono" pitchFamily="49" charset="-122"/>
                <a:cs typeface="JetBrains Mono" pitchFamily="49" charset="-120"/>
              </a:rPr>
              <a:t>   комментарий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"Привет, мир!"</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"Сумма:"</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 </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warn</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"Осторожно"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error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"Ошибка"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2947194"/>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17166"/>
            <a:ext cx="5181600" cy="2590403"/>
          </a:xfrm>
          <a:prstGeom prst="roundRect">
            <a:avLst>
              <a:gd name="adj" fmla="val 2574"/>
            </a:avLst>
          </a:prstGeom>
          <a:solidFill>
            <a:srgbClr val="FFFFFF"/>
          </a:solidFill>
          <a:ln w="19050">
            <a:solidFill>
              <a:srgbClr val="972996"/>
            </a:solidFill>
            <a:prstDash val="solid"/>
          </a:ln>
        </p:spPr>
      </p:sp>
      <p:sp>
        <p:nvSpPr>
          <p:cNvPr id="11" name="Shape 8"/>
          <p:cNvSpPr/>
          <p:nvPr/>
        </p:nvSpPr>
        <p:spPr>
          <a:xfrm>
            <a:off x="6375400" y="16266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71452"/>
            <a:ext cx="101600" cy="101600"/>
          </a:xfrm>
          <a:prstGeom prst="roundRect">
            <a:avLst>
              <a:gd name="adj" fmla="val 50000"/>
            </a:avLst>
          </a:prstGeom>
          <a:solidFill>
            <a:srgbClr val="E57373"/>
          </a:solidFill>
          <a:ln/>
        </p:spPr>
      </p:sp>
      <p:sp>
        <p:nvSpPr>
          <p:cNvPr id="13" name="Shape 10"/>
          <p:cNvSpPr/>
          <p:nvPr/>
        </p:nvSpPr>
        <p:spPr>
          <a:xfrm>
            <a:off x="6667500" y="1771452"/>
            <a:ext cx="101600" cy="101600"/>
          </a:xfrm>
          <a:prstGeom prst="roundRect">
            <a:avLst>
              <a:gd name="adj" fmla="val 50000"/>
            </a:avLst>
          </a:prstGeom>
          <a:solidFill>
            <a:srgbClr val="FFD54F"/>
          </a:solidFill>
          <a:ln/>
        </p:spPr>
      </p:sp>
      <p:sp>
        <p:nvSpPr>
          <p:cNvPr id="14" name="Shape 11"/>
          <p:cNvSpPr/>
          <p:nvPr/>
        </p:nvSpPr>
        <p:spPr>
          <a:xfrm>
            <a:off x="6832600" y="1771452"/>
            <a:ext cx="101600" cy="101600"/>
          </a:xfrm>
          <a:prstGeom prst="roundRect">
            <a:avLst>
              <a:gd name="adj" fmla="val 50000"/>
            </a:avLst>
          </a:prstGeom>
          <a:solidFill>
            <a:srgbClr val="81C784"/>
          </a:solidFill>
          <a:ln/>
        </p:spPr>
      </p:sp>
      <p:sp>
        <p:nvSpPr>
          <p:cNvPr id="15" name="Text 12"/>
          <p:cNvSpPr/>
          <p:nvPr/>
        </p:nvSpPr>
        <p:spPr>
          <a:xfrm>
            <a:off x="7073900" y="17155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79067"/>
            <a:ext cx="5162550" cy="0"/>
          </a:xfrm>
          <a:prstGeom prst="line">
            <a:avLst/>
          </a:prstGeom>
          <a:noFill/>
          <a:ln w="6350">
            <a:solidFill>
              <a:srgbClr val="DDDDDD"/>
            </a:solidFill>
            <a:prstDash val="solid"/>
          </a:ln>
        </p:spPr>
      </p:sp>
      <p:sp>
        <p:nvSpPr>
          <p:cNvPr id="17" name="Text 14"/>
          <p:cNvSpPr/>
          <p:nvPr/>
        </p:nvSpPr>
        <p:spPr>
          <a:xfrm>
            <a:off x="6527800" y="20813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Привет, мир!</a:t>
            </a:r>
            <a:endParaRPr lang="en-US" sz="1300" dirty="0"/>
          </a:p>
        </p:txBody>
      </p:sp>
      <p:sp>
        <p:nvSpPr>
          <p:cNvPr id="18" name="Shape 15"/>
          <p:cNvSpPr/>
          <p:nvPr/>
        </p:nvSpPr>
        <p:spPr>
          <a:xfrm>
            <a:off x="6375400" y="2743498"/>
            <a:ext cx="5162550" cy="0"/>
          </a:xfrm>
          <a:prstGeom prst="line">
            <a:avLst/>
          </a:prstGeom>
          <a:noFill/>
          <a:ln w="6350">
            <a:solidFill>
              <a:srgbClr val="DDDDDD"/>
            </a:solidFill>
            <a:prstDash val="solid"/>
          </a:ln>
        </p:spPr>
      </p:sp>
      <p:sp>
        <p:nvSpPr>
          <p:cNvPr id="19" name="Text 16"/>
          <p:cNvSpPr/>
          <p:nvPr/>
        </p:nvSpPr>
        <p:spPr>
          <a:xfrm>
            <a:off x="6527800" y="24457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5</a:t>
            </a:r>
            <a:endParaRPr lang="en-US" sz="1300" dirty="0"/>
          </a:p>
        </p:txBody>
      </p:sp>
      <p:sp>
        <p:nvSpPr>
          <p:cNvPr id="20" name="Shape 17"/>
          <p:cNvSpPr/>
          <p:nvPr/>
        </p:nvSpPr>
        <p:spPr>
          <a:xfrm>
            <a:off x="6375400" y="3107928"/>
            <a:ext cx="5162550" cy="0"/>
          </a:xfrm>
          <a:prstGeom prst="line">
            <a:avLst/>
          </a:prstGeom>
          <a:noFill/>
          <a:ln w="6350">
            <a:solidFill>
              <a:srgbClr val="DDDDDD"/>
            </a:solidFill>
            <a:prstDash val="solid"/>
          </a:ln>
        </p:spPr>
      </p:sp>
      <p:sp>
        <p:nvSpPr>
          <p:cNvPr id="21" name="Text 18"/>
          <p:cNvSpPr/>
          <p:nvPr/>
        </p:nvSpPr>
        <p:spPr>
          <a:xfrm>
            <a:off x="6527800" y="28101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Сумма: </a:t>
            </a:r>
            <a:r>
              <a:rPr lang="en-US" sz="1300" dirty="0">
                <a:solidFill>
                  <a:srgbClr val="1A5FB4"/>
                </a:solidFill>
                <a:latin typeface="JetBrains Mono" pitchFamily="49" charset="0"/>
                <a:ea typeface="JetBrains Mono" pitchFamily="49" charset="-122"/>
                <a:cs typeface="JetBrains Mono" pitchFamily="49" charset="-120"/>
              </a:rPr>
              <a:t>5</a:t>
            </a:r>
            <a:endParaRPr lang="en-US" sz="1300" dirty="0"/>
          </a:p>
        </p:txBody>
      </p:sp>
      <p:sp>
        <p:nvSpPr>
          <p:cNvPr id="22" name="Shape 19"/>
          <p:cNvSpPr/>
          <p:nvPr/>
        </p:nvSpPr>
        <p:spPr>
          <a:xfrm>
            <a:off x="6375400" y="3472359"/>
            <a:ext cx="5162550" cy="0"/>
          </a:xfrm>
          <a:prstGeom prst="line">
            <a:avLst/>
          </a:prstGeom>
          <a:noFill/>
          <a:ln w="6350">
            <a:solidFill>
              <a:srgbClr val="DDDDDD"/>
            </a:solidFill>
            <a:prstDash val="solid"/>
          </a:ln>
        </p:spPr>
      </p:sp>
      <p:sp>
        <p:nvSpPr>
          <p:cNvPr id="23" name="Text 20"/>
          <p:cNvSpPr/>
          <p:nvPr/>
        </p:nvSpPr>
        <p:spPr>
          <a:xfrm>
            <a:off x="6527800" y="317460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[1, 2] {a: 1}</a:t>
            </a:r>
            <a:endParaRPr lang="en-US" sz="1300" dirty="0"/>
          </a:p>
        </p:txBody>
      </p:sp>
      <p:sp>
        <p:nvSpPr>
          <p:cNvPr id="24" name="Text 21"/>
          <p:cNvSpPr/>
          <p:nvPr/>
        </p:nvSpPr>
        <p:spPr>
          <a:xfrm>
            <a:off x="6375400" y="3475534"/>
            <a:ext cx="5162550" cy="364430"/>
          </a:xfrm>
          <a:prstGeom prst="rect">
            <a:avLst/>
          </a:prstGeom>
          <a:solidFill>
            <a:srgbClr val="FFF4C4"/>
          </a:solidFill>
          <a:ln/>
        </p:spPr>
        <p:txBody>
          <a:bodyPr wrap="square" lIns="152400" tIns="63500" rIns="6668" bIns="44450" rtlCol="0" anchor="t">
            <a:normAutofit/>
          </a:bodyPr>
          <a:lstStyle/>
          <a:p>
            <a:pPr marL="0" indent="0" algn="l">
              <a:lnSpc>
                <a:spcPts val="1820"/>
              </a:lnSpc>
              <a:buNone/>
            </a:pPr>
            <a:r>
              <a:rPr lang="en-US" sz="1300" dirty="0">
                <a:solidFill>
                  <a:srgbClr val="7A5B00"/>
                </a:solidFill>
                <a:latin typeface="JetBrains Mono" pitchFamily="49" charset="0"/>
                <a:ea typeface="JetBrains Mono" pitchFamily="49" charset="-122"/>
                <a:cs typeface="JetBrains Mono" pitchFamily="49" charset="-120"/>
              </a:rPr>
              <a:t>Осторожно</a:t>
            </a:r>
            <a:endParaRPr lang="en-US" sz="1300" dirty="0"/>
          </a:p>
        </p:txBody>
      </p:sp>
      <p:sp>
        <p:nvSpPr>
          <p:cNvPr id="25" name="Shape 22"/>
          <p:cNvSpPr/>
          <p:nvPr/>
        </p:nvSpPr>
        <p:spPr>
          <a:xfrm>
            <a:off x="6375400" y="3836789"/>
            <a:ext cx="5162550" cy="0"/>
          </a:xfrm>
          <a:prstGeom prst="line">
            <a:avLst/>
          </a:prstGeom>
          <a:noFill/>
          <a:ln w="6350">
            <a:solidFill>
              <a:srgbClr val="DDDDDD"/>
            </a:solidFill>
            <a:prstDash val="solid"/>
          </a:ln>
        </p:spPr>
      </p:sp>
      <p:sp>
        <p:nvSpPr>
          <p:cNvPr id="26" name="Text 23"/>
          <p:cNvSpPr/>
          <p:nvPr/>
        </p:nvSpPr>
        <p:spPr>
          <a:xfrm>
            <a:off x="6375400" y="3839964"/>
            <a:ext cx="5162550" cy="358080"/>
          </a:xfrm>
          <a:custGeom>
            <a:avLst/>
            <a:gdLst/>
            <a:ahLst/>
            <a:cxnLst/>
            <a:rect l="l" t="t" r="r" b="b"/>
            <a:pathLst>
              <a:path w="5162550" h="358080">
                <a:moveTo>
                  <a:pt x="5162550" y="300930"/>
                </a:moveTo>
                <a:arcTo wR="57150" hR="57150" stAng="0" swAng="5400000"/>
                <a:lnTo>
                  <a:pt x="57150" y="358080"/>
                </a:lnTo>
                <a:arcTo wR="57150" hR="57150" stAng="5400000" swAng="5400000"/>
                <a:lnTo>
                  <a:pt x="0" y="0"/>
                </a:lnTo>
                <a:lnTo>
                  <a:pt x="5162550" y="0"/>
                </a:lnTo>
                <a:close/>
              </a:path>
            </a:pathLst>
          </a:custGeom>
          <a:solidFill>
            <a:srgbClr val="FFDEDE"/>
          </a:solidFill>
          <a:ln/>
        </p:spPr>
        <p:txBody>
          <a:bodyPr wrap="square" lIns="152400" tIns="63500" rIns="6668" bIns="38100" rtlCol="0" anchor="t">
            <a:normAutofit/>
          </a:bodyPr>
          <a:lstStyle/>
          <a:p>
            <a:pPr marL="0" indent="0" algn="l">
              <a:lnSpc>
                <a:spcPts val="1820"/>
              </a:lnSpc>
              <a:buNone/>
            </a:pPr>
            <a:r>
              <a:rPr lang="en-US" sz="1300" dirty="0">
                <a:solidFill>
                  <a:srgbClr val="A31515"/>
                </a:solidFill>
                <a:latin typeface="JetBrains Mono" pitchFamily="49" charset="0"/>
                <a:ea typeface="JetBrains Mono" pitchFamily="49" charset="-122"/>
                <a:cs typeface="JetBrains Mono" pitchFamily="49" charset="-120"/>
              </a:rPr>
              <a:t>Ошибка</a:t>
            </a:r>
            <a:endParaRPr lang="en-US" sz="1300" dirty="0"/>
          </a:p>
        </p:txBody>
      </p:sp>
      <p:sp>
        <p:nvSpPr>
          <p:cNvPr id="27" name="Text 24"/>
          <p:cNvSpPr/>
          <p:nvPr/>
        </p:nvSpPr>
        <p:spPr>
          <a:xfrm>
            <a:off x="635000" y="4344095"/>
            <a:ext cx="10922000" cy="742950"/>
          </a:xfrm>
          <a:prstGeom prst="roundRect">
            <a:avLst>
              <a:gd name="adj" fmla="val 10256"/>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Комментарии браузер игнорирует. Несколько значений в console.log пишутся через запятую. warn и error подсвечиваются, так их проще заметить среди обычных сообщений.</a:t>
            </a:r>
            <a:endParaRPr lang="en-US" sz="1500" dirty="0"/>
          </a:p>
        </p:txBody>
      </p:sp>
      <p:pic>
        <p:nvPicPr>
          <p:cNvPr id="28" name="Рисунок 27"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602328" y="92030"/>
            <a:ext cx="737272" cy="7259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Переменные: let и const</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Переменная — именованная «коробка» для значения</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565400"/>
          </a:xfrm>
          <a:prstGeom prst="roundRect">
            <a:avLst>
              <a:gd name="adj" fmla="val 2970"/>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name = </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age = </a:t>
            </a:r>
            <a:r>
              <a:rPr lang="en-US" sz="1200" dirty="0">
                <a:solidFill>
                  <a:srgbClr val="8FD3FF"/>
                </a:solidFill>
                <a:latin typeface="JetBrains Mono" pitchFamily="49" charset="0"/>
                <a:ea typeface="JetBrains Mono" pitchFamily="49" charset="-122"/>
                <a:cs typeface="JetBrains Mono" pitchFamily="49" charset="-120"/>
              </a:rPr>
              <a:t>25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age = </a:t>
            </a:r>
            <a:r>
              <a:rPr lang="en-US" sz="1200" dirty="0">
                <a:solidFill>
                  <a:srgbClr val="8FD3FF"/>
                </a:solidFill>
                <a:latin typeface="JetBrains Mono" pitchFamily="49" charset="0"/>
                <a:ea typeface="JetBrains Mono" pitchFamily="49" charset="-122"/>
                <a:cs typeface="JetBrains Mono" pitchFamily="49" charset="-120"/>
              </a:rPr>
              <a:t>26</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можно менять</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PI = </a:t>
            </a:r>
            <a:r>
              <a:rPr lang="en-US" sz="1200" dirty="0">
                <a:solidFill>
                  <a:srgbClr val="8FD3FF"/>
                </a:solidFill>
                <a:latin typeface="JetBrains Mono" pitchFamily="49" charset="0"/>
                <a:ea typeface="JetBrains Mono" pitchFamily="49" charset="-122"/>
                <a:cs typeface="JetBrains Mono" pitchFamily="49" charset="-120"/>
              </a:rPr>
              <a:t>3.14159</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C9A0C9"/>
                </a:solidFill>
                <a:latin typeface="JetBrains Mono" pitchFamily="49" charset="0"/>
                <a:ea typeface="JetBrains Mono" pitchFamily="49" charset="-122"/>
                <a:cs typeface="JetBrains Mono" pitchFamily="49" charset="-120"/>
              </a:rPr>
              <a:t>// PI = 3; нельзя: TypeError</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var</a:t>
            </a:r>
            <a:r>
              <a:rPr lang="en-US" sz="1200" dirty="0">
                <a:solidFill>
                  <a:srgbClr val="FFFFFF"/>
                </a:solidFill>
                <a:latin typeface="JetBrains Mono" pitchFamily="49" charset="0"/>
                <a:ea typeface="JetBrains Mono" pitchFamily="49" charset="-122"/>
                <a:cs typeface="JetBrains Mono" pitchFamily="49" charset="-120"/>
              </a:rPr>
              <a:t> old = </a:t>
            </a:r>
            <a:r>
              <a:rPr lang="en-US" sz="1200" dirty="0">
                <a:solidFill>
                  <a:srgbClr val="9EE6A8"/>
                </a:solidFill>
                <a:latin typeface="JetBrains Mono" pitchFamily="49" charset="0"/>
                <a:ea typeface="JetBrains Mono" pitchFamily="49" charset="-122"/>
                <a:cs typeface="JetBrains Mono" pitchFamily="49" charset="-120"/>
              </a:rPr>
              <a:t>"устарело"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(name, age, PI);</a:t>
            </a:r>
            <a:endParaRPr lang="en-US" sz="1200" dirty="0"/>
          </a:p>
        </p:txBody>
      </p:sp>
      <p:sp>
        <p:nvSpPr>
          <p:cNvPr id="8" name="Shape 5"/>
          <p:cNvSpPr/>
          <p:nvPr/>
        </p:nvSpPr>
        <p:spPr>
          <a:xfrm>
            <a:off x="6089650" y="1269901"/>
            <a:ext cx="12700" cy="29031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607641"/>
            <a:ext cx="5200650" cy="1113631"/>
          </a:xfrm>
          <a:prstGeom prst="roundRect">
            <a:avLst>
              <a:gd name="adj" fmla="val 6842"/>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60017"/>
            <a:ext cx="5200650" cy="0"/>
          </a:xfrm>
          <a:prstGeom prst="line">
            <a:avLst/>
          </a:prstGeom>
          <a:noFill/>
          <a:ln w="6350">
            <a:solidFill>
              <a:srgbClr val="DDDDDD"/>
            </a:solidFill>
            <a:prstDash val="solid"/>
          </a:ln>
        </p:spPr>
      </p:sp>
      <p:sp>
        <p:nvSpPr>
          <p:cNvPr id="17" name="Text 14"/>
          <p:cNvSpPr/>
          <p:nvPr/>
        </p:nvSpPr>
        <p:spPr>
          <a:xfrm>
            <a:off x="6508750" y="206226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Анна </a:t>
            </a:r>
            <a:r>
              <a:rPr lang="en-US" sz="1300" dirty="0">
                <a:solidFill>
                  <a:srgbClr val="1A5FB4"/>
                </a:solidFill>
                <a:latin typeface="JetBrains Mono" pitchFamily="49" charset="0"/>
                <a:ea typeface="JetBrains Mono" pitchFamily="49" charset="-122"/>
                <a:cs typeface="JetBrains Mono" pitchFamily="49" charset="-120"/>
              </a:rPr>
              <a:t>26 3.14159</a:t>
            </a:r>
            <a:endParaRPr lang="en-US" sz="1300" dirty="0"/>
          </a:p>
        </p:txBody>
      </p:sp>
      <p:sp>
        <p:nvSpPr>
          <p:cNvPr id="18" name="Text 15"/>
          <p:cNvSpPr/>
          <p:nvPr/>
        </p:nvSpPr>
        <p:spPr>
          <a:xfrm>
            <a:off x="6356350" y="2363192"/>
            <a:ext cx="5200650" cy="358080"/>
          </a:xfrm>
          <a:custGeom>
            <a:avLst/>
            <a:gdLst/>
            <a:ahLst/>
            <a:cxnLst/>
            <a:rect l="l" t="t" r="r" b="b"/>
            <a:pathLst>
              <a:path w="5200650" h="358080">
                <a:moveTo>
                  <a:pt x="5200650" y="281880"/>
                </a:moveTo>
                <a:arcTo wR="76200" hR="76200" stAng="0" swAng="5400000"/>
                <a:lnTo>
                  <a:pt x="76200" y="358080"/>
                </a:lnTo>
                <a:arcTo wR="76200" hR="76200" stAng="5400000" swAng="5400000"/>
                <a:lnTo>
                  <a:pt x="0" y="0"/>
                </a:lnTo>
                <a:lnTo>
                  <a:pt x="5200650" y="0"/>
                </a:lnTo>
                <a:close/>
              </a:path>
            </a:pathLst>
          </a:custGeom>
          <a:solidFill>
            <a:srgbClr val="FFDEDE"/>
          </a:solidFill>
          <a:ln/>
        </p:spPr>
        <p:txBody>
          <a:bodyPr wrap="square" lIns="152400" tIns="63500" rIns="5525" bIns="38100" rtlCol="0" anchor="t">
            <a:normAutofit/>
          </a:bodyPr>
          <a:lstStyle/>
          <a:p>
            <a:pPr marL="0" indent="0" algn="l">
              <a:lnSpc>
                <a:spcPts val="1820"/>
              </a:lnSpc>
              <a:buNone/>
            </a:pPr>
            <a:r>
              <a:rPr lang="en-US" sz="1300" dirty="0">
                <a:solidFill>
                  <a:srgbClr val="A31515"/>
                </a:solidFill>
                <a:latin typeface="JetBrains Mono" pitchFamily="49" charset="0"/>
                <a:ea typeface="JetBrains Mono" pitchFamily="49" charset="-122"/>
                <a:cs typeface="JetBrains Mono" pitchFamily="49" charset="-120"/>
              </a:rPr>
              <a:t>TypeError: Assignment to constant variable.</a:t>
            </a:r>
            <a:endParaRPr lang="en-US" sz="1300" dirty="0"/>
          </a:p>
        </p:txBody>
      </p:sp>
      <p:sp>
        <p:nvSpPr>
          <p:cNvPr id="19" name="Text 16"/>
          <p:cNvSpPr/>
          <p:nvPr/>
        </p:nvSpPr>
        <p:spPr>
          <a:xfrm>
            <a:off x="6356350" y="2810173"/>
            <a:ext cx="535667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FFF"/>
                </a:solidFill>
                <a:latin typeface="Carlito" pitchFamily="34" charset="0"/>
                <a:ea typeface="Carlito" pitchFamily="34" charset="-122"/>
                <a:cs typeface="Carlito" pitchFamily="34" charset="-120"/>
              </a:rPr>
              <a:t>Если раскомментировать строку PI = 3, программа остановится с ошибкой.</a:t>
            </a:r>
            <a:endParaRPr lang="en-US" sz="1400" dirty="0"/>
          </a:p>
        </p:txBody>
      </p:sp>
      <p:sp>
        <p:nvSpPr>
          <p:cNvPr id="20" name="Text 17"/>
          <p:cNvSpPr/>
          <p:nvPr/>
        </p:nvSpPr>
        <p:spPr>
          <a:xfrm>
            <a:off x="635000" y="4300041"/>
            <a:ext cx="3556000" cy="946150"/>
          </a:xfrm>
          <a:prstGeom prst="roundRect">
            <a:avLst>
              <a:gd name="adj" fmla="val 8054"/>
            </a:avLst>
          </a:prstGeom>
          <a:solidFill>
            <a:srgbClr val="7A1F79"/>
          </a:solidFill>
          <a:ln/>
        </p:spPr>
        <p:txBody>
          <a:bodyPr wrap="square" lIns="130082" tIns="79282" rIns="32546" bIns="79282" rtlCol="0" anchor="t">
            <a:normAutofit/>
          </a:bodyPr>
          <a:lstStyle/>
          <a:p>
            <a:pPr marL="0" indent="0" algn="l">
              <a:lnSpc>
                <a:spcPts val="1950"/>
              </a:lnSpc>
              <a:buNone/>
            </a:pPr>
            <a:r>
              <a:rPr lang="en-US" sz="1500" b="1" dirty="0">
                <a:solidFill>
                  <a:srgbClr val="FFFFFF"/>
                </a:solidFill>
                <a:latin typeface="Carlito" pitchFamily="34" charset="0"/>
                <a:ea typeface="Carlito" pitchFamily="34" charset="-122"/>
                <a:cs typeface="Carlito" pitchFamily="34" charset="-120"/>
              </a:rPr>
              <a:t>let</a:t>
            </a:r>
            <a:r>
              <a:rPr lang="en-US" sz="1500" dirty="0">
                <a:solidFill>
                  <a:srgbClr val="FFFFFF"/>
                </a:solidFill>
                <a:latin typeface="Carlito" pitchFamily="34" charset="0"/>
                <a:ea typeface="Carlito" pitchFamily="34" charset="-122"/>
                <a:cs typeface="Carlito" pitchFamily="34" charset="-120"/>
              </a:rPr>
              <a:t> — значение можно менять. Видна только внутри своего блока { }.</a:t>
            </a:r>
            <a:endParaRPr lang="en-US" sz="1500" dirty="0"/>
          </a:p>
        </p:txBody>
      </p:sp>
      <p:sp>
        <p:nvSpPr>
          <p:cNvPr id="21" name="Text 18"/>
          <p:cNvSpPr/>
          <p:nvPr/>
        </p:nvSpPr>
        <p:spPr>
          <a:xfrm>
            <a:off x="4318000" y="4300041"/>
            <a:ext cx="3556000" cy="946150"/>
          </a:xfrm>
          <a:prstGeom prst="roundRect">
            <a:avLst>
              <a:gd name="adj" fmla="val 8054"/>
            </a:avLst>
          </a:prstGeom>
          <a:solidFill>
            <a:srgbClr val="7A1F79"/>
          </a:solidFill>
          <a:ln/>
        </p:spPr>
        <p:txBody>
          <a:bodyPr wrap="square" lIns="130082" tIns="79282" rIns="32546" bIns="53882" rtlCol="0" anchor="t">
            <a:normAutofit/>
          </a:bodyPr>
          <a:lstStyle/>
          <a:p>
            <a:pPr marL="0" indent="0" algn="l">
              <a:lnSpc>
                <a:spcPts val="1950"/>
              </a:lnSpc>
              <a:buNone/>
            </a:pPr>
            <a:r>
              <a:rPr lang="en-US" sz="1500" b="1" dirty="0">
                <a:solidFill>
                  <a:srgbClr val="FFFFFF"/>
                </a:solidFill>
                <a:latin typeface="Carlito" pitchFamily="34" charset="0"/>
                <a:ea typeface="Carlito" pitchFamily="34" charset="-122"/>
                <a:cs typeface="Carlito" pitchFamily="34" charset="-120"/>
              </a:rPr>
              <a:t>const</a:t>
            </a:r>
            <a:r>
              <a:rPr lang="en-US" sz="1500" dirty="0">
                <a:solidFill>
                  <a:srgbClr val="FFFFFF"/>
                </a:solidFill>
                <a:latin typeface="Carlito" pitchFamily="34" charset="0"/>
                <a:ea typeface="Carlito" pitchFamily="34" charset="-122"/>
                <a:cs typeface="Carlito" pitchFamily="34" charset="-120"/>
              </a:rPr>
              <a:t> — менять нельзя. Берите его по умолчанию, let — только если нужно менять.</a:t>
            </a:r>
            <a:endParaRPr lang="en-US" sz="1500" dirty="0"/>
          </a:p>
        </p:txBody>
      </p:sp>
      <p:sp>
        <p:nvSpPr>
          <p:cNvPr id="22" name="Text 19"/>
          <p:cNvSpPr/>
          <p:nvPr/>
        </p:nvSpPr>
        <p:spPr>
          <a:xfrm>
            <a:off x="8001000" y="4300041"/>
            <a:ext cx="3556000" cy="946150"/>
          </a:xfrm>
          <a:prstGeom prst="roundRect">
            <a:avLst>
              <a:gd name="adj" fmla="val 8054"/>
            </a:avLst>
          </a:prstGeom>
          <a:solidFill>
            <a:srgbClr val="7A1F79"/>
          </a:solidFill>
          <a:ln/>
        </p:spPr>
        <p:txBody>
          <a:bodyPr wrap="square" lIns="130082" tIns="79282" rIns="32546" bIns="79282" rtlCol="0" anchor="t">
            <a:normAutofit/>
          </a:bodyPr>
          <a:lstStyle/>
          <a:p>
            <a:pPr marL="0" indent="0" algn="l">
              <a:lnSpc>
                <a:spcPts val="1950"/>
              </a:lnSpc>
              <a:buNone/>
            </a:pPr>
            <a:r>
              <a:rPr lang="en-US" sz="1500" b="1" dirty="0">
                <a:solidFill>
                  <a:srgbClr val="FFFFFF"/>
                </a:solidFill>
                <a:latin typeface="Carlito" pitchFamily="34" charset="0"/>
                <a:ea typeface="Carlito" pitchFamily="34" charset="-122"/>
                <a:cs typeface="Carlito" pitchFamily="34" charset="-120"/>
              </a:rPr>
              <a:t>var</a:t>
            </a:r>
            <a:r>
              <a:rPr lang="en-US" sz="1500" dirty="0">
                <a:solidFill>
                  <a:srgbClr val="FFFFFF"/>
                </a:solidFill>
                <a:latin typeface="Carlito" pitchFamily="34" charset="0"/>
                <a:ea typeface="Carlito" pitchFamily="34" charset="-122"/>
                <a:cs typeface="Carlito" pitchFamily="34" charset="-120"/>
              </a:rPr>
              <a:t> — старый способ, ведёт себя неочевидно. В новом коде не нужен.</a:t>
            </a:r>
            <a:endParaRPr lang="en-US" sz="150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20549" y="178000"/>
            <a:ext cx="737272" cy="7259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Типы данных</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Оператор typeof показывает тип значения</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336800"/>
          </a:xfrm>
          <a:prstGeom prst="roundRect">
            <a:avLst>
              <a:gd name="adj" fmla="val 3261"/>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"текст"</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"string"</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42</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"number"</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true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"boolean"</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undefined</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"undefined"</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null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"object" (!)</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10n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"bigint"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C9A0C9"/>
                </a:solidFill>
                <a:latin typeface="JetBrains Mono" pitchFamily="49" charset="0"/>
                <a:ea typeface="JetBrains Mono" pitchFamily="49" charset="-122"/>
                <a:cs typeface="JetBrains Mono" pitchFamily="49" charset="-120"/>
              </a:rPr>
              <a:t>// "object"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C9A0C9"/>
                </a:solidFill>
                <a:latin typeface="JetBrains Mono" pitchFamily="49" charset="0"/>
                <a:ea typeface="JetBrains Mono" pitchFamily="49" charset="-122"/>
                <a:cs typeface="JetBrains Mono" pitchFamily="49" charset="-120"/>
              </a:rPr>
              <a:t>// "object"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"function"</a:t>
            </a:r>
            <a:endParaRPr lang="en-US" sz="1200" dirty="0"/>
          </a:p>
        </p:txBody>
      </p:sp>
      <p:sp>
        <p:nvSpPr>
          <p:cNvPr id="8" name="Shape 5"/>
          <p:cNvSpPr/>
          <p:nvPr/>
        </p:nvSpPr>
        <p:spPr>
          <a:xfrm>
            <a:off x="6089650" y="1269901"/>
            <a:ext cx="12700" cy="3692723"/>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Что означает</a:t>
            </a:r>
            <a:endParaRPr lang="en-US" sz="1400" dirty="0"/>
          </a:p>
        </p:txBody>
      </p:sp>
      <p:sp>
        <p:nvSpPr>
          <p:cNvPr id="10" name="Shape 7"/>
          <p:cNvSpPr/>
          <p:nvPr/>
        </p:nvSpPr>
        <p:spPr>
          <a:xfrm>
            <a:off x="6388100" y="1582241"/>
            <a:ext cx="0" cy="510480"/>
          </a:xfrm>
          <a:prstGeom prst="line">
            <a:avLst/>
          </a:prstGeom>
          <a:noFill/>
          <a:ln w="63500">
            <a:solidFill>
              <a:srgbClr val="972996"/>
            </a:solidFill>
            <a:prstDash val="solid"/>
          </a:ln>
        </p:spPr>
      </p:sp>
      <p:sp>
        <p:nvSpPr>
          <p:cNvPr id="11" name="Text 8"/>
          <p:cNvSpPr/>
          <p:nvPr/>
        </p:nvSpPr>
        <p:spPr>
          <a:xfrm>
            <a:off x="6546850" y="1582241"/>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string</a:t>
            </a:r>
            <a:endParaRPr lang="en-US" sz="1500" dirty="0"/>
          </a:p>
        </p:txBody>
      </p:sp>
      <p:sp>
        <p:nvSpPr>
          <p:cNvPr id="12" name="Text 9"/>
          <p:cNvSpPr/>
          <p:nvPr/>
        </p:nvSpPr>
        <p:spPr>
          <a:xfrm>
            <a:off x="6546850" y="1861641"/>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текст в кавычках: "Привет"</a:t>
            </a:r>
            <a:endParaRPr lang="en-US" sz="1400" dirty="0"/>
          </a:p>
        </p:txBody>
      </p:sp>
      <p:sp>
        <p:nvSpPr>
          <p:cNvPr id="13" name="Shape 10"/>
          <p:cNvSpPr/>
          <p:nvPr/>
        </p:nvSpPr>
        <p:spPr>
          <a:xfrm>
            <a:off x="6388100" y="2156222"/>
            <a:ext cx="0" cy="510480"/>
          </a:xfrm>
          <a:prstGeom prst="line">
            <a:avLst/>
          </a:prstGeom>
          <a:noFill/>
          <a:ln w="63500">
            <a:solidFill>
              <a:srgbClr val="972996"/>
            </a:solidFill>
            <a:prstDash val="solid"/>
          </a:ln>
        </p:spPr>
      </p:sp>
      <p:sp>
        <p:nvSpPr>
          <p:cNvPr id="14" name="Text 11"/>
          <p:cNvSpPr/>
          <p:nvPr/>
        </p:nvSpPr>
        <p:spPr>
          <a:xfrm>
            <a:off x="6546850" y="2156222"/>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number</a:t>
            </a:r>
            <a:endParaRPr lang="en-US" sz="1500" dirty="0"/>
          </a:p>
        </p:txBody>
      </p:sp>
      <p:sp>
        <p:nvSpPr>
          <p:cNvPr id="15" name="Text 12"/>
          <p:cNvSpPr/>
          <p:nvPr/>
        </p:nvSpPr>
        <p:spPr>
          <a:xfrm>
            <a:off x="6546850" y="2435622"/>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целые и дробные: 42, 3.14, а также NaN и Infinity</a:t>
            </a:r>
            <a:endParaRPr lang="en-US" sz="1400" dirty="0"/>
          </a:p>
        </p:txBody>
      </p:sp>
      <p:sp>
        <p:nvSpPr>
          <p:cNvPr id="16" name="Shape 13"/>
          <p:cNvSpPr/>
          <p:nvPr/>
        </p:nvSpPr>
        <p:spPr>
          <a:xfrm>
            <a:off x="6388100" y="2730202"/>
            <a:ext cx="0" cy="510480"/>
          </a:xfrm>
          <a:prstGeom prst="line">
            <a:avLst/>
          </a:prstGeom>
          <a:noFill/>
          <a:ln w="63500">
            <a:solidFill>
              <a:srgbClr val="972996"/>
            </a:solidFill>
            <a:prstDash val="solid"/>
          </a:ln>
        </p:spPr>
      </p:sp>
      <p:sp>
        <p:nvSpPr>
          <p:cNvPr id="17" name="Text 14"/>
          <p:cNvSpPr/>
          <p:nvPr/>
        </p:nvSpPr>
        <p:spPr>
          <a:xfrm>
            <a:off x="6546850" y="2730202"/>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boolean</a:t>
            </a:r>
            <a:endParaRPr lang="en-US" sz="1500" dirty="0"/>
          </a:p>
        </p:txBody>
      </p:sp>
      <p:sp>
        <p:nvSpPr>
          <p:cNvPr id="18" name="Text 15"/>
          <p:cNvSpPr/>
          <p:nvPr/>
        </p:nvSpPr>
        <p:spPr>
          <a:xfrm>
            <a:off x="6546850" y="3009602"/>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логика: true или false</a:t>
            </a:r>
            <a:endParaRPr lang="en-US" sz="1400" dirty="0"/>
          </a:p>
        </p:txBody>
      </p:sp>
      <p:sp>
        <p:nvSpPr>
          <p:cNvPr id="19" name="Shape 16"/>
          <p:cNvSpPr/>
          <p:nvPr/>
        </p:nvSpPr>
        <p:spPr>
          <a:xfrm>
            <a:off x="6388100" y="3304183"/>
            <a:ext cx="0" cy="510480"/>
          </a:xfrm>
          <a:prstGeom prst="line">
            <a:avLst/>
          </a:prstGeom>
          <a:noFill/>
          <a:ln w="63500">
            <a:solidFill>
              <a:srgbClr val="972996"/>
            </a:solidFill>
            <a:prstDash val="solid"/>
          </a:ln>
        </p:spPr>
      </p:sp>
      <p:sp>
        <p:nvSpPr>
          <p:cNvPr id="20" name="Text 17"/>
          <p:cNvSpPr/>
          <p:nvPr/>
        </p:nvSpPr>
        <p:spPr>
          <a:xfrm>
            <a:off x="6546850" y="330418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null и undefined</a:t>
            </a:r>
            <a:endParaRPr lang="en-US" sz="1500" dirty="0"/>
          </a:p>
        </p:txBody>
      </p:sp>
      <p:sp>
        <p:nvSpPr>
          <p:cNvPr id="21" name="Text 18"/>
          <p:cNvSpPr/>
          <p:nvPr/>
        </p:nvSpPr>
        <p:spPr>
          <a:xfrm>
            <a:off x="6546850" y="358358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null — «пусто» намеренно, undefined — значение не задано</a:t>
            </a:r>
            <a:endParaRPr lang="en-US" sz="1400" dirty="0"/>
          </a:p>
        </p:txBody>
      </p:sp>
      <p:sp>
        <p:nvSpPr>
          <p:cNvPr id="22" name="Shape 19"/>
          <p:cNvSpPr/>
          <p:nvPr/>
        </p:nvSpPr>
        <p:spPr>
          <a:xfrm>
            <a:off x="6388100" y="3878163"/>
            <a:ext cx="0" cy="510480"/>
          </a:xfrm>
          <a:prstGeom prst="line">
            <a:avLst/>
          </a:prstGeom>
          <a:noFill/>
          <a:ln w="63500">
            <a:solidFill>
              <a:srgbClr val="972996"/>
            </a:solidFill>
            <a:prstDash val="solid"/>
          </a:ln>
        </p:spPr>
      </p:sp>
      <p:sp>
        <p:nvSpPr>
          <p:cNvPr id="23" name="Text 20"/>
          <p:cNvSpPr/>
          <p:nvPr/>
        </p:nvSpPr>
        <p:spPr>
          <a:xfrm>
            <a:off x="6546850" y="387816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bigint и symbol</a:t>
            </a:r>
            <a:endParaRPr lang="en-US" sz="1500" dirty="0"/>
          </a:p>
        </p:txBody>
      </p:sp>
      <p:sp>
        <p:nvSpPr>
          <p:cNvPr id="24" name="Text 21"/>
          <p:cNvSpPr/>
          <p:nvPr/>
        </p:nvSpPr>
        <p:spPr>
          <a:xfrm>
            <a:off x="6546850" y="415756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огромные целые числа и уникальные идентификаторы</a:t>
            </a:r>
            <a:endParaRPr lang="en-US" sz="1400" dirty="0"/>
          </a:p>
        </p:txBody>
      </p:sp>
      <p:sp>
        <p:nvSpPr>
          <p:cNvPr id="25" name="Shape 22"/>
          <p:cNvSpPr/>
          <p:nvPr/>
        </p:nvSpPr>
        <p:spPr>
          <a:xfrm>
            <a:off x="6388100" y="4452144"/>
            <a:ext cx="0" cy="510480"/>
          </a:xfrm>
          <a:prstGeom prst="line">
            <a:avLst/>
          </a:prstGeom>
          <a:noFill/>
          <a:ln w="63500">
            <a:solidFill>
              <a:srgbClr val="972996"/>
            </a:solidFill>
            <a:prstDash val="solid"/>
          </a:ln>
        </p:spPr>
      </p:sp>
      <p:sp>
        <p:nvSpPr>
          <p:cNvPr id="26" name="Text 23"/>
          <p:cNvSpPr/>
          <p:nvPr/>
        </p:nvSpPr>
        <p:spPr>
          <a:xfrm>
            <a:off x="6546850" y="445214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object</a:t>
            </a:r>
            <a:endParaRPr lang="en-US" sz="1500" dirty="0"/>
          </a:p>
        </p:txBody>
      </p:sp>
      <p:sp>
        <p:nvSpPr>
          <p:cNvPr id="27" name="Text 24"/>
          <p:cNvSpPr/>
          <p:nvPr/>
        </p:nvSpPr>
        <p:spPr>
          <a:xfrm>
            <a:off x="6546850" y="4731544"/>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объекты, массивы, функции — всё составное</a:t>
            </a:r>
            <a:endParaRPr lang="en-US" sz="1400" dirty="0"/>
          </a:p>
        </p:txBody>
      </p:sp>
      <p:sp>
        <p:nvSpPr>
          <p:cNvPr id="28" name="Text 25"/>
          <p:cNvSpPr/>
          <p:nvPr/>
        </p:nvSpPr>
        <p:spPr>
          <a:xfrm>
            <a:off x="635000" y="5089624"/>
            <a:ext cx="10922000" cy="742950"/>
          </a:xfrm>
          <a:prstGeom prst="roundRect">
            <a:avLst>
              <a:gd name="adj" fmla="val 10256"/>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Первые семь — примитивы: простые неизменяемые значения. Всё остальное — объекты. typeof null возвращает "object" из-за давней ошибки языка, её сохранили ради совместимости.</a:t>
            </a:r>
            <a:endParaRPr lang="en-US" sz="1500" dirty="0"/>
          </a:p>
        </p:txBody>
      </p:sp>
      <p:pic>
        <p:nvPicPr>
          <p:cNvPr id="29" name="Рисунок 2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15890" y="204153"/>
            <a:ext cx="737272" cy="7259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Строки</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Текст в кавычках и самые нужные методы</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565400"/>
          </a:xfrm>
          <a:prstGeom prst="roundRect">
            <a:avLst>
              <a:gd name="adj" fmla="val 2970"/>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name = </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hi = </a:t>
            </a:r>
            <a:r>
              <a:rPr lang="en-US" sz="1200" dirty="0">
                <a:solidFill>
                  <a:srgbClr val="9EE6A8"/>
                </a:solidFill>
                <a:latin typeface="JetBrains Mono" pitchFamily="49" charset="0"/>
                <a:ea typeface="JetBrains Mono" pitchFamily="49" charset="-122"/>
                <a:cs typeface="JetBrains Mono" pitchFamily="49" charset="-120"/>
              </a:rPr>
              <a:t>`Привет, ${name}!`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(hi);</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(hi.length);</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(hi.</a:t>
            </a:r>
            <a:r>
              <a:rPr lang="en-US" sz="1200" dirty="0">
                <a:solidFill>
                  <a:srgbClr val="FFD27F"/>
                </a:solidFill>
                <a:latin typeface="JetBrains Mono" pitchFamily="49" charset="0"/>
                <a:ea typeface="JetBrains Mono" pitchFamily="49" charset="-122"/>
                <a:cs typeface="JetBrains Mono" pitchFamily="49" charset="-120"/>
              </a:rPr>
              <a:t>toUpperCase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(hi.</a:t>
            </a:r>
            <a:r>
              <a:rPr lang="en-US" sz="1200" dirty="0">
                <a:solidFill>
                  <a:srgbClr val="FFD27F"/>
                </a:solidFill>
                <a:latin typeface="JetBrains Mono" pitchFamily="49" charset="0"/>
                <a:ea typeface="JetBrains Mono" pitchFamily="49" charset="-122"/>
                <a:cs typeface="JetBrains Mono" pitchFamily="49" charset="-120"/>
              </a:rPr>
              <a:t>includes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(hi.</a:t>
            </a:r>
            <a:r>
              <a:rPr lang="en-US" sz="1200" dirty="0">
                <a:solidFill>
                  <a:srgbClr val="FFD27F"/>
                </a:solidFill>
                <a:latin typeface="JetBrains Mono" pitchFamily="49" charset="0"/>
                <a:ea typeface="JetBrains Mono" pitchFamily="49" charset="-122"/>
                <a:cs typeface="JetBrains Mono" pitchFamily="49" charset="-120"/>
              </a:rPr>
              <a:t>slice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6</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"a,b,c"</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split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 ок "</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trim</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"ab"</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repeat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434755"/>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607641"/>
            <a:ext cx="5200650" cy="3097014"/>
          </a:xfrm>
          <a:prstGeom prst="roundRect">
            <a:avLst>
              <a:gd name="adj" fmla="val 2460"/>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34617"/>
            <a:ext cx="5200650" cy="0"/>
          </a:xfrm>
          <a:prstGeom prst="line">
            <a:avLst/>
          </a:prstGeom>
          <a:noFill/>
          <a:ln w="6350">
            <a:solidFill>
              <a:srgbClr val="DDDDDD"/>
            </a:solidFill>
            <a:prstDash val="solid"/>
          </a:ln>
        </p:spPr>
      </p:sp>
      <p:sp>
        <p:nvSpPr>
          <p:cNvPr id="17" name="Text 14"/>
          <p:cNvSpPr/>
          <p:nvPr/>
        </p:nvSpPr>
        <p:spPr>
          <a:xfrm>
            <a:off x="6508750" y="204956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Привет, Анна!</a:t>
            </a:r>
            <a:endParaRPr lang="en-US" sz="1300" dirty="0"/>
          </a:p>
        </p:txBody>
      </p:sp>
      <p:sp>
        <p:nvSpPr>
          <p:cNvPr id="18" name="Shape 15"/>
          <p:cNvSpPr/>
          <p:nvPr/>
        </p:nvSpPr>
        <p:spPr>
          <a:xfrm>
            <a:off x="6356350" y="2673648"/>
            <a:ext cx="5200650" cy="0"/>
          </a:xfrm>
          <a:prstGeom prst="line">
            <a:avLst/>
          </a:prstGeom>
          <a:noFill/>
          <a:ln w="6350">
            <a:solidFill>
              <a:srgbClr val="DDDDDD"/>
            </a:solidFill>
            <a:prstDash val="solid"/>
          </a:ln>
        </p:spPr>
      </p:sp>
      <p:sp>
        <p:nvSpPr>
          <p:cNvPr id="19" name="Text 16"/>
          <p:cNvSpPr/>
          <p:nvPr/>
        </p:nvSpPr>
        <p:spPr>
          <a:xfrm>
            <a:off x="6508750" y="238859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13</a:t>
            </a:r>
            <a:endParaRPr lang="en-US" sz="1300" dirty="0"/>
          </a:p>
        </p:txBody>
      </p:sp>
      <p:sp>
        <p:nvSpPr>
          <p:cNvPr id="20" name="Shape 17"/>
          <p:cNvSpPr/>
          <p:nvPr/>
        </p:nvSpPr>
        <p:spPr>
          <a:xfrm>
            <a:off x="6356350" y="3012678"/>
            <a:ext cx="5200650" cy="0"/>
          </a:xfrm>
          <a:prstGeom prst="line">
            <a:avLst/>
          </a:prstGeom>
          <a:noFill/>
          <a:ln w="6350">
            <a:solidFill>
              <a:srgbClr val="DDDDDD"/>
            </a:solidFill>
            <a:prstDash val="solid"/>
          </a:ln>
        </p:spPr>
      </p:sp>
      <p:sp>
        <p:nvSpPr>
          <p:cNvPr id="21" name="Text 18"/>
          <p:cNvSpPr/>
          <p:nvPr/>
        </p:nvSpPr>
        <p:spPr>
          <a:xfrm>
            <a:off x="6508750" y="272762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ПРИВЕТ, АННА!</a:t>
            </a:r>
            <a:endParaRPr lang="en-US" sz="1300" dirty="0"/>
          </a:p>
        </p:txBody>
      </p:sp>
      <p:sp>
        <p:nvSpPr>
          <p:cNvPr id="22" name="Shape 19"/>
          <p:cNvSpPr/>
          <p:nvPr/>
        </p:nvSpPr>
        <p:spPr>
          <a:xfrm>
            <a:off x="6356350" y="3351709"/>
            <a:ext cx="5200650" cy="0"/>
          </a:xfrm>
          <a:prstGeom prst="line">
            <a:avLst/>
          </a:prstGeom>
          <a:noFill/>
          <a:ln w="6350">
            <a:solidFill>
              <a:srgbClr val="DDDDDD"/>
            </a:solidFill>
            <a:prstDash val="solid"/>
          </a:ln>
        </p:spPr>
      </p:sp>
      <p:sp>
        <p:nvSpPr>
          <p:cNvPr id="23" name="Text 20"/>
          <p:cNvSpPr/>
          <p:nvPr/>
        </p:nvSpPr>
        <p:spPr>
          <a:xfrm>
            <a:off x="6508750" y="306665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4" name="Shape 21"/>
          <p:cNvSpPr/>
          <p:nvPr/>
        </p:nvSpPr>
        <p:spPr>
          <a:xfrm>
            <a:off x="6356350" y="3690739"/>
            <a:ext cx="5200650" cy="0"/>
          </a:xfrm>
          <a:prstGeom prst="line">
            <a:avLst/>
          </a:prstGeom>
          <a:noFill/>
          <a:ln w="6350">
            <a:solidFill>
              <a:srgbClr val="DDDDDD"/>
            </a:solidFill>
            <a:prstDash val="solid"/>
          </a:ln>
        </p:spPr>
      </p:sp>
      <p:sp>
        <p:nvSpPr>
          <p:cNvPr id="25" name="Text 22"/>
          <p:cNvSpPr/>
          <p:nvPr/>
        </p:nvSpPr>
        <p:spPr>
          <a:xfrm>
            <a:off x="6508750" y="340568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Привет</a:t>
            </a:r>
            <a:endParaRPr lang="en-US" sz="1300" dirty="0"/>
          </a:p>
        </p:txBody>
      </p:sp>
      <p:sp>
        <p:nvSpPr>
          <p:cNvPr id="26" name="Shape 23"/>
          <p:cNvSpPr/>
          <p:nvPr/>
        </p:nvSpPr>
        <p:spPr>
          <a:xfrm>
            <a:off x="6356350" y="4029770"/>
            <a:ext cx="5200650" cy="0"/>
          </a:xfrm>
          <a:prstGeom prst="line">
            <a:avLst/>
          </a:prstGeom>
          <a:noFill/>
          <a:ln w="6350">
            <a:solidFill>
              <a:srgbClr val="DDDDDD"/>
            </a:solidFill>
            <a:prstDash val="solid"/>
          </a:ln>
        </p:spPr>
      </p:sp>
      <p:sp>
        <p:nvSpPr>
          <p:cNvPr id="27" name="Text 24"/>
          <p:cNvSpPr/>
          <p:nvPr/>
        </p:nvSpPr>
        <p:spPr>
          <a:xfrm>
            <a:off x="6508750" y="374471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["a", "b", "c"]</a:t>
            </a:r>
            <a:endParaRPr lang="en-US" sz="1300" dirty="0"/>
          </a:p>
        </p:txBody>
      </p:sp>
      <p:sp>
        <p:nvSpPr>
          <p:cNvPr id="28" name="Shape 25"/>
          <p:cNvSpPr/>
          <p:nvPr/>
        </p:nvSpPr>
        <p:spPr>
          <a:xfrm>
            <a:off x="6356350" y="4368800"/>
            <a:ext cx="5200650" cy="0"/>
          </a:xfrm>
          <a:prstGeom prst="line">
            <a:avLst/>
          </a:prstGeom>
          <a:noFill/>
          <a:ln w="6350">
            <a:solidFill>
              <a:srgbClr val="DDDDDD"/>
            </a:solidFill>
            <a:prstDash val="solid"/>
          </a:ln>
        </p:spPr>
      </p:sp>
      <p:sp>
        <p:nvSpPr>
          <p:cNvPr id="29" name="Text 26"/>
          <p:cNvSpPr/>
          <p:nvPr/>
        </p:nvSpPr>
        <p:spPr>
          <a:xfrm>
            <a:off x="6508750" y="408374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ок</a:t>
            </a:r>
            <a:endParaRPr lang="en-US" sz="1300" dirty="0"/>
          </a:p>
        </p:txBody>
      </p:sp>
      <p:sp>
        <p:nvSpPr>
          <p:cNvPr id="30" name="Text 27"/>
          <p:cNvSpPr/>
          <p:nvPr/>
        </p:nvSpPr>
        <p:spPr>
          <a:xfrm>
            <a:off x="6508750" y="442277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ababab</a:t>
            </a:r>
            <a:endParaRPr lang="en-US" sz="1300" dirty="0"/>
          </a:p>
        </p:txBody>
      </p:sp>
      <p:sp>
        <p:nvSpPr>
          <p:cNvPr id="31" name="Text 28"/>
          <p:cNvSpPr/>
          <p:nvPr/>
        </p:nvSpPr>
        <p:spPr>
          <a:xfrm>
            <a:off x="635000" y="4831655"/>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Кавычки бывают двойные, одинарные и обратные. Только в обратных работает подстановка ${выражение}. Строки неизменяемы: методы возвращают новую строку, а не меняют старую. Символ по номеру: hi[0].</a:t>
            </a:r>
            <a:endParaRPr lang="en-US" sz="1500" dirty="0"/>
          </a:p>
        </p:txBody>
      </p:sp>
      <p:pic>
        <p:nvPicPr>
          <p:cNvPr id="32" name="Рисунок 3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9957841" y="370735"/>
            <a:ext cx="737272" cy="7259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Числа и математика</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Один тип number для целых и дробных, плюс объект Math</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565400"/>
          </a:xfrm>
          <a:prstGeom prst="roundRect">
            <a:avLst>
              <a:gd name="adj" fmla="val 2970"/>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a = </a:t>
            </a:r>
            <a:r>
              <a:rPr lang="en-US" sz="1200" dirty="0">
                <a:solidFill>
                  <a:srgbClr val="8FD3FF"/>
                </a:solidFill>
                <a:latin typeface="JetBrains Mono" pitchFamily="49" charset="0"/>
                <a:ea typeface="JetBrains Mono" pitchFamily="49" charset="-122"/>
                <a:cs typeface="JetBrains Mono" pitchFamily="49" charset="-120"/>
              </a:rPr>
              <a:t>10</a:t>
            </a:r>
            <a:r>
              <a:rPr lang="en-US" sz="1200" dirty="0">
                <a:solidFill>
                  <a:srgbClr val="FFFFFF"/>
                </a:solidFill>
                <a:latin typeface="JetBrains Mono" pitchFamily="49" charset="0"/>
                <a:ea typeface="JetBrains Mono" pitchFamily="49" charset="-122"/>
                <a:cs typeface="JetBrains Mono" pitchFamily="49" charset="-120"/>
              </a:rPr>
              <a:t>, b =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 + b, a - b, a * b);</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 / b);</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 % b, a ** b);</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0.1</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8FD3FF"/>
                </a:solidFill>
                <a:latin typeface="JetBrains Mono" pitchFamily="49" charset="0"/>
                <a:ea typeface="JetBrains Mono" pitchFamily="49" charset="-122"/>
                <a:cs typeface="JetBrains Mono" pitchFamily="49" charset="-120"/>
              </a:rPr>
              <a:t>0.2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(Math.</a:t>
            </a:r>
            <a:r>
              <a:rPr lang="en-US" sz="1200" dirty="0">
                <a:solidFill>
                  <a:srgbClr val="FFD27F"/>
                </a:solidFill>
                <a:latin typeface="JetBrains Mono" pitchFamily="49" charset="0"/>
                <a:ea typeface="JetBrains Mono" pitchFamily="49" charset="-122"/>
                <a:cs typeface="JetBrains Mono" pitchFamily="49" charset="-120"/>
              </a:rPr>
              <a:t>round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4.6</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(Math.</a:t>
            </a:r>
            <a:r>
              <a:rPr lang="en-US" sz="1200" dirty="0">
                <a:solidFill>
                  <a:srgbClr val="FFD27F"/>
                </a:solidFill>
                <a:latin typeface="JetBrains Mono" pitchFamily="49" charset="0"/>
                <a:ea typeface="JetBrains Mono" pitchFamily="49" charset="-122"/>
                <a:cs typeface="JetBrains Mono" pitchFamily="49" charset="-120"/>
              </a:rPr>
              <a:t>max</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Number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"42"</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Number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"abc"</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3.14159</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toFixed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697585"/>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17166"/>
            <a:ext cx="5181600" cy="3340795"/>
          </a:xfrm>
          <a:prstGeom prst="roundRect">
            <a:avLst>
              <a:gd name="adj" fmla="val 1996"/>
            </a:avLst>
          </a:prstGeom>
          <a:solidFill>
            <a:srgbClr val="FFFFFF"/>
          </a:solidFill>
          <a:ln w="19050">
            <a:solidFill>
              <a:srgbClr val="972996"/>
            </a:solidFill>
            <a:prstDash val="solid"/>
          </a:ln>
        </p:spPr>
      </p:sp>
      <p:sp>
        <p:nvSpPr>
          <p:cNvPr id="11" name="Shape 8"/>
          <p:cNvSpPr/>
          <p:nvPr/>
        </p:nvSpPr>
        <p:spPr>
          <a:xfrm>
            <a:off x="6375400" y="16266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71452"/>
            <a:ext cx="101600" cy="101600"/>
          </a:xfrm>
          <a:prstGeom prst="roundRect">
            <a:avLst>
              <a:gd name="adj" fmla="val 50000"/>
            </a:avLst>
          </a:prstGeom>
          <a:solidFill>
            <a:srgbClr val="E57373"/>
          </a:solidFill>
          <a:ln/>
        </p:spPr>
      </p:sp>
      <p:sp>
        <p:nvSpPr>
          <p:cNvPr id="13" name="Shape 10"/>
          <p:cNvSpPr/>
          <p:nvPr/>
        </p:nvSpPr>
        <p:spPr>
          <a:xfrm>
            <a:off x="6667500" y="1771452"/>
            <a:ext cx="101600" cy="101600"/>
          </a:xfrm>
          <a:prstGeom prst="roundRect">
            <a:avLst>
              <a:gd name="adj" fmla="val 50000"/>
            </a:avLst>
          </a:prstGeom>
          <a:solidFill>
            <a:srgbClr val="FFD54F"/>
          </a:solidFill>
          <a:ln/>
        </p:spPr>
      </p:sp>
      <p:sp>
        <p:nvSpPr>
          <p:cNvPr id="14" name="Shape 11"/>
          <p:cNvSpPr/>
          <p:nvPr/>
        </p:nvSpPr>
        <p:spPr>
          <a:xfrm>
            <a:off x="6832600" y="1771452"/>
            <a:ext cx="101600" cy="101600"/>
          </a:xfrm>
          <a:prstGeom prst="roundRect">
            <a:avLst>
              <a:gd name="adj" fmla="val 50000"/>
            </a:avLst>
          </a:prstGeom>
          <a:solidFill>
            <a:srgbClr val="81C784"/>
          </a:solidFill>
          <a:ln/>
        </p:spPr>
      </p:sp>
      <p:sp>
        <p:nvSpPr>
          <p:cNvPr id="15" name="Text 12"/>
          <p:cNvSpPr/>
          <p:nvPr/>
        </p:nvSpPr>
        <p:spPr>
          <a:xfrm>
            <a:off x="7073900" y="17155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40967"/>
            <a:ext cx="5162550" cy="0"/>
          </a:xfrm>
          <a:prstGeom prst="line">
            <a:avLst/>
          </a:prstGeom>
          <a:noFill/>
          <a:ln w="6350">
            <a:solidFill>
              <a:srgbClr val="DDDDDD"/>
            </a:solidFill>
            <a:prstDash val="solid"/>
          </a:ln>
        </p:spPr>
      </p:sp>
      <p:sp>
        <p:nvSpPr>
          <p:cNvPr id="17" name="Text 14"/>
          <p:cNvSpPr/>
          <p:nvPr/>
        </p:nvSpPr>
        <p:spPr>
          <a:xfrm>
            <a:off x="6527800" y="206226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13 7 30</a:t>
            </a:r>
            <a:endParaRPr lang="en-US" sz="1300" dirty="0"/>
          </a:p>
        </p:txBody>
      </p:sp>
      <p:sp>
        <p:nvSpPr>
          <p:cNvPr id="18" name="Shape 15"/>
          <p:cNvSpPr/>
          <p:nvPr/>
        </p:nvSpPr>
        <p:spPr>
          <a:xfrm>
            <a:off x="6375400" y="2667298"/>
            <a:ext cx="5162550" cy="0"/>
          </a:xfrm>
          <a:prstGeom prst="line">
            <a:avLst/>
          </a:prstGeom>
          <a:noFill/>
          <a:ln w="6350">
            <a:solidFill>
              <a:srgbClr val="DDDDDD"/>
            </a:solidFill>
            <a:prstDash val="solid"/>
          </a:ln>
        </p:spPr>
      </p:sp>
      <p:sp>
        <p:nvSpPr>
          <p:cNvPr id="19" name="Text 16"/>
          <p:cNvSpPr/>
          <p:nvPr/>
        </p:nvSpPr>
        <p:spPr>
          <a:xfrm>
            <a:off x="6527800" y="238859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3.3333333333333335</a:t>
            </a:r>
            <a:endParaRPr lang="en-US" sz="1300" dirty="0"/>
          </a:p>
        </p:txBody>
      </p:sp>
      <p:sp>
        <p:nvSpPr>
          <p:cNvPr id="20" name="Shape 17"/>
          <p:cNvSpPr/>
          <p:nvPr/>
        </p:nvSpPr>
        <p:spPr>
          <a:xfrm>
            <a:off x="6375400" y="2993628"/>
            <a:ext cx="5162550" cy="0"/>
          </a:xfrm>
          <a:prstGeom prst="line">
            <a:avLst/>
          </a:prstGeom>
          <a:noFill/>
          <a:ln w="6350">
            <a:solidFill>
              <a:srgbClr val="DDDDDD"/>
            </a:solidFill>
            <a:prstDash val="solid"/>
          </a:ln>
        </p:spPr>
      </p:sp>
      <p:sp>
        <p:nvSpPr>
          <p:cNvPr id="21" name="Text 18"/>
          <p:cNvSpPr/>
          <p:nvPr/>
        </p:nvSpPr>
        <p:spPr>
          <a:xfrm>
            <a:off x="6527800" y="271492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1 1000</a:t>
            </a:r>
            <a:endParaRPr lang="en-US" sz="1300" dirty="0"/>
          </a:p>
        </p:txBody>
      </p:sp>
      <p:sp>
        <p:nvSpPr>
          <p:cNvPr id="22" name="Shape 19"/>
          <p:cNvSpPr/>
          <p:nvPr/>
        </p:nvSpPr>
        <p:spPr>
          <a:xfrm>
            <a:off x="6375400" y="3319959"/>
            <a:ext cx="5162550" cy="0"/>
          </a:xfrm>
          <a:prstGeom prst="line">
            <a:avLst/>
          </a:prstGeom>
          <a:noFill/>
          <a:ln w="6350">
            <a:solidFill>
              <a:srgbClr val="DDDDDD"/>
            </a:solidFill>
            <a:prstDash val="solid"/>
          </a:ln>
        </p:spPr>
      </p:sp>
      <p:sp>
        <p:nvSpPr>
          <p:cNvPr id="23" name="Text 20"/>
          <p:cNvSpPr/>
          <p:nvPr/>
        </p:nvSpPr>
        <p:spPr>
          <a:xfrm>
            <a:off x="6527800" y="304125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0.30000000000000004</a:t>
            </a:r>
            <a:endParaRPr lang="en-US" sz="1300" dirty="0"/>
          </a:p>
        </p:txBody>
      </p:sp>
      <p:sp>
        <p:nvSpPr>
          <p:cNvPr id="24" name="Shape 21"/>
          <p:cNvSpPr/>
          <p:nvPr/>
        </p:nvSpPr>
        <p:spPr>
          <a:xfrm>
            <a:off x="6375400" y="3646289"/>
            <a:ext cx="5162550" cy="0"/>
          </a:xfrm>
          <a:prstGeom prst="line">
            <a:avLst/>
          </a:prstGeom>
          <a:noFill/>
          <a:ln w="6350">
            <a:solidFill>
              <a:srgbClr val="DDDDDD"/>
            </a:solidFill>
            <a:prstDash val="solid"/>
          </a:ln>
        </p:spPr>
      </p:sp>
      <p:sp>
        <p:nvSpPr>
          <p:cNvPr id="25" name="Text 22"/>
          <p:cNvSpPr/>
          <p:nvPr/>
        </p:nvSpPr>
        <p:spPr>
          <a:xfrm>
            <a:off x="6527800" y="3367584"/>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5</a:t>
            </a:r>
            <a:endParaRPr lang="en-US" sz="1300" dirty="0"/>
          </a:p>
        </p:txBody>
      </p:sp>
      <p:sp>
        <p:nvSpPr>
          <p:cNvPr id="26" name="Shape 23"/>
          <p:cNvSpPr/>
          <p:nvPr/>
        </p:nvSpPr>
        <p:spPr>
          <a:xfrm>
            <a:off x="6375400" y="3972620"/>
            <a:ext cx="5162550" cy="0"/>
          </a:xfrm>
          <a:prstGeom prst="line">
            <a:avLst/>
          </a:prstGeom>
          <a:noFill/>
          <a:ln w="6350">
            <a:solidFill>
              <a:srgbClr val="DDDDDD"/>
            </a:solidFill>
            <a:prstDash val="solid"/>
          </a:ln>
        </p:spPr>
      </p:sp>
      <p:sp>
        <p:nvSpPr>
          <p:cNvPr id="27" name="Text 24"/>
          <p:cNvSpPr/>
          <p:nvPr/>
        </p:nvSpPr>
        <p:spPr>
          <a:xfrm>
            <a:off x="6527800" y="3693914"/>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5</a:t>
            </a:r>
            <a:endParaRPr lang="en-US" sz="1300" dirty="0"/>
          </a:p>
        </p:txBody>
      </p:sp>
      <p:sp>
        <p:nvSpPr>
          <p:cNvPr id="28" name="Shape 25"/>
          <p:cNvSpPr/>
          <p:nvPr/>
        </p:nvSpPr>
        <p:spPr>
          <a:xfrm>
            <a:off x="6375400" y="4298950"/>
            <a:ext cx="5162550" cy="0"/>
          </a:xfrm>
          <a:prstGeom prst="line">
            <a:avLst/>
          </a:prstGeom>
          <a:noFill/>
          <a:ln w="6350">
            <a:solidFill>
              <a:srgbClr val="DDDDDD"/>
            </a:solidFill>
            <a:prstDash val="solid"/>
          </a:ln>
        </p:spPr>
      </p:sp>
      <p:sp>
        <p:nvSpPr>
          <p:cNvPr id="29" name="Text 26"/>
          <p:cNvSpPr/>
          <p:nvPr/>
        </p:nvSpPr>
        <p:spPr>
          <a:xfrm>
            <a:off x="6527800" y="4020245"/>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43</a:t>
            </a:r>
            <a:endParaRPr lang="en-US" sz="1300" dirty="0"/>
          </a:p>
        </p:txBody>
      </p:sp>
      <p:sp>
        <p:nvSpPr>
          <p:cNvPr id="30" name="Shape 27"/>
          <p:cNvSpPr/>
          <p:nvPr/>
        </p:nvSpPr>
        <p:spPr>
          <a:xfrm>
            <a:off x="6375400" y="4625280"/>
            <a:ext cx="5162550" cy="0"/>
          </a:xfrm>
          <a:prstGeom prst="line">
            <a:avLst/>
          </a:prstGeom>
          <a:noFill/>
          <a:ln w="6350">
            <a:solidFill>
              <a:srgbClr val="DDDDDD"/>
            </a:solidFill>
            <a:prstDash val="solid"/>
          </a:ln>
        </p:spPr>
      </p:sp>
      <p:sp>
        <p:nvSpPr>
          <p:cNvPr id="31" name="Text 28"/>
          <p:cNvSpPr/>
          <p:nvPr/>
        </p:nvSpPr>
        <p:spPr>
          <a:xfrm>
            <a:off x="6527800" y="4346575"/>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NaN</a:t>
            </a:r>
            <a:endParaRPr lang="en-US" sz="1300" dirty="0"/>
          </a:p>
        </p:txBody>
      </p:sp>
      <p:sp>
        <p:nvSpPr>
          <p:cNvPr id="32" name="Text 29"/>
          <p:cNvSpPr/>
          <p:nvPr/>
        </p:nvSpPr>
        <p:spPr>
          <a:xfrm>
            <a:off x="6527800" y="4672905"/>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3.14</a:t>
            </a:r>
            <a:endParaRPr lang="en-US" sz="1300" dirty="0"/>
          </a:p>
        </p:txBody>
      </p:sp>
      <p:sp>
        <p:nvSpPr>
          <p:cNvPr id="33" name="Text 30"/>
          <p:cNvSpPr/>
          <p:nvPr/>
        </p:nvSpPr>
        <p:spPr>
          <a:xfrm>
            <a:off x="635000" y="5094486"/>
            <a:ext cx="10922000" cy="1000125"/>
          </a:xfrm>
          <a:prstGeom prst="roundRect">
            <a:avLst>
              <a:gd name="adj" fmla="val 7619"/>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 — остаток от деления, ** — степень. Погрешность 0.1 + 0.2 есть во всех языках: дроби хранятся в двоичном виде. NaN — «не число», результат неудачного преобразования. Math.floor, Math.ceil, Math.random() — округление вниз, вверх и случайное число от 0 до 1.</a:t>
            </a:r>
            <a:endParaRPr lang="en-US" sz="1500" dirty="0"/>
          </a:p>
        </p:txBody>
      </p:sp>
      <p:pic>
        <p:nvPicPr>
          <p:cNvPr id="34" name="Рисунок 3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695971" y="183110"/>
            <a:ext cx="737272" cy="7259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Сравнение и логика</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Операторы, которые отвечают «да» или «нет»</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565400"/>
          </a:xfrm>
          <a:prstGeom prst="roundRect">
            <a:avLst>
              <a:gd name="adj" fmla="val 2970"/>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8FD3FF"/>
                </a:solidFill>
                <a:latin typeface="JetBrains Mono" pitchFamily="49" charset="0"/>
                <a:ea typeface="JetBrains Mono" pitchFamily="49" charset="-122"/>
                <a:cs typeface="JetBrains Mono" pitchFamily="49" charset="-120"/>
              </a:rPr>
              <a:t>6</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 &gt;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&amp;&amp;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&gt; </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"запас"</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null</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"пусто"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true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x = </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x +=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x++;</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msg = x &gt; </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"много"</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"мало"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(x, msg);</a:t>
            </a:r>
            <a:endParaRPr lang="en-US" sz="1200" dirty="0"/>
          </a:p>
        </p:txBody>
      </p:sp>
      <p:sp>
        <p:nvSpPr>
          <p:cNvPr id="8" name="Shape 5"/>
          <p:cNvSpPr/>
          <p:nvPr/>
        </p:nvSpPr>
        <p:spPr>
          <a:xfrm>
            <a:off x="6089650" y="1269901"/>
            <a:ext cx="12700" cy="3333155"/>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607641"/>
            <a:ext cx="5200650" cy="2995414"/>
          </a:xfrm>
          <a:prstGeom prst="roundRect">
            <a:avLst>
              <a:gd name="adj" fmla="val 2544"/>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21917"/>
            <a:ext cx="5200650" cy="0"/>
          </a:xfrm>
          <a:prstGeom prst="line">
            <a:avLst/>
          </a:prstGeom>
          <a:noFill/>
          <a:ln w="6350">
            <a:solidFill>
              <a:srgbClr val="DDDDDD"/>
            </a:solidFill>
            <a:prstDash val="solid"/>
          </a:ln>
        </p:spPr>
      </p:sp>
      <p:sp>
        <p:nvSpPr>
          <p:cNvPr id="17" name="Text 14"/>
          <p:cNvSpPr/>
          <p:nvPr/>
        </p:nvSpPr>
        <p:spPr>
          <a:xfrm>
            <a:off x="6508750" y="204321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18" name="Shape 15"/>
          <p:cNvSpPr/>
          <p:nvPr/>
        </p:nvSpPr>
        <p:spPr>
          <a:xfrm>
            <a:off x="6356350" y="2648248"/>
            <a:ext cx="5200650" cy="0"/>
          </a:xfrm>
          <a:prstGeom prst="line">
            <a:avLst/>
          </a:prstGeom>
          <a:noFill/>
          <a:ln w="6350">
            <a:solidFill>
              <a:srgbClr val="DDDDDD"/>
            </a:solidFill>
            <a:prstDash val="solid"/>
          </a:ln>
        </p:spPr>
      </p:sp>
      <p:sp>
        <p:nvSpPr>
          <p:cNvPr id="19" name="Text 16"/>
          <p:cNvSpPr/>
          <p:nvPr/>
        </p:nvSpPr>
        <p:spPr>
          <a:xfrm>
            <a:off x="6508750" y="236954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false</a:t>
            </a:r>
            <a:endParaRPr lang="en-US" sz="1300" dirty="0"/>
          </a:p>
        </p:txBody>
      </p:sp>
      <p:sp>
        <p:nvSpPr>
          <p:cNvPr id="20" name="Shape 17"/>
          <p:cNvSpPr/>
          <p:nvPr/>
        </p:nvSpPr>
        <p:spPr>
          <a:xfrm>
            <a:off x="6356350" y="2974578"/>
            <a:ext cx="5200650" cy="0"/>
          </a:xfrm>
          <a:prstGeom prst="line">
            <a:avLst/>
          </a:prstGeom>
          <a:noFill/>
          <a:ln w="6350">
            <a:solidFill>
              <a:srgbClr val="DDDDDD"/>
            </a:solidFill>
            <a:prstDash val="solid"/>
          </a:ln>
        </p:spPr>
      </p:sp>
      <p:sp>
        <p:nvSpPr>
          <p:cNvPr id="21" name="Text 18"/>
          <p:cNvSpPr/>
          <p:nvPr/>
        </p:nvSpPr>
        <p:spPr>
          <a:xfrm>
            <a:off x="6508750" y="269587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2" name="Shape 19"/>
          <p:cNvSpPr/>
          <p:nvPr/>
        </p:nvSpPr>
        <p:spPr>
          <a:xfrm>
            <a:off x="6356350" y="3300909"/>
            <a:ext cx="5200650" cy="0"/>
          </a:xfrm>
          <a:prstGeom prst="line">
            <a:avLst/>
          </a:prstGeom>
          <a:noFill/>
          <a:ln w="6350">
            <a:solidFill>
              <a:srgbClr val="DDDDDD"/>
            </a:solidFill>
            <a:prstDash val="solid"/>
          </a:ln>
        </p:spPr>
      </p:sp>
      <p:sp>
        <p:nvSpPr>
          <p:cNvPr id="23" name="Text 20"/>
          <p:cNvSpPr/>
          <p:nvPr/>
        </p:nvSpPr>
        <p:spPr>
          <a:xfrm>
            <a:off x="6508750" y="302220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4" name="Shape 21"/>
          <p:cNvSpPr/>
          <p:nvPr/>
        </p:nvSpPr>
        <p:spPr>
          <a:xfrm>
            <a:off x="6356350" y="3627239"/>
            <a:ext cx="5200650" cy="0"/>
          </a:xfrm>
          <a:prstGeom prst="line">
            <a:avLst/>
          </a:prstGeom>
          <a:noFill/>
          <a:ln w="6350">
            <a:solidFill>
              <a:srgbClr val="DDDDDD"/>
            </a:solidFill>
            <a:prstDash val="solid"/>
          </a:ln>
        </p:spPr>
      </p:sp>
      <p:sp>
        <p:nvSpPr>
          <p:cNvPr id="25" name="Text 22"/>
          <p:cNvSpPr/>
          <p:nvPr/>
        </p:nvSpPr>
        <p:spPr>
          <a:xfrm>
            <a:off x="6508750" y="334853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запас</a:t>
            </a:r>
            <a:endParaRPr lang="en-US" sz="1300" dirty="0"/>
          </a:p>
        </p:txBody>
      </p:sp>
      <p:sp>
        <p:nvSpPr>
          <p:cNvPr id="26" name="Shape 23"/>
          <p:cNvSpPr/>
          <p:nvPr/>
        </p:nvSpPr>
        <p:spPr>
          <a:xfrm>
            <a:off x="6356350" y="3953570"/>
            <a:ext cx="5200650" cy="0"/>
          </a:xfrm>
          <a:prstGeom prst="line">
            <a:avLst/>
          </a:prstGeom>
          <a:noFill/>
          <a:ln w="6350">
            <a:solidFill>
              <a:srgbClr val="DDDDDD"/>
            </a:solidFill>
            <a:prstDash val="solid"/>
          </a:ln>
        </p:spPr>
      </p:sp>
      <p:sp>
        <p:nvSpPr>
          <p:cNvPr id="27" name="Text 24"/>
          <p:cNvSpPr/>
          <p:nvPr/>
        </p:nvSpPr>
        <p:spPr>
          <a:xfrm>
            <a:off x="6508750" y="367486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пусто</a:t>
            </a:r>
            <a:endParaRPr lang="en-US" sz="1300" dirty="0"/>
          </a:p>
        </p:txBody>
      </p:sp>
      <p:sp>
        <p:nvSpPr>
          <p:cNvPr id="28" name="Shape 25"/>
          <p:cNvSpPr/>
          <p:nvPr/>
        </p:nvSpPr>
        <p:spPr>
          <a:xfrm>
            <a:off x="6356350" y="4279900"/>
            <a:ext cx="5200650" cy="0"/>
          </a:xfrm>
          <a:prstGeom prst="line">
            <a:avLst/>
          </a:prstGeom>
          <a:noFill/>
          <a:ln w="6350">
            <a:solidFill>
              <a:srgbClr val="DDDDDD"/>
            </a:solidFill>
            <a:prstDash val="solid"/>
          </a:ln>
        </p:spPr>
      </p:sp>
      <p:sp>
        <p:nvSpPr>
          <p:cNvPr id="29" name="Text 26"/>
          <p:cNvSpPr/>
          <p:nvPr/>
        </p:nvSpPr>
        <p:spPr>
          <a:xfrm>
            <a:off x="6508750" y="400119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false</a:t>
            </a:r>
            <a:endParaRPr lang="en-US" sz="1300" dirty="0"/>
          </a:p>
        </p:txBody>
      </p:sp>
      <p:sp>
        <p:nvSpPr>
          <p:cNvPr id="30" name="Text 27"/>
          <p:cNvSpPr/>
          <p:nvPr/>
        </p:nvSpPr>
        <p:spPr>
          <a:xfrm>
            <a:off x="6508750" y="432752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8 много</a:t>
            </a:r>
            <a:endParaRPr lang="en-US" sz="1300" dirty="0"/>
          </a:p>
        </p:txBody>
      </p:sp>
      <p:sp>
        <p:nvSpPr>
          <p:cNvPr id="31" name="Text 28"/>
          <p:cNvSpPr/>
          <p:nvPr/>
        </p:nvSpPr>
        <p:spPr>
          <a:xfrm>
            <a:off x="635000" y="4730055"/>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Всегда сравнивайте через === и !==: они не преобразуют типы. &amp;&amp; — «и», || — «или», ! — «не», ?? — значение по умолчанию только для null и undefined. «Ложные» значения: false, 0, "", null, undefined, NaN.</a:t>
            </a:r>
            <a:endParaRPr lang="en-US" sz="1500" dirty="0"/>
          </a:p>
        </p:txBody>
      </p:sp>
      <p:pic>
        <p:nvPicPr>
          <p:cNvPr id="32" name="Рисунок 3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260805" y="313238"/>
            <a:ext cx="737272" cy="7259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Условия: if и switch</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Программа выбирает, какой код выполнить</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794000"/>
          </a:xfrm>
          <a:prstGeom prst="roundRect">
            <a:avLst>
              <a:gd name="adj" fmla="val 2727"/>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t = </a:t>
            </a:r>
            <a:r>
              <a:rPr lang="en-US" sz="1200" dirty="0">
                <a:solidFill>
                  <a:srgbClr val="8FD3FF"/>
                </a:solidFill>
                <a:latin typeface="JetBrains Mono" pitchFamily="49" charset="0"/>
                <a:ea typeface="JetBrains Mono" pitchFamily="49" charset="-122"/>
                <a:cs typeface="JetBrains Mono" pitchFamily="49" charset="-120"/>
              </a:rPr>
              <a:t>18</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if</a:t>
            </a:r>
            <a:r>
              <a:rPr lang="en-US" sz="1200" dirty="0">
                <a:solidFill>
                  <a:srgbClr val="FFFFFF"/>
                </a:solidFill>
                <a:latin typeface="JetBrains Mono" pitchFamily="49" charset="0"/>
                <a:ea typeface="JetBrains Mono" pitchFamily="49" charset="-122"/>
                <a:cs typeface="JetBrains Mono" pitchFamily="49" charset="-120"/>
              </a:rPr>
              <a:t> (t &lt;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"мороз"</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else if</a:t>
            </a:r>
            <a:r>
              <a:rPr lang="en-US" sz="1200" dirty="0">
                <a:solidFill>
                  <a:srgbClr val="FFFFFF"/>
                </a:solidFill>
                <a:latin typeface="JetBrains Mono" pitchFamily="49" charset="0"/>
                <a:ea typeface="JetBrains Mono" pitchFamily="49" charset="-122"/>
                <a:cs typeface="JetBrains Mono" pitchFamily="49" charset="-120"/>
              </a:rPr>
              <a:t> (t &lt; </a:t>
            </a:r>
            <a:r>
              <a:rPr lang="en-US" sz="1200" dirty="0">
                <a:solidFill>
                  <a:srgbClr val="8FD3FF"/>
                </a:solidFill>
                <a:latin typeface="JetBrains Mono" pitchFamily="49" charset="0"/>
                <a:ea typeface="JetBrains Mono" pitchFamily="49" charset="-122"/>
                <a:cs typeface="JetBrains Mono" pitchFamily="49" charset="-120"/>
              </a:rPr>
              <a:t>20</a:t>
            </a: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"прохладно"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else</a:t>
            </a: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"тепло"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day = </a:t>
            </a:r>
            <a:r>
              <a:rPr lang="en-US" sz="1200" dirty="0">
                <a:solidFill>
                  <a:srgbClr val="9EE6A8"/>
                </a:solidFill>
                <a:latin typeface="JetBrains Mono" pitchFamily="49" charset="0"/>
                <a:ea typeface="JetBrains Mono" pitchFamily="49" charset="-122"/>
                <a:cs typeface="JetBrains Mono" pitchFamily="49" charset="-120"/>
              </a:rPr>
              <a:t>"вс"</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switch</a:t>
            </a:r>
            <a:r>
              <a:rPr lang="en-US" sz="1200" dirty="0">
                <a:solidFill>
                  <a:srgbClr val="FFFFFF"/>
                </a:solidFill>
                <a:latin typeface="JetBrains Mono" pitchFamily="49" charset="0"/>
                <a:ea typeface="JetBrains Mono" pitchFamily="49" charset="-122"/>
                <a:cs typeface="JetBrains Mono" pitchFamily="49" charset="-120"/>
              </a:rPr>
              <a:t> (day)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case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"пн"</a:t>
            </a: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"работа"</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break</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case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"вс"</a:t>
            </a: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"отдых"</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break</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default</a:t>
            </a: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"будни"</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150394"/>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17166"/>
            <a:ext cx="5181600" cy="1132681"/>
          </a:xfrm>
          <a:prstGeom prst="roundRect">
            <a:avLst>
              <a:gd name="adj" fmla="val 5886"/>
            </a:avLst>
          </a:prstGeom>
          <a:solidFill>
            <a:srgbClr val="FFFFFF"/>
          </a:solidFill>
          <a:ln w="19050">
            <a:solidFill>
              <a:srgbClr val="972996"/>
            </a:solidFill>
            <a:prstDash val="solid"/>
          </a:ln>
        </p:spPr>
      </p:sp>
      <p:sp>
        <p:nvSpPr>
          <p:cNvPr id="11" name="Shape 8"/>
          <p:cNvSpPr/>
          <p:nvPr/>
        </p:nvSpPr>
        <p:spPr>
          <a:xfrm>
            <a:off x="6375400" y="16266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71452"/>
            <a:ext cx="101600" cy="101600"/>
          </a:xfrm>
          <a:prstGeom prst="roundRect">
            <a:avLst>
              <a:gd name="adj" fmla="val 50000"/>
            </a:avLst>
          </a:prstGeom>
          <a:solidFill>
            <a:srgbClr val="E57373"/>
          </a:solidFill>
          <a:ln/>
        </p:spPr>
      </p:sp>
      <p:sp>
        <p:nvSpPr>
          <p:cNvPr id="13" name="Shape 10"/>
          <p:cNvSpPr/>
          <p:nvPr/>
        </p:nvSpPr>
        <p:spPr>
          <a:xfrm>
            <a:off x="6667500" y="1771452"/>
            <a:ext cx="101600" cy="101600"/>
          </a:xfrm>
          <a:prstGeom prst="roundRect">
            <a:avLst>
              <a:gd name="adj" fmla="val 50000"/>
            </a:avLst>
          </a:prstGeom>
          <a:solidFill>
            <a:srgbClr val="FFD54F"/>
          </a:solidFill>
          <a:ln/>
        </p:spPr>
      </p:sp>
      <p:sp>
        <p:nvSpPr>
          <p:cNvPr id="14" name="Shape 11"/>
          <p:cNvSpPr/>
          <p:nvPr/>
        </p:nvSpPr>
        <p:spPr>
          <a:xfrm>
            <a:off x="6832600" y="1771452"/>
            <a:ext cx="101600" cy="101600"/>
          </a:xfrm>
          <a:prstGeom prst="roundRect">
            <a:avLst>
              <a:gd name="adj" fmla="val 50000"/>
            </a:avLst>
          </a:prstGeom>
          <a:solidFill>
            <a:srgbClr val="81C784"/>
          </a:solidFill>
          <a:ln/>
        </p:spPr>
      </p:sp>
      <p:sp>
        <p:nvSpPr>
          <p:cNvPr id="15" name="Text 12"/>
          <p:cNvSpPr/>
          <p:nvPr/>
        </p:nvSpPr>
        <p:spPr>
          <a:xfrm>
            <a:off x="7073900" y="17155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79067"/>
            <a:ext cx="5162550" cy="0"/>
          </a:xfrm>
          <a:prstGeom prst="line">
            <a:avLst/>
          </a:prstGeom>
          <a:noFill/>
          <a:ln w="6350">
            <a:solidFill>
              <a:srgbClr val="DDDDDD"/>
            </a:solidFill>
            <a:prstDash val="solid"/>
          </a:ln>
        </p:spPr>
      </p:sp>
      <p:sp>
        <p:nvSpPr>
          <p:cNvPr id="17" name="Text 14"/>
          <p:cNvSpPr/>
          <p:nvPr/>
        </p:nvSpPr>
        <p:spPr>
          <a:xfrm>
            <a:off x="6527800" y="20813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прохладно</a:t>
            </a:r>
            <a:endParaRPr lang="en-US" sz="1300" dirty="0"/>
          </a:p>
        </p:txBody>
      </p:sp>
      <p:sp>
        <p:nvSpPr>
          <p:cNvPr id="18" name="Text 15"/>
          <p:cNvSpPr/>
          <p:nvPr/>
        </p:nvSpPr>
        <p:spPr>
          <a:xfrm>
            <a:off x="6527800" y="24457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отдых</a:t>
            </a:r>
            <a:endParaRPr lang="en-US" sz="1300" dirty="0"/>
          </a:p>
        </p:txBody>
      </p:sp>
      <p:sp>
        <p:nvSpPr>
          <p:cNvPr id="19" name="Shape 16"/>
          <p:cNvSpPr/>
          <p:nvPr/>
        </p:nvSpPr>
        <p:spPr>
          <a:xfrm>
            <a:off x="6388100" y="2848273"/>
            <a:ext cx="0" cy="741561"/>
          </a:xfrm>
          <a:prstGeom prst="line">
            <a:avLst/>
          </a:prstGeom>
          <a:noFill/>
          <a:ln w="63500">
            <a:solidFill>
              <a:srgbClr val="972996"/>
            </a:solidFill>
            <a:prstDash val="solid"/>
          </a:ln>
        </p:spPr>
      </p:sp>
      <p:sp>
        <p:nvSpPr>
          <p:cNvPr id="20" name="Text 17"/>
          <p:cNvSpPr/>
          <p:nvPr/>
        </p:nvSpPr>
        <p:spPr>
          <a:xfrm>
            <a:off x="6546850" y="284827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if / else if / else</a:t>
            </a:r>
            <a:endParaRPr lang="en-US" sz="1500" dirty="0"/>
          </a:p>
        </p:txBody>
      </p:sp>
      <p:sp>
        <p:nvSpPr>
          <p:cNvPr id="21" name="Text 18"/>
          <p:cNvSpPr/>
          <p:nvPr/>
        </p:nvSpPr>
        <p:spPr>
          <a:xfrm>
            <a:off x="6546850" y="3127673"/>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проверяются сверху вниз, выполняется первая ветка с истинным условием</a:t>
            </a:r>
            <a:endParaRPr lang="en-US" sz="1400" dirty="0"/>
          </a:p>
        </p:txBody>
      </p:sp>
      <p:sp>
        <p:nvSpPr>
          <p:cNvPr id="22" name="Shape 19"/>
          <p:cNvSpPr/>
          <p:nvPr/>
        </p:nvSpPr>
        <p:spPr>
          <a:xfrm>
            <a:off x="6388100" y="3678734"/>
            <a:ext cx="0" cy="741561"/>
          </a:xfrm>
          <a:prstGeom prst="line">
            <a:avLst/>
          </a:prstGeom>
          <a:noFill/>
          <a:ln w="63500">
            <a:solidFill>
              <a:srgbClr val="972996"/>
            </a:solidFill>
            <a:prstDash val="solid"/>
          </a:ln>
        </p:spPr>
      </p:sp>
      <p:sp>
        <p:nvSpPr>
          <p:cNvPr id="23" name="Text 20"/>
          <p:cNvSpPr/>
          <p:nvPr/>
        </p:nvSpPr>
        <p:spPr>
          <a:xfrm>
            <a:off x="6546850" y="367873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switch</a:t>
            </a:r>
            <a:endParaRPr lang="en-US" sz="1500" dirty="0"/>
          </a:p>
        </p:txBody>
      </p:sp>
      <p:sp>
        <p:nvSpPr>
          <p:cNvPr id="24" name="Text 21"/>
          <p:cNvSpPr/>
          <p:nvPr/>
        </p:nvSpPr>
        <p:spPr>
          <a:xfrm>
            <a:off x="6546850" y="3958134"/>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сравнивает через ===; без break выполнение «проваливается» в следующий case</a:t>
            </a:r>
            <a:endParaRPr lang="en-US" sz="1400" dirty="0"/>
          </a:p>
        </p:txBody>
      </p:sp>
      <p:sp>
        <p:nvSpPr>
          <p:cNvPr id="25" name="Text 22"/>
          <p:cNvSpPr/>
          <p:nvPr/>
        </p:nvSpPr>
        <p:spPr>
          <a:xfrm>
            <a:off x="635000" y="4547295"/>
            <a:ext cx="10922000" cy="742950"/>
          </a:xfrm>
          <a:prstGeom prst="roundRect">
            <a:avLst>
              <a:gd name="adj" fmla="val 10256"/>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Если в ветке больше одной команды, их заключают в фигурные скобки { }. Скобки лучше ставить всегда: так код читается проще и меньше ошибок.</a:t>
            </a:r>
            <a:endParaRPr lang="en-US" sz="1500" dirty="0"/>
          </a:p>
        </p:txBody>
      </p:sp>
      <p:pic>
        <p:nvPicPr>
          <p:cNvPr id="26" name="Рисунок 25"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602328" y="218186"/>
            <a:ext cx="737272" cy="7259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Циклы</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Повторяют код, пока выполняется условие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251200"/>
          </a:xfrm>
          <a:prstGeom prst="roundRect">
            <a:avLst>
              <a:gd name="adj" fmla="val 2344"/>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i = </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 i &lt;=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 i++)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"шаг"</a:t>
            </a:r>
            <a:r>
              <a:rPr lang="en-US" sz="1200" dirty="0">
                <a:solidFill>
                  <a:srgbClr val="FFFFFF"/>
                </a:solidFill>
                <a:latin typeface="JetBrains Mono" pitchFamily="49" charset="0"/>
                <a:ea typeface="JetBrains Mono" pitchFamily="49" charset="-122"/>
                <a:cs typeface="JetBrains Mono" pitchFamily="49" charset="-120"/>
              </a:rPr>
              <a:t>, i);</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n =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while</a:t>
            </a:r>
            <a:r>
              <a:rPr lang="en-US" sz="1200" dirty="0">
                <a:solidFill>
                  <a:srgbClr val="FFFFFF"/>
                </a:solidFill>
                <a:latin typeface="JetBrains Mono" pitchFamily="49" charset="0"/>
                <a:ea typeface="JetBrains Mono" pitchFamily="49" charset="-122"/>
                <a:cs typeface="JetBrains Mono" pitchFamily="49" charset="-120"/>
              </a:rPr>
              <a:t> (n &gt;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n--;</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f </a:t>
            </a:r>
            <a:r>
              <a:rPr lang="en-US" sz="1200" dirty="0">
                <a:solidFill>
                  <a:srgbClr val="FF9DE2"/>
                </a:solidFill>
                <a:latin typeface="JetBrains Mono" pitchFamily="49" charset="0"/>
                <a:ea typeface="JetBrains Mono" pitchFamily="49" charset="-122"/>
                <a:cs typeface="JetBrains Mono" pitchFamily="49" charset="-120"/>
              </a:rPr>
              <a:t>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"яблоко"</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"груша"</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5889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607641"/>
            <a:ext cx="5200650" cy="2995414"/>
          </a:xfrm>
          <a:prstGeom prst="roundRect">
            <a:avLst>
              <a:gd name="adj" fmla="val 2544"/>
            </a:avLst>
          </a:prstGeom>
          <a:solidFill>
            <a:srgbClr val="FFFFFF"/>
          </a:solidFill>
          <a:ln/>
        </p:spPr>
      </p:sp>
      <p:sp>
        <p:nvSpPr>
          <p:cNvPr id="11" name="Shape 8"/>
          <p:cNvSpPr/>
          <p:nvPr/>
        </p:nvSpPr>
        <p:spPr>
          <a:xfrm>
            <a:off x="6356350" y="16076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52402"/>
            <a:ext cx="101600" cy="101600"/>
          </a:xfrm>
          <a:prstGeom prst="roundRect">
            <a:avLst>
              <a:gd name="adj" fmla="val 50000"/>
            </a:avLst>
          </a:prstGeom>
          <a:solidFill>
            <a:srgbClr val="E57373"/>
          </a:solidFill>
          <a:ln/>
        </p:spPr>
      </p:sp>
      <p:sp>
        <p:nvSpPr>
          <p:cNvPr id="13" name="Shape 10"/>
          <p:cNvSpPr/>
          <p:nvPr/>
        </p:nvSpPr>
        <p:spPr>
          <a:xfrm>
            <a:off x="6648450" y="1752402"/>
            <a:ext cx="101600" cy="101600"/>
          </a:xfrm>
          <a:prstGeom prst="roundRect">
            <a:avLst>
              <a:gd name="adj" fmla="val 50000"/>
            </a:avLst>
          </a:prstGeom>
          <a:solidFill>
            <a:srgbClr val="FFD54F"/>
          </a:solidFill>
          <a:ln/>
        </p:spPr>
      </p:sp>
      <p:sp>
        <p:nvSpPr>
          <p:cNvPr id="14" name="Shape 11"/>
          <p:cNvSpPr/>
          <p:nvPr/>
        </p:nvSpPr>
        <p:spPr>
          <a:xfrm>
            <a:off x="6813550" y="1752402"/>
            <a:ext cx="101600" cy="101600"/>
          </a:xfrm>
          <a:prstGeom prst="roundRect">
            <a:avLst>
              <a:gd name="adj" fmla="val 50000"/>
            </a:avLst>
          </a:prstGeom>
          <a:solidFill>
            <a:srgbClr val="81C784"/>
          </a:solidFill>
          <a:ln/>
        </p:spPr>
      </p:sp>
      <p:sp>
        <p:nvSpPr>
          <p:cNvPr id="15" name="Text 12"/>
          <p:cNvSpPr/>
          <p:nvPr/>
        </p:nvSpPr>
        <p:spPr>
          <a:xfrm>
            <a:off x="7054850" y="16965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21917"/>
            <a:ext cx="5200650" cy="0"/>
          </a:xfrm>
          <a:prstGeom prst="line">
            <a:avLst/>
          </a:prstGeom>
          <a:noFill/>
          <a:ln w="6350">
            <a:solidFill>
              <a:srgbClr val="DDDDDD"/>
            </a:solidFill>
            <a:prstDash val="solid"/>
          </a:ln>
        </p:spPr>
      </p:sp>
      <p:sp>
        <p:nvSpPr>
          <p:cNvPr id="17" name="Text 14"/>
          <p:cNvSpPr/>
          <p:nvPr/>
        </p:nvSpPr>
        <p:spPr>
          <a:xfrm>
            <a:off x="6508750" y="204321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шаг </a:t>
            </a:r>
            <a:r>
              <a:rPr lang="en-US" sz="1300" dirty="0">
                <a:solidFill>
                  <a:srgbClr val="1A5FB4"/>
                </a:solidFill>
                <a:latin typeface="JetBrains Mono" pitchFamily="49" charset="0"/>
                <a:ea typeface="JetBrains Mono" pitchFamily="49" charset="-122"/>
                <a:cs typeface="JetBrains Mono" pitchFamily="49" charset="-120"/>
              </a:rPr>
              <a:t>1</a:t>
            </a:r>
            <a:endParaRPr lang="en-US" sz="1300" dirty="0"/>
          </a:p>
        </p:txBody>
      </p:sp>
      <p:sp>
        <p:nvSpPr>
          <p:cNvPr id="18" name="Shape 15"/>
          <p:cNvSpPr/>
          <p:nvPr/>
        </p:nvSpPr>
        <p:spPr>
          <a:xfrm>
            <a:off x="6356350" y="2648248"/>
            <a:ext cx="5200650" cy="0"/>
          </a:xfrm>
          <a:prstGeom prst="line">
            <a:avLst/>
          </a:prstGeom>
          <a:noFill/>
          <a:ln w="6350">
            <a:solidFill>
              <a:srgbClr val="DDDDDD"/>
            </a:solidFill>
            <a:prstDash val="solid"/>
          </a:ln>
        </p:spPr>
      </p:sp>
      <p:sp>
        <p:nvSpPr>
          <p:cNvPr id="19" name="Text 16"/>
          <p:cNvSpPr/>
          <p:nvPr/>
        </p:nvSpPr>
        <p:spPr>
          <a:xfrm>
            <a:off x="6508750" y="236954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шаг </a:t>
            </a:r>
            <a:r>
              <a:rPr lang="en-US" sz="1300" dirty="0">
                <a:solidFill>
                  <a:srgbClr val="1A5FB4"/>
                </a:solidFill>
                <a:latin typeface="JetBrains Mono" pitchFamily="49" charset="0"/>
                <a:ea typeface="JetBrains Mono" pitchFamily="49" charset="-122"/>
                <a:cs typeface="JetBrains Mono" pitchFamily="49" charset="-120"/>
              </a:rPr>
              <a:t>2</a:t>
            </a:r>
            <a:endParaRPr lang="en-US" sz="1300" dirty="0"/>
          </a:p>
        </p:txBody>
      </p:sp>
      <p:sp>
        <p:nvSpPr>
          <p:cNvPr id="20" name="Shape 17"/>
          <p:cNvSpPr/>
          <p:nvPr/>
        </p:nvSpPr>
        <p:spPr>
          <a:xfrm>
            <a:off x="6356350" y="2974578"/>
            <a:ext cx="5200650" cy="0"/>
          </a:xfrm>
          <a:prstGeom prst="line">
            <a:avLst/>
          </a:prstGeom>
          <a:noFill/>
          <a:ln w="6350">
            <a:solidFill>
              <a:srgbClr val="DDDDDD"/>
            </a:solidFill>
            <a:prstDash val="solid"/>
          </a:ln>
        </p:spPr>
      </p:sp>
      <p:sp>
        <p:nvSpPr>
          <p:cNvPr id="21" name="Text 18"/>
          <p:cNvSpPr/>
          <p:nvPr/>
        </p:nvSpPr>
        <p:spPr>
          <a:xfrm>
            <a:off x="6508750" y="269587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шаг </a:t>
            </a:r>
            <a:r>
              <a:rPr lang="en-US" sz="1300" dirty="0">
                <a:solidFill>
                  <a:srgbClr val="1A5FB4"/>
                </a:solidFill>
                <a:latin typeface="JetBrains Mono" pitchFamily="49" charset="0"/>
                <a:ea typeface="JetBrains Mono" pitchFamily="49" charset="-122"/>
                <a:cs typeface="JetBrains Mono" pitchFamily="49" charset="-120"/>
              </a:rPr>
              <a:t>3</a:t>
            </a:r>
            <a:endParaRPr lang="en-US" sz="1300" dirty="0"/>
          </a:p>
        </p:txBody>
      </p:sp>
      <p:sp>
        <p:nvSpPr>
          <p:cNvPr id="22" name="Shape 19"/>
          <p:cNvSpPr/>
          <p:nvPr/>
        </p:nvSpPr>
        <p:spPr>
          <a:xfrm>
            <a:off x="6356350" y="3300909"/>
            <a:ext cx="5200650" cy="0"/>
          </a:xfrm>
          <a:prstGeom prst="line">
            <a:avLst/>
          </a:prstGeom>
          <a:noFill/>
          <a:ln w="6350">
            <a:solidFill>
              <a:srgbClr val="DDDDDD"/>
            </a:solidFill>
            <a:prstDash val="solid"/>
          </a:ln>
        </p:spPr>
      </p:sp>
      <p:sp>
        <p:nvSpPr>
          <p:cNvPr id="23" name="Text 20"/>
          <p:cNvSpPr/>
          <p:nvPr/>
        </p:nvSpPr>
        <p:spPr>
          <a:xfrm>
            <a:off x="6508750" y="302220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3</a:t>
            </a:r>
            <a:endParaRPr lang="en-US" sz="1300" dirty="0"/>
          </a:p>
        </p:txBody>
      </p:sp>
      <p:sp>
        <p:nvSpPr>
          <p:cNvPr id="24" name="Shape 21"/>
          <p:cNvSpPr/>
          <p:nvPr/>
        </p:nvSpPr>
        <p:spPr>
          <a:xfrm>
            <a:off x="6356350" y="3627239"/>
            <a:ext cx="5200650" cy="0"/>
          </a:xfrm>
          <a:prstGeom prst="line">
            <a:avLst/>
          </a:prstGeom>
          <a:noFill/>
          <a:ln w="6350">
            <a:solidFill>
              <a:srgbClr val="DDDDDD"/>
            </a:solidFill>
            <a:prstDash val="solid"/>
          </a:ln>
        </p:spPr>
      </p:sp>
      <p:sp>
        <p:nvSpPr>
          <p:cNvPr id="25" name="Text 22"/>
          <p:cNvSpPr/>
          <p:nvPr/>
        </p:nvSpPr>
        <p:spPr>
          <a:xfrm>
            <a:off x="6508750" y="334853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2</a:t>
            </a:r>
            <a:endParaRPr lang="en-US" sz="1300" dirty="0"/>
          </a:p>
        </p:txBody>
      </p:sp>
      <p:sp>
        <p:nvSpPr>
          <p:cNvPr id="26" name="Shape 23"/>
          <p:cNvSpPr/>
          <p:nvPr/>
        </p:nvSpPr>
        <p:spPr>
          <a:xfrm>
            <a:off x="6356350" y="3953570"/>
            <a:ext cx="5200650" cy="0"/>
          </a:xfrm>
          <a:prstGeom prst="line">
            <a:avLst/>
          </a:prstGeom>
          <a:noFill/>
          <a:ln w="6350">
            <a:solidFill>
              <a:srgbClr val="DDDDDD"/>
            </a:solidFill>
            <a:prstDash val="solid"/>
          </a:ln>
        </p:spPr>
      </p:sp>
      <p:sp>
        <p:nvSpPr>
          <p:cNvPr id="27" name="Text 24"/>
          <p:cNvSpPr/>
          <p:nvPr/>
        </p:nvSpPr>
        <p:spPr>
          <a:xfrm>
            <a:off x="6508750" y="367486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a:t>
            </a:r>
            <a:endParaRPr lang="en-US" sz="1300" dirty="0"/>
          </a:p>
        </p:txBody>
      </p:sp>
      <p:sp>
        <p:nvSpPr>
          <p:cNvPr id="28" name="Shape 25"/>
          <p:cNvSpPr/>
          <p:nvPr/>
        </p:nvSpPr>
        <p:spPr>
          <a:xfrm>
            <a:off x="6356350" y="4279900"/>
            <a:ext cx="5200650" cy="0"/>
          </a:xfrm>
          <a:prstGeom prst="line">
            <a:avLst/>
          </a:prstGeom>
          <a:noFill/>
          <a:ln w="6350">
            <a:solidFill>
              <a:srgbClr val="DDDDDD"/>
            </a:solidFill>
            <a:prstDash val="solid"/>
          </a:ln>
        </p:spPr>
      </p:sp>
      <p:sp>
        <p:nvSpPr>
          <p:cNvPr id="29" name="Text 26"/>
          <p:cNvSpPr/>
          <p:nvPr/>
        </p:nvSpPr>
        <p:spPr>
          <a:xfrm>
            <a:off x="6508750" y="400119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яблоко</a:t>
            </a:r>
            <a:endParaRPr lang="en-US" sz="1300" dirty="0"/>
          </a:p>
        </p:txBody>
      </p:sp>
      <p:sp>
        <p:nvSpPr>
          <p:cNvPr id="30" name="Text 27"/>
          <p:cNvSpPr/>
          <p:nvPr/>
        </p:nvSpPr>
        <p:spPr>
          <a:xfrm>
            <a:off x="6508750" y="432752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груша</a:t>
            </a:r>
            <a:endParaRPr lang="en-US" sz="1300" dirty="0"/>
          </a:p>
        </p:txBody>
      </p:sp>
      <p:sp>
        <p:nvSpPr>
          <p:cNvPr id="31" name="Text 28"/>
          <p:cNvSpPr/>
          <p:nvPr/>
        </p:nvSpPr>
        <p:spPr>
          <a:xfrm>
            <a:off x="635000" y="4985841"/>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for — когда известно число шагов, while — когда повторяем «пока условие истинно», for...of — перебор элементов массива или строки. break прерывает цикл, continue переходит к следующему шагу. Забытый n-- даёт бесконечный цикл.</a:t>
            </a:r>
            <a:endParaRPr lang="en-US" sz="1500" dirty="0"/>
          </a:p>
        </p:txBody>
      </p:sp>
      <p:pic>
        <p:nvPicPr>
          <p:cNvPr id="32" name="Рисунок 3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040468" y="444501"/>
            <a:ext cx="737272" cy="7259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Функции</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Именованный кусок кода, который можно вызывать много раз</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251200"/>
          </a:xfrm>
          <a:prstGeom prst="roundRect">
            <a:avLst>
              <a:gd name="adj" fmla="val 2344"/>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sum</a:t>
            </a:r>
            <a:r>
              <a:rPr lang="en-US" sz="1200" dirty="0">
                <a:solidFill>
                  <a:srgbClr val="FFFFFF"/>
                </a:solidFill>
                <a:latin typeface="JetBrains Mono" pitchFamily="49" charset="0"/>
                <a:ea typeface="JetBrains Mono" pitchFamily="49" charset="-122"/>
                <a:cs typeface="JetBrains Mono" pitchFamily="49" charset="-120"/>
              </a:rPr>
              <a:t>(a, b)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a + b;</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mul = </a:t>
            </a: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 b)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a * b;</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sq = (x) =&gt; x * x;</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hi = (n = </a:t>
            </a:r>
            <a:r>
              <a:rPr lang="en-US" sz="1200" dirty="0">
                <a:solidFill>
                  <a:srgbClr val="9EE6A8"/>
                </a:solidFill>
                <a:latin typeface="JetBrains Mono" pitchFamily="49" charset="0"/>
                <a:ea typeface="JetBrains Mono" pitchFamily="49" charset="-122"/>
                <a:cs typeface="JetBrains Mono" pitchFamily="49" charset="-120"/>
              </a:rPr>
              <a:t>"гость"</a:t>
            </a:r>
            <a:r>
              <a:rPr lang="en-US" sz="1200" dirty="0">
                <a:solidFill>
                  <a:srgbClr val="FFFFFF"/>
                </a:solidFill>
                <a:latin typeface="JetBrains Mono" pitchFamily="49" charset="0"/>
                <a:ea typeface="JetBrains Mono" pitchFamily="49" charset="-122"/>
                <a:cs typeface="JetBrains Mono" pitchFamily="49" charset="-120"/>
              </a:rPr>
              <a:t>) =&gt;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`Привет, ${n}!`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sum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mul</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sq</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4</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hi</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hi</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987205"/>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04466"/>
            <a:ext cx="5181600" cy="1420912"/>
          </a:xfrm>
          <a:prstGeom prst="roundRect">
            <a:avLst>
              <a:gd name="adj" fmla="val 4692"/>
            </a:avLst>
          </a:prstGeom>
          <a:solidFill>
            <a:srgbClr val="FFFFFF"/>
          </a:solidFill>
          <a:ln w="19050">
            <a:solidFill>
              <a:srgbClr val="972996"/>
            </a:solidFill>
            <a:prstDash val="solid"/>
          </a:ln>
        </p:spPr>
      </p:sp>
      <p:sp>
        <p:nvSpPr>
          <p:cNvPr id="11" name="Shape 8"/>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58752"/>
            <a:ext cx="101600" cy="101600"/>
          </a:xfrm>
          <a:prstGeom prst="roundRect">
            <a:avLst>
              <a:gd name="adj" fmla="val 50000"/>
            </a:avLst>
          </a:prstGeom>
          <a:solidFill>
            <a:srgbClr val="E57373"/>
          </a:solidFill>
          <a:ln/>
        </p:spPr>
      </p:sp>
      <p:sp>
        <p:nvSpPr>
          <p:cNvPr id="13" name="Shape 10"/>
          <p:cNvSpPr/>
          <p:nvPr/>
        </p:nvSpPr>
        <p:spPr>
          <a:xfrm>
            <a:off x="6667500" y="1758752"/>
            <a:ext cx="101600" cy="101600"/>
          </a:xfrm>
          <a:prstGeom prst="roundRect">
            <a:avLst>
              <a:gd name="adj" fmla="val 50000"/>
            </a:avLst>
          </a:prstGeom>
          <a:solidFill>
            <a:srgbClr val="FFD54F"/>
          </a:solidFill>
          <a:ln/>
        </p:spPr>
      </p:sp>
      <p:sp>
        <p:nvSpPr>
          <p:cNvPr id="14" name="Shape 11"/>
          <p:cNvSpPr/>
          <p:nvPr/>
        </p:nvSpPr>
        <p:spPr>
          <a:xfrm>
            <a:off x="6832600" y="1758752"/>
            <a:ext cx="101600" cy="101600"/>
          </a:xfrm>
          <a:prstGeom prst="roundRect">
            <a:avLst>
              <a:gd name="adj" fmla="val 50000"/>
            </a:avLst>
          </a:prstGeom>
          <a:solidFill>
            <a:srgbClr val="81C784"/>
          </a:solidFill>
          <a:ln/>
        </p:spPr>
      </p:sp>
      <p:sp>
        <p:nvSpPr>
          <p:cNvPr id="15" name="Text 12"/>
          <p:cNvSpPr/>
          <p:nvPr/>
        </p:nvSpPr>
        <p:spPr>
          <a:xfrm>
            <a:off x="7073900" y="17028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40967"/>
            <a:ext cx="5162550" cy="0"/>
          </a:xfrm>
          <a:prstGeom prst="line">
            <a:avLst/>
          </a:prstGeom>
          <a:noFill/>
          <a:ln w="6350">
            <a:solidFill>
              <a:srgbClr val="DDDDDD"/>
            </a:solidFill>
            <a:prstDash val="solid"/>
          </a:ln>
        </p:spPr>
      </p:sp>
      <p:sp>
        <p:nvSpPr>
          <p:cNvPr id="17" name="Text 14"/>
          <p:cNvSpPr/>
          <p:nvPr/>
        </p:nvSpPr>
        <p:spPr>
          <a:xfrm>
            <a:off x="6527800" y="20559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5 6</a:t>
            </a:r>
            <a:endParaRPr lang="en-US" sz="1300" dirty="0"/>
          </a:p>
        </p:txBody>
      </p:sp>
      <p:sp>
        <p:nvSpPr>
          <p:cNvPr id="18" name="Shape 15"/>
          <p:cNvSpPr/>
          <p:nvPr/>
        </p:nvSpPr>
        <p:spPr>
          <a:xfrm>
            <a:off x="6375400" y="2679998"/>
            <a:ext cx="5162550" cy="0"/>
          </a:xfrm>
          <a:prstGeom prst="line">
            <a:avLst/>
          </a:prstGeom>
          <a:noFill/>
          <a:ln w="6350">
            <a:solidFill>
              <a:srgbClr val="DDDDDD"/>
            </a:solidFill>
            <a:prstDash val="solid"/>
          </a:ln>
        </p:spPr>
      </p:sp>
      <p:sp>
        <p:nvSpPr>
          <p:cNvPr id="19" name="Text 16"/>
          <p:cNvSpPr/>
          <p:nvPr/>
        </p:nvSpPr>
        <p:spPr>
          <a:xfrm>
            <a:off x="6527800" y="23949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16</a:t>
            </a:r>
            <a:endParaRPr lang="en-US" sz="1300" dirty="0"/>
          </a:p>
        </p:txBody>
      </p:sp>
      <p:sp>
        <p:nvSpPr>
          <p:cNvPr id="20" name="Text 17"/>
          <p:cNvSpPr/>
          <p:nvPr/>
        </p:nvSpPr>
        <p:spPr>
          <a:xfrm>
            <a:off x="6527800" y="27339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Привет, гость! Привет, Анна!</a:t>
            </a:r>
            <a:endParaRPr lang="en-US" sz="1300" dirty="0"/>
          </a:p>
        </p:txBody>
      </p:sp>
      <p:sp>
        <p:nvSpPr>
          <p:cNvPr id="21" name="Shape 18"/>
          <p:cNvSpPr/>
          <p:nvPr/>
        </p:nvSpPr>
        <p:spPr>
          <a:xfrm>
            <a:off x="6388100" y="3111103"/>
            <a:ext cx="0" cy="741561"/>
          </a:xfrm>
          <a:prstGeom prst="line">
            <a:avLst/>
          </a:prstGeom>
          <a:noFill/>
          <a:ln w="63500">
            <a:solidFill>
              <a:srgbClr val="972996"/>
            </a:solidFill>
            <a:prstDash val="solid"/>
          </a:ln>
        </p:spPr>
      </p:sp>
      <p:sp>
        <p:nvSpPr>
          <p:cNvPr id="22" name="Text 19"/>
          <p:cNvSpPr/>
          <p:nvPr/>
        </p:nvSpPr>
        <p:spPr>
          <a:xfrm>
            <a:off x="6546850" y="311110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Три формы записи</a:t>
            </a:r>
            <a:endParaRPr lang="en-US" sz="1500" dirty="0"/>
          </a:p>
        </p:txBody>
      </p:sp>
      <p:sp>
        <p:nvSpPr>
          <p:cNvPr id="23" name="Text 20"/>
          <p:cNvSpPr/>
          <p:nvPr/>
        </p:nvSpPr>
        <p:spPr>
          <a:xfrm>
            <a:off x="6546850" y="3390503"/>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объявление (function sum), выражение (const mul = function) и стрелочная (=&gt;)</a:t>
            </a:r>
            <a:endParaRPr lang="en-US" sz="1400" dirty="0"/>
          </a:p>
        </p:txBody>
      </p:sp>
      <p:sp>
        <p:nvSpPr>
          <p:cNvPr id="24" name="Shape 21"/>
          <p:cNvSpPr/>
          <p:nvPr/>
        </p:nvSpPr>
        <p:spPr>
          <a:xfrm>
            <a:off x="6388100" y="3928864"/>
            <a:ext cx="0" cy="741561"/>
          </a:xfrm>
          <a:prstGeom prst="line">
            <a:avLst/>
          </a:prstGeom>
          <a:noFill/>
          <a:ln w="63500">
            <a:solidFill>
              <a:srgbClr val="972996"/>
            </a:solidFill>
            <a:prstDash val="solid"/>
          </a:ln>
        </p:spPr>
      </p:sp>
      <p:sp>
        <p:nvSpPr>
          <p:cNvPr id="25" name="Text 22"/>
          <p:cNvSpPr/>
          <p:nvPr/>
        </p:nvSpPr>
        <p:spPr>
          <a:xfrm>
            <a:off x="6546850" y="392886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Параметры и return</a:t>
            </a:r>
            <a:endParaRPr lang="en-US" sz="1500" dirty="0"/>
          </a:p>
        </p:txBody>
      </p:sp>
      <p:sp>
        <p:nvSpPr>
          <p:cNvPr id="26" name="Text 23"/>
          <p:cNvSpPr/>
          <p:nvPr/>
        </p:nvSpPr>
        <p:spPr>
          <a:xfrm>
            <a:off x="6546850" y="4208264"/>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параметры — входные данные, return — результат; без него вернётся undefined</a:t>
            </a:r>
            <a:endParaRPr lang="en-US" sz="1400" dirty="0"/>
          </a:p>
        </p:txBody>
      </p:sp>
      <p:sp>
        <p:nvSpPr>
          <p:cNvPr id="27" name="Shape 24"/>
          <p:cNvSpPr/>
          <p:nvPr/>
        </p:nvSpPr>
        <p:spPr>
          <a:xfrm>
            <a:off x="6388100" y="4746625"/>
            <a:ext cx="0" cy="510480"/>
          </a:xfrm>
          <a:prstGeom prst="line">
            <a:avLst/>
          </a:prstGeom>
          <a:noFill/>
          <a:ln w="63500">
            <a:solidFill>
              <a:srgbClr val="972996"/>
            </a:solidFill>
            <a:prstDash val="solid"/>
          </a:ln>
        </p:spPr>
      </p:sp>
      <p:sp>
        <p:nvSpPr>
          <p:cNvPr id="28" name="Text 25"/>
          <p:cNvSpPr/>
          <p:nvPr/>
        </p:nvSpPr>
        <p:spPr>
          <a:xfrm>
            <a:off x="6546850" y="4746625"/>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Значение по умолчанию</a:t>
            </a:r>
            <a:endParaRPr lang="en-US" sz="1500" dirty="0"/>
          </a:p>
        </p:txBody>
      </p:sp>
      <p:sp>
        <p:nvSpPr>
          <p:cNvPr id="29" name="Text 26"/>
          <p:cNvSpPr/>
          <p:nvPr/>
        </p:nvSpPr>
        <p:spPr>
          <a:xfrm>
            <a:off x="6546850" y="5026025"/>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n = "гость" подставляется, если аргумент не передан</a:t>
            </a:r>
            <a:endParaRPr lang="en-US" sz="1400" dirty="0"/>
          </a:p>
        </p:txBody>
      </p:sp>
      <p:sp>
        <p:nvSpPr>
          <p:cNvPr id="30" name="Text 27"/>
          <p:cNvSpPr/>
          <p:nvPr/>
        </p:nvSpPr>
        <p:spPr>
          <a:xfrm>
            <a:off x="635000" y="5384105"/>
            <a:ext cx="10922000" cy="742950"/>
          </a:xfrm>
          <a:prstGeom prst="roundRect">
            <a:avLst>
              <a:gd name="adj" fmla="val 10256"/>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Функция — такое же значение, как число или строка: её можно хранить в переменной и передавать в другие функции. Стрелочные функции удобны для коротких действий.</a:t>
            </a:r>
            <a:endParaRPr lang="en-US" sz="1500" dirty="0"/>
          </a:p>
        </p:txBody>
      </p:sp>
      <p:pic>
        <p:nvPicPr>
          <p:cNvPr id="31" name="Рисунок 3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10381" y="254304"/>
            <a:ext cx="737272" cy="7259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Область видимости и замыкания</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Где «живёт» переменная и что помнит функция</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479800"/>
          </a:xfrm>
          <a:prstGeom prst="roundRect">
            <a:avLst>
              <a:gd name="adj" fmla="val 2190"/>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all = </a:t>
            </a:r>
            <a:r>
              <a:rPr lang="en-US" sz="1200" dirty="0">
                <a:solidFill>
                  <a:srgbClr val="9EE6A8"/>
                </a:solidFill>
                <a:latin typeface="JetBrains Mono" pitchFamily="49" charset="0"/>
                <a:ea typeface="JetBrains Mono" pitchFamily="49" charset="-122"/>
                <a:cs typeface="JetBrains Mono" pitchFamily="49" charset="-120"/>
              </a:rPr>
              <a:t>"виден везде"</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test</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own = </a:t>
            </a:r>
            <a:r>
              <a:rPr lang="en-US" sz="1200" dirty="0">
                <a:solidFill>
                  <a:srgbClr val="9EE6A8"/>
                </a:solidFill>
                <a:latin typeface="JetBrains Mono" pitchFamily="49" charset="0"/>
                <a:ea typeface="JetBrains Mono" pitchFamily="49" charset="-122"/>
                <a:cs typeface="JetBrains Mono" pitchFamily="49" charset="-120"/>
              </a:rPr>
              <a:t>"только тут"</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(all, own);</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D27F"/>
                </a:solidFill>
                <a:latin typeface="JetBrains Mono" pitchFamily="49" charset="0"/>
                <a:ea typeface="JetBrains Mono" pitchFamily="49" charset="-122"/>
                <a:cs typeface="JetBrains Mono" pitchFamily="49" charset="-120"/>
              </a:rPr>
              <a:t>test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own);</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counter</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c =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 =&gt; ++c;</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next = </a:t>
            </a:r>
            <a:r>
              <a:rPr lang="en-US" sz="1200" dirty="0">
                <a:solidFill>
                  <a:srgbClr val="FFD27F"/>
                </a:solidFill>
                <a:latin typeface="JetBrains Mono" pitchFamily="49" charset="0"/>
                <a:ea typeface="JetBrains Mono" pitchFamily="49" charset="-122"/>
                <a:cs typeface="JetBrains Mono" pitchFamily="49" charset="-120"/>
              </a:rPr>
              <a:t>counter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next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next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next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8175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594941"/>
            <a:ext cx="5200650" cy="1401862"/>
          </a:xfrm>
          <a:prstGeom prst="roundRect">
            <a:avLst>
              <a:gd name="adj" fmla="val 5436"/>
            </a:avLst>
          </a:prstGeom>
          <a:solidFill>
            <a:srgbClr val="FFFFFF"/>
          </a:solidFill>
          <a:ln/>
        </p:spPr>
      </p:sp>
      <p:sp>
        <p:nvSpPr>
          <p:cNvPr id="11" name="Shape 8"/>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39702"/>
            <a:ext cx="101600" cy="101600"/>
          </a:xfrm>
          <a:prstGeom prst="roundRect">
            <a:avLst>
              <a:gd name="adj" fmla="val 50000"/>
            </a:avLst>
          </a:prstGeom>
          <a:solidFill>
            <a:srgbClr val="E57373"/>
          </a:solidFill>
          <a:ln/>
        </p:spPr>
      </p:sp>
      <p:sp>
        <p:nvSpPr>
          <p:cNvPr id="13" name="Shape 10"/>
          <p:cNvSpPr/>
          <p:nvPr/>
        </p:nvSpPr>
        <p:spPr>
          <a:xfrm>
            <a:off x="6648450" y="1739702"/>
            <a:ext cx="101600" cy="101600"/>
          </a:xfrm>
          <a:prstGeom prst="roundRect">
            <a:avLst>
              <a:gd name="adj" fmla="val 50000"/>
            </a:avLst>
          </a:prstGeom>
          <a:solidFill>
            <a:srgbClr val="FFD54F"/>
          </a:solidFill>
          <a:ln/>
        </p:spPr>
      </p:sp>
      <p:sp>
        <p:nvSpPr>
          <p:cNvPr id="14" name="Shape 11"/>
          <p:cNvSpPr/>
          <p:nvPr/>
        </p:nvSpPr>
        <p:spPr>
          <a:xfrm>
            <a:off x="6813550" y="1739702"/>
            <a:ext cx="101600" cy="101600"/>
          </a:xfrm>
          <a:prstGeom prst="roundRect">
            <a:avLst>
              <a:gd name="adj" fmla="val 50000"/>
            </a:avLst>
          </a:prstGeom>
          <a:solidFill>
            <a:srgbClr val="81C784"/>
          </a:solidFill>
          <a:ln/>
        </p:spPr>
      </p:sp>
      <p:sp>
        <p:nvSpPr>
          <p:cNvPr id="15" name="Text 12"/>
          <p:cNvSpPr/>
          <p:nvPr/>
        </p:nvSpPr>
        <p:spPr>
          <a:xfrm>
            <a:off x="7054850" y="16838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21917"/>
            <a:ext cx="5200650" cy="0"/>
          </a:xfrm>
          <a:prstGeom prst="line">
            <a:avLst/>
          </a:prstGeom>
          <a:noFill/>
          <a:ln w="6350">
            <a:solidFill>
              <a:srgbClr val="DDDDDD"/>
            </a:solidFill>
            <a:prstDash val="solid"/>
          </a:ln>
        </p:spPr>
      </p:sp>
      <p:sp>
        <p:nvSpPr>
          <p:cNvPr id="17" name="Text 14"/>
          <p:cNvSpPr/>
          <p:nvPr/>
        </p:nvSpPr>
        <p:spPr>
          <a:xfrm>
            <a:off x="6508750" y="203686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виден везде только тут</a:t>
            </a:r>
            <a:endParaRPr lang="en-US" sz="1300" dirty="0"/>
          </a:p>
        </p:txBody>
      </p:sp>
      <p:sp>
        <p:nvSpPr>
          <p:cNvPr id="18" name="Shape 15"/>
          <p:cNvSpPr/>
          <p:nvPr/>
        </p:nvSpPr>
        <p:spPr>
          <a:xfrm>
            <a:off x="6356350" y="2660948"/>
            <a:ext cx="5200650" cy="0"/>
          </a:xfrm>
          <a:prstGeom prst="line">
            <a:avLst/>
          </a:prstGeom>
          <a:noFill/>
          <a:ln w="6350">
            <a:solidFill>
              <a:srgbClr val="DDDDDD"/>
            </a:solidFill>
            <a:prstDash val="solid"/>
          </a:ln>
        </p:spPr>
      </p:sp>
      <p:sp>
        <p:nvSpPr>
          <p:cNvPr id="19" name="Text 16"/>
          <p:cNvSpPr/>
          <p:nvPr/>
        </p:nvSpPr>
        <p:spPr>
          <a:xfrm>
            <a:off x="6508750" y="237589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undefined</a:t>
            </a:r>
            <a:endParaRPr lang="en-US" sz="1300" dirty="0"/>
          </a:p>
        </p:txBody>
      </p:sp>
      <p:sp>
        <p:nvSpPr>
          <p:cNvPr id="20" name="Text 17"/>
          <p:cNvSpPr/>
          <p:nvPr/>
        </p:nvSpPr>
        <p:spPr>
          <a:xfrm>
            <a:off x="6508750" y="271492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1 2 3</a:t>
            </a:r>
            <a:endParaRPr lang="en-US" sz="1300" dirty="0"/>
          </a:p>
        </p:txBody>
      </p:sp>
      <p:sp>
        <p:nvSpPr>
          <p:cNvPr id="21" name="Text 18"/>
          <p:cNvSpPr/>
          <p:nvPr/>
        </p:nvSpPr>
        <p:spPr>
          <a:xfrm>
            <a:off x="6356350" y="3073003"/>
            <a:ext cx="5200650" cy="946150"/>
          </a:xfrm>
          <a:prstGeom prst="roundRect">
            <a:avLst>
              <a:gd name="adj" fmla="val 8054"/>
            </a:avLst>
          </a:prstGeom>
          <a:solidFill>
            <a:srgbClr val="7A1F79"/>
          </a:solidFill>
          <a:ln/>
        </p:spPr>
        <p:txBody>
          <a:bodyPr wrap="square" lIns="130082" tIns="79282" rIns="0" bIns="53882" rtlCol="0" anchor="t">
            <a:normAutofit/>
          </a:bodyPr>
          <a:lstStyle/>
          <a:p>
            <a:pPr marL="0" indent="0" algn="l">
              <a:lnSpc>
                <a:spcPts val="1950"/>
              </a:lnSpc>
              <a:buNone/>
            </a:pPr>
            <a:r>
              <a:rPr lang="en-US" sz="1500" b="1" dirty="0">
                <a:solidFill>
                  <a:srgbClr val="FFFFFF"/>
                </a:solidFill>
                <a:latin typeface="Carlito" pitchFamily="34" charset="0"/>
                <a:ea typeface="Carlito" pitchFamily="34" charset="-122"/>
                <a:cs typeface="Carlito" pitchFamily="34" charset="-120"/>
              </a:rPr>
              <a:t>Область видимости.</a:t>
            </a:r>
            <a:r>
              <a:rPr lang="en-US" sz="1500" dirty="0">
                <a:solidFill>
                  <a:srgbClr val="FFFFFF"/>
                </a:solidFill>
                <a:latin typeface="Carlito" pitchFamily="34" charset="0"/>
                <a:ea typeface="Carlito" pitchFamily="34" charset="-122"/>
                <a:cs typeface="Carlito" pitchFamily="34" charset="-120"/>
              </a:rPr>
              <a:t> Переменная, объявленная внутри функции или блока { }, снаружи недоступна. typeof для неизвестного имени безопасно вернёт "undefined".</a:t>
            </a:r>
            <a:endParaRPr lang="en-US" sz="1500" dirty="0"/>
          </a:p>
        </p:txBody>
      </p:sp>
      <p:sp>
        <p:nvSpPr>
          <p:cNvPr id="22" name="Text 19"/>
          <p:cNvSpPr/>
          <p:nvPr/>
        </p:nvSpPr>
        <p:spPr>
          <a:xfrm>
            <a:off x="6356350" y="4095353"/>
            <a:ext cx="5200650" cy="946150"/>
          </a:xfrm>
          <a:prstGeom prst="roundRect">
            <a:avLst>
              <a:gd name="adj" fmla="val 8054"/>
            </a:avLst>
          </a:prstGeom>
          <a:solidFill>
            <a:srgbClr val="7A1F79"/>
          </a:solidFill>
          <a:ln/>
        </p:spPr>
        <p:txBody>
          <a:bodyPr wrap="square" lIns="130082" tIns="79282" rIns="0" bIns="53882" rtlCol="0" anchor="t">
            <a:normAutofit/>
          </a:bodyPr>
          <a:lstStyle/>
          <a:p>
            <a:pPr marL="0" indent="0" algn="l">
              <a:lnSpc>
                <a:spcPts val="1950"/>
              </a:lnSpc>
              <a:buNone/>
            </a:pPr>
            <a:r>
              <a:rPr lang="en-US" sz="1500" b="1" dirty="0">
                <a:solidFill>
                  <a:srgbClr val="FFFFFF"/>
                </a:solidFill>
                <a:latin typeface="Carlito" pitchFamily="34" charset="0"/>
                <a:ea typeface="Carlito" pitchFamily="34" charset="-122"/>
                <a:cs typeface="Carlito" pitchFamily="34" charset="-120"/>
              </a:rPr>
              <a:t>Замыкание.</a:t>
            </a:r>
            <a:r>
              <a:rPr lang="en-US" sz="1500" dirty="0">
                <a:solidFill>
                  <a:srgbClr val="FFFFFF"/>
                </a:solidFill>
                <a:latin typeface="Carlito" pitchFamily="34" charset="0"/>
                <a:ea typeface="Carlito" pitchFamily="34" charset="-122"/>
                <a:cs typeface="Carlito" pitchFamily="34" charset="-120"/>
              </a:rPr>
              <a:t> Функция, возвращённая из counter, помнит переменную c и после завершения counter. Поэтому счётчик растёт: 1, 2, 3.</a:t>
            </a:r>
            <a:endParaRPr lang="en-US" sz="150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118725" y="117432"/>
            <a:ext cx="737272" cy="7259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Массивы</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Упорядоченный список значений, нумерация с нуля</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565400"/>
          </a:xfrm>
          <a:prstGeom prst="roundRect">
            <a:avLst>
              <a:gd name="adj" fmla="val 2970"/>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fr = [</a:t>
            </a:r>
            <a:r>
              <a:rPr lang="en-US" sz="1200" dirty="0">
                <a:solidFill>
                  <a:srgbClr val="9EE6A8"/>
                </a:solidFill>
                <a:latin typeface="JetBrains Mono" pitchFamily="49" charset="0"/>
                <a:ea typeface="JetBrains Mono" pitchFamily="49" charset="-122"/>
                <a:cs typeface="JetBrains Mono" pitchFamily="49" charset="-120"/>
              </a:rPr>
              <a:t>"яблоко"</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"груша"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FFD27F"/>
                </a:solidFill>
                <a:latin typeface="JetBrains Mono" pitchFamily="49" charset="0"/>
                <a:ea typeface="JetBrains Mono" pitchFamily="49" charset="-122"/>
                <a:cs typeface="JetBrains Mono" pitchFamily="49" charset="-120"/>
              </a:rPr>
              <a:t>push</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"слива"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(fr);</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 fr.length);</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FFD27F"/>
                </a:solidFill>
                <a:latin typeface="JetBrains Mono" pitchFamily="49" charset="0"/>
                <a:ea typeface="JetBrains Mono" pitchFamily="49" charset="-122"/>
                <a:cs typeface="JetBrains Mono" pitchFamily="49" charset="-120"/>
              </a:rPr>
              <a:t>pop</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FFD27F"/>
                </a:solidFill>
                <a:latin typeface="JetBrains Mono" pitchFamily="49" charset="0"/>
                <a:ea typeface="JetBrains Mono" pitchFamily="49" charset="-122"/>
                <a:cs typeface="JetBrains Mono" pitchFamily="49" charset="-120"/>
              </a:rPr>
              <a:t>unshift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"киви"</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(fr);</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FFD27F"/>
                </a:solidFill>
                <a:latin typeface="JetBrains Mono" pitchFamily="49" charset="0"/>
                <a:ea typeface="JetBrains Mono" pitchFamily="49" charset="-122"/>
                <a:cs typeface="JetBrains Mono" pitchFamily="49" charset="-120"/>
              </a:rPr>
              <a:t>indexOf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"груша"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FFD27F"/>
                </a:solidFill>
                <a:latin typeface="JetBrains Mono" pitchFamily="49" charset="0"/>
                <a:ea typeface="JetBrains Mono" pitchFamily="49" charset="-122"/>
                <a:cs typeface="JetBrains Mono" pitchFamily="49" charset="-120"/>
              </a:rPr>
              <a:t>includes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"слива"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(fr.</a:t>
            </a:r>
            <a:r>
              <a:rPr lang="en-US" sz="1200" dirty="0">
                <a:solidFill>
                  <a:srgbClr val="FFD27F"/>
                </a:solidFill>
                <a:latin typeface="JetBrains Mono" pitchFamily="49" charset="0"/>
                <a:ea typeface="JetBrains Mono" pitchFamily="49" charset="-122"/>
                <a:cs typeface="JetBrains Mono" pitchFamily="49" charset="-120"/>
              </a:rPr>
              <a:t>join</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 + "</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2903141"/>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17166"/>
            <a:ext cx="5181600" cy="2438003"/>
          </a:xfrm>
          <a:prstGeom prst="roundRect">
            <a:avLst>
              <a:gd name="adj" fmla="val 2735"/>
            </a:avLst>
          </a:prstGeom>
          <a:solidFill>
            <a:srgbClr val="FFFFFF"/>
          </a:solidFill>
          <a:ln w="19050">
            <a:solidFill>
              <a:srgbClr val="972996"/>
            </a:solidFill>
            <a:prstDash val="solid"/>
          </a:ln>
        </p:spPr>
      </p:sp>
      <p:sp>
        <p:nvSpPr>
          <p:cNvPr id="11" name="Shape 8"/>
          <p:cNvSpPr/>
          <p:nvPr/>
        </p:nvSpPr>
        <p:spPr>
          <a:xfrm>
            <a:off x="6375400" y="16266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71452"/>
            <a:ext cx="101600" cy="101600"/>
          </a:xfrm>
          <a:prstGeom prst="roundRect">
            <a:avLst>
              <a:gd name="adj" fmla="val 50000"/>
            </a:avLst>
          </a:prstGeom>
          <a:solidFill>
            <a:srgbClr val="E57373"/>
          </a:solidFill>
          <a:ln/>
        </p:spPr>
      </p:sp>
      <p:sp>
        <p:nvSpPr>
          <p:cNvPr id="13" name="Shape 10"/>
          <p:cNvSpPr/>
          <p:nvPr/>
        </p:nvSpPr>
        <p:spPr>
          <a:xfrm>
            <a:off x="6667500" y="1771452"/>
            <a:ext cx="101600" cy="101600"/>
          </a:xfrm>
          <a:prstGeom prst="roundRect">
            <a:avLst>
              <a:gd name="adj" fmla="val 50000"/>
            </a:avLst>
          </a:prstGeom>
          <a:solidFill>
            <a:srgbClr val="FFD54F"/>
          </a:solidFill>
          <a:ln/>
        </p:spPr>
      </p:sp>
      <p:sp>
        <p:nvSpPr>
          <p:cNvPr id="14" name="Shape 11"/>
          <p:cNvSpPr/>
          <p:nvPr/>
        </p:nvSpPr>
        <p:spPr>
          <a:xfrm>
            <a:off x="6832600" y="1771452"/>
            <a:ext cx="101600" cy="101600"/>
          </a:xfrm>
          <a:prstGeom prst="roundRect">
            <a:avLst>
              <a:gd name="adj" fmla="val 50000"/>
            </a:avLst>
          </a:prstGeom>
          <a:solidFill>
            <a:srgbClr val="81C784"/>
          </a:solidFill>
          <a:ln/>
        </p:spPr>
      </p:sp>
      <p:sp>
        <p:nvSpPr>
          <p:cNvPr id="15" name="Text 12"/>
          <p:cNvSpPr/>
          <p:nvPr/>
        </p:nvSpPr>
        <p:spPr>
          <a:xfrm>
            <a:off x="7073900" y="17155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53667"/>
            <a:ext cx="5162550" cy="0"/>
          </a:xfrm>
          <a:prstGeom prst="line">
            <a:avLst/>
          </a:prstGeom>
          <a:noFill/>
          <a:ln w="6350">
            <a:solidFill>
              <a:srgbClr val="DDDDDD"/>
            </a:solidFill>
            <a:prstDash val="solid"/>
          </a:ln>
        </p:spPr>
      </p:sp>
      <p:sp>
        <p:nvSpPr>
          <p:cNvPr id="17" name="Text 14"/>
          <p:cNvSpPr/>
          <p:nvPr/>
        </p:nvSpPr>
        <p:spPr>
          <a:xfrm>
            <a:off x="6527800" y="20686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["яблоко", "груша", "слива"]</a:t>
            </a:r>
            <a:endParaRPr lang="en-US" sz="1300" dirty="0"/>
          </a:p>
        </p:txBody>
      </p:sp>
      <p:sp>
        <p:nvSpPr>
          <p:cNvPr id="18" name="Shape 15"/>
          <p:cNvSpPr/>
          <p:nvPr/>
        </p:nvSpPr>
        <p:spPr>
          <a:xfrm>
            <a:off x="6375400" y="2692698"/>
            <a:ext cx="5162550" cy="0"/>
          </a:xfrm>
          <a:prstGeom prst="line">
            <a:avLst/>
          </a:prstGeom>
          <a:noFill/>
          <a:ln w="6350">
            <a:solidFill>
              <a:srgbClr val="DDDDDD"/>
            </a:solidFill>
            <a:prstDash val="solid"/>
          </a:ln>
        </p:spPr>
      </p:sp>
      <p:sp>
        <p:nvSpPr>
          <p:cNvPr id="19" name="Text 16"/>
          <p:cNvSpPr/>
          <p:nvPr/>
        </p:nvSpPr>
        <p:spPr>
          <a:xfrm>
            <a:off x="6527800" y="24076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яблоко </a:t>
            </a:r>
            <a:r>
              <a:rPr lang="en-US" sz="1300" dirty="0">
                <a:solidFill>
                  <a:srgbClr val="1A5FB4"/>
                </a:solidFill>
                <a:latin typeface="JetBrains Mono" pitchFamily="49" charset="0"/>
                <a:ea typeface="JetBrains Mono" pitchFamily="49" charset="-122"/>
                <a:cs typeface="JetBrains Mono" pitchFamily="49" charset="-120"/>
              </a:rPr>
              <a:t>3</a:t>
            </a:r>
            <a:endParaRPr lang="en-US" sz="1300" dirty="0"/>
          </a:p>
        </p:txBody>
      </p:sp>
      <p:sp>
        <p:nvSpPr>
          <p:cNvPr id="20" name="Shape 17"/>
          <p:cNvSpPr/>
          <p:nvPr/>
        </p:nvSpPr>
        <p:spPr>
          <a:xfrm>
            <a:off x="6375400" y="3031728"/>
            <a:ext cx="5162550" cy="0"/>
          </a:xfrm>
          <a:prstGeom prst="line">
            <a:avLst/>
          </a:prstGeom>
          <a:noFill/>
          <a:ln w="6350">
            <a:solidFill>
              <a:srgbClr val="DDDDDD"/>
            </a:solidFill>
            <a:prstDash val="solid"/>
          </a:ln>
        </p:spPr>
      </p:sp>
      <p:sp>
        <p:nvSpPr>
          <p:cNvPr id="21" name="Text 18"/>
          <p:cNvSpPr/>
          <p:nvPr/>
        </p:nvSpPr>
        <p:spPr>
          <a:xfrm>
            <a:off x="6527800" y="27466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["киви", "яблоко", "груша"]</a:t>
            </a:r>
            <a:endParaRPr lang="en-US" sz="1300" dirty="0"/>
          </a:p>
        </p:txBody>
      </p:sp>
      <p:sp>
        <p:nvSpPr>
          <p:cNvPr id="22" name="Shape 19"/>
          <p:cNvSpPr/>
          <p:nvPr/>
        </p:nvSpPr>
        <p:spPr>
          <a:xfrm>
            <a:off x="6375400" y="3370759"/>
            <a:ext cx="5162550" cy="0"/>
          </a:xfrm>
          <a:prstGeom prst="line">
            <a:avLst/>
          </a:prstGeom>
          <a:noFill/>
          <a:ln w="6350">
            <a:solidFill>
              <a:srgbClr val="DDDDDD"/>
            </a:solidFill>
            <a:prstDash val="solid"/>
          </a:ln>
        </p:spPr>
      </p:sp>
      <p:sp>
        <p:nvSpPr>
          <p:cNvPr id="23" name="Text 20"/>
          <p:cNvSpPr/>
          <p:nvPr/>
        </p:nvSpPr>
        <p:spPr>
          <a:xfrm>
            <a:off x="6527800" y="308570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2</a:t>
            </a:r>
            <a:endParaRPr lang="en-US" sz="1300" dirty="0"/>
          </a:p>
        </p:txBody>
      </p:sp>
      <p:sp>
        <p:nvSpPr>
          <p:cNvPr id="24" name="Shape 21"/>
          <p:cNvSpPr/>
          <p:nvPr/>
        </p:nvSpPr>
        <p:spPr>
          <a:xfrm>
            <a:off x="6375400" y="3709789"/>
            <a:ext cx="5162550" cy="0"/>
          </a:xfrm>
          <a:prstGeom prst="line">
            <a:avLst/>
          </a:prstGeom>
          <a:noFill/>
          <a:ln w="6350">
            <a:solidFill>
              <a:srgbClr val="DDDDDD"/>
            </a:solidFill>
            <a:prstDash val="solid"/>
          </a:ln>
        </p:spPr>
      </p:sp>
      <p:sp>
        <p:nvSpPr>
          <p:cNvPr id="25" name="Text 22"/>
          <p:cNvSpPr/>
          <p:nvPr/>
        </p:nvSpPr>
        <p:spPr>
          <a:xfrm>
            <a:off x="6527800" y="3424734"/>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false</a:t>
            </a:r>
            <a:endParaRPr lang="en-US" sz="1300" dirty="0"/>
          </a:p>
        </p:txBody>
      </p:sp>
      <p:sp>
        <p:nvSpPr>
          <p:cNvPr id="26" name="Text 23"/>
          <p:cNvSpPr/>
          <p:nvPr/>
        </p:nvSpPr>
        <p:spPr>
          <a:xfrm>
            <a:off x="6527800" y="3763764"/>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киви + яблоко + груша</a:t>
            </a:r>
            <a:endParaRPr lang="en-US" sz="1300" dirty="0"/>
          </a:p>
        </p:txBody>
      </p:sp>
      <p:sp>
        <p:nvSpPr>
          <p:cNvPr id="27" name="Text 24"/>
          <p:cNvSpPr/>
          <p:nvPr/>
        </p:nvSpPr>
        <p:spPr>
          <a:xfrm>
            <a:off x="635000" y="4300041"/>
            <a:ext cx="10922000" cy="742950"/>
          </a:xfrm>
          <a:prstGeom prst="roundRect">
            <a:avLst>
              <a:gd name="adj" fmla="val 10256"/>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push и pop работают с концом массива, unshift и shift — с началом. Индекс первого элемента 0, последний — fr[fr.length - 1]. slice копирует часть массива, splice удаляет и вставляет элементы. indexOf возвращает -1, если элемента нет.</a:t>
            </a:r>
            <a:endParaRPr lang="en-US" sz="1500" dirty="0"/>
          </a:p>
        </p:txBody>
      </p:sp>
      <p:pic>
        <p:nvPicPr>
          <p:cNvPr id="28" name="Рисунок 27"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062501" y="298889"/>
            <a:ext cx="737272" cy="7259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Методы массивов</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map, filter, find, reduce: обработка данных без циклов</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336800"/>
          </a:xfrm>
          <a:prstGeom prst="roundRect">
            <a:avLst>
              <a:gd name="adj" fmla="val 3261"/>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nums = [</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8</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map</a:t>
            </a:r>
            <a:r>
              <a:rPr lang="en-US" sz="1200" dirty="0">
                <a:solidFill>
                  <a:srgbClr val="FFFFFF"/>
                </a:solidFill>
                <a:latin typeface="JetBrains Mono" pitchFamily="49" charset="0"/>
                <a:ea typeface="JetBrains Mono" pitchFamily="49" charset="-122"/>
                <a:cs typeface="JetBrains Mono" pitchFamily="49" charset="-120"/>
              </a:rPr>
              <a:t>(n =&gt; n *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filter</a:t>
            </a:r>
            <a:r>
              <a:rPr lang="en-US" sz="1200" dirty="0">
                <a:solidFill>
                  <a:srgbClr val="FFFFFF"/>
                </a:solidFill>
                <a:latin typeface="JetBrains Mono" pitchFamily="49" charset="0"/>
                <a:ea typeface="JetBrains Mono" pitchFamily="49" charset="-122"/>
                <a:cs typeface="JetBrains Mono" pitchFamily="49" charset="-120"/>
              </a:rPr>
              <a:t>(n =&gt; n &gt;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find</a:t>
            </a:r>
            <a:r>
              <a:rPr lang="en-US" sz="1200" dirty="0">
                <a:solidFill>
                  <a:srgbClr val="FFFFFF"/>
                </a:solidFill>
                <a:latin typeface="JetBrains Mono" pitchFamily="49" charset="0"/>
                <a:ea typeface="JetBrains Mono" pitchFamily="49" charset="-122"/>
                <a:cs typeface="JetBrains Mono" pitchFamily="49" charset="-120"/>
              </a:rPr>
              <a:t>(n =&gt; n &gt; </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reduce</a:t>
            </a:r>
            <a:r>
              <a:rPr lang="en-US" sz="1200" dirty="0">
                <a:solidFill>
                  <a:srgbClr val="FFFFFF"/>
                </a:solidFill>
                <a:latin typeface="JetBrains Mono" pitchFamily="49" charset="0"/>
                <a:ea typeface="JetBrains Mono" pitchFamily="49" charset="-122"/>
                <a:cs typeface="JetBrains Mono" pitchFamily="49" charset="-120"/>
              </a:rPr>
              <a:t>((s, n) =&gt; s + n,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some</a:t>
            </a:r>
            <a:r>
              <a:rPr lang="en-US" sz="1200" dirty="0">
                <a:solidFill>
                  <a:srgbClr val="FFFFFF"/>
                </a:solidFill>
                <a:latin typeface="JetBrains Mono" pitchFamily="49" charset="0"/>
                <a:ea typeface="JetBrains Mono" pitchFamily="49" charset="-122"/>
                <a:cs typeface="JetBrains Mono" pitchFamily="49" charset="-120"/>
              </a:rPr>
              <a:t>(n =&gt; n &gt; </a:t>
            </a:r>
            <a:r>
              <a:rPr lang="en-US" sz="1200" dirty="0">
                <a:solidFill>
                  <a:srgbClr val="8FD3FF"/>
                </a:solidFill>
                <a:latin typeface="JetBrains Mono" pitchFamily="49" charset="0"/>
                <a:ea typeface="JetBrains Mono" pitchFamily="49" charset="-122"/>
                <a:cs typeface="JetBrains Mono" pitchFamily="49" charset="-120"/>
              </a:rPr>
              <a:t>7</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every</a:t>
            </a:r>
            <a:r>
              <a:rPr lang="en-US" sz="1200" dirty="0">
                <a:solidFill>
                  <a:srgbClr val="FFFFFF"/>
                </a:solidFill>
                <a:latin typeface="JetBrains Mono" pitchFamily="49" charset="0"/>
                <a:ea typeface="JetBrains Mono" pitchFamily="49" charset="-122"/>
                <a:cs typeface="JetBrains Mono" pitchFamily="49" charset="-120"/>
              </a:rPr>
              <a:t>(n =&gt; n &gt;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sort</a:t>
            </a:r>
            <a:r>
              <a:rPr lang="en-US" sz="1200" dirty="0">
                <a:solidFill>
                  <a:srgbClr val="FFFFFF"/>
                </a:solidFill>
                <a:latin typeface="JetBrains Mono" pitchFamily="49" charset="0"/>
                <a:ea typeface="JetBrains Mono" pitchFamily="49" charset="-122"/>
                <a:cs typeface="JetBrains Mono" pitchFamily="49" charset="-120"/>
              </a:rPr>
              <a:t>((a, b) =&gt; a - b));</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nums.</a:t>
            </a:r>
            <a:r>
              <a:rPr lang="en-US" sz="1200" dirty="0">
                <a:solidFill>
                  <a:srgbClr val="FFD27F"/>
                </a:solidFill>
                <a:latin typeface="JetBrains Mono" pitchFamily="49" charset="0"/>
                <a:ea typeface="JetBrains Mono" pitchFamily="49" charset="-122"/>
                <a:cs typeface="JetBrains Mono" pitchFamily="49" charset="-120"/>
              </a:rPr>
              <a:t>forEach</a:t>
            </a:r>
            <a:r>
              <a:rPr lang="en-US" sz="1200" dirty="0">
                <a:solidFill>
                  <a:srgbClr val="FFFFFF"/>
                </a:solidFill>
                <a:latin typeface="JetBrains Mono" pitchFamily="49" charset="0"/>
                <a:ea typeface="JetBrains Mono" pitchFamily="49" charset="-122"/>
                <a:cs typeface="JetBrains Mono" pitchFamily="49" charset="-120"/>
              </a:rPr>
              <a:t>(n =&gt;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a:t>
            </a:r>
            <a:endParaRPr lang="en-US" sz="1200" dirty="0"/>
          </a:p>
        </p:txBody>
      </p:sp>
      <p:sp>
        <p:nvSpPr>
          <p:cNvPr id="8" name="Shape 5"/>
          <p:cNvSpPr/>
          <p:nvPr/>
        </p:nvSpPr>
        <p:spPr>
          <a:xfrm>
            <a:off x="6089650" y="1269901"/>
            <a:ext cx="12700" cy="3320455"/>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594941"/>
            <a:ext cx="5200650" cy="2995414"/>
          </a:xfrm>
          <a:prstGeom prst="roundRect">
            <a:avLst>
              <a:gd name="adj" fmla="val 2544"/>
            </a:avLst>
          </a:prstGeom>
          <a:solidFill>
            <a:srgbClr val="FFFFFF"/>
          </a:solidFill>
          <a:ln/>
        </p:spPr>
      </p:sp>
      <p:sp>
        <p:nvSpPr>
          <p:cNvPr id="11" name="Shape 8"/>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39702"/>
            <a:ext cx="101600" cy="101600"/>
          </a:xfrm>
          <a:prstGeom prst="roundRect">
            <a:avLst>
              <a:gd name="adj" fmla="val 50000"/>
            </a:avLst>
          </a:prstGeom>
          <a:solidFill>
            <a:srgbClr val="E57373"/>
          </a:solidFill>
          <a:ln/>
        </p:spPr>
      </p:sp>
      <p:sp>
        <p:nvSpPr>
          <p:cNvPr id="13" name="Shape 10"/>
          <p:cNvSpPr/>
          <p:nvPr/>
        </p:nvSpPr>
        <p:spPr>
          <a:xfrm>
            <a:off x="6648450" y="1739702"/>
            <a:ext cx="101600" cy="101600"/>
          </a:xfrm>
          <a:prstGeom prst="roundRect">
            <a:avLst>
              <a:gd name="adj" fmla="val 50000"/>
            </a:avLst>
          </a:prstGeom>
          <a:solidFill>
            <a:srgbClr val="FFD54F"/>
          </a:solidFill>
          <a:ln/>
        </p:spPr>
      </p:sp>
      <p:sp>
        <p:nvSpPr>
          <p:cNvPr id="14" name="Shape 11"/>
          <p:cNvSpPr/>
          <p:nvPr/>
        </p:nvSpPr>
        <p:spPr>
          <a:xfrm>
            <a:off x="6813550" y="1739702"/>
            <a:ext cx="101600" cy="101600"/>
          </a:xfrm>
          <a:prstGeom prst="roundRect">
            <a:avLst>
              <a:gd name="adj" fmla="val 50000"/>
            </a:avLst>
          </a:prstGeom>
          <a:solidFill>
            <a:srgbClr val="81C784"/>
          </a:solidFill>
          <a:ln/>
        </p:spPr>
      </p:sp>
      <p:sp>
        <p:nvSpPr>
          <p:cNvPr id="15" name="Text 12"/>
          <p:cNvSpPr/>
          <p:nvPr/>
        </p:nvSpPr>
        <p:spPr>
          <a:xfrm>
            <a:off x="7054850" y="16838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09217"/>
            <a:ext cx="5200650" cy="0"/>
          </a:xfrm>
          <a:prstGeom prst="line">
            <a:avLst/>
          </a:prstGeom>
          <a:noFill/>
          <a:ln w="6350">
            <a:solidFill>
              <a:srgbClr val="DDDDDD"/>
            </a:solidFill>
            <a:prstDash val="solid"/>
          </a:ln>
        </p:spPr>
      </p:sp>
      <p:sp>
        <p:nvSpPr>
          <p:cNvPr id="17" name="Text 14"/>
          <p:cNvSpPr/>
          <p:nvPr/>
        </p:nvSpPr>
        <p:spPr>
          <a:xfrm>
            <a:off x="6508750" y="203051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[10, 4, 16, 2]</a:t>
            </a:r>
            <a:endParaRPr lang="en-US" sz="1300" dirty="0"/>
          </a:p>
        </p:txBody>
      </p:sp>
      <p:sp>
        <p:nvSpPr>
          <p:cNvPr id="18" name="Shape 15"/>
          <p:cNvSpPr/>
          <p:nvPr/>
        </p:nvSpPr>
        <p:spPr>
          <a:xfrm>
            <a:off x="6356350" y="2635548"/>
            <a:ext cx="5200650" cy="0"/>
          </a:xfrm>
          <a:prstGeom prst="line">
            <a:avLst/>
          </a:prstGeom>
          <a:noFill/>
          <a:ln w="6350">
            <a:solidFill>
              <a:srgbClr val="DDDDDD"/>
            </a:solidFill>
            <a:prstDash val="solid"/>
          </a:ln>
        </p:spPr>
      </p:sp>
      <p:sp>
        <p:nvSpPr>
          <p:cNvPr id="19" name="Text 16"/>
          <p:cNvSpPr/>
          <p:nvPr/>
        </p:nvSpPr>
        <p:spPr>
          <a:xfrm>
            <a:off x="6508750" y="235684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[5, 8]</a:t>
            </a:r>
            <a:endParaRPr lang="en-US" sz="1300" dirty="0"/>
          </a:p>
        </p:txBody>
      </p:sp>
      <p:sp>
        <p:nvSpPr>
          <p:cNvPr id="20" name="Shape 17"/>
          <p:cNvSpPr/>
          <p:nvPr/>
        </p:nvSpPr>
        <p:spPr>
          <a:xfrm>
            <a:off x="6356350" y="2961878"/>
            <a:ext cx="5200650" cy="0"/>
          </a:xfrm>
          <a:prstGeom prst="line">
            <a:avLst/>
          </a:prstGeom>
          <a:noFill/>
          <a:ln w="6350">
            <a:solidFill>
              <a:srgbClr val="DDDDDD"/>
            </a:solidFill>
            <a:prstDash val="solid"/>
          </a:ln>
        </p:spPr>
      </p:sp>
      <p:sp>
        <p:nvSpPr>
          <p:cNvPr id="21" name="Text 18"/>
          <p:cNvSpPr/>
          <p:nvPr/>
        </p:nvSpPr>
        <p:spPr>
          <a:xfrm>
            <a:off x="6508750" y="268317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8</a:t>
            </a:r>
            <a:endParaRPr lang="en-US" sz="1300" dirty="0"/>
          </a:p>
        </p:txBody>
      </p:sp>
      <p:sp>
        <p:nvSpPr>
          <p:cNvPr id="22" name="Shape 19"/>
          <p:cNvSpPr/>
          <p:nvPr/>
        </p:nvSpPr>
        <p:spPr>
          <a:xfrm>
            <a:off x="6356350" y="3288209"/>
            <a:ext cx="5200650" cy="0"/>
          </a:xfrm>
          <a:prstGeom prst="line">
            <a:avLst/>
          </a:prstGeom>
          <a:noFill/>
          <a:ln w="6350">
            <a:solidFill>
              <a:srgbClr val="DDDDDD"/>
            </a:solidFill>
            <a:prstDash val="solid"/>
          </a:ln>
        </p:spPr>
      </p:sp>
      <p:sp>
        <p:nvSpPr>
          <p:cNvPr id="23" name="Text 20"/>
          <p:cNvSpPr/>
          <p:nvPr/>
        </p:nvSpPr>
        <p:spPr>
          <a:xfrm>
            <a:off x="6508750" y="300950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16</a:t>
            </a:r>
            <a:endParaRPr lang="en-US" sz="1300" dirty="0"/>
          </a:p>
        </p:txBody>
      </p:sp>
      <p:sp>
        <p:nvSpPr>
          <p:cNvPr id="24" name="Shape 21"/>
          <p:cNvSpPr/>
          <p:nvPr/>
        </p:nvSpPr>
        <p:spPr>
          <a:xfrm>
            <a:off x="6356350" y="3614539"/>
            <a:ext cx="5200650" cy="0"/>
          </a:xfrm>
          <a:prstGeom prst="line">
            <a:avLst/>
          </a:prstGeom>
          <a:noFill/>
          <a:ln w="6350">
            <a:solidFill>
              <a:srgbClr val="DDDDDD"/>
            </a:solidFill>
            <a:prstDash val="solid"/>
          </a:ln>
        </p:spPr>
      </p:sp>
      <p:sp>
        <p:nvSpPr>
          <p:cNvPr id="25" name="Text 22"/>
          <p:cNvSpPr/>
          <p:nvPr/>
        </p:nvSpPr>
        <p:spPr>
          <a:xfrm>
            <a:off x="6508750" y="333583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6" name="Shape 23"/>
          <p:cNvSpPr/>
          <p:nvPr/>
        </p:nvSpPr>
        <p:spPr>
          <a:xfrm>
            <a:off x="6356350" y="3940870"/>
            <a:ext cx="5200650" cy="0"/>
          </a:xfrm>
          <a:prstGeom prst="line">
            <a:avLst/>
          </a:prstGeom>
          <a:noFill/>
          <a:ln w="6350">
            <a:solidFill>
              <a:srgbClr val="DDDDDD"/>
            </a:solidFill>
            <a:prstDash val="solid"/>
          </a:ln>
        </p:spPr>
      </p:sp>
      <p:sp>
        <p:nvSpPr>
          <p:cNvPr id="27" name="Text 24"/>
          <p:cNvSpPr/>
          <p:nvPr/>
        </p:nvSpPr>
        <p:spPr>
          <a:xfrm>
            <a:off x="6508750" y="3662164"/>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8" name="Shape 25"/>
          <p:cNvSpPr/>
          <p:nvPr/>
        </p:nvSpPr>
        <p:spPr>
          <a:xfrm>
            <a:off x="6356350" y="4267200"/>
            <a:ext cx="5200650" cy="0"/>
          </a:xfrm>
          <a:prstGeom prst="line">
            <a:avLst/>
          </a:prstGeom>
          <a:noFill/>
          <a:ln w="6350">
            <a:solidFill>
              <a:srgbClr val="DDDDDD"/>
            </a:solidFill>
            <a:prstDash val="solid"/>
          </a:ln>
        </p:spPr>
      </p:sp>
      <p:sp>
        <p:nvSpPr>
          <p:cNvPr id="29" name="Text 26"/>
          <p:cNvSpPr/>
          <p:nvPr/>
        </p:nvSpPr>
        <p:spPr>
          <a:xfrm>
            <a:off x="6508750" y="398849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[1, 2, 5, 8]</a:t>
            </a:r>
            <a:endParaRPr lang="en-US" sz="1300" dirty="0"/>
          </a:p>
        </p:txBody>
      </p:sp>
      <p:sp>
        <p:nvSpPr>
          <p:cNvPr id="30" name="Text 27"/>
          <p:cNvSpPr/>
          <p:nvPr/>
        </p:nvSpPr>
        <p:spPr>
          <a:xfrm>
            <a:off x="6508750" y="4314825"/>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5 2 8 1 (по строке на число)</a:t>
            </a:r>
            <a:endParaRPr lang="en-US" sz="1300" dirty="0"/>
          </a:p>
        </p:txBody>
      </p:sp>
      <p:sp>
        <p:nvSpPr>
          <p:cNvPr id="31" name="Text 28"/>
          <p:cNvSpPr/>
          <p:nvPr/>
        </p:nvSpPr>
        <p:spPr>
          <a:xfrm>
            <a:off x="635000" y="4717355"/>
            <a:ext cx="3556000" cy="871041"/>
          </a:xfrm>
          <a:prstGeom prst="roundRect">
            <a:avLst>
              <a:gd name="adj" fmla="val 8748"/>
            </a:avLst>
          </a:prstGeom>
          <a:solidFill>
            <a:srgbClr val="7A1F79"/>
          </a:solidFill>
          <a:ln/>
        </p:spPr>
        <p:txBody>
          <a:bodyPr wrap="square" lIns="117382" tIns="66582" rIns="19084" bIns="665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map</a:t>
            </a:r>
            <a:r>
              <a:rPr lang="en-US" sz="1400" dirty="0">
                <a:solidFill>
                  <a:srgbClr val="FFFFFF"/>
                </a:solidFill>
                <a:latin typeface="Carlito" pitchFamily="34" charset="0"/>
                <a:ea typeface="Carlito" pitchFamily="34" charset="-122"/>
                <a:cs typeface="Carlito" pitchFamily="34" charset="-120"/>
              </a:rPr>
              <a:t> — преобразует каждый элемент, </a:t>
            </a:r>
            <a:r>
              <a:rPr lang="en-US" sz="1400" b="1" dirty="0">
                <a:solidFill>
                  <a:srgbClr val="FFFFFF"/>
                </a:solidFill>
                <a:latin typeface="Carlito" pitchFamily="34" charset="0"/>
                <a:ea typeface="Carlito" pitchFamily="34" charset="-122"/>
                <a:cs typeface="Carlito" pitchFamily="34" charset="-120"/>
              </a:rPr>
              <a:t>filter</a:t>
            </a:r>
            <a:r>
              <a:rPr lang="en-US" sz="1400" dirty="0">
                <a:solidFill>
                  <a:srgbClr val="FFFFFF"/>
                </a:solidFill>
                <a:latin typeface="Carlito" pitchFamily="34" charset="0"/>
                <a:ea typeface="Carlito" pitchFamily="34" charset="-122"/>
                <a:cs typeface="Carlito" pitchFamily="34" charset="-120"/>
              </a:rPr>
              <a:t> — оставляет подходящие.</a:t>
            </a:r>
            <a:endParaRPr lang="en-US" sz="1400" dirty="0"/>
          </a:p>
        </p:txBody>
      </p:sp>
      <p:sp>
        <p:nvSpPr>
          <p:cNvPr id="32" name="Text 29"/>
          <p:cNvSpPr/>
          <p:nvPr/>
        </p:nvSpPr>
        <p:spPr>
          <a:xfrm>
            <a:off x="4318000" y="4717355"/>
            <a:ext cx="3556000" cy="871041"/>
          </a:xfrm>
          <a:prstGeom prst="roundRect">
            <a:avLst>
              <a:gd name="adj" fmla="val 8748"/>
            </a:avLst>
          </a:prstGeom>
          <a:solidFill>
            <a:srgbClr val="7A1F79"/>
          </a:solidFill>
          <a:ln/>
        </p:spPr>
        <p:txBody>
          <a:bodyPr wrap="square" lIns="117382" tIns="66582" rIns="19084" bIns="665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find</a:t>
            </a:r>
            <a:r>
              <a:rPr lang="en-US" sz="1400" dirty="0">
                <a:solidFill>
                  <a:srgbClr val="FFFFFF"/>
                </a:solidFill>
                <a:latin typeface="Carlito" pitchFamily="34" charset="0"/>
                <a:ea typeface="Carlito" pitchFamily="34" charset="-122"/>
                <a:cs typeface="Carlito" pitchFamily="34" charset="-120"/>
              </a:rPr>
              <a:t> — первый подходящий, </a:t>
            </a:r>
            <a:r>
              <a:rPr lang="en-US" sz="1400" b="1" dirty="0">
                <a:solidFill>
                  <a:srgbClr val="FFFFFF"/>
                </a:solidFill>
                <a:latin typeface="Carlito" pitchFamily="34" charset="0"/>
                <a:ea typeface="Carlito" pitchFamily="34" charset="-122"/>
                <a:cs typeface="Carlito" pitchFamily="34" charset="-120"/>
              </a:rPr>
              <a:t>reduce</a:t>
            </a:r>
            <a:r>
              <a:rPr lang="en-US" sz="1400" dirty="0">
                <a:solidFill>
                  <a:srgbClr val="FFFFFF"/>
                </a:solidFill>
                <a:latin typeface="Carlito" pitchFamily="34" charset="0"/>
                <a:ea typeface="Carlito" pitchFamily="34" charset="-122"/>
                <a:cs typeface="Carlito" pitchFamily="34" charset="-120"/>
              </a:rPr>
              <a:t> — сворачивает в одно значение.</a:t>
            </a:r>
            <a:endParaRPr lang="en-US" sz="1400" dirty="0"/>
          </a:p>
        </p:txBody>
      </p:sp>
      <p:sp>
        <p:nvSpPr>
          <p:cNvPr id="33" name="Text 30"/>
          <p:cNvSpPr/>
          <p:nvPr/>
        </p:nvSpPr>
        <p:spPr>
          <a:xfrm>
            <a:off x="8001000" y="4717355"/>
            <a:ext cx="3556000" cy="871041"/>
          </a:xfrm>
          <a:prstGeom prst="roundRect">
            <a:avLst>
              <a:gd name="adj" fmla="val 8748"/>
            </a:avLst>
          </a:prstGeom>
          <a:solidFill>
            <a:srgbClr val="7A1F79"/>
          </a:solidFill>
          <a:ln/>
        </p:spPr>
        <p:txBody>
          <a:bodyPr wrap="square" lIns="117382" tIns="66582" rIns="19084"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sort</a:t>
            </a:r>
            <a:r>
              <a:rPr lang="en-US" sz="1400" dirty="0">
                <a:solidFill>
                  <a:srgbClr val="FFFFFF"/>
                </a:solidFill>
                <a:latin typeface="Carlito" pitchFamily="34" charset="0"/>
                <a:ea typeface="Carlito" pitchFamily="34" charset="-122"/>
                <a:cs typeface="Carlito" pitchFamily="34" charset="-120"/>
              </a:rPr>
              <a:t> меняет сам массив, поэтому копия [...nums]. Без функции сортирует как строки.</a:t>
            </a:r>
            <a:endParaRPr lang="en-US" sz="1400" dirty="0"/>
          </a:p>
        </p:txBody>
      </p:sp>
      <p:pic>
        <p:nvPicPr>
          <p:cNvPr id="34" name="Рисунок 3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602328" y="177554"/>
            <a:ext cx="737272" cy="72597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Объекты</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Набор пар «ключ: значение»: свойства и методы</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022600"/>
          </a:xfrm>
          <a:prstGeom prst="roundRect">
            <a:avLst>
              <a:gd name="adj" fmla="val 2521"/>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user =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name: </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age: </a:t>
            </a:r>
            <a:r>
              <a:rPr lang="en-US" sz="1200" dirty="0">
                <a:solidFill>
                  <a:srgbClr val="8FD3FF"/>
                </a:solidFill>
                <a:latin typeface="JetBrains Mono" pitchFamily="49" charset="0"/>
                <a:ea typeface="JetBrains Mono" pitchFamily="49" charset="-122"/>
                <a:cs typeface="JetBrains Mono" pitchFamily="49" charset="-120"/>
              </a:rPr>
              <a:t>25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hobbies: [</a:t>
            </a:r>
            <a:r>
              <a:rPr lang="en-US" sz="1200" dirty="0">
                <a:solidFill>
                  <a:srgbClr val="9EE6A8"/>
                </a:solidFill>
                <a:latin typeface="JetBrains Mono" pitchFamily="49" charset="0"/>
                <a:ea typeface="JetBrains Mono" pitchFamily="49" charset="-122"/>
                <a:cs typeface="JetBrains Mono" pitchFamily="49" charset="-120"/>
              </a:rPr>
              <a:t>"чтение"</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"бег"</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greet</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`Я ${this.name}`</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(user.name, user[</a:t>
            </a:r>
            <a:r>
              <a:rPr lang="en-US" sz="1200" dirty="0">
                <a:solidFill>
                  <a:srgbClr val="9EE6A8"/>
                </a:solidFill>
                <a:latin typeface="JetBrains Mono" pitchFamily="49" charset="0"/>
                <a:ea typeface="JetBrains Mono" pitchFamily="49" charset="-122"/>
                <a:cs typeface="JetBrains Mono" pitchFamily="49" charset="-120"/>
              </a:rPr>
              <a:t>"age"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user.city = </a:t>
            </a:r>
            <a:r>
              <a:rPr lang="en-US" sz="1200" dirty="0">
                <a:solidFill>
                  <a:srgbClr val="9EE6A8"/>
                </a:solidFill>
                <a:latin typeface="JetBrains Mono" pitchFamily="49" charset="0"/>
                <a:ea typeface="JetBrains Mono" pitchFamily="49" charset="-122"/>
                <a:cs typeface="JetBrains Mono" pitchFamily="49" charset="-120"/>
              </a:rPr>
              <a:t>"Москва"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delete</a:t>
            </a:r>
            <a:r>
              <a:rPr lang="en-US" sz="1200" dirty="0">
                <a:solidFill>
                  <a:srgbClr val="FFFFFF"/>
                </a:solidFill>
                <a:latin typeface="JetBrains Mono" pitchFamily="49" charset="0"/>
                <a:ea typeface="JetBrains Mono" pitchFamily="49" charset="-122"/>
                <a:cs typeface="JetBrains Mono" pitchFamily="49" charset="-120"/>
              </a:rPr>
              <a:t> user.age;</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(user.</a:t>
            </a:r>
            <a:r>
              <a:rPr lang="en-US" sz="1200" dirty="0">
                <a:solidFill>
                  <a:srgbClr val="FFD27F"/>
                </a:solidFill>
                <a:latin typeface="JetBrains Mono" pitchFamily="49" charset="0"/>
                <a:ea typeface="JetBrains Mono" pitchFamily="49" charset="-122"/>
                <a:cs typeface="JetBrains Mono" pitchFamily="49" charset="-120"/>
              </a:rPr>
              <a:t>greet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(Object.</a:t>
            </a:r>
            <a:r>
              <a:rPr lang="en-US" sz="1200" dirty="0">
                <a:solidFill>
                  <a:srgbClr val="FFD27F"/>
                </a:solidFill>
                <a:latin typeface="JetBrains Mono" pitchFamily="49" charset="0"/>
                <a:ea typeface="JetBrains Mono" pitchFamily="49" charset="-122"/>
                <a:cs typeface="JetBrains Mono" pitchFamily="49" charset="-120"/>
              </a:rPr>
              <a:t>keys</a:t>
            </a:r>
            <a:r>
              <a:rPr lang="en-US" sz="1200" dirty="0">
                <a:solidFill>
                  <a:srgbClr val="FFFFFF"/>
                </a:solidFill>
                <a:latin typeface="JetBrains Mono" pitchFamily="49" charset="0"/>
                <a:ea typeface="JetBrains Mono" pitchFamily="49" charset="-122"/>
                <a:cs typeface="JetBrains Mono" pitchFamily="49" charset="-120"/>
              </a:rPr>
              <a:t>(user));</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"city"</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in</a:t>
            </a:r>
            <a:r>
              <a:rPr lang="en-US" sz="1200" dirty="0">
                <a:solidFill>
                  <a:srgbClr val="FFFFFF"/>
                </a:solidFill>
                <a:latin typeface="JetBrains Mono" pitchFamily="49" charset="0"/>
                <a:ea typeface="JetBrains Mono" pitchFamily="49" charset="-122"/>
                <a:cs typeface="JetBrains Mono" pitchFamily="49" charset="-120"/>
              </a:rPr>
              <a:t> user);</a:t>
            </a:r>
            <a:endParaRPr lang="en-US" sz="1200" dirty="0"/>
          </a:p>
        </p:txBody>
      </p:sp>
      <p:sp>
        <p:nvSpPr>
          <p:cNvPr id="8" name="Shape 5"/>
          <p:cNvSpPr/>
          <p:nvPr/>
        </p:nvSpPr>
        <p:spPr>
          <a:xfrm>
            <a:off x="6089650" y="1269901"/>
            <a:ext cx="12700" cy="3508474"/>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04466"/>
            <a:ext cx="5181600" cy="1759942"/>
          </a:xfrm>
          <a:prstGeom prst="roundRect">
            <a:avLst>
              <a:gd name="adj" fmla="val 3788"/>
            </a:avLst>
          </a:prstGeom>
          <a:solidFill>
            <a:srgbClr val="FFFFFF"/>
          </a:solidFill>
          <a:ln w="19050">
            <a:solidFill>
              <a:srgbClr val="972996"/>
            </a:solidFill>
            <a:prstDash val="solid"/>
          </a:ln>
        </p:spPr>
      </p:sp>
      <p:sp>
        <p:nvSpPr>
          <p:cNvPr id="11" name="Shape 8"/>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58752"/>
            <a:ext cx="101600" cy="101600"/>
          </a:xfrm>
          <a:prstGeom prst="roundRect">
            <a:avLst>
              <a:gd name="adj" fmla="val 50000"/>
            </a:avLst>
          </a:prstGeom>
          <a:solidFill>
            <a:srgbClr val="E57373"/>
          </a:solidFill>
          <a:ln/>
        </p:spPr>
      </p:sp>
      <p:sp>
        <p:nvSpPr>
          <p:cNvPr id="13" name="Shape 10"/>
          <p:cNvSpPr/>
          <p:nvPr/>
        </p:nvSpPr>
        <p:spPr>
          <a:xfrm>
            <a:off x="6667500" y="1758752"/>
            <a:ext cx="101600" cy="101600"/>
          </a:xfrm>
          <a:prstGeom prst="roundRect">
            <a:avLst>
              <a:gd name="adj" fmla="val 50000"/>
            </a:avLst>
          </a:prstGeom>
          <a:solidFill>
            <a:srgbClr val="FFD54F"/>
          </a:solidFill>
          <a:ln/>
        </p:spPr>
      </p:sp>
      <p:sp>
        <p:nvSpPr>
          <p:cNvPr id="14" name="Shape 11"/>
          <p:cNvSpPr/>
          <p:nvPr/>
        </p:nvSpPr>
        <p:spPr>
          <a:xfrm>
            <a:off x="6832600" y="1758752"/>
            <a:ext cx="101600" cy="101600"/>
          </a:xfrm>
          <a:prstGeom prst="roundRect">
            <a:avLst>
              <a:gd name="adj" fmla="val 50000"/>
            </a:avLst>
          </a:prstGeom>
          <a:solidFill>
            <a:srgbClr val="81C784"/>
          </a:solidFill>
          <a:ln/>
        </p:spPr>
      </p:sp>
      <p:sp>
        <p:nvSpPr>
          <p:cNvPr id="15" name="Text 12"/>
          <p:cNvSpPr/>
          <p:nvPr/>
        </p:nvSpPr>
        <p:spPr>
          <a:xfrm>
            <a:off x="7073900" y="17028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40967"/>
            <a:ext cx="5162550" cy="0"/>
          </a:xfrm>
          <a:prstGeom prst="line">
            <a:avLst/>
          </a:prstGeom>
          <a:noFill/>
          <a:ln w="6350">
            <a:solidFill>
              <a:srgbClr val="DDDDDD"/>
            </a:solidFill>
            <a:prstDash val="solid"/>
          </a:ln>
        </p:spPr>
      </p:sp>
      <p:sp>
        <p:nvSpPr>
          <p:cNvPr id="17" name="Text 14"/>
          <p:cNvSpPr/>
          <p:nvPr/>
        </p:nvSpPr>
        <p:spPr>
          <a:xfrm>
            <a:off x="6527800" y="20559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Анна </a:t>
            </a:r>
            <a:r>
              <a:rPr lang="en-US" sz="1300" dirty="0">
                <a:solidFill>
                  <a:srgbClr val="1A5FB4"/>
                </a:solidFill>
                <a:latin typeface="JetBrains Mono" pitchFamily="49" charset="0"/>
                <a:ea typeface="JetBrains Mono" pitchFamily="49" charset="-122"/>
                <a:cs typeface="JetBrains Mono" pitchFamily="49" charset="-120"/>
              </a:rPr>
              <a:t>25</a:t>
            </a:r>
            <a:endParaRPr lang="en-US" sz="1300" dirty="0"/>
          </a:p>
        </p:txBody>
      </p:sp>
      <p:sp>
        <p:nvSpPr>
          <p:cNvPr id="18" name="Shape 15"/>
          <p:cNvSpPr/>
          <p:nvPr/>
        </p:nvSpPr>
        <p:spPr>
          <a:xfrm>
            <a:off x="6375400" y="2679998"/>
            <a:ext cx="5162550" cy="0"/>
          </a:xfrm>
          <a:prstGeom prst="line">
            <a:avLst/>
          </a:prstGeom>
          <a:noFill/>
          <a:ln w="6350">
            <a:solidFill>
              <a:srgbClr val="DDDDDD"/>
            </a:solidFill>
            <a:prstDash val="solid"/>
          </a:ln>
        </p:spPr>
      </p:sp>
      <p:sp>
        <p:nvSpPr>
          <p:cNvPr id="19" name="Text 16"/>
          <p:cNvSpPr/>
          <p:nvPr/>
        </p:nvSpPr>
        <p:spPr>
          <a:xfrm>
            <a:off x="6527800" y="23949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Я Анна</a:t>
            </a:r>
            <a:endParaRPr lang="en-US" sz="1300" dirty="0"/>
          </a:p>
        </p:txBody>
      </p:sp>
      <p:sp>
        <p:nvSpPr>
          <p:cNvPr id="20" name="Shape 17"/>
          <p:cNvSpPr/>
          <p:nvPr/>
        </p:nvSpPr>
        <p:spPr>
          <a:xfrm>
            <a:off x="6375400" y="3019028"/>
            <a:ext cx="5162550" cy="0"/>
          </a:xfrm>
          <a:prstGeom prst="line">
            <a:avLst/>
          </a:prstGeom>
          <a:noFill/>
          <a:ln w="6350">
            <a:solidFill>
              <a:srgbClr val="DDDDDD"/>
            </a:solidFill>
            <a:prstDash val="solid"/>
          </a:ln>
        </p:spPr>
      </p:sp>
      <p:sp>
        <p:nvSpPr>
          <p:cNvPr id="21" name="Text 18"/>
          <p:cNvSpPr/>
          <p:nvPr/>
        </p:nvSpPr>
        <p:spPr>
          <a:xfrm>
            <a:off x="6527800" y="27339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["name", "hobbies", "greet", "city"]</a:t>
            </a:r>
            <a:endParaRPr lang="en-US" sz="1300" dirty="0"/>
          </a:p>
        </p:txBody>
      </p:sp>
      <p:sp>
        <p:nvSpPr>
          <p:cNvPr id="22" name="Text 19"/>
          <p:cNvSpPr/>
          <p:nvPr/>
        </p:nvSpPr>
        <p:spPr>
          <a:xfrm>
            <a:off x="6527800" y="307300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3" name="Shape 20"/>
          <p:cNvSpPr/>
          <p:nvPr/>
        </p:nvSpPr>
        <p:spPr>
          <a:xfrm>
            <a:off x="6388100" y="3450134"/>
            <a:ext cx="0" cy="741561"/>
          </a:xfrm>
          <a:prstGeom prst="line">
            <a:avLst/>
          </a:prstGeom>
          <a:noFill/>
          <a:ln w="63500">
            <a:solidFill>
              <a:srgbClr val="972996"/>
            </a:solidFill>
            <a:prstDash val="solid"/>
          </a:ln>
        </p:spPr>
      </p:sp>
      <p:sp>
        <p:nvSpPr>
          <p:cNvPr id="24" name="Text 21"/>
          <p:cNvSpPr/>
          <p:nvPr/>
        </p:nvSpPr>
        <p:spPr>
          <a:xfrm>
            <a:off x="6546850" y="345013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Доступ к свойству</a:t>
            </a:r>
            <a:endParaRPr lang="en-US" sz="1500" dirty="0"/>
          </a:p>
        </p:txBody>
      </p:sp>
      <p:sp>
        <p:nvSpPr>
          <p:cNvPr id="25" name="Text 22"/>
          <p:cNvSpPr/>
          <p:nvPr/>
        </p:nvSpPr>
        <p:spPr>
          <a:xfrm>
            <a:off x="6546850" y="3729534"/>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user.name или user["name"]; вторая запись нужна, когда ключ в переменной</a:t>
            </a:r>
            <a:endParaRPr lang="en-US" sz="1400" dirty="0"/>
          </a:p>
        </p:txBody>
      </p:sp>
      <p:sp>
        <p:nvSpPr>
          <p:cNvPr id="26" name="Shape 23"/>
          <p:cNvSpPr/>
          <p:nvPr/>
        </p:nvSpPr>
        <p:spPr>
          <a:xfrm>
            <a:off x="6388100" y="4267895"/>
            <a:ext cx="0" cy="510480"/>
          </a:xfrm>
          <a:prstGeom prst="line">
            <a:avLst/>
          </a:prstGeom>
          <a:noFill/>
          <a:ln w="63500">
            <a:solidFill>
              <a:srgbClr val="972996"/>
            </a:solidFill>
            <a:prstDash val="solid"/>
          </a:ln>
        </p:spPr>
      </p:sp>
      <p:sp>
        <p:nvSpPr>
          <p:cNvPr id="27" name="Text 24"/>
          <p:cNvSpPr/>
          <p:nvPr/>
        </p:nvSpPr>
        <p:spPr>
          <a:xfrm>
            <a:off x="6546850" y="4267895"/>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Метод и this</a:t>
            </a:r>
            <a:endParaRPr lang="en-US" sz="1500" dirty="0"/>
          </a:p>
        </p:txBody>
      </p:sp>
      <p:sp>
        <p:nvSpPr>
          <p:cNvPr id="28" name="Text 25"/>
          <p:cNvSpPr/>
          <p:nvPr/>
        </p:nvSpPr>
        <p:spPr>
          <a:xfrm>
            <a:off x="6546850" y="4547295"/>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метод — функция в объекте; this внутри указывает на сам объект</a:t>
            </a:r>
            <a:endParaRPr lang="en-US" sz="1400" dirty="0"/>
          </a:p>
        </p:txBody>
      </p:sp>
      <p:sp>
        <p:nvSpPr>
          <p:cNvPr id="29" name="Text 26"/>
          <p:cNvSpPr/>
          <p:nvPr/>
        </p:nvSpPr>
        <p:spPr>
          <a:xfrm>
            <a:off x="635000" y="4905375"/>
            <a:ext cx="10922000" cy="742950"/>
          </a:xfrm>
          <a:prstGeom prst="roundRect">
            <a:avLst>
              <a:gd name="adj" fmla="val 10256"/>
            </a:avLst>
          </a:prstGeom>
          <a:solidFill>
            <a:srgbClr val="972996"/>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const запрещает заменить объект целиком, но свойства менять можно. Полезные функции: Object.keys, Object.values, Object.entries.</a:t>
            </a:r>
            <a:endParaRPr lang="en-US" sz="1500" dirty="0"/>
          </a:p>
        </p:txBody>
      </p:sp>
      <p:pic>
        <p:nvPicPr>
          <p:cNvPr id="30" name="Рисунок 29"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81991" y="189610"/>
            <a:ext cx="737272" cy="72597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Деструктуризация, spread и rest</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Три записи, которые сокращают код</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794000"/>
          </a:xfrm>
          <a:prstGeom prst="roundRect">
            <a:avLst>
              <a:gd name="adj" fmla="val 2727"/>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user = {name: </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 age: </a:t>
            </a:r>
            <a:r>
              <a:rPr lang="en-US" sz="1200" dirty="0">
                <a:solidFill>
                  <a:srgbClr val="8FD3FF"/>
                </a:solidFill>
                <a:latin typeface="JetBrains Mono" pitchFamily="49" charset="0"/>
                <a:ea typeface="JetBrains Mono" pitchFamily="49" charset="-122"/>
                <a:cs typeface="JetBrains Mono" pitchFamily="49" charset="-120"/>
              </a:rPr>
              <a:t>25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{name, age} = user;</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[a, b, ...rest] = [</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4</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copy = {...user, city: </a:t>
            </a:r>
            <a:r>
              <a:rPr lang="en-US" sz="1200" dirty="0">
                <a:solidFill>
                  <a:srgbClr val="9EE6A8"/>
                </a:solidFill>
                <a:latin typeface="JetBrains Mono" pitchFamily="49" charset="0"/>
                <a:ea typeface="JetBrains Mono" pitchFamily="49" charset="-122"/>
                <a:cs typeface="JetBrains Mono" pitchFamily="49" charset="-120"/>
              </a:rPr>
              <a:t>"Омск"</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sum</a:t>
            </a:r>
            <a:r>
              <a:rPr lang="en-US" sz="1200" dirty="0">
                <a:solidFill>
                  <a:srgbClr val="FFFFFF"/>
                </a:solidFill>
                <a:latin typeface="JetBrains Mono" pitchFamily="49" charset="0"/>
                <a:ea typeface="JetBrains Mono" pitchFamily="49" charset="-122"/>
                <a:cs typeface="JetBrains Mono" pitchFamily="49" charset="-120"/>
              </a:rPr>
              <a:t>(...nums)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nums.</a:t>
            </a:r>
            <a:r>
              <a:rPr lang="en-US" sz="1200" dirty="0">
                <a:solidFill>
                  <a:srgbClr val="FFD27F"/>
                </a:solidFill>
                <a:latin typeface="JetBrains Mono" pitchFamily="49" charset="0"/>
                <a:ea typeface="JetBrains Mono" pitchFamily="49" charset="-122"/>
                <a:cs typeface="JetBrains Mono" pitchFamily="49" charset="-120"/>
              </a:rPr>
              <a:t>reduce</a:t>
            </a:r>
            <a:r>
              <a:rPr lang="en-US" sz="1200" dirty="0">
                <a:solidFill>
                  <a:srgbClr val="FFFFFF"/>
                </a:solidFill>
                <a:latin typeface="JetBrains Mono" pitchFamily="49" charset="0"/>
                <a:ea typeface="JetBrains Mono" pitchFamily="49" charset="-122"/>
                <a:cs typeface="JetBrains Mono" pitchFamily="49" charset="-120"/>
              </a:rPr>
              <a:t>((s, n) =&gt; s + n,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(name, age);</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 b, rest);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(copy);</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([...rest, </a:t>
            </a:r>
            <a:r>
              <a:rPr lang="en-US" sz="1200" dirty="0">
                <a:solidFill>
                  <a:srgbClr val="8FD3FF"/>
                </a:solidFill>
                <a:latin typeface="JetBrains Mono" pitchFamily="49" charset="0"/>
                <a:ea typeface="JetBrains Mono" pitchFamily="49" charset="-122"/>
                <a:cs typeface="JetBrains Mono" pitchFamily="49" charset="-120"/>
              </a:rPr>
              <a:t>5</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sum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3</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983335"/>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594941"/>
            <a:ext cx="5200650" cy="1740892"/>
          </a:xfrm>
          <a:prstGeom prst="roundRect">
            <a:avLst>
              <a:gd name="adj" fmla="val 4377"/>
            </a:avLst>
          </a:prstGeom>
          <a:solidFill>
            <a:srgbClr val="FFFFFF"/>
          </a:solidFill>
          <a:ln/>
        </p:spPr>
      </p:sp>
      <p:sp>
        <p:nvSpPr>
          <p:cNvPr id="11" name="Shape 8"/>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39702"/>
            <a:ext cx="101600" cy="101600"/>
          </a:xfrm>
          <a:prstGeom prst="roundRect">
            <a:avLst>
              <a:gd name="adj" fmla="val 50000"/>
            </a:avLst>
          </a:prstGeom>
          <a:solidFill>
            <a:srgbClr val="E57373"/>
          </a:solidFill>
          <a:ln/>
        </p:spPr>
      </p:sp>
      <p:sp>
        <p:nvSpPr>
          <p:cNvPr id="13" name="Shape 10"/>
          <p:cNvSpPr/>
          <p:nvPr/>
        </p:nvSpPr>
        <p:spPr>
          <a:xfrm>
            <a:off x="6648450" y="1739702"/>
            <a:ext cx="101600" cy="101600"/>
          </a:xfrm>
          <a:prstGeom prst="roundRect">
            <a:avLst>
              <a:gd name="adj" fmla="val 50000"/>
            </a:avLst>
          </a:prstGeom>
          <a:solidFill>
            <a:srgbClr val="FFD54F"/>
          </a:solidFill>
          <a:ln/>
        </p:spPr>
      </p:sp>
      <p:sp>
        <p:nvSpPr>
          <p:cNvPr id="14" name="Shape 11"/>
          <p:cNvSpPr/>
          <p:nvPr/>
        </p:nvSpPr>
        <p:spPr>
          <a:xfrm>
            <a:off x="6813550" y="1739702"/>
            <a:ext cx="101600" cy="101600"/>
          </a:xfrm>
          <a:prstGeom prst="roundRect">
            <a:avLst>
              <a:gd name="adj" fmla="val 50000"/>
            </a:avLst>
          </a:prstGeom>
          <a:solidFill>
            <a:srgbClr val="81C784"/>
          </a:solidFill>
          <a:ln/>
        </p:spPr>
      </p:sp>
      <p:sp>
        <p:nvSpPr>
          <p:cNvPr id="15" name="Text 12"/>
          <p:cNvSpPr/>
          <p:nvPr/>
        </p:nvSpPr>
        <p:spPr>
          <a:xfrm>
            <a:off x="7054850" y="16838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21917"/>
            <a:ext cx="5200650" cy="0"/>
          </a:xfrm>
          <a:prstGeom prst="line">
            <a:avLst/>
          </a:prstGeom>
          <a:noFill/>
          <a:ln w="6350">
            <a:solidFill>
              <a:srgbClr val="DDDDDD"/>
            </a:solidFill>
            <a:prstDash val="solid"/>
          </a:ln>
        </p:spPr>
      </p:sp>
      <p:sp>
        <p:nvSpPr>
          <p:cNvPr id="17" name="Text 14"/>
          <p:cNvSpPr/>
          <p:nvPr/>
        </p:nvSpPr>
        <p:spPr>
          <a:xfrm>
            <a:off x="6508750" y="203686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Анна </a:t>
            </a:r>
            <a:r>
              <a:rPr lang="en-US" sz="1300" dirty="0">
                <a:solidFill>
                  <a:srgbClr val="1A5FB4"/>
                </a:solidFill>
                <a:latin typeface="JetBrains Mono" pitchFamily="49" charset="0"/>
                <a:ea typeface="JetBrains Mono" pitchFamily="49" charset="-122"/>
                <a:cs typeface="JetBrains Mono" pitchFamily="49" charset="-120"/>
              </a:rPr>
              <a:t>25</a:t>
            </a:r>
            <a:endParaRPr lang="en-US" sz="1300" dirty="0"/>
          </a:p>
        </p:txBody>
      </p:sp>
      <p:sp>
        <p:nvSpPr>
          <p:cNvPr id="18" name="Shape 15"/>
          <p:cNvSpPr/>
          <p:nvPr/>
        </p:nvSpPr>
        <p:spPr>
          <a:xfrm>
            <a:off x="6356350" y="2660948"/>
            <a:ext cx="5200650" cy="0"/>
          </a:xfrm>
          <a:prstGeom prst="line">
            <a:avLst/>
          </a:prstGeom>
          <a:noFill/>
          <a:ln w="6350">
            <a:solidFill>
              <a:srgbClr val="DDDDDD"/>
            </a:solidFill>
            <a:prstDash val="solid"/>
          </a:ln>
        </p:spPr>
      </p:sp>
      <p:sp>
        <p:nvSpPr>
          <p:cNvPr id="19" name="Text 16"/>
          <p:cNvSpPr/>
          <p:nvPr/>
        </p:nvSpPr>
        <p:spPr>
          <a:xfrm>
            <a:off x="6508750" y="237589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1 2</a:t>
            </a:r>
            <a:r>
              <a:rPr lang="en-US" sz="1300" dirty="0">
                <a:solidFill>
                  <a:srgbClr val="111111"/>
                </a:solidFill>
                <a:latin typeface="JetBrains Mono" pitchFamily="49" charset="0"/>
                <a:ea typeface="JetBrains Mono" pitchFamily="49" charset="-122"/>
                <a:cs typeface="JetBrains Mono" pitchFamily="49" charset="-120"/>
              </a:rPr>
              <a:t> [3, 4]</a:t>
            </a:r>
            <a:endParaRPr lang="en-US" sz="1300" dirty="0"/>
          </a:p>
        </p:txBody>
      </p:sp>
      <p:sp>
        <p:nvSpPr>
          <p:cNvPr id="20" name="Shape 17"/>
          <p:cNvSpPr/>
          <p:nvPr/>
        </p:nvSpPr>
        <p:spPr>
          <a:xfrm>
            <a:off x="6356350" y="2999978"/>
            <a:ext cx="5200650" cy="0"/>
          </a:xfrm>
          <a:prstGeom prst="line">
            <a:avLst/>
          </a:prstGeom>
          <a:noFill/>
          <a:ln w="6350">
            <a:solidFill>
              <a:srgbClr val="DDDDDD"/>
            </a:solidFill>
            <a:prstDash val="solid"/>
          </a:ln>
        </p:spPr>
      </p:sp>
      <p:sp>
        <p:nvSpPr>
          <p:cNvPr id="21" name="Text 18"/>
          <p:cNvSpPr/>
          <p:nvPr/>
        </p:nvSpPr>
        <p:spPr>
          <a:xfrm>
            <a:off x="6508750" y="271492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{name: "Анна", age: 25, city: "Омск"}</a:t>
            </a:r>
            <a:endParaRPr lang="en-US" sz="1300" dirty="0"/>
          </a:p>
        </p:txBody>
      </p:sp>
      <p:sp>
        <p:nvSpPr>
          <p:cNvPr id="22" name="Text 19"/>
          <p:cNvSpPr/>
          <p:nvPr/>
        </p:nvSpPr>
        <p:spPr>
          <a:xfrm>
            <a:off x="6508750" y="305395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[3, 4, 5] </a:t>
            </a:r>
            <a:r>
              <a:rPr lang="en-US" sz="1300" dirty="0">
                <a:solidFill>
                  <a:srgbClr val="1A5FB4"/>
                </a:solidFill>
                <a:latin typeface="JetBrains Mono" pitchFamily="49" charset="0"/>
                <a:ea typeface="JetBrains Mono" pitchFamily="49" charset="-122"/>
                <a:cs typeface="JetBrains Mono" pitchFamily="49" charset="-120"/>
              </a:rPr>
              <a:t>6</a:t>
            </a:r>
            <a:endParaRPr lang="en-US" sz="1300" dirty="0"/>
          </a:p>
        </p:txBody>
      </p:sp>
      <p:sp>
        <p:nvSpPr>
          <p:cNvPr id="23" name="Text 20"/>
          <p:cNvSpPr/>
          <p:nvPr/>
        </p:nvSpPr>
        <p:spPr>
          <a:xfrm>
            <a:off x="6356350" y="3412034"/>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{name, age} = user</a:t>
            </a:r>
            <a:r>
              <a:rPr lang="en-US" sz="1400" dirty="0">
                <a:solidFill>
                  <a:srgbClr val="FFFFFF"/>
                </a:solidFill>
                <a:latin typeface="Carlito" pitchFamily="34" charset="0"/>
                <a:ea typeface="Carlito" pitchFamily="34" charset="-122"/>
                <a:cs typeface="Carlito" pitchFamily="34" charset="-120"/>
              </a:rPr>
              <a:t> — достаёт свойства объекта в отдельные переменные.</a:t>
            </a:r>
            <a:endParaRPr lang="en-US" sz="1400" dirty="0"/>
          </a:p>
        </p:txBody>
      </p:sp>
      <p:sp>
        <p:nvSpPr>
          <p:cNvPr id="24" name="Text 21"/>
          <p:cNvSpPr/>
          <p:nvPr/>
        </p:nvSpPr>
        <p:spPr>
          <a:xfrm>
            <a:off x="6356350" y="4128195"/>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...user</a:t>
            </a:r>
            <a:r>
              <a:rPr lang="en-US" sz="1400" dirty="0">
                <a:solidFill>
                  <a:srgbClr val="FFFFFF"/>
                </a:solidFill>
                <a:latin typeface="Carlito" pitchFamily="34" charset="0"/>
                <a:ea typeface="Carlito" pitchFamily="34" charset="-122"/>
                <a:cs typeface="Carlito" pitchFamily="34" charset="-120"/>
              </a:rPr>
              <a:t> в литерале — spread: раскладывает объект или массив на части, так делают копии.</a:t>
            </a:r>
            <a:endParaRPr lang="en-US" sz="1400" dirty="0"/>
          </a:p>
        </p:txBody>
      </p:sp>
      <p:sp>
        <p:nvSpPr>
          <p:cNvPr id="25" name="Text 22"/>
          <p:cNvSpPr/>
          <p:nvPr/>
        </p:nvSpPr>
        <p:spPr>
          <a:xfrm>
            <a:off x="6356350" y="4844355"/>
            <a:ext cx="5200650" cy="408880"/>
          </a:xfrm>
          <a:prstGeom prst="roundRect">
            <a:avLst>
              <a:gd name="adj" fmla="val 18636"/>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...nums</a:t>
            </a:r>
            <a:r>
              <a:rPr lang="en-US" sz="1400" dirty="0">
                <a:solidFill>
                  <a:srgbClr val="FFFFFF"/>
                </a:solidFill>
                <a:latin typeface="Carlito" pitchFamily="34" charset="0"/>
                <a:ea typeface="Carlito" pitchFamily="34" charset="-122"/>
                <a:cs typeface="Carlito" pitchFamily="34" charset="-120"/>
              </a:rPr>
              <a:t> в параметрах — rest: собирает все аргументы в массив.</a:t>
            </a:r>
            <a:endParaRPr lang="en-US" sz="1400" dirty="0"/>
          </a:p>
        </p:txBody>
      </p:sp>
      <p:pic>
        <p:nvPicPr>
          <p:cNvPr id="26" name="Рисунок 25"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503176" y="142832"/>
            <a:ext cx="737272" cy="72597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JSON</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Текстовый формат обмена данными между программами</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794000"/>
          </a:xfrm>
          <a:prstGeom prst="roundRect">
            <a:avLst>
              <a:gd name="adj" fmla="val 2727"/>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user = {name: </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 age: </a:t>
            </a:r>
            <a:r>
              <a:rPr lang="en-US" sz="1200" dirty="0">
                <a:solidFill>
                  <a:srgbClr val="8FD3FF"/>
                </a:solidFill>
                <a:latin typeface="JetBrains Mono" pitchFamily="49" charset="0"/>
                <a:ea typeface="JetBrains Mono" pitchFamily="49" charset="-122"/>
                <a:cs typeface="JetBrains Mono" pitchFamily="49" charset="-120"/>
              </a:rPr>
              <a:t>25</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text = JSON.</a:t>
            </a:r>
            <a:r>
              <a:rPr lang="en-US" sz="1200" dirty="0">
                <a:solidFill>
                  <a:srgbClr val="FFD27F"/>
                </a:solidFill>
                <a:latin typeface="JetBrains Mono" pitchFamily="49" charset="0"/>
                <a:ea typeface="JetBrains Mono" pitchFamily="49" charset="-122"/>
                <a:cs typeface="JetBrains Mono" pitchFamily="49" charset="-120"/>
              </a:rPr>
              <a:t>stringify</a:t>
            </a:r>
            <a:r>
              <a:rPr lang="en-US" sz="1200" dirty="0">
                <a:solidFill>
                  <a:srgbClr val="FFFFFF"/>
                </a:solidFill>
                <a:latin typeface="JetBrains Mono" pitchFamily="49" charset="0"/>
                <a:ea typeface="JetBrains Mono" pitchFamily="49" charset="-122"/>
                <a:cs typeface="JetBrains Mono" pitchFamily="49" charset="-120"/>
              </a:rPr>
              <a:t>(user);</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(text);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9DE2"/>
                </a:solidFill>
                <a:latin typeface="JetBrains Mono" pitchFamily="49" charset="0"/>
                <a:ea typeface="JetBrains Mono" pitchFamily="49" charset="-122"/>
                <a:cs typeface="JetBrains Mono" pitchFamily="49" charset="-120"/>
              </a:rPr>
              <a:t>typeof</a:t>
            </a:r>
            <a:r>
              <a:rPr lang="en-US" sz="1200" dirty="0">
                <a:solidFill>
                  <a:srgbClr val="FFFFFF"/>
                </a:solidFill>
                <a:latin typeface="JetBrains Mono" pitchFamily="49" charset="0"/>
                <a:ea typeface="JetBrains Mono" pitchFamily="49" charset="-122"/>
                <a:cs typeface="JetBrains Mono" pitchFamily="49" charset="-120"/>
              </a:rPr>
              <a:t> text);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back = JSON.</a:t>
            </a:r>
            <a:r>
              <a:rPr lang="en-US" sz="1200" dirty="0">
                <a:solidFill>
                  <a:srgbClr val="FFD27F"/>
                </a:solidFill>
                <a:latin typeface="JetBrains Mono" pitchFamily="49" charset="0"/>
                <a:ea typeface="JetBrains Mono" pitchFamily="49" charset="-122"/>
                <a:cs typeface="JetBrains Mono" pitchFamily="49" charset="-120"/>
              </a:rPr>
              <a:t>parse</a:t>
            </a:r>
            <a:r>
              <a:rPr lang="en-US" sz="1200" dirty="0">
                <a:solidFill>
                  <a:srgbClr val="FFFFFF"/>
                </a:solidFill>
                <a:latin typeface="JetBrains Mono" pitchFamily="49" charset="0"/>
                <a:ea typeface="JetBrains Mono" pitchFamily="49" charset="-122"/>
                <a:cs typeface="JetBrains Mono" pitchFamily="49" charset="-120"/>
              </a:rPr>
              <a:t>(text);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(back.name);</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JSON.</a:t>
            </a:r>
            <a:r>
              <a:rPr lang="en-US" sz="1200" dirty="0">
                <a:solidFill>
                  <a:srgbClr val="FFD27F"/>
                </a:solidFill>
                <a:latin typeface="JetBrains Mono" pitchFamily="49" charset="0"/>
                <a:ea typeface="JetBrains Mono" pitchFamily="49" charset="-122"/>
                <a:cs typeface="JetBrains Mono" pitchFamily="49" charset="-120"/>
              </a:rPr>
              <a:t>stringify</a:t>
            </a:r>
            <a:r>
              <a:rPr lang="en-US" sz="1200" dirty="0">
                <a:solidFill>
                  <a:srgbClr val="FFFFFF"/>
                </a:solidFill>
                <a:latin typeface="JetBrains Mono" pitchFamily="49" charset="0"/>
                <a:ea typeface="JetBrains Mono" pitchFamily="49" charset="-122"/>
                <a:cs typeface="JetBrains Mono" pitchFamily="49" charset="-120"/>
              </a:rPr>
              <a:t>(user, </a:t>
            </a:r>
            <a:r>
              <a:rPr lang="en-US" sz="1200" dirty="0">
                <a:solidFill>
                  <a:srgbClr val="8FD3FF"/>
                </a:solidFill>
                <a:latin typeface="JetBrains Mono" pitchFamily="49" charset="0"/>
                <a:ea typeface="JetBrains Mono" pitchFamily="49" charset="-122"/>
                <a:cs typeface="JetBrains Mono" pitchFamily="49" charset="-120"/>
              </a:rPr>
              <a:t>null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2</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131741"/>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04466"/>
            <a:ext cx="5181600" cy="2453184"/>
          </a:xfrm>
          <a:prstGeom prst="roundRect">
            <a:avLst>
              <a:gd name="adj" fmla="val 2718"/>
            </a:avLst>
          </a:prstGeom>
          <a:solidFill>
            <a:srgbClr val="FFFFFF"/>
          </a:solidFill>
          <a:ln w="19050">
            <a:solidFill>
              <a:srgbClr val="972996"/>
            </a:solidFill>
            <a:prstDash val="solid"/>
          </a:ln>
        </p:spPr>
      </p:sp>
      <p:sp>
        <p:nvSpPr>
          <p:cNvPr id="11" name="Shape 8"/>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58752"/>
            <a:ext cx="101600" cy="101600"/>
          </a:xfrm>
          <a:prstGeom prst="roundRect">
            <a:avLst>
              <a:gd name="adj" fmla="val 50000"/>
            </a:avLst>
          </a:prstGeom>
          <a:solidFill>
            <a:srgbClr val="E57373"/>
          </a:solidFill>
          <a:ln/>
        </p:spPr>
      </p:sp>
      <p:sp>
        <p:nvSpPr>
          <p:cNvPr id="13" name="Shape 10"/>
          <p:cNvSpPr/>
          <p:nvPr/>
        </p:nvSpPr>
        <p:spPr>
          <a:xfrm>
            <a:off x="6667500" y="1758752"/>
            <a:ext cx="101600" cy="101600"/>
          </a:xfrm>
          <a:prstGeom prst="roundRect">
            <a:avLst>
              <a:gd name="adj" fmla="val 50000"/>
            </a:avLst>
          </a:prstGeom>
          <a:solidFill>
            <a:srgbClr val="FFD54F"/>
          </a:solidFill>
          <a:ln/>
        </p:spPr>
      </p:sp>
      <p:sp>
        <p:nvSpPr>
          <p:cNvPr id="14" name="Shape 11"/>
          <p:cNvSpPr/>
          <p:nvPr/>
        </p:nvSpPr>
        <p:spPr>
          <a:xfrm>
            <a:off x="6832600" y="1758752"/>
            <a:ext cx="101600" cy="101600"/>
          </a:xfrm>
          <a:prstGeom prst="roundRect">
            <a:avLst>
              <a:gd name="adj" fmla="val 50000"/>
            </a:avLst>
          </a:prstGeom>
          <a:solidFill>
            <a:srgbClr val="81C784"/>
          </a:solidFill>
          <a:ln/>
        </p:spPr>
      </p:sp>
      <p:sp>
        <p:nvSpPr>
          <p:cNvPr id="15" name="Text 12"/>
          <p:cNvSpPr/>
          <p:nvPr/>
        </p:nvSpPr>
        <p:spPr>
          <a:xfrm>
            <a:off x="7073900" y="17028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40967"/>
            <a:ext cx="5162550" cy="0"/>
          </a:xfrm>
          <a:prstGeom prst="line">
            <a:avLst/>
          </a:prstGeom>
          <a:noFill/>
          <a:ln w="6350">
            <a:solidFill>
              <a:srgbClr val="DDDDDD"/>
            </a:solidFill>
            <a:prstDash val="solid"/>
          </a:ln>
        </p:spPr>
      </p:sp>
      <p:sp>
        <p:nvSpPr>
          <p:cNvPr id="17" name="Text 14"/>
          <p:cNvSpPr/>
          <p:nvPr/>
        </p:nvSpPr>
        <p:spPr>
          <a:xfrm>
            <a:off x="6527800" y="20559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{"name":"Анна","age":25}</a:t>
            </a:r>
            <a:endParaRPr lang="en-US" sz="1300" dirty="0"/>
          </a:p>
        </p:txBody>
      </p:sp>
      <p:sp>
        <p:nvSpPr>
          <p:cNvPr id="18" name="Shape 15"/>
          <p:cNvSpPr/>
          <p:nvPr/>
        </p:nvSpPr>
        <p:spPr>
          <a:xfrm>
            <a:off x="6375400" y="2679998"/>
            <a:ext cx="5162550" cy="0"/>
          </a:xfrm>
          <a:prstGeom prst="line">
            <a:avLst/>
          </a:prstGeom>
          <a:noFill/>
          <a:ln w="6350">
            <a:solidFill>
              <a:srgbClr val="DDDDDD"/>
            </a:solidFill>
            <a:prstDash val="solid"/>
          </a:ln>
        </p:spPr>
      </p:sp>
      <p:sp>
        <p:nvSpPr>
          <p:cNvPr id="19" name="Text 16"/>
          <p:cNvSpPr/>
          <p:nvPr/>
        </p:nvSpPr>
        <p:spPr>
          <a:xfrm>
            <a:off x="6527800" y="23949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string</a:t>
            </a:r>
            <a:endParaRPr lang="en-US" sz="1300" dirty="0"/>
          </a:p>
        </p:txBody>
      </p:sp>
      <p:sp>
        <p:nvSpPr>
          <p:cNvPr id="20" name="Shape 17"/>
          <p:cNvSpPr/>
          <p:nvPr/>
        </p:nvSpPr>
        <p:spPr>
          <a:xfrm>
            <a:off x="6375400" y="3019028"/>
            <a:ext cx="5162550" cy="0"/>
          </a:xfrm>
          <a:prstGeom prst="line">
            <a:avLst/>
          </a:prstGeom>
          <a:noFill/>
          <a:ln w="6350">
            <a:solidFill>
              <a:srgbClr val="DDDDDD"/>
            </a:solidFill>
            <a:prstDash val="solid"/>
          </a:ln>
        </p:spPr>
      </p:sp>
      <p:sp>
        <p:nvSpPr>
          <p:cNvPr id="21" name="Text 18"/>
          <p:cNvSpPr/>
          <p:nvPr/>
        </p:nvSpPr>
        <p:spPr>
          <a:xfrm>
            <a:off x="6527800" y="27339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Анна</a:t>
            </a:r>
            <a:endParaRPr lang="en-US" sz="1300" dirty="0"/>
          </a:p>
        </p:txBody>
      </p:sp>
      <p:sp>
        <p:nvSpPr>
          <p:cNvPr id="22" name="Text 19"/>
          <p:cNvSpPr/>
          <p:nvPr/>
        </p:nvSpPr>
        <p:spPr>
          <a:xfrm>
            <a:off x="6527800" y="3073003"/>
            <a:ext cx="5003483"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a:t>
            </a:r>
            <a:endParaRPr lang="en-US" sz="1300" dirty="0"/>
          </a:p>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  "name": "Анна",</a:t>
            </a:r>
            <a:endParaRPr lang="en-US" sz="1300" dirty="0"/>
          </a:p>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  "age": 25</a:t>
            </a:r>
            <a:endParaRPr lang="en-US" sz="1300" dirty="0"/>
          </a:p>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a:t>
            </a:r>
            <a:endParaRPr lang="en-US" sz="1300" dirty="0"/>
          </a:p>
        </p:txBody>
      </p:sp>
      <p:sp>
        <p:nvSpPr>
          <p:cNvPr id="23" name="Text 20"/>
          <p:cNvSpPr/>
          <p:nvPr/>
        </p:nvSpPr>
        <p:spPr>
          <a:xfrm>
            <a:off x="635000" y="4528641"/>
            <a:ext cx="3556000" cy="896441"/>
          </a:xfrm>
          <a:prstGeom prst="roundRect">
            <a:avLst>
              <a:gd name="adj" fmla="val 8500"/>
            </a:avLst>
          </a:prstGeom>
          <a:solidFill>
            <a:srgbClr val="972996"/>
          </a:solidFill>
          <a:ln/>
        </p:spPr>
        <p:txBody>
          <a:bodyPr wrap="square" lIns="130082" tIns="79282" rIns="32546" bIns="538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stringify</a:t>
            </a:r>
            <a:r>
              <a:rPr lang="en-US" sz="1400" dirty="0">
                <a:solidFill>
                  <a:srgbClr val="FFFFFF"/>
                </a:solidFill>
                <a:latin typeface="Carlito" pitchFamily="34" charset="0"/>
                <a:ea typeface="Carlito" pitchFamily="34" charset="-122"/>
                <a:cs typeface="Carlito" pitchFamily="34" charset="-120"/>
              </a:rPr>
              <a:t> превращает значение в строку JSON. Нужно, чтобы отправить данные или сохранить их.</a:t>
            </a:r>
            <a:endParaRPr lang="en-US" sz="1400" dirty="0"/>
          </a:p>
        </p:txBody>
      </p:sp>
      <p:sp>
        <p:nvSpPr>
          <p:cNvPr id="24" name="Text 21"/>
          <p:cNvSpPr/>
          <p:nvPr/>
        </p:nvSpPr>
        <p:spPr>
          <a:xfrm>
            <a:off x="4318000" y="4528641"/>
            <a:ext cx="3556000" cy="896441"/>
          </a:xfrm>
          <a:prstGeom prst="roundRect">
            <a:avLst>
              <a:gd name="adj" fmla="val 8500"/>
            </a:avLst>
          </a:prstGeom>
          <a:solidFill>
            <a:srgbClr val="972996"/>
          </a:solidFill>
          <a:ln/>
        </p:spPr>
        <p:txBody>
          <a:bodyPr wrap="square" lIns="130082" tIns="79282" rIns="32546" bIns="538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parse</a:t>
            </a:r>
            <a:r>
              <a:rPr lang="en-US" sz="1400" dirty="0">
                <a:solidFill>
                  <a:srgbClr val="FFFFFF"/>
                </a:solidFill>
                <a:latin typeface="Carlito" pitchFamily="34" charset="0"/>
                <a:ea typeface="Carlito" pitchFamily="34" charset="-122"/>
                <a:cs typeface="Carlito" pitchFamily="34" charset="-120"/>
              </a:rPr>
              <a:t> делает обратное: из строки получается объект. Неверный JSON вызовет ошибку.</a:t>
            </a:r>
            <a:endParaRPr lang="en-US" sz="1400" dirty="0"/>
          </a:p>
        </p:txBody>
      </p:sp>
      <p:sp>
        <p:nvSpPr>
          <p:cNvPr id="25" name="Text 22"/>
          <p:cNvSpPr/>
          <p:nvPr/>
        </p:nvSpPr>
        <p:spPr>
          <a:xfrm>
            <a:off x="8001000" y="4528641"/>
            <a:ext cx="3556000" cy="896441"/>
          </a:xfrm>
          <a:prstGeom prst="roundRect">
            <a:avLst>
              <a:gd name="adj" fmla="val 8500"/>
            </a:avLst>
          </a:prstGeom>
          <a:solidFill>
            <a:srgbClr val="972996"/>
          </a:solidFill>
          <a:ln/>
        </p:spPr>
        <p:txBody>
          <a:bodyPr wrap="square" lIns="130082" tIns="79282" rIns="32546" bIns="79282" rtlCol="0" anchor="t">
            <a:normAutofit/>
          </a:bodyPr>
          <a:lstStyle/>
          <a:p>
            <a:pPr marL="0" indent="0" algn="l">
              <a:lnSpc>
                <a:spcPts val="1820"/>
              </a:lnSpc>
              <a:buNone/>
            </a:pPr>
            <a:r>
              <a:rPr lang="en-US" sz="1400" dirty="0">
                <a:solidFill>
                  <a:srgbClr val="FFFFFF"/>
                </a:solidFill>
                <a:latin typeface="Carlito" pitchFamily="34" charset="0"/>
                <a:ea typeface="Carlito" pitchFamily="34" charset="-122"/>
                <a:cs typeface="Carlito" pitchFamily="34" charset="-120"/>
              </a:rPr>
              <a:t>В JSON ключи и строки только в двойных кавычках, функций и комментариев нет.</a:t>
            </a:r>
            <a:endParaRPr lang="en-US" sz="1400" dirty="0"/>
          </a:p>
        </p:txBody>
      </p:sp>
      <p:pic>
        <p:nvPicPr>
          <p:cNvPr id="26" name="Рисунок 25"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9957841" y="231280"/>
            <a:ext cx="737272" cy="7259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Классы</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Шаблон для создания однотипных объектов</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2794000"/>
          </a:xfrm>
          <a:prstGeom prst="roundRect">
            <a:avLst>
              <a:gd name="adj" fmla="val 2727"/>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Animal</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constructor</a:t>
            </a:r>
            <a:r>
              <a:rPr lang="en-US" sz="1200" dirty="0">
                <a:solidFill>
                  <a:srgbClr val="FFFFFF"/>
                </a:solidFill>
                <a:latin typeface="JetBrains Mono" pitchFamily="49" charset="0"/>
                <a:ea typeface="JetBrains Mono" pitchFamily="49" charset="-122"/>
                <a:cs typeface="JetBrains Mono" pitchFamily="49" charset="-120"/>
              </a:rPr>
              <a:t>(n) { </a:t>
            </a:r>
            <a:r>
              <a:rPr lang="en-US" sz="1200" dirty="0">
                <a:solidFill>
                  <a:srgbClr val="FF9DE2"/>
                </a:solidFill>
                <a:latin typeface="JetBrains Mono" pitchFamily="49" charset="0"/>
                <a:ea typeface="JetBrains Mono" pitchFamily="49" charset="-122"/>
                <a:cs typeface="JetBrains Mono" pitchFamily="49" charset="-120"/>
              </a:rPr>
              <a:t>this</a:t>
            </a:r>
            <a:r>
              <a:rPr lang="en-US" sz="1200" dirty="0">
                <a:solidFill>
                  <a:srgbClr val="FFFFFF"/>
                </a:solidFill>
                <a:latin typeface="JetBrains Mono" pitchFamily="49" charset="0"/>
                <a:ea typeface="JetBrains Mono" pitchFamily="49" charset="-122"/>
                <a:cs typeface="JetBrains Mono" pitchFamily="49" charset="-120"/>
              </a:rPr>
              <a:t>.name = n;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speak</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`${this.name} шумит`</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Dog</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extends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Animal</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speak</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`${this.name} лает`</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d = </a:t>
            </a:r>
            <a:r>
              <a:rPr lang="en-US" sz="1200" dirty="0">
                <a:solidFill>
                  <a:srgbClr val="FF9DE2"/>
                </a:solidFill>
                <a:latin typeface="JetBrains Mono" pitchFamily="49" charset="0"/>
                <a:ea typeface="JetBrains Mono" pitchFamily="49" charset="-122"/>
                <a:cs typeface="JetBrains Mono" pitchFamily="49" charset="-120"/>
              </a:rPr>
              <a:t>new</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"Рекс"</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(d.</a:t>
            </a:r>
            <a:r>
              <a:rPr lang="en-US" sz="1200" dirty="0">
                <a:solidFill>
                  <a:srgbClr val="FFD27F"/>
                </a:solidFill>
                <a:latin typeface="JetBrains Mono" pitchFamily="49" charset="0"/>
                <a:ea typeface="JetBrains Mono" pitchFamily="49" charset="-122"/>
                <a:cs typeface="JetBrains Mono" pitchFamily="49" charset="-120"/>
              </a:rPr>
              <a:t>speak</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9DE2"/>
                </a:solidFill>
                <a:latin typeface="JetBrains Mono" pitchFamily="49" charset="0"/>
                <a:ea typeface="JetBrains Mono" pitchFamily="49" charset="-122"/>
                <a:cs typeface="JetBrains Mono" pitchFamily="49" charset="-120"/>
              </a:rPr>
              <a:t>new</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Animal</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"Кот"</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speak</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(d </a:t>
            </a:r>
            <a:r>
              <a:rPr lang="en-US" sz="1200" dirty="0">
                <a:solidFill>
                  <a:srgbClr val="FF9DE2"/>
                </a:solidFill>
                <a:latin typeface="JetBrains Mono" pitchFamily="49" charset="0"/>
                <a:ea typeface="JetBrains Mono" pitchFamily="49" charset="-122"/>
                <a:cs typeface="JetBrains Mono" pitchFamily="49" charset="-120"/>
              </a:rPr>
              <a:t>instanceof</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Animal</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875385"/>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56350" y="1594941"/>
            <a:ext cx="5200650" cy="1401862"/>
          </a:xfrm>
          <a:prstGeom prst="roundRect">
            <a:avLst>
              <a:gd name="adj" fmla="val 5436"/>
            </a:avLst>
          </a:prstGeom>
          <a:solidFill>
            <a:srgbClr val="FFFFFF"/>
          </a:solidFill>
          <a:ln/>
        </p:spPr>
      </p:sp>
      <p:sp>
        <p:nvSpPr>
          <p:cNvPr id="11" name="Shape 8"/>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39702"/>
            <a:ext cx="101600" cy="101600"/>
          </a:xfrm>
          <a:prstGeom prst="roundRect">
            <a:avLst>
              <a:gd name="adj" fmla="val 50000"/>
            </a:avLst>
          </a:prstGeom>
          <a:solidFill>
            <a:srgbClr val="E57373"/>
          </a:solidFill>
          <a:ln/>
        </p:spPr>
      </p:sp>
      <p:sp>
        <p:nvSpPr>
          <p:cNvPr id="13" name="Shape 10"/>
          <p:cNvSpPr/>
          <p:nvPr/>
        </p:nvSpPr>
        <p:spPr>
          <a:xfrm>
            <a:off x="6648450" y="1739702"/>
            <a:ext cx="101600" cy="101600"/>
          </a:xfrm>
          <a:prstGeom prst="roundRect">
            <a:avLst>
              <a:gd name="adj" fmla="val 50000"/>
            </a:avLst>
          </a:prstGeom>
          <a:solidFill>
            <a:srgbClr val="FFD54F"/>
          </a:solidFill>
          <a:ln/>
        </p:spPr>
      </p:sp>
      <p:sp>
        <p:nvSpPr>
          <p:cNvPr id="14" name="Shape 11"/>
          <p:cNvSpPr/>
          <p:nvPr/>
        </p:nvSpPr>
        <p:spPr>
          <a:xfrm>
            <a:off x="6813550" y="1739702"/>
            <a:ext cx="101600" cy="101600"/>
          </a:xfrm>
          <a:prstGeom prst="roundRect">
            <a:avLst>
              <a:gd name="adj" fmla="val 50000"/>
            </a:avLst>
          </a:prstGeom>
          <a:solidFill>
            <a:srgbClr val="81C784"/>
          </a:solidFill>
          <a:ln/>
        </p:spPr>
      </p:sp>
      <p:sp>
        <p:nvSpPr>
          <p:cNvPr id="15" name="Text 12"/>
          <p:cNvSpPr/>
          <p:nvPr/>
        </p:nvSpPr>
        <p:spPr>
          <a:xfrm>
            <a:off x="7054850" y="16838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21917"/>
            <a:ext cx="5200650" cy="0"/>
          </a:xfrm>
          <a:prstGeom prst="line">
            <a:avLst/>
          </a:prstGeom>
          <a:noFill/>
          <a:ln w="6350">
            <a:solidFill>
              <a:srgbClr val="DDDDDD"/>
            </a:solidFill>
            <a:prstDash val="solid"/>
          </a:ln>
        </p:spPr>
      </p:sp>
      <p:sp>
        <p:nvSpPr>
          <p:cNvPr id="17" name="Text 14"/>
          <p:cNvSpPr/>
          <p:nvPr/>
        </p:nvSpPr>
        <p:spPr>
          <a:xfrm>
            <a:off x="6508750" y="203686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Рекс лает</a:t>
            </a:r>
            <a:endParaRPr lang="en-US" sz="1300" dirty="0"/>
          </a:p>
        </p:txBody>
      </p:sp>
      <p:sp>
        <p:nvSpPr>
          <p:cNvPr id="18" name="Shape 15"/>
          <p:cNvSpPr/>
          <p:nvPr/>
        </p:nvSpPr>
        <p:spPr>
          <a:xfrm>
            <a:off x="6356350" y="2660948"/>
            <a:ext cx="5200650" cy="0"/>
          </a:xfrm>
          <a:prstGeom prst="line">
            <a:avLst/>
          </a:prstGeom>
          <a:noFill/>
          <a:ln w="6350">
            <a:solidFill>
              <a:srgbClr val="DDDDDD"/>
            </a:solidFill>
            <a:prstDash val="solid"/>
          </a:ln>
        </p:spPr>
      </p:sp>
      <p:sp>
        <p:nvSpPr>
          <p:cNvPr id="19" name="Text 16"/>
          <p:cNvSpPr/>
          <p:nvPr/>
        </p:nvSpPr>
        <p:spPr>
          <a:xfrm>
            <a:off x="6508750" y="237589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Кот шумит</a:t>
            </a:r>
            <a:endParaRPr lang="en-US" sz="1300" dirty="0"/>
          </a:p>
        </p:txBody>
      </p:sp>
      <p:sp>
        <p:nvSpPr>
          <p:cNvPr id="20" name="Text 17"/>
          <p:cNvSpPr/>
          <p:nvPr/>
        </p:nvSpPr>
        <p:spPr>
          <a:xfrm>
            <a:off x="6508750" y="271492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true</a:t>
            </a:r>
            <a:endParaRPr lang="en-US" sz="1300" dirty="0"/>
          </a:p>
        </p:txBody>
      </p:sp>
      <p:sp>
        <p:nvSpPr>
          <p:cNvPr id="21" name="Text 18"/>
          <p:cNvSpPr/>
          <p:nvPr/>
        </p:nvSpPr>
        <p:spPr>
          <a:xfrm>
            <a:off x="6356350" y="3073003"/>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constructor</a:t>
            </a:r>
            <a:r>
              <a:rPr lang="en-US" sz="1400" dirty="0">
                <a:solidFill>
                  <a:srgbClr val="FFFFFF"/>
                </a:solidFill>
                <a:latin typeface="Carlito" pitchFamily="34" charset="0"/>
                <a:ea typeface="Carlito" pitchFamily="34" charset="-122"/>
                <a:cs typeface="Carlito" pitchFamily="34" charset="-120"/>
              </a:rPr>
              <a:t> вызывается при new и задаёт начальные свойства через this.</a:t>
            </a:r>
            <a:endParaRPr lang="en-US" sz="1400" dirty="0"/>
          </a:p>
        </p:txBody>
      </p:sp>
      <p:sp>
        <p:nvSpPr>
          <p:cNvPr id="22" name="Text 19"/>
          <p:cNvSpPr/>
          <p:nvPr/>
        </p:nvSpPr>
        <p:spPr>
          <a:xfrm>
            <a:off x="6356350" y="3789164"/>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extends</a:t>
            </a:r>
            <a:r>
              <a:rPr lang="en-US" sz="1400" dirty="0">
                <a:solidFill>
                  <a:srgbClr val="FFFFFF"/>
                </a:solidFill>
                <a:latin typeface="Carlito" pitchFamily="34" charset="0"/>
                <a:ea typeface="Carlito" pitchFamily="34" charset="-122"/>
                <a:cs typeface="Carlito" pitchFamily="34" charset="-120"/>
              </a:rPr>
              <a:t> — наследование: Dog получает всё от Animal и переопределяет speak.</a:t>
            </a:r>
            <a:endParaRPr lang="en-US" sz="1400" dirty="0"/>
          </a:p>
        </p:txBody>
      </p:sp>
      <p:sp>
        <p:nvSpPr>
          <p:cNvPr id="23" name="Text 20"/>
          <p:cNvSpPr/>
          <p:nvPr/>
        </p:nvSpPr>
        <p:spPr>
          <a:xfrm>
            <a:off x="6356350" y="4505325"/>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new</a:t>
            </a:r>
            <a:r>
              <a:rPr lang="en-US" sz="1400" dirty="0">
                <a:solidFill>
                  <a:srgbClr val="FFFFFF"/>
                </a:solidFill>
                <a:latin typeface="Carlito" pitchFamily="34" charset="0"/>
                <a:ea typeface="Carlito" pitchFamily="34" charset="-122"/>
                <a:cs typeface="Carlito" pitchFamily="34" charset="-120"/>
              </a:rPr>
              <a:t> создаёт объект-экземпляр. instanceof проверяет, от какого класса он.</a:t>
            </a:r>
            <a:endParaRPr lang="en-US" sz="1400" dirty="0"/>
          </a:p>
        </p:txBody>
      </p:sp>
      <p:pic>
        <p:nvPicPr>
          <p:cNvPr id="24" name="Рисунок 2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161653" y="282037"/>
            <a:ext cx="737272" cy="72597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pic>
        <p:nvPicPr>
          <p:cNvPr id="3" name="Image 0" descr="Шестерёнка"/>
          <p:cNvPicPr>
            <a:picLocks noChangeAspect="1"/>
          </p:cNvPicPr>
          <p:nvPr/>
        </p:nvPicPr>
        <p:blipFill>
          <a:blip r:embed="rId3"/>
          <a:srcRect/>
          <a:stretch/>
        </p:blipFill>
        <p:spPr>
          <a:xfrm>
            <a:off x="10477500" y="177800"/>
            <a:ext cx="762000" cy="762000"/>
          </a:xfrm>
          <a:prstGeom prst="rect">
            <a:avLst/>
          </a:prstGeom>
        </p:spPr>
      </p:pic>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Обработка ошибок</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try, catch, finally и throw: программа не падает, а реагирует</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708400"/>
          </a:xfrm>
          <a:prstGeom prst="roundRect">
            <a:avLst>
              <a:gd name="adj" fmla="val 2055"/>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try</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data = JSON.</a:t>
            </a:r>
            <a:r>
              <a:rPr lang="en-US" sz="1200" dirty="0">
                <a:solidFill>
                  <a:srgbClr val="FFD27F"/>
                </a:solidFill>
                <a:latin typeface="JetBrains Mono" pitchFamily="49" charset="0"/>
                <a:ea typeface="JetBrains Mono" pitchFamily="49" charset="-122"/>
                <a:cs typeface="JetBrains Mono" pitchFamily="49" charset="-120"/>
              </a:rPr>
              <a:t>parse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 плохо"</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(data);</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catch</a:t>
            </a:r>
            <a:r>
              <a:rPr lang="en-US" sz="1200" dirty="0">
                <a:solidFill>
                  <a:srgbClr val="FFFFFF"/>
                </a:solidFill>
                <a:latin typeface="JetBrains Mono" pitchFamily="49" charset="0"/>
                <a:ea typeface="JetBrains Mono" pitchFamily="49" charset="-122"/>
                <a:cs typeface="JetBrains Mono" pitchFamily="49" charset="-120"/>
              </a:rPr>
              <a:t> (err)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"Ошибка:"</a:t>
            </a:r>
            <a:r>
              <a:rPr lang="en-US" sz="1200" dirty="0">
                <a:solidFill>
                  <a:srgbClr val="FFFFFF"/>
                </a:solidFill>
                <a:latin typeface="JetBrains Mono" pitchFamily="49" charset="0"/>
                <a:ea typeface="JetBrains Mono" pitchFamily="49" charset="-122"/>
                <a:cs typeface="JetBrains Mono" pitchFamily="49" charset="-120"/>
              </a:rPr>
              <a:t>, err.name);</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finally</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"Всегда"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check</a:t>
            </a:r>
            <a:r>
              <a:rPr lang="en-US" sz="1200" dirty="0">
                <a:solidFill>
                  <a:srgbClr val="FFFFFF"/>
                </a:solidFill>
                <a:latin typeface="JetBrains Mono" pitchFamily="49" charset="0"/>
                <a:ea typeface="JetBrains Mono" pitchFamily="49" charset="-122"/>
                <a:cs typeface="JetBrains Mono" pitchFamily="49" charset="-120"/>
              </a:rPr>
              <a:t>(age)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if</a:t>
            </a:r>
            <a:r>
              <a:rPr lang="en-US" sz="1200" dirty="0">
                <a:solidFill>
                  <a:srgbClr val="FFFFFF"/>
                </a:solidFill>
                <a:latin typeface="JetBrains Mono" pitchFamily="49" charset="0"/>
                <a:ea typeface="JetBrains Mono" pitchFamily="49" charset="-122"/>
                <a:cs typeface="JetBrains Mono" pitchFamily="49" charset="-120"/>
              </a:rPr>
              <a:t> (age &lt;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throw new</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Error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"Возраст &lt; 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 age;</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try</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check</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1</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catch</a:t>
            </a:r>
            <a:r>
              <a:rPr lang="en-US" sz="1200" dirty="0">
                <a:solidFill>
                  <a:srgbClr val="FFFFFF"/>
                </a:solidFill>
                <a:latin typeface="JetBrains Mono" pitchFamily="49" charset="0"/>
                <a:ea typeface="JetBrains Mono" pitchFamily="49" charset="-122"/>
                <a:cs typeface="JetBrains Mono" pitchFamily="49" charset="-120"/>
              </a:rPr>
              <a:t> (e) {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(e.message); }</a:t>
            </a:r>
            <a:endParaRPr lang="en-US" sz="1200" dirty="0"/>
          </a:p>
        </p:txBody>
      </p:sp>
      <p:sp>
        <p:nvSpPr>
          <p:cNvPr id="8" name="Shape 5"/>
          <p:cNvSpPr/>
          <p:nvPr/>
        </p:nvSpPr>
        <p:spPr>
          <a:xfrm>
            <a:off x="6089650" y="1269901"/>
            <a:ext cx="12700" cy="4046141"/>
          </a:xfrm>
          <a:prstGeom prst="rect">
            <a:avLst/>
          </a:prstGeom>
          <a:solidFill>
            <a:srgbClr val="972996"/>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консоли</a:t>
            </a:r>
            <a:endParaRPr lang="en-US" sz="1400" dirty="0"/>
          </a:p>
        </p:txBody>
      </p:sp>
      <p:sp>
        <p:nvSpPr>
          <p:cNvPr id="10" name="Shape 7"/>
          <p:cNvSpPr/>
          <p:nvPr/>
        </p:nvSpPr>
        <p:spPr>
          <a:xfrm>
            <a:off x="6365875" y="1604466"/>
            <a:ext cx="5181600" cy="1420912"/>
          </a:xfrm>
          <a:prstGeom prst="roundRect">
            <a:avLst>
              <a:gd name="adj" fmla="val 4692"/>
            </a:avLst>
          </a:prstGeom>
          <a:solidFill>
            <a:srgbClr val="FFFFFF"/>
          </a:solidFill>
          <a:ln w="19050">
            <a:solidFill>
              <a:srgbClr val="972996"/>
            </a:solidFill>
            <a:prstDash val="solid"/>
          </a:ln>
        </p:spPr>
      </p:sp>
      <p:sp>
        <p:nvSpPr>
          <p:cNvPr id="11" name="Shape 8"/>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2" name="Shape 9"/>
          <p:cNvSpPr/>
          <p:nvPr/>
        </p:nvSpPr>
        <p:spPr>
          <a:xfrm>
            <a:off x="6502400" y="1758752"/>
            <a:ext cx="101600" cy="101600"/>
          </a:xfrm>
          <a:prstGeom prst="roundRect">
            <a:avLst>
              <a:gd name="adj" fmla="val 50000"/>
            </a:avLst>
          </a:prstGeom>
          <a:solidFill>
            <a:srgbClr val="E57373"/>
          </a:solidFill>
          <a:ln/>
        </p:spPr>
      </p:sp>
      <p:sp>
        <p:nvSpPr>
          <p:cNvPr id="13" name="Shape 10"/>
          <p:cNvSpPr/>
          <p:nvPr/>
        </p:nvSpPr>
        <p:spPr>
          <a:xfrm>
            <a:off x="6667500" y="1758752"/>
            <a:ext cx="101600" cy="101600"/>
          </a:xfrm>
          <a:prstGeom prst="roundRect">
            <a:avLst>
              <a:gd name="adj" fmla="val 50000"/>
            </a:avLst>
          </a:prstGeom>
          <a:solidFill>
            <a:srgbClr val="FFD54F"/>
          </a:solidFill>
          <a:ln/>
        </p:spPr>
      </p:sp>
      <p:sp>
        <p:nvSpPr>
          <p:cNvPr id="14" name="Shape 11"/>
          <p:cNvSpPr/>
          <p:nvPr/>
        </p:nvSpPr>
        <p:spPr>
          <a:xfrm>
            <a:off x="6832600" y="1758752"/>
            <a:ext cx="101600" cy="101600"/>
          </a:xfrm>
          <a:prstGeom prst="roundRect">
            <a:avLst>
              <a:gd name="adj" fmla="val 50000"/>
            </a:avLst>
          </a:prstGeom>
          <a:solidFill>
            <a:srgbClr val="81C784"/>
          </a:solidFill>
          <a:ln/>
        </p:spPr>
      </p:sp>
      <p:sp>
        <p:nvSpPr>
          <p:cNvPr id="15" name="Text 12"/>
          <p:cNvSpPr/>
          <p:nvPr/>
        </p:nvSpPr>
        <p:spPr>
          <a:xfrm>
            <a:off x="7073900" y="17028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75400" y="2340967"/>
            <a:ext cx="5162550" cy="0"/>
          </a:xfrm>
          <a:prstGeom prst="line">
            <a:avLst/>
          </a:prstGeom>
          <a:noFill/>
          <a:ln w="6350">
            <a:solidFill>
              <a:srgbClr val="DDDDDD"/>
            </a:solidFill>
            <a:prstDash val="solid"/>
          </a:ln>
        </p:spPr>
      </p:sp>
      <p:sp>
        <p:nvSpPr>
          <p:cNvPr id="17" name="Text 14"/>
          <p:cNvSpPr/>
          <p:nvPr/>
        </p:nvSpPr>
        <p:spPr>
          <a:xfrm>
            <a:off x="6527800" y="20559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Ошибка: SyntaxError</a:t>
            </a:r>
            <a:endParaRPr lang="en-US" sz="1300" dirty="0"/>
          </a:p>
        </p:txBody>
      </p:sp>
      <p:sp>
        <p:nvSpPr>
          <p:cNvPr id="18" name="Shape 15"/>
          <p:cNvSpPr/>
          <p:nvPr/>
        </p:nvSpPr>
        <p:spPr>
          <a:xfrm>
            <a:off x="6375400" y="2679998"/>
            <a:ext cx="5162550" cy="0"/>
          </a:xfrm>
          <a:prstGeom prst="line">
            <a:avLst/>
          </a:prstGeom>
          <a:noFill/>
          <a:ln w="6350">
            <a:solidFill>
              <a:srgbClr val="DDDDDD"/>
            </a:solidFill>
            <a:prstDash val="solid"/>
          </a:ln>
        </p:spPr>
      </p:sp>
      <p:sp>
        <p:nvSpPr>
          <p:cNvPr id="19" name="Text 16"/>
          <p:cNvSpPr/>
          <p:nvPr/>
        </p:nvSpPr>
        <p:spPr>
          <a:xfrm>
            <a:off x="6527800" y="23949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Всегда</a:t>
            </a:r>
            <a:endParaRPr lang="en-US" sz="1300" dirty="0"/>
          </a:p>
        </p:txBody>
      </p:sp>
      <p:sp>
        <p:nvSpPr>
          <p:cNvPr id="20" name="Text 17"/>
          <p:cNvSpPr/>
          <p:nvPr/>
        </p:nvSpPr>
        <p:spPr>
          <a:xfrm>
            <a:off x="6527800" y="27339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Возраст &lt; 0</a:t>
            </a:r>
            <a:endParaRPr lang="en-US" sz="1300" dirty="0"/>
          </a:p>
        </p:txBody>
      </p:sp>
      <p:sp>
        <p:nvSpPr>
          <p:cNvPr id="21" name="Shape 18"/>
          <p:cNvSpPr/>
          <p:nvPr/>
        </p:nvSpPr>
        <p:spPr>
          <a:xfrm>
            <a:off x="6388100" y="3111103"/>
            <a:ext cx="0" cy="741561"/>
          </a:xfrm>
          <a:prstGeom prst="line">
            <a:avLst/>
          </a:prstGeom>
          <a:noFill/>
          <a:ln w="63500">
            <a:solidFill>
              <a:srgbClr val="972996"/>
            </a:solidFill>
            <a:prstDash val="solid"/>
          </a:ln>
        </p:spPr>
      </p:sp>
      <p:sp>
        <p:nvSpPr>
          <p:cNvPr id="22" name="Text 19"/>
          <p:cNvSpPr/>
          <p:nvPr/>
        </p:nvSpPr>
        <p:spPr>
          <a:xfrm>
            <a:off x="6546850" y="311110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try и catch</a:t>
            </a:r>
            <a:endParaRPr lang="en-US" sz="1500" dirty="0"/>
          </a:p>
        </p:txBody>
      </p:sp>
      <p:sp>
        <p:nvSpPr>
          <p:cNvPr id="23" name="Text 20"/>
          <p:cNvSpPr/>
          <p:nvPr/>
        </p:nvSpPr>
        <p:spPr>
          <a:xfrm>
            <a:off x="6546850" y="3390503"/>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код из try выполняется; при ошибке управление переходит в catch</a:t>
            </a:r>
            <a:endParaRPr lang="en-US" sz="1400" dirty="0"/>
          </a:p>
        </p:txBody>
      </p:sp>
      <p:sp>
        <p:nvSpPr>
          <p:cNvPr id="24" name="Shape 21"/>
          <p:cNvSpPr/>
          <p:nvPr/>
        </p:nvSpPr>
        <p:spPr>
          <a:xfrm>
            <a:off x="6388100" y="3928864"/>
            <a:ext cx="0" cy="510480"/>
          </a:xfrm>
          <a:prstGeom prst="line">
            <a:avLst/>
          </a:prstGeom>
          <a:noFill/>
          <a:ln w="63500">
            <a:solidFill>
              <a:srgbClr val="972996"/>
            </a:solidFill>
            <a:prstDash val="solid"/>
          </a:ln>
        </p:spPr>
      </p:sp>
      <p:sp>
        <p:nvSpPr>
          <p:cNvPr id="25" name="Text 22"/>
          <p:cNvSpPr/>
          <p:nvPr/>
        </p:nvSpPr>
        <p:spPr>
          <a:xfrm>
            <a:off x="6546850" y="392886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finally</a:t>
            </a:r>
            <a:endParaRPr lang="en-US" sz="1500" dirty="0"/>
          </a:p>
        </p:txBody>
      </p:sp>
      <p:sp>
        <p:nvSpPr>
          <p:cNvPr id="26" name="Text 23"/>
          <p:cNvSpPr/>
          <p:nvPr/>
        </p:nvSpPr>
        <p:spPr>
          <a:xfrm>
            <a:off x="6546850" y="4208264"/>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выполняется всегда: и после успеха, и после ошибки</a:t>
            </a:r>
            <a:endParaRPr lang="en-US" sz="1400" dirty="0"/>
          </a:p>
        </p:txBody>
      </p:sp>
      <p:sp>
        <p:nvSpPr>
          <p:cNvPr id="27" name="Shape 24"/>
          <p:cNvSpPr/>
          <p:nvPr/>
        </p:nvSpPr>
        <p:spPr>
          <a:xfrm>
            <a:off x="6388100" y="4515545"/>
            <a:ext cx="0" cy="741561"/>
          </a:xfrm>
          <a:prstGeom prst="line">
            <a:avLst/>
          </a:prstGeom>
          <a:noFill/>
          <a:ln w="63500">
            <a:solidFill>
              <a:srgbClr val="972996"/>
            </a:solidFill>
            <a:prstDash val="solid"/>
          </a:ln>
        </p:spPr>
      </p:sp>
      <p:sp>
        <p:nvSpPr>
          <p:cNvPr id="28" name="Text 25"/>
          <p:cNvSpPr/>
          <p:nvPr/>
        </p:nvSpPr>
        <p:spPr>
          <a:xfrm>
            <a:off x="6546850" y="4515545"/>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throw</a:t>
            </a:r>
            <a:endParaRPr lang="en-US" sz="1500" dirty="0"/>
          </a:p>
        </p:txBody>
      </p:sp>
      <p:sp>
        <p:nvSpPr>
          <p:cNvPr id="29" name="Text 26"/>
          <p:cNvSpPr/>
          <p:nvPr/>
        </p:nvSpPr>
        <p:spPr>
          <a:xfrm>
            <a:off x="6546850" y="4794945"/>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создаёт собственную ошибку; типы: SyntaxError, TypeError, ReferenceError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Асинхронность: Promise и async/await</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Долгие операции не блокируют остальной код</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Код</a:t>
            </a:r>
            <a:endParaRPr lang="en-US" sz="1400" dirty="0"/>
          </a:p>
        </p:txBody>
      </p:sp>
      <p:sp>
        <p:nvSpPr>
          <p:cNvPr id="7" name="Text 4"/>
          <p:cNvSpPr/>
          <p:nvPr/>
        </p:nvSpPr>
        <p:spPr>
          <a:xfrm>
            <a:off x="635000" y="1607641"/>
            <a:ext cx="5200650" cy="3251200"/>
          </a:xfrm>
          <a:prstGeom prst="roundRect">
            <a:avLst>
              <a:gd name="adj" fmla="val 2344"/>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"старт"</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D27F"/>
                </a:solidFill>
                <a:latin typeface="JetBrains Mono" pitchFamily="49" charset="0"/>
                <a:ea typeface="JetBrains Mono" pitchFamily="49" charset="-122"/>
                <a:cs typeface="JetBrains Mono" pitchFamily="49" charset="-120"/>
              </a:rPr>
              <a:t>setTimeout</a:t>
            </a:r>
            <a:r>
              <a:rPr lang="en-US" sz="1200" dirty="0">
                <a:solidFill>
                  <a:srgbClr val="FFFFFF"/>
                </a:solidFill>
                <a:latin typeface="JetBrains Mono" pitchFamily="49" charset="0"/>
                <a:ea typeface="JetBrains Mono" pitchFamily="49" charset="-122"/>
                <a:cs typeface="JetBrains Mono" pitchFamily="49" charset="-120"/>
              </a:rPr>
              <a:t>(() =&gt;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"таймер 1 с"</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1000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wait = (ms) =&gt;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new</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Promise</a:t>
            </a:r>
            <a:r>
              <a:rPr lang="en-US" sz="1200" dirty="0">
                <a:solidFill>
                  <a:srgbClr val="FFFFFF"/>
                </a:solidFill>
                <a:latin typeface="JetBrains Mono" pitchFamily="49" charset="0"/>
                <a:ea typeface="JetBrains Mono" pitchFamily="49" charset="-122"/>
                <a:cs typeface="JetBrains Mono" pitchFamily="49" charset="-120"/>
              </a:rPr>
              <a:t>((ok) =&gt; </a:t>
            </a:r>
            <a:r>
              <a:rPr lang="en-US" sz="1200" dirty="0">
                <a:solidFill>
                  <a:srgbClr val="FFD27F"/>
                </a:solidFill>
                <a:latin typeface="JetBrains Mono" pitchFamily="49" charset="0"/>
                <a:ea typeface="JetBrains Mono" pitchFamily="49" charset="-122"/>
                <a:cs typeface="JetBrains Mono" pitchFamily="49" charset="-120"/>
              </a:rPr>
              <a:t>setTimeout</a:t>
            </a:r>
            <a:r>
              <a:rPr lang="en-US" sz="1200" dirty="0">
                <a:solidFill>
                  <a:srgbClr val="FFFFFF"/>
                </a:solidFill>
                <a:latin typeface="JetBrains Mono" pitchFamily="49" charset="0"/>
                <a:ea typeface="JetBrains Mono" pitchFamily="49" charset="-122"/>
                <a:cs typeface="JetBrains Mono" pitchFamily="49" charset="-120"/>
              </a:rPr>
              <a:t>(ok, ms));</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async 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run</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await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wait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8FD3FF"/>
                </a:solidFill>
                <a:latin typeface="JetBrains Mono" pitchFamily="49" charset="0"/>
                <a:ea typeface="JetBrains Mono" pitchFamily="49" charset="-122"/>
                <a:cs typeface="JetBrains Mono" pitchFamily="49" charset="-120"/>
              </a:rPr>
              <a:t>500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"await 0,5 с"</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D27F"/>
                </a:solidFill>
                <a:latin typeface="JetBrains Mono" pitchFamily="49" charset="0"/>
                <a:ea typeface="JetBrains Mono" pitchFamily="49" charset="-122"/>
                <a:cs typeface="JetBrains Mono" pitchFamily="49" charset="-120"/>
              </a:rPr>
              <a:t>run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"идём дальше"</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8" name="Shape 5"/>
          <p:cNvSpPr/>
          <p:nvPr/>
        </p:nvSpPr>
        <p:spPr>
          <a:xfrm>
            <a:off x="6089650" y="1269901"/>
            <a:ext cx="12700" cy="3588941"/>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консоли (по порядку появления)</a:t>
            </a:r>
            <a:endParaRPr lang="en-US" sz="1400" dirty="0"/>
          </a:p>
        </p:txBody>
      </p:sp>
      <p:sp>
        <p:nvSpPr>
          <p:cNvPr id="10" name="Shape 7"/>
          <p:cNvSpPr/>
          <p:nvPr/>
        </p:nvSpPr>
        <p:spPr>
          <a:xfrm>
            <a:off x="6356350" y="1594941"/>
            <a:ext cx="5200650" cy="1740892"/>
          </a:xfrm>
          <a:prstGeom prst="roundRect">
            <a:avLst>
              <a:gd name="adj" fmla="val 4377"/>
            </a:avLst>
          </a:prstGeom>
          <a:solidFill>
            <a:srgbClr val="FFFFFF"/>
          </a:solidFill>
          <a:ln/>
        </p:spPr>
      </p:sp>
      <p:sp>
        <p:nvSpPr>
          <p:cNvPr id="11" name="Shape 8"/>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39702"/>
            <a:ext cx="101600" cy="101600"/>
          </a:xfrm>
          <a:prstGeom prst="roundRect">
            <a:avLst>
              <a:gd name="adj" fmla="val 50000"/>
            </a:avLst>
          </a:prstGeom>
          <a:solidFill>
            <a:srgbClr val="E57373"/>
          </a:solidFill>
          <a:ln/>
        </p:spPr>
      </p:sp>
      <p:sp>
        <p:nvSpPr>
          <p:cNvPr id="13" name="Shape 10"/>
          <p:cNvSpPr/>
          <p:nvPr/>
        </p:nvSpPr>
        <p:spPr>
          <a:xfrm>
            <a:off x="6648450" y="1739702"/>
            <a:ext cx="101600" cy="101600"/>
          </a:xfrm>
          <a:prstGeom prst="roundRect">
            <a:avLst>
              <a:gd name="adj" fmla="val 50000"/>
            </a:avLst>
          </a:prstGeom>
          <a:solidFill>
            <a:srgbClr val="FFD54F"/>
          </a:solidFill>
          <a:ln/>
        </p:spPr>
      </p:sp>
      <p:sp>
        <p:nvSpPr>
          <p:cNvPr id="14" name="Shape 11"/>
          <p:cNvSpPr/>
          <p:nvPr/>
        </p:nvSpPr>
        <p:spPr>
          <a:xfrm>
            <a:off x="6813550" y="1739702"/>
            <a:ext cx="101600" cy="101600"/>
          </a:xfrm>
          <a:prstGeom prst="roundRect">
            <a:avLst>
              <a:gd name="adj" fmla="val 50000"/>
            </a:avLst>
          </a:prstGeom>
          <a:solidFill>
            <a:srgbClr val="81C784"/>
          </a:solidFill>
          <a:ln/>
        </p:spPr>
      </p:sp>
      <p:sp>
        <p:nvSpPr>
          <p:cNvPr id="15" name="Text 12"/>
          <p:cNvSpPr/>
          <p:nvPr/>
        </p:nvSpPr>
        <p:spPr>
          <a:xfrm>
            <a:off x="7054850" y="168384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6" name="Shape 13"/>
          <p:cNvSpPr/>
          <p:nvPr/>
        </p:nvSpPr>
        <p:spPr>
          <a:xfrm>
            <a:off x="6356350" y="2321917"/>
            <a:ext cx="5200650" cy="0"/>
          </a:xfrm>
          <a:prstGeom prst="line">
            <a:avLst/>
          </a:prstGeom>
          <a:noFill/>
          <a:ln w="6350">
            <a:solidFill>
              <a:srgbClr val="DDDDDD"/>
            </a:solidFill>
            <a:prstDash val="solid"/>
          </a:ln>
        </p:spPr>
      </p:sp>
      <p:sp>
        <p:nvSpPr>
          <p:cNvPr id="17" name="Text 14"/>
          <p:cNvSpPr/>
          <p:nvPr/>
        </p:nvSpPr>
        <p:spPr>
          <a:xfrm>
            <a:off x="6508750" y="203686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старт </a:t>
            </a:r>
            <a:r>
              <a:rPr lang="en-US" sz="1300" dirty="0">
                <a:solidFill>
                  <a:srgbClr val="777777"/>
                </a:solidFill>
                <a:latin typeface="JetBrains Mono" pitchFamily="49" charset="0"/>
                <a:ea typeface="JetBrains Mono" pitchFamily="49" charset="-122"/>
                <a:cs typeface="JetBrains Mono" pitchFamily="49" charset="-120"/>
              </a:rPr>
              <a:t>сразу</a:t>
            </a:r>
            <a:endParaRPr lang="en-US" sz="1300" dirty="0"/>
          </a:p>
        </p:txBody>
      </p:sp>
      <p:sp>
        <p:nvSpPr>
          <p:cNvPr id="18" name="Shape 15"/>
          <p:cNvSpPr/>
          <p:nvPr/>
        </p:nvSpPr>
        <p:spPr>
          <a:xfrm>
            <a:off x="6356350" y="2660948"/>
            <a:ext cx="5200650" cy="0"/>
          </a:xfrm>
          <a:prstGeom prst="line">
            <a:avLst/>
          </a:prstGeom>
          <a:noFill/>
          <a:ln w="6350">
            <a:solidFill>
              <a:srgbClr val="DDDDDD"/>
            </a:solidFill>
            <a:prstDash val="solid"/>
          </a:ln>
        </p:spPr>
      </p:sp>
      <p:sp>
        <p:nvSpPr>
          <p:cNvPr id="19" name="Text 16"/>
          <p:cNvSpPr/>
          <p:nvPr/>
        </p:nvSpPr>
        <p:spPr>
          <a:xfrm>
            <a:off x="6508750" y="2375892"/>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идём дальше </a:t>
            </a:r>
            <a:r>
              <a:rPr lang="en-US" sz="1300" dirty="0">
                <a:solidFill>
                  <a:srgbClr val="777777"/>
                </a:solidFill>
                <a:latin typeface="JetBrains Mono" pitchFamily="49" charset="0"/>
                <a:ea typeface="JetBrains Mono" pitchFamily="49" charset="-122"/>
                <a:cs typeface="JetBrains Mono" pitchFamily="49" charset="-120"/>
              </a:rPr>
              <a:t>сразу</a:t>
            </a:r>
            <a:endParaRPr lang="en-US" sz="1300" dirty="0"/>
          </a:p>
        </p:txBody>
      </p:sp>
      <p:sp>
        <p:nvSpPr>
          <p:cNvPr id="20" name="Shape 17"/>
          <p:cNvSpPr/>
          <p:nvPr/>
        </p:nvSpPr>
        <p:spPr>
          <a:xfrm>
            <a:off x="6356350" y="2999978"/>
            <a:ext cx="5200650" cy="0"/>
          </a:xfrm>
          <a:prstGeom prst="line">
            <a:avLst/>
          </a:prstGeom>
          <a:noFill/>
          <a:ln w="6350">
            <a:solidFill>
              <a:srgbClr val="DDDDDD"/>
            </a:solidFill>
            <a:prstDash val="solid"/>
          </a:ln>
        </p:spPr>
      </p:sp>
      <p:sp>
        <p:nvSpPr>
          <p:cNvPr id="21" name="Text 18"/>
          <p:cNvSpPr/>
          <p:nvPr/>
        </p:nvSpPr>
        <p:spPr>
          <a:xfrm>
            <a:off x="6508750" y="271492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await 0,5 с </a:t>
            </a:r>
            <a:r>
              <a:rPr lang="en-US" sz="1300" dirty="0">
                <a:solidFill>
                  <a:srgbClr val="777777"/>
                </a:solidFill>
                <a:latin typeface="JetBrains Mono" pitchFamily="49" charset="0"/>
                <a:ea typeface="JetBrains Mono" pitchFamily="49" charset="-122"/>
                <a:cs typeface="JetBrains Mono" pitchFamily="49" charset="-120"/>
              </a:rPr>
              <a:t>через 0,5 с</a:t>
            </a:r>
            <a:endParaRPr lang="en-US" sz="1300" dirty="0"/>
          </a:p>
        </p:txBody>
      </p:sp>
      <p:sp>
        <p:nvSpPr>
          <p:cNvPr id="22" name="Text 19"/>
          <p:cNvSpPr/>
          <p:nvPr/>
        </p:nvSpPr>
        <p:spPr>
          <a:xfrm>
            <a:off x="6508750" y="3053953"/>
            <a:ext cx="504272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таймер 1 с </a:t>
            </a:r>
            <a:r>
              <a:rPr lang="en-US" sz="1300" dirty="0">
                <a:solidFill>
                  <a:srgbClr val="777777"/>
                </a:solidFill>
                <a:latin typeface="JetBrains Mono" pitchFamily="49" charset="0"/>
                <a:ea typeface="JetBrains Mono" pitchFamily="49" charset="-122"/>
                <a:cs typeface="JetBrains Mono" pitchFamily="49" charset="-120"/>
              </a:rPr>
              <a:t>через 1 с</a:t>
            </a:r>
            <a:endParaRPr lang="en-US" sz="1300" dirty="0"/>
          </a:p>
        </p:txBody>
      </p:sp>
      <p:sp>
        <p:nvSpPr>
          <p:cNvPr id="23" name="Text 20"/>
          <p:cNvSpPr/>
          <p:nvPr/>
        </p:nvSpPr>
        <p:spPr>
          <a:xfrm>
            <a:off x="6356350" y="3412034"/>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Promise</a:t>
            </a:r>
            <a:r>
              <a:rPr lang="en-US" sz="1400" dirty="0">
                <a:solidFill>
                  <a:srgbClr val="FFFFFF"/>
                </a:solidFill>
                <a:latin typeface="Carlito" pitchFamily="34" charset="0"/>
                <a:ea typeface="Carlito" pitchFamily="34" charset="-122"/>
                <a:cs typeface="Carlito" pitchFamily="34" charset="-120"/>
              </a:rPr>
              <a:t> — «обещание» результата: ожидает, выполнено или отклонено.</a:t>
            </a:r>
            <a:endParaRPr lang="en-US" sz="1400" dirty="0"/>
          </a:p>
        </p:txBody>
      </p:sp>
      <p:sp>
        <p:nvSpPr>
          <p:cNvPr id="24" name="Text 21"/>
          <p:cNvSpPr/>
          <p:nvPr/>
        </p:nvSpPr>
        <p:spPr>
          <a:xfrm>
            <a:off x="6356350" y="4128195"/>
            <a:ext cx="5200650" cy="639961"/>
          </a:xfrm>
          <a:prstGeom prst="roundRect">
            <a:avLst>
              <a:gd name="adj" fmla="val 11907"/>
            </a:avLst>
          </a:prstGeom>
          <a:solidFill>
            <a:srgbClr val="7A1F79"/>
          </a:solidFill>
          <a:ln/>
        </p:spPr>
        <p:txBody>
          <a:bodyPr wrap="square" lIns="130082" tIns="66582" rIns="0" bIns="41182" rtlCol="0" anchor="t">
            <a:normAutofit/>
          </a:bodyPr>
          <a:lstStyle/>
          <a:p>
            <a:pPr marL="0" indent="0" algn="l">
              <a:lnSpc>
                <a:spcPts val="1820"/>
              </a:lnSpc>
              <a:buNone/>
            </a:pPr>
            <a:r>
              <a:rPr lang="en-US" sz="1400" b="1" dirty="0">
                <a:solidFill>
                  <a:srgbClr val="FFFFFF"/>
                </a:solidFill>
                <a:latin typeface="Carlito" pitchFamily="34" charset="0"/>
                <a:ea typeface="Carlito" pitchFamily="34" charset="-122"/>
                <a:cs typeface="Carlito" pitchFamily="34" charset="-120"/>
              </a:rPr>
              <a:t>await</a:t>
            </a:r>
            <a:r>
              <a:rPr lang="en-US" sz="1400" dirty="0">
                <a:solidFill>
                  <a:srgbClr val="FFFFFF"/>
                </a:solidFill>
                <a:latin typeface="Carlito" pitchFamily="34" charset="0"/>
                <a:ea typeface="Carlito" pitchFamily="34" charset="-122"/>
                <a:cs typeface="Carlito" pitchFamily="34" charset="-120"/>
              </a:rPr>
              <a:t> приостанавливает только свою функцию, остальной код продолжает работу.</a:t>
            </a:r>
            <a:endParaRPr lang="en-US" sz="1400" dirty="0"/>
          </a:p>
        </p:txBody>
      </p:sp>
      <p:sp>
        <p:nvSpPr>
          <p:cNvPr id="25" name="Text 22"/>
          <p:cNvSpPr/>
          <p:nvPr/>
        </p:nvSpPr>
        <p:spPr>
          <a:xfrm>
            <a:off x="635000" y="4985841"/>
            <a:ext cx="10922000" cy="742950"/>
          </a:xfrm>
          <a:prstGeom prst="roundRect">
            <a:avLst>
              <a:gd name="adj" fmla="val 10256"/>
            </a:avLst>
          </a:prstGeom>
          <a:solidFill>
            <a:srgbClr val="7A1F79"/>
          </a:solidFill>
          <a:ln/>
        </p:spPr>
        <p:txBody>
          <a:bodyPr wrap="square" lIns="155482" tIns="91982" rIns="0" bIns="66582" rtlCol="0" anchor="t">
            <a:normAutofit/>
          </a:bodyPr>
          <a:lstStyle/>
          <a:p>
            <a:pPr marL="0" indent="0" algn="l">
              <a:lnSpc>
                <a:spcPts val="2025"/>
              </a:lnSpc>
              <a:buNone/>
            </a:pPr>
            <a:r>
              <a:rPr lang="en-US" sz="1500" dirty="0">
                <a:solidFill>
                  <a:srgbClr val="FFFFFF"/>
                </a:solidFill>
                <a:latin typeface="Carlito" pitchFamily="34" charset="0"/>
                <a:ea typeface="Carlito" pitchFamily="34" charset="-122"/>
                <a:cs typeface="Carlito" pitchFamily="34" charset="-120"/>
              </a:rPr>
              <a:t>Таким же образом работают запросы к серверу, загрузка файлов и таймеры. Ошибки в async-функциях ловят через try/catch, а в цепочках промисов — через .catch().</a:t>
            </a:r>
            <a:endParaRPr lang="en-US" sz="1500" dirty="0"/>
          </a:p>
        </p:txBody>
      </p:sp>
      <p:pic>
        <p:nvPicPr>
          <p:cNvPr id="26" name="Рисунок 25"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514193" y="247259"/>
            <a:ext cx="737272" cy="72597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Часть 2. JavaScript вместе с HTML</a:t>
            </a:r>
            <a:endParaRPr lang="en-US" sz="3200" dirty="0"/>
          </a:p>
        </p:txBody>
      </p:sp>
      <p:sp>
        <p:nvSpPr>
          <p:cNvPr id="5" name="Text 2"/>
          <p:cNvSpPr/>
          <p:nvPr/>
        </p:nvSpPr>
        <p:spPr>
          <a:xfrm>
            <a:off x="635000" y="891480"/>
            <a:ext cx="1111885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11111"/>
                </a:solidFill>
                <a:latin typeface="Carlito" pitchFamily="34" charset="0"/>
                <a:ea typeface="Carlito" pitchFamily="34" charset="-122"/>
                <a:cs typeface="Carlito" pitchFamily="34" charset="-120"/>
              </a:rPr>
              <a:t>В браузере JavaScript получает доступ к странице. Он может найти любой элемент, изменить его и отреагировать на действия пользователя. Всё это происходит через </a:t>
            </a:r>
            <a:r>
              <a:rPr lang="en-US" sz="1700" b="1" dirty="0">
                <a:solidFill>
                  <a:srgbClr val="111111"/>
                </a:solidFill>
                <a:latin typeface="Carlito" pitchFamily="34" charset="0"/>
                <a:ea typeface="Carlito" pitchFamily="34" charset="-122"/>
                <a:cs typeface="Carlito" pitchFamily="34" charset="-120"/>
              </a:rPr>
              <a:t>DOM</a:t>
            </a:r>
            <a:r>
              <a:rPr lang="en-US" sz="1700" dirty="0">
                <a:solidFill>
                  <a:srgbClr val="111111"/>
                </a:solidFill>
                <a:latin typeface="Carlito" pitchFamily="34" charset="0"/>
                <a:ea typeface="Carlito" pitchFamily="34" charset="-122"/>
                <a:cs typeface="Carlito" pitchFamily="34" charset="-120"/>
              </a:rPr>
              <a:t> — объектную модель документа.</a:t>
            </a:r>
            <a:endParaRPr lang="en-US" sz="1700" dirty="0"/>
          </a:p>
        </p:txBody>
      </p:sp>
      <p:sp>
        <p:nvSpPr>
          <p:cNvPr id="6" name="Shape 3"/>
          <p:cNvSpPr/>
          <p:nvPr/>
        </p:nvSpPr>
        <p:spPr>
          <a:xfrm>
            <a:off x="647700" y="1648321"/>
            <a:ext cx="2219325" cy="1173361"/>
          </a:xfrm>
          <a:prstGeom prst="roundRect">
            <a:avLst>
              <a:gd name="adj" fmla="val 8659"/>
            </a:avLst>
          </a:prstGeom>
          <a:noFill/>
          <a:ln w="25400">
            <a:solidFill>
              <a:srgbClr val="972996"/>
            </a:solidFill>
            <a:prstDash val="solid"/>
          </a:ln>
        </p:spPr>
      </p:sp>
      <p:sp>
        <p:nvSpPr>
          <p:cNvPr id="7" name="Text 4"/>
          <p:cNvSpPr/>
          <p:nvPr/>
        </p:nvSpPr>
        <p:spPr>
          <a:xfrm>
            <a:off x="812800" y="1800721"/>
            <a:ext cx="1945799"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972996"/>
                </a:solidFill>
                <a:latin typeface="Carlito" pitchFamily="34" charset="0"/>
                <a:ea typeface="Carlito" pitchFamily="34" charset="-122"/>
                <a:cs typeface="Carlito" pitchFamily="34" charset="-120"/>
              </a:rPr>
              <a:t>1. HTML</a:t>
            </a:r>
            <a:endParaRPr lang="en-US" sz="2000" dirty="0"/>
          </a:p>
        </p:txBody>
      </p:sp>
      <p:sp>
        <p:nvSpPr>
          <p:cNvPr id="8" name="Text 5"/>
          <p:cNvSpPr/>
          <p:nvPr/>
        </p:nvSpPr>
        <p:spPr>
          <a:xfrm>
            <a:off x="812800" y="2207121"/>
            <a:ext cx="1945799"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Браузер читает теги страницы.</a:t>
            </a:r>
            <a:endParaRPr lang="en-US" sz="1400" dirty="0"/>
          </a:p>
        </p:txBody>
      </p:sp>
      <p:pic>
        <p:nvPicPr>
          <p:cNvPr id="9" name="Image 1" descr="arrow-right"/>
          <p:cNvPicPr>
            <a:picLocks noChangeAspect="1"/>
          </p:cNvPicPr>
          <p:nvPr/>
        </p:nvPicPr>
        <p:blipFill>
          <a:blip r:embed="rId3"/>
          <a:srcRect/>
          <a:stretch/>
        </p:blipFill>
        <p:spPr>
          <a:xfrm>
            <a:off x="2981325" y="2108002"/>
            <a:ext cx="444500" cy="254000"/>
          </a:xfrm>
          <a:prstGeom prst="rect">
            <a:avLst/>
          </a:prstGeom>
        </p:spPr>
      </p:pic>
      <p:sp>
        <p:nvSpPr>
          <p:cNvPr id="10" name="Shape 6"/>
          <p:cNvSpPr/>
          <p:nvPr/>
        </p:nvSpPr>
        <p:spPr>
          <a:xfrm>
            <a:off x="3540125" y="1648321"/>
            <a:ext cx="2219325" cy="1173361"/>
          </a:xfrm>
          <a:prstGeom prst="roundRect">
            <a:avLst>
              <a:gd name="adj" fmla="val 8659"/>
            </a:avLst>
          </a:prstGeom>
          <a:noFill/>
          <a:ln w="25400">
            <a:solidFill>
              <a:srgbClr val="972996"/>
            </a:solidFill>
            <a:prstDash val="solid"/>
          </a:ln>
        </p:spPr>
      </p:sp>
      <p:sp>
        <p:nvSpPr>
          <p:cNvPr id="11" name="Text 7"/>
          <p:cNvSpPr/>
          <p:nvPr/>
        </p:nvSpPr>
        <p:spPr>
          <a:xfrm>
            <a:off x="3705225" y="1800721"/>
            <a:ext cx="1945799"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972996"/>
                </a:solidFill>
                <a:latin typeface="Carlito" pitchFamily="34" charset="0"/>
                <a:ea typeface="Carlito" pitchFamily="34" charset="-122"/>
                <a:cs typeface="Carlito" pitchFamily="34" charset="-120"/>
              </a:rPr>
              <a:t>2. DOM</a:t>
            </a:r>
            <a:endParaRPr lang="en-US" sz="2000" dirty="0"/>
          </a:p>
        </p:txBody>
      </p:sp>
      <p:sp>
        <p:nvSpPr>
          <p:cNvPr id="12" name="Text 8"/>
          <p:cNvSpPr/>
          <p:nvPr/>
        </p:nvSpPr>
        <p:spPr>
          <a:xfrm>
            <a:off x="3705225" y="2207121"/>
            <a:ext cx="1945799"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Из тегов строится дерево объектов.</a:t>
            </a:r>
            <a:endParaRPr lang="en-US" sz="1400" dirty="0"/>
          </a:p>
        </p:txBody>
      </p:sp>
      <p:pic>
        <p:nvPicPr>
          <p:cNvPr id="13" name="Image 2" descr="arrow-right"/>
          <p:cNvPicPr>
            <a:picLocks noChangeAspect="1"/>
          </p:cNvPicPr>
          <p:nvPr/>
        </p:nvPicPr>
        <p:blipFill>
          <a:blip r:embed="rId3"/>
          <a:srcRect/>
          <a:stretch/>
        </p:blipFill>
        <p:spPr>
          <a:xfrm>
            <a:off x="5873750" y="2108002"/>
            <a:ext cx="444500" cy="254000"/>
          </a:xfrm>
          <a:prstGeom prst="rect">
            <a:avLst/>
          </a:prstGeom>
        </p:spPr>
      </p:pic>
      <p:sp>
        <p:nvSpPr>
          <p:cNvPr id="14" name="Shape 9"/>
          <p:cNvSpPr/>
          <p:nvPr/>
        </p:nvSpPr>
        <p:spPr>
          <a:xfrm>
            <a:off x="6432550" y="1648321"/>
            <a:ext cx="2219325" cy="1173361"/>
          </a:xfrm>
          <a:prstGeom prst="roundRect">
            <a:avLst>
              <a:gd name="adj" fmla="val 8659"/>
            </a:avLst>
          </a:prstGeom>
          <a:noFill/>
          <a:ln w="25400">
            <a:solidFill>
              <a:srgbClr val="972996"/>
            </a:solidFill>
            <a:prstDash val="solid"/>
          </a:ln>
        </p:spPr>
      </p:sp>
      <p:sp>
        <p:nvSpPr>
          <p:cNvPr id="15" name="Text 10"/>
          <p:cNvSpPr/>
          <p:nvPr/>
        </p:nvSpPr>
        <p:spPr>
          <a:xfrm>
            <a:off x="6597650" y="1800721"/>
            <a:ext cx="1945799"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972996"/>
                </a:solidFill>
                <a:latin typeface="Carlito" pitchFamily="34" charset="0"/>
                <a:ea typeface="Carlito" pitchFamily="34" charset="-122"/>
                <a:cs typeface="Carlito" pitchFamily="34" charset="-120"/>
              </a:rPr>
              <a:t>3. JavaScript</a:t>
            </a:r>
            <a:endParaRPr lang="en-US" sz="2000" dirty="0"/>
          </a:p>
        </p:txBody>
      </p:sp>
      <p:sp>
        <p:nvSpPr>
          <p:cNvPr id="16" name="Text 11"/>
          <p:cNvSpPr/>
          <p:nvPr/>
        </p:nvSpPr>
        <p:spPr>
          <a:xfrm>
            <a:off x="6597650" y="2207121"/>
            <a:ext cx="1945799"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Находит и меняет объекты DOM.</a:t>
            </a:r>
            <a:endParaRPr lang="en-US" sz="1400" dirty="0"/>
          </a:p>
        </p:txBody>
      </p:sp>
      <p:pic>
        <p:nvPicPr>
          <p:cNvPr id="17" name="Image 3" descr="arrow-right"/>
          <p:cNvPicPr>
            <a:picLocks noChangeAspect="1"/>
          </p:cNvPicPr>
          <p:nvPr/>
        </p:nvPicPr>
        <p:blipFill>
          <a:blip r:embed="rId3"/>
          <a:srcRect/>
          <a:stretch/>
        </p:blipFill>
        <p:spPr>
          <a:xfrm>
            <a:off x="8766175" y="2108002"/>
            <a:ext cx="444500" cy="254000"/>
          </a:xfrm>
          <a:prstGeom prst="rect">
            <a:avLst/>
          </a:prstGeom>
        </p:spPr>
      </p:pic>
      <p:sp>
        <p:nvSpPr>
          <p:cNvPr id="18" name="Shape 12"/>
          <p:cNvSpPr/>
          <p:nvPr/>
        </p:nvSpPr>
        <p:spPr>
          <a:xfrm>
            <a:off x="9324975" y="1648321"/>
            <a:ext cx="2219325" cy="1173361"/>
          </a:xfrm>
          <a:prstGeom prst="roundRect">
            <a:avLst>
              <a:gd name="adj" fmla="val 8659"/>
            </a:avLst>
          </a:prstGeom>
          <a:noFill/>
          <a:ln w="25400">
            <a:solidFill>
              <a:srgbClr val="972996"/>
            </a:solidFill>
            <a:prstDash val="solid"/>
          </a:ln>
        </p:spPr>
      </p:sp>
      <p:sp>
        <p:nvSpPr>
          <p:cNvPr id="19" name="Text 13"/>
          <p:cNvSpPr/>
          <p:nvPr/>
        </p:nvSpPr>
        <p:spPr>
          <a:xfrm>
            <a:off x="9490075" y="1800721"/>
            <a:ext cx="1945799"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972996"/>
                </a:solidFill>
                <a:latin typeface="Carlito" pitchFamily="34" charset="0"/>
                <a:ea typeface="Carlito" pitchFamily="34" charset="-122"/>
                <a:cs typeface="Carlito" pitchFamily="34" charset="-120"/>
              </a:rPr>
              <a:t>4. Экран</a:t>
            </a:r>
            <a:endParaRPr lang="en-US" sz="2000" dirty="0"/>
          </a:p>
        </p:txBody>
      </p:sp>
      <p:sp>
        <p:nvSpPr>
          <p:cNvPr id="20" name="Text 14"/>
          <p:cNvSpPr/>
          <p:nvPr/>
        </p:nvSpPr>
        <p:spPr>
          <a:xfrm>
            <a:off x="9490075" y="2207121"/>
            <a:ext cx="1945799"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Страница обновляется сразу.</a:t>
            </a:r>
            <a:endParaRPr lang="en-US" sz="1400" dirty="0"/>
          </a:p>
        </p:txBody>
      </p:sp>
      <p:sp>
        <p:nvSpPr>
          <p:cNvPr id="21" name="Shape 15"/>
          <p:cNvSpPr/>
          <p:nvPr/>
        </p:nvSpPr>
        <p:spPr>
          <a:xfrm>
            <a:off x="635000" y="2974082"/>
            <a:ext cx="3556000" cy="1358801"/>
          </a:xfrm>
          <a:prstGeom prst="roundRect">
            <a:avLst>
              <a:gd name="adj" fmla="val 7477"/>
            </a:avLst>
          </a:prstGeom>
          <a:solidFill>
            <a:srgbClr val="972996"/>
          </a:solidFill>
          <a:ln/>
        </p:spPr>
      </p:sp>
      <p:sp>
        <p:nvSpPr>
          <p:cNvPr id="22" name="Text 16"/>
          <p:cNvSpPr/>
          <p:nvPr/>
        </p:nvSpPr>
        <p:spPr>
          <a:xfrm>
            <a:off x="812800" y="3113782"/>
            <a:ext cx="329641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FFFF"/>
                </a:solidFill>
                <a:latin typeface="Carlito" pitchFamily="34" charset="0"/>
                <a:ea typeface="Carlito" pitchFamily="34" charset="-122"/>
                <a:cs typeface="Carlito" pitchFamily="34" charset="-120"/>
              </a:rPr>
              <a:t>Найти</a:t>
            </a:r>
            <a:endParaRPr lang="en-US" sz="2000" dirty="0"/>
          </a:p>
        </p:txBody>
      </p:sp>
      <p:sp>
        <p:nvSpPr>
          <p:cNvPr id="23" name="Text 17"/>
          <p:cNvSpPr/>
          <p:nvPr/>
        </p:nvSpPr>
        <p:spPr>
          <a:xfrm>
            <a:off x="812800" y="3532882"/>
            <a:ext cx="3296412"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Carlito" pitchFamily="34" charset="0"/>
                <a:ea typeface="Carlito" pitchFamily="34" charset="-122"/>
                <a:cs typeface="Carlito" pitchFamily="34" charset="-120"/>
              </a:rPr>
              <a:t>нужный элемент на странице</a:t>
            </a:r>
            <a:endParaRPr lang="en-US" sz="1400" dirty="0"/>
          </a:p>
        </p:txBody>
      </p:sp>
      <p:sp>
        <p:nvSpPr>
          <p:cNvPr id="24" name="Text 18"/>
          <p:cNvSpPr/>
          <p:nvPr/>
        </p:nvSpPr>
        <p:spPr>
          <a:xfrm>
            <a:off x="812800" y="3827463"/>
            <a:ext cx="3200400" cy="365720"/>
          </a:xfrm>
          <a:prstGeom prst="roundRect">
            <a:avLst>
              <a:gd name="adj" fmla="val 17363"/>
            </a:avLst>
          </a:prstGeom>
          <a:solidFill>
            <a:srgbClr val="2A002A"/>
          </a:solidFill>
          <a:ln/>
        </p:spPr>
        <p:txBody>
          <a:bodyPr wrap="square" lIns="95701" tIns="57601" rIns="6547" bIns="32201" rtlCol="0" anchor="t">
            <a:normAutofit/>
          </a:bodyPr>
          <a:lstStyle/>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document.</a:t>
            </a:r>
            <a:r>
              <a:rPr lang="en-US" sz="1200" dirty="0">
                <a:solidFill>
                  <a:srgbClr val="FFD27F"/>
                </a:solidFill>
                <a:latin typeface="JetBrains Mono" pitchFamily="49" charset="0"/>
                <a:ea typeface="JetBrains Mono" pitchFamily="49" charset="-122"/>
                <a:cs typeface="JetBrains Mono" pitchFamily="49" charset="-120"/>
              </a:rPr>
              <a:t>querySelector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"h1"</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25" name="Shape 19"/>
          <p:cNvSpPr/>
          <p:nvPr/>
        </p:nvSpPr>
        <p:spPr>
          <a:xfrm>
            <a:off x="4318000" y="2974082"/>
            <a:ext cx="3556000" cy="1358801"/>
          </a:xfrm>
          <a:prstGeom prst="roundRect">
            <a:avLst>
              <a:gd name="adj" fmla="val 7477"/>
            </a:avLst>
          </a:prstGeom>
          <a:solidFill>
            <a:srgbClr val="972996"/>
          </a:solidFill>
          <a:ln/>
        </p:spPr>
      </p:sp>
      <p:sp>
        <p:nvSpPr>
          <p:cNvPr id="26" name="Text 20"/>
          <p:cNvSpPr/>
          <p:nvPr/>
        </p:nvSpPr>
        <p:spPr>
          <a:xfrm>
            <a:off x="4495800" y="3113782"/>
            <a:ext cx="329641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FFFF"/>
                </a:solidFill>
                <a:latin typeface="Carlito" pitchFamily="34" charset="0"/>
                <a:ea typeface="Carlito" pitchFamily="34" charset="-122"/>
                <a:cs typeface="Carlito" pitchFamily="34" charset="-120"/>
              </a:rPr>
              <a:t>Изменить</a:t>
            </a:r>
            <a:endParaRPr lang="en-US" sz="2000" dirty="0"/>
          </a:p>
        </p:txBody>
      </p:sp>
      <p:sp>
        <p:nvSpPr>
          <p:cNvPr id="27" name="Text 21"/>
          <p:cNvSpPr/>
          <p:nvPr/>
        </p:nvSpPr>
        <p:spPr>
          <a:xfrm>
            <a:off x="4495800" y="3532882"/>
            <a:ext cx="3296412"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Carlito" pitchFamily="34" charset="0"/>
                <a:ea typeface="Carlito" pitchFamily="34" charset="-122"/>
                <a:cs typeface="Carlito" pitchFamily="34" charset="-120"/>
              </a:rPr>
              <a:t>текст, атрибуты, стили, классы</a:t>
            </a:r>
            <a:endParaRPr lang="en-US" sz="1400" dirty="0"/>
          </a:p>
        </p:txBody>
      </p:sp>
      <p:sp>
        <p:nvSpPr>
          <p:cNvPr id="28" name="Text 22"/>
          <p:cNvSpPr/>
          <p:nvPr/>
        </p:nvSpPr>
        <p:spPr>
          <a:xfrm>
            <a:off x="4495800" y="3827463"/>
            <a:ext cx="3200400" cy="365720"/>
          </a:xfrm>
          <a:prstGeom prst="roundRect">
            <a:avLst>
              <a:gd name="adj" fmla="val 17363"/>
            </a:avLst>
          </a:prstGeom>
          <a:solidFill>
            <a:srgbClr val="2A002A"/>
          </a:solidFill>
          <a:ln/>
        </p:spPr>
        <p:txBody>
          <a:bodyPr wrap="square" lIns="95701" tIns="57601" rIns="6547" bIns="32201" rtlCol="0" anchor="t">
            <a:normAutofit/>
          </a:bodyPr>
          <a:lstStyle/>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el.textContent = </a:t>
            </a:r>
            <a:r>
              <a:rPr lang="en-US" sz="1200" dirty="0">
                <a:solidFill>
                  <a:srgbClr val="9EE6A8"/>
                </a:solidFill>
                <a:latin typeface="JetBrains Mono" pitchFamily="49" charset="0"/>
                <a:ea typeface="JetBrains Mono" pitchFamily="49" charset="-122"/>
                <a:cs typeface="JetBrains Mono" pitchFamily="49" charset="-120"/>
              </a:rPr>
              <a:t>"Привет"</a:t>
            </a:r>
            <a:endParaRPr lang="en-US" sz="1200" dirty="0"/>
          </a:p>
        </p:txBody>
      </p:sp>
      <p:sp>
        <p:nvSpPr>
          <p:cNvPr id="29" name="Shape 23"/>
          <p:cNvSpPr/>
          <p:nvPr/>
        </p:nvSpPr>
        <p:spPr>
          <a:xfrm>
            <a:off x="8001000" y="2974082"/>
            <a:ext cx="3556000" cy="1358801"/>
          </a:xfrm>
          <a:prstGeom prst="roundRect">
            <a:avLst>
              <a:gd name="adj" fmla="val 7477"/>
            </a:avLst>
          </a:prstGeom>
          <a:solidFill>
            <a:srgbClr val="972996"/>
          </a:solidFill>
          <a:ln/>
        </p:spPr>
      </p:sp>
      <p:sp>
        <p:nvSpPr>
          <p:cNvPr id="30" name="Text 24"/>
          <p:cNvSpPr/>
          <p:nvPr/>
        </p:nvSpPr>
        <p:spPr>
          <a:xfrm>
            <a:off x="8178800" y="3113782"/>
            <a:ext cx="329641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FFFF"/>
                </a:solidFill>
                <a:latin typeface="Carlito" pitchFamily="34" charset="0"/>
                <a:ea typeface="Carlito" pitchFamily="34" charset="-122"/>
                <a:cs typeface="Carlito" pitchFamily="34" charset="-120"/>
              </a:rPr>
              <a:t>Реагировать</a:t>
            </a:r>
            <a:endParaRPr lang="en-US" sz="2000" dirty="0"/>
          </a:p>
        </p:txBody>
      </p:sp>
      <p:sp>
        <p:nvSpPr>
          <p:cNvPr id="31" name="Text 25"/>
          <p:cNvSpPr/>
          <p:nvPr/>
        </p:nvSpPr>
        <p:spPr>
          <a:xfrm>
            <a:off x="8178800" y="3532882"/>
            <a:ext cx="3296412"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Carlito" pitchFamily="34" charset="0"/>
                <a:ea typeface="Carlito" pitchFamily="34" charset="-122"/>
                <a:cs typeface="Carlito" pitchFamily="34" charset="-120"/>
              </a:rPr>
              <a:t>на клики, ввод, отправку формы</a:t>
            </a:r>
            <a:endParaRPr lang="en-US" sz="1400" dirty="0"/>
          </a:p>
        </p:txBody>
      </p:sp>
      <p:sp>
        <p:nvSpPr>
          <p:cNvPr id="32" name="Text 26"/>
          <p:cNvSpPr/>
          <p:nvPr/>
        </p:nvSpPr>
        <p:spPr>
          <a:xfrm>
            <a:off x="8178800" y="3827463"/>
            <a:ext cx="3200400" cy="365720"/>
          </a:xfrm>
          <a:prstGeom prst="roundRect">
            <a:avLst>
              <a:gd name="adj" fmla="val 17363"/>
            </a:avLst>
          </a:prstGeom>
          <a:solidFill>
            <a:srgbClr val="2A002A"/>
          </a:solidFill>
          <a:ln/>
        </p:spPr>
        <p:txBody>
          <a:bodyPr wrap="square" lIns="95701" tIns="57601" rIns="6547" bIns="32201" rtlCol="0" anchor="t">
            <a:normAutofit/>
          </a:bodyPr>
          <a:lstStyle/>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el.</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33" name="Text 27"/>
          <p:cNvSpPr/>
          <p:nvPr/>
        </p:nvSpPr>
        <p:spPr>
          <a:xfrm>
            <a:off x="635000" y="4472583"/>
            <a:ext cx="11118850" cy="57388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11111"/>
                </a:solidFill>
                <a:latin typeface="Carlito" pitchFamily="34" charset="0"/>
                <a:ea typeface="Carlito" pitchFamily="34" charset="-122"/>
                <a:cs typeface="Carlito" pitchFamily="34" charset="-120"/>
              </a:rPr>
              <a:t>Дальше по шагам: как подключить скрипт, как устроено дерево DOM, как искать элементы, менять их и обрабатывать события.</a:t>
            </a:r>
            <a:endParaRPr lang="en-US" sz="1600" dirty="0"/>
          </a:p>
        </p:txBody>
      </p:sp>
      <p:pic>
        <p:nvPicPr>
          <p:cNvPr id="34" name="Рисунок 3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4"/>
          <a:stretch>
            <a:fillRect/>
          </a:stretch>
        </p:blipFill>
        <p:spPr>
          <a:xfrm>
            <a:off x="10348940" y="108351"/>
            <a:ext cx="737272" cy="72597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Подключение: тег script</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Три варианта: прямо в странице, из файла, как модуль</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2794000"/>
          </a:xfrm>
          <a:prstGeom prst="roundRect">
            <a:avLst>
              <a:gd name="adj" fmla="val 2727"/>
            </a:avLst>
          </a:prstGeom>
          <a:solidFill>
            <a:srgbClr val="2A002A"/>
          </a:solidFill>
          <a:ln/>
        </p:spPr>
        <p:txBody>
          <a:bodyPr wrap="square" lIns="142782" tIns="117382" rIns="0" bIns="919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&lt;body&gt;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&lt;h1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"title"</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Привет</a:t>
            </a:r>
            <a:r>
              <a:rPr lang="en-US" sz="1200" dirty="0">
                <a:solidFill>
                  <a:srgbClr val="FF9DE2"/>
                </a:solidFill>
                <a:latin typeface="JetBrains Mono" pitchFamily="49" charset="0"/>
                <a:ea typeface="JetBrains Mono" pitchFamily="49" charset="-122"/>
                <a:cs typeface="JetBrains Mono" pitchFamily="49" charset="-120"/>
              </a:rPr>
              <a:t>&lt;/h1&gt;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&lt;script&gt;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"title"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.textContent = </a:t>
            </a:r>
            <a:r>
              <a:rPr lang="en-US" sz="1200" dirty="0">
                <a:solidFill>
                  <a:srgbClr val="9EE6A8"/>
                </a:solidFill>
                <a:latin typeface="JetBrains Mono" pitchFamily="49" charset="0"/>
                <a:ea typeface="JetBrains Mono" pitchFamily="49" charset="-122"/>
                <a:cs typeface="JetBrains Mono" pitchFamily="49" charset="-120"/>
              </a:rPr>
              <a:t>"Привет, JS!"</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&lt;/script&gt;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&lt;script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src</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"app.js"</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defer</a:t>
            </a:r>
            <a:r>
              <a:rPr lang="en-US" sz="1200" dirty="0">
                <a:solidFill>
                  <a:srgbClr val="FF9DE2"/>
                </a:solidFill>
                <a:latin typeface="JetBrains Mono" pitchFamily="49" charset="0"/>
                <a:ea typeface="JetBrains Mono" pitchFamily="49" charset="-122"/>
                <a:cs typeface="JetBrains Mono" pitchFamily="49" charset="-120"/>
              </a:rPr>
              <a:t>&gt;&lt;/script&gt;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&lt;script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type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"module"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src</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"main.js"</a:t>
            </a:r>
            <a:r>
              <a:rPr lang="en-US" sz="1200" dirty="0">
                <a:solidFill>
                  <a:srgbClr val="FF9DE2"/>
                </a:solidFill>
                <a:latin typeface="JetBrains Mono" pitchFamily="49" charset="0"/>
                <a:ea typeface="JetBrains Mono" pitchFamily="49" charset="-122"/>
                <a:cs typeface="JetBrains Mono" pitchFamily="49" charset="-120"/>
              </a:rPr>
              <a:t>&gt;&lt;/script&gt;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&lt;/body&gt;</a:t>
            </a:r>
            <a:endParaRPr lang="en-US" sz="1200" dirty="0"/>
          </a:p>
        </p:txBody>
      </p:sp>
      <p:sp>
        <p:nvSpPr>
          <p:cNvPr id="8" name="Shape 5"/>
          <p:cNvSpPr/>
          <p:nvPr/>
        </p:nvSpPr>
        <p:spPr>
          <a:xfrm>
            <a:off x="6089650" y="1269901"/>
            <a:ext cx="12700" cy="3741043"/>
          </a:xfrm>
          <a:prstGeom prst="rect">
            <a:avLst/>
          </a:prstGeom>
          <a:solidFill>
            <a:srgbClr val="FFFFFF"/>
          </a:solidFill>
          <a:ln/>
        </p:spPr>
      </p:sp>
      <p:sp>
        <p:nvSpPr>
          <p:cNvPr id="9" name="Text 6"/>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0" name="Shape 7"/>
          <p:cNvSpPr/>
          <p:nvPr/>
        </p:nvSpPr>
        <p:spPr>
          <a:xfrm>
            <a:off x="6356350" y="1594941"/>
            <a:ext cx="5200650" cy="1393130"/>
          </a:xfrm>
          <a:prstGeom prst="roundRect">
            <a:avLst>
              <a:gd name="adj" fmla="val 5470"/>
            </a:avLst>
          </a:prstGeom>
          <a:solidFill>
            <a:srgbClr val="FFFFFF"/>
          </a:solidFill>
          <a:ln/>
        </p:spPr>
      </p:sp>
      <p:sp>
        <p:nvSpPr>
          <p:cNvPr id="11" name="Shape 8"/>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2" name="Shape 9"/>
          <p:cNvSpPr/>
          <p:nvPr/>
        </p:nvSpPr>
        <p:spPr>
          <a:xfrm>
            <a:off x="6483350" y="1739702"/>
            <a:ext cx="101600" cy="101600"/>
          </a:xfrm>
          <a:prstGeom prst="roundRect">
            <a:avLst>
              <a:gd name="adj" fmla="val 50000"/>
            </a:avLst>
          </a:prstGeom>
          <a:solidFill>
            <a:srgbClr val="E57373"/>
          </a:solidFill>
          <a:ln/>
        </p:spPr>
      </p:sp>
      <p:sp>
        <p:nvSpPr>
          <p:cNvPr id="13" name="Shape 10"/>
          <p:cNvSpPr/>
          <p:nvPr/>
        </p:nvSpPr>
        <p:spPr>
          <a:xfrm>
            <a:off x="6648450" y="1739702"/>
            <a:ext cx="101600" cy="101600"/>
          </a:xfrm>
          <a:prstGeom prst="roundRect">
            <a:avLst>
              <a:gd name="adj" fmla="val 50000"/>
            </a:avLst>
          </a:prstGeom>
          <a:solidFill>
            <a:srgbClr val="FFD54F"/>
          </a:solidFill>
          <a:ln/>
        </p:spPr>
      </p:sp>
      <p:sp>
        <p:nvSpPr>
          <p:cNvPr id="14" name="Shape 11"/>
          <p:cNvSpPr/>
          <p:nvPr/>
        </p:nvSpPr>
        <p:spPr>
          <a:xfrm>
            <a:off x="6813550" y="1739702"/>
            <a:ext cx="101600" cy="101600"/>
          </a:xfrm>
          <a:prstGeom prst="roundRect">
            <a:avLst>
              <a:gd name="adj" fmla="val 50000"/>
            </a:avLst>
          </a:prstGeom>
          <a:solidFill>
            <a:srgbClr val="81C784"/>
          </a:solidFill>
          <a:ln/>
        </p:spPr>
      </p:sp>
      <p:sp>
        <p:nvSpPr>
          <p:cNvPr id="15" name="Text 12"/>
          <p:cNvSpPr/>
          <p:nvPr/>
        </p:nvSpPr>
        <p:spPr>
          <a:xfrm>
            <a:off x="7054850" y="168384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6" name="Text 13"/>
          <p:cNvSpPr/>
          <p:nvPr/>
        </p:nvSpPr>
        <p:spPr>
          <a:xfrm>
            <a:off x="6572250" y="2151162"/>
            <a:ext cx="4911916"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11111"/>
                </a:solidFill>
                <a:latin typeface="Times New Roman" pitchFamily="18" charset="0"/>
                <a:ea typeface="Times New Roman" pitchFamily="18" charset="-122"/>
                <a:cs typeface="Times New Roman" pitchFamily="18" charset="-120"/>
              </a:rPr>
              <a:t>Привет, JS!</a:t>
            </a:r>
            <a:endParaRPr lang="en-US" sz="3000" dirty="0"/>
          </a:p>
        </p:txBody>
      </p:sp>
      <p:sp>
        <p:nvSpPr>
          <p:cNvPr id="17" name="Text 14"/>
          <p:cNvSpPr/>
          <p:nvPr/>
        </p:nvSpPr>
        <p:spPr>
          <a:xfrm>
            <a:off x="6572250" y="2608362"/>
            <a:ext cx="4911916"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5555"/>
                </a:solidFill>
                <a:latin typeface="Arial" pitchFamily="34" charset="0"/>
                <a:ea typeface="Arial" pitchFamily="34" charset="-122"/>
                <a:cs typeface="Arial" pitchFamily="34" charset="-120"/>
              </a:rPr>
              <a:t>Скрипт заменил слово «Привет» на «Привет, JS!»</a:t>
            </a:r>
            <a:endParaRPr lang="en-US" sz="1300" dirty="0"/>
          </a:p>
        </p:txBody>
      </p:sp>
      <p:sp>
        <p:nvSpPr>
          <p:cNvPr id="18" name="Text 15"/>
          <p:cNvSpPr/>
          <p:nvPr/>
        </p:nvSpPr>
        <p:spPr>
          <a:xfrm>
            <a:off x="6356350" y="3064272"/>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Внутри страницы</a:t>
            </a:r>
            <a:r>
              <a:rPr lang="en-US" sz="1350" dirty="0">
                <a:solidFill>
                  <a:srgbClr val="FFFFFF"/>
                </a:solidFill>
                <a:latin typeface="Carlito" pitchFamily="34" charset="0"/>
                <a:ea typeface="Carlito" pitchFamily="34" charset="-122"/>
                <a:cs typeface="Carlito" pitchFamily="34" charset="-120"/>
              </a:rPr>
              <a:t> — быстро для примеров. </a:t>
            </a:r>
            <a:r>
              <a:rPr lang="en-US" sz="1350" b="1" dirty="0">
                <a:solidFill>
                  <a:srgbClr val="FFFFFF"/>
                </a:solidFill>
                <a:latin typeface="Carlito" pitchFamily="34" charset="0"/>
                <a:ea typeface="Carlito" pitchFamily="34" charset="-122"/>
                <a:cs typeface="Carlito" pitchFamily="34" charset="-120"/>
              </a:rPr>
              <a:t>src="app.js"</a:t>
            </a:r>
            <a:r>
              <a:rPr lang="en-US" sz="1350" dirty="0">
                <a:solidFill>
                  <a:srgbClr val="FFFFFF"/>
                </a:solidFill>
                <a:latin typeface="Carlito" pitchFamily="34" charset="0"/>
                <a:ea typeface="Carlito" pitchFamily="34" charset="-122"/>
                <a:cs typeface="Carlito" pitchFamily="34" charset="-120"/>
              </a:rPr>
              <a:t> — код в отдельном файле, удобнее для проектов.</a:t>
            </a:r>
            <a:endParaRPr lang="en-US" sz="1350" dirty="0"/>
          </a:p>
        </p:txBody>
      </p:sp>
      <p:sp>
        <p:nvSpPr>
          <p:cNvPr id="19" name="Text 16"/>
          <p:cNvSpPr/>
          <p:nvPr/>
        </p:nvSpPr>
        <p:spPr>
          <a:xfrm>
            <a:off x="6356350" y="373856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defer</a:t>
            </a:r>
            <a:r>
              <a:rPr lang="en-US" sz="1350" dirty="0">
                <a:solidFill>
                  <a:srgbClr val="FFFFFF"/>
                </a:solidFill>
                <a:latin typeface="Carlito" pitchFamily="34" charset="0"/>
                <a:ea typeface="Carlito" pitchFamily="34" charset="-122"/>
                <a:cs typeface="Carlito" pitchFamily="34" charset="-120"/>
              </a:rPr>
              <a:t> — скрипт выполняется после разбора страницы, поэтому все элементы уже существуют.</a:t>
            </a:r>
            <a:endParaRPr lang="en-US" sz="1350" dirty="0"/>
          </a:p>
        </p:txBody>
      </p:sp>
      <p:sp>
        <p:nvSpPr>
          <p:cNvPr id="20" name="Text 17"/>
          <p:cNvSpPr/>
          <p:nvPr/>
        </p:nvSpPr>
        <p:spPr>
          <a:xfrm>
            <a:off x="6356350" y="441285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type="module"</a:t>
            </a:r>
            <a:r>
              <a:rPr lang="en-US" sz="1350" dirty="0">
                <a:solidFill>
                  <a:srgbClr val="FFFFFF"/>
                </a:solidFill>
                <a:latin typeface="Carlito" pitchFamily="34" charset="0"/>
                <a:ea typeface="Carlito" pitchFamily="34" charset="-122"/>
                <a:cs typeface="Carlito" pitchFamily="34" charset="-120"/>
              </a:rPr>
              <a:t> — современные модули с import и export, отложены по умолчанию.</a:t>
            </a:r>
            <a:endParaRPr lang="en-US" sz="1350" dirty="0"/>
          </a:p>
        </p:txBody>
      </p:sp>
      <p:pic>
        <p:nvPicPr>
          <p:cNvPr id="21" name="Рисунок 2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118725" y="284610"/>
            <a:ext cx="737272" cy="7259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DOM: дерево страницы</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Каждый тег превращается в объект, вложенность — в родителей и потомков</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854200"/>
          </a:xfrm>
          <a:prstGeom prst="roundRect">
            <a:avLst>
              <a:gd name="adj" fmla="val 4110"/>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&lt;body&gt;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&lt;h1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Заголовок</a:t>
            </a:r>
            <a:r>
              <a:rPr lang="en-US" sz="1200" dirty="0">
                <a:solidFill>
                  <a:srgbClr val="FF9DE2"/>
                </a:solidFill>
                <a:latin typeface="JetBrains Mono" pitchFamily="49" charset="0"/>
                <a:ea typeface="JetBrains Mono" pitchFamily="49" charset="-122"/>
                <a:cs typeface="JetBrains Mono" pitchFamily="49" charset="-120"/>
              </a:rPr>
              <a:t>&lt;/h1&gt;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&lt;ul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r>
              <a:rPr lang="en-US" sz="1200" dirty="0">
                <a:solidFill>
                  <a:srgbClr val="FFFFFF"/>
                </a:solidFill>
                <a:latin typeface="JetBrains Mono" pitchFamily="49" charset="0"/>
                <a:ea typeface="JetBrains Mono" pitchFamily="49" charset="-122"/>
                <a:cs typeface="JetBrains Mono" pitchFamily="49" charset="-120"/>
              </a:rPr>
              <a:t>Один</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r>
              <a:rPr lang="en-US" sz="1200" dirty="0">
                <a:solidFill>
                  <a:srgbClr val="FFFFFF"/>
                </a:solidFill>
                <a:latin typeface="JetBrains Mono" pitchFamily="49" charset="0"/>
                <a:ea typeface="JetBrains Mono" pitchFamily="49" charset="-122"/>
                <a:cs typeface="JetBrains Mono" pitchFamily="49" charset="-120"/>
              </a:rPr>
              <a:t>Два</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&lt;/body&gt;</a:t>
            </a:r>
            <a:endParaRPr lang="en-US" sz="1200" dirty="0"/>
          </a:p>
        </p:txBody>
      </p:sp>
      <p:sp>
        <p:nvSpPr>
          <p:cNvPr id="8" name="Text 5"/>
          <p:cNvSpPr/>
          <p:nvPr/>
        </p:nvSpPr>
        <p:spPr>
          <a:xfrm>
            <a:off x="635000" y="35253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3850382"/>
            <a:ext cx="5200650" cy="1397000"/>
          </a:xfrm>
          <a:prstGeom prst="roundRect">
            <a:avLst>
              <a:gd name="adj" fmla="val 5455"/>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ul = document.</a:t>
            </a:r>
            <a:r>
              <a:rPr lang="en-US" sz="1200" dirty="0">
                <a:solidFill>
                  <a:srgbClr val="FFD27F"/>
                </a:solidFill>
                <a:latin typeface="JetBrains Mono" pitchFamily="49" charset="0"/>
                <a:ea typeface="JetBrains Mono" pitchFamily="49" charset="-122"/>
                <a:cs typeface="JetBrains Mono" pitchFamily="49" charset="-120"/>
              </a:rPr>
              <a:t>querySelector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"ul"</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ul.children.length       </a:t>
            </a:r>
            <a:r>
              <a:rPr lang="en-US" sz="1200" dirty="0">
                <a:solidFill>
                  <a:srgbClr val="C9A0C9"/>
                </a:solidFill>
                <a:latin typeface="JetBrains Mono" pitchFamily="49" charset="0"/>
                <a:ea typeface="JetBrains Mono" pitchFamily="49" charset="-122"/>
                <a:cs typeface="JetBrains Mono" pitchFamily="49" charset="-120"/>
              </a:rPr>
              <a:t>// 2</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ul.parentElement.tagName </a:t>
            </a:r>
            <a:r>
              <a:rPr lang="en-US" sz="1200" dirty="0">
                <a:solidFill>
                  <a:srgbClr val="C9A0C9"/>
                </a:solidFill>
                <a:latin typeface="JetBrains Mono" pitchFamily="49" charset="0"/>
                <a:ea typeface="JetBrains Mono" pitchFamily="49" charset="-122"/>
                <a:cs typeface="JetBrains Mono" pitchFamily="49" charset="-120"/>
              </a:rPr>
              <a:t>// "BODY"</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ul.firstElementChild.textContent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C9A0C9"/>
                </a:solidFill>
                <a:latin typeface="JetBrains Mono" pitchFamily="49" charset="0"/>
                <a:ea typeface="JetBrains Mono" pitchFamily="49" charset="-122"/>
                <a:cs typeface="JetBrains Mono" pitchFamily="49" charset="-120"/>
              </a:rPr>
              <a:t>// "Один"</a:t>
            </a:r>
            <a:endParaRPr lang="en-US" sz="1200" dirty="0"/>
          </a:p>
        </p:txBody>
      </p:sp>
      <p:sp>
        <p:nvSpPr>
          <p:cNvPr id="10" name="Shape 7"/>
          <p:cNvSpPr/>
          <p:nvPr/>
        </p:nvSpPr>
        <p:spPr>
          <a:xfrm>
            <a:off x="6089650" y="1269901"/>
            <a:ext cx="12700" cy="4116586"/>
          </a:xfrm>
          <a:prstGeom prst="rect">
            <a:avLst/>
          </a:prstGeom>
          <a:solidFill>
            <a:srgbClr val="972996"/>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Дерево DOM</a:t>
            </a:r>
            <a:endParaRPr lang="en-US" sz="1400" dirty="0"/>
          </a:p>
        </p:txBody>
      </p:sp>
      <p:sp>
        <p:nvSpPr>
          <p:cNvPr id="12" name="Text 9"/>
          <p:cNvSpPr/>
          <p:nvPr/>
        </p:nvSpPr>
        <p:spPr>
          <a:xfrm>
            <a:off x="6356350" y="1582241"/>
            <a:ext cx="978991" cy="325041"/>
          </a:xfrm>
          <a:prstGeom prst="roundRect">
            <a:avLst>
              <a:gd name="adj" fmla="val 19536"/>
            </a:avLst>
          </a:prstGeom>
          <a:solidFill>
            <a:srgbClr val="640064"/>
          </a:solidFill>
          <a:ln/>
        </p:spPr>
        <p:txBody>
          <a:bodyPr wrap="none" lIns="0" tIns="0" rIns="0" bIns="0" rtlCol="0" anchor="ctr">
            <a:normAutofit/>
          </a:bodyPr>
          <a:lstStyle/>
          <a:p>
            <a:pPr marL="0" indent="0" algn="ctr">
              <a:lnSpc>
                <a:spcPts val="1960"/>
              </a:lnSpc>
              <a:buNone/>
            </a:pPr>
            <a:r>
              <a:rPr lang="en-US" sz="1400" b="1" dirty="0">
                <a:solidFill>
                  <a:srgbClr val="FFFFFF"/>
                </a:solidFill>
                <a:latin typeface="Carlito" pitchFamily="34" charset="0"/>
                <a:ea typeface="Carlito" pitchFamily="34" charset="-122"/>
                <a:cs typeface="Carlito" pitchFamily="34" charset="-120"/>
              </a:rPr>
              <a:t>document</a:t>
            </a:r>
            <a:endParaRPr lang="en-US" sz="1400" dirty="0"/>
          </a:p>
        </p:txBody>
      </p:sp>
      <p:sp>
        <p:nvSpPr>
          <p:cNvPr id="13" name="Text 10"/>
          <p:cNvSpPr/>
          <p:nvPr/>
        </p:nvSpPr>
        <p:spPr>
          <a:xfrm>
            <a:off x="6610350" y="1970782"/>
            <a:ext cx="572393" cy="325041"/>
          </a:xfrm>
          <a:prstGeom prst="roundRect">
            <a:avLst>
              <a:gd name="adj" fmla="val 19536"/>
            </a:avLst>
          </a:prstGeom>
          <a:solidFill>
            <a:srgbClr val="972996"/>
          </a:solidFill>
          <a:ln/>
        </p:spPr>
        <p:txBody>
          <a:bodyPr wrap="none" lIns="0" tIns="0" rIns="0" bIns="0" rtlCol="0" anchor="ctr">
            <a:normAutofit/>
          </a:bodyPr>
          <a:lstStyle/>
          <a:p>
            <a:pPr marL="0" indent="0" algn="ctr">
              <a:lnSpc>
                <a:spcPts val="1960"/>
              </a:lnSpc>
              <a:buNone/>
            </a:pPr>
            <a:r>
              <a:rPr lang="en-US" sz="1400" b="1" dirty="0">
                <a:solidFill>
                  <a:srgbClr val="FFFFFF"/>
                </a:solidFill>
                <a:latin typeface="Carlito" pitchFamily="34" charset="0"/>
                <a:ea typeface="Carlito" pitchFamily="34" charset="-122"/>
                <a:cs typeface="Carlito" pitchFamily="34" charset="-120"/>
              </a:rPr>
              <a:t>html</a:t>
            </a:r>
            <a:endParaRPr lang="en-US" sz="1400" dirty="0"/>
          </a:p>
        </p:txBody>
      </p:sp>
      <p:sp>
        <p:nvSpPr>
          <p:cNvPr id="14" name="Text 11"/>
          <p:cNvSpPr/>
          <p:nvPr/>
        </p:nvSpPr>
        <p:spPr>
          <a:xfrm>
            <a:off x="6864350" y="2359323"/>
            <a:ext cx="599281" cy="325041"/>
          </a:xfrm>
          <a:prstGeom prst="roundRect">
            <a:avLst>
              <a:gd name="adj" fmla="val 19536"/>
            </a:avLst>
          </a:prstGeom>
          <a:solidFill>
            <a:srgbClr val="972996"/>
          </a:solidFill>
          <a:ln/>
        </p:spPr>
        <p:txBody>
          <a:bodyPr wrap="none" lIns="0" tIns="0" rIns="0" bIns="0" rtlCol="0" anchor="ctr">
            <a:normAutofit/>
          </a:bodyPr>
          <a:lstStyle/>
          <a:p>
            <a:pPr marL="0" indent="0" algn="ctr">
              <a:lnSpc>
                <a:spcPts val="1960"/>
              </a:lnSpc>
              <a:buNone/>
            </a:pPr>
            <a:r>
              <a:rPr lang="en-US" sz="1400" b="1" dirty="0">
                <a:solidFill>
                  <a:srgbClr val="FFFFFF"/>
                </a:solidFill>
                <a:latin typeface="Carlito" pitchFamily="34" charset="0"/>
                <a:ea typeface="Carlito" pitchFamily="34" charset="-122"/>
                <a:cs typeface="Carlito" pitchFamily="34" charset="-120"/>
              </a:rPr>
              <a:t>body</a:t>
            </a:r>
            <a:endParaRPr lang="en-US" sz="1400" dirty="0"/>
          </a:p>
        </p:txBody>
      </p:sp>
      <p:sp>
        <p:nvSpPr>
          <p:cNvPr id="15" name="Text 12"/>
          <p:cNvSpPr/>
          <p:nvPr/>
        </p:nvSpPr>
        <p:spPr>
          <a:xfrm>
            <a:off x="7118350" y="2747863"/>
            <a:ext cx="604540" cy="325041"/>
          </a:xfrm>
          <a:prstGeom prst="roundRect">
            <a:avLst>
              <a:gd name="adj" fmla="val 19536"/>
            </a:avLst>
          </a:prstGeom>
          <a:solidFill>
            <a:srgbClr val="972996"/>
          </a:solidFill>
          <a:ln/>
        </p:spPr>
        <p:txBody>
          <a:bodyPr wrap="none" lIns="0" tIns="0" rIns="0" bIns="0" rtlCol="0" anchor="ctr">
            <a:normAutofit/>
          </a:bodyPr>
          <a:lstStyle/>
          <a:p>
            <a:pPr marL="0" indent="0" algn="ctr">
              <a:lnSpc>
                <a:spcPts val="1960"/>
              </a:lnSpc>
              <a:buNone/>
            </a:pPr>
            <a:r>
              <a:rPr lang="en-US" sz="1400" b="1" dirty="0">
                <a:solidFill>
                  <a:srgbClr val="FFFFFF"/>
                </a:solidFill>
                <a:latin typeface="Carlito" pitchFamily="34" charset="0"/>
                <a:ea typeface="Carlito" pitchFamily="34" charset="-122"/>
                <a:cs typeface="Carlito" pitchFamily="34" charset="-120"/>
              </a:rPr>
              <a:t>h1 #t</a:t>
            </a:r>
            <a:endParaRPr lang="en-US" sz="1400" dirty="0"/>
          </a:p>
        </p:txBody>
      </p:sp>
      <p:sp>
        <p:nvSpPr>
          <p:cNvPr id="16" name="Text 13"/>
          <p:cNvSpPr/>
          <p:nvPr/>
        </p:nvSpPr>
        <p:spPr>
          <a:xfrm>
            <a:off x="7799090" y="2794794"/>
            <a:ext cx="152423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5555"/>
                </a:solidFill>
                <a:latin typeface="Carlito" pitchFamily="34" charset="0"/>
                <a:ea typeface="Carlito" pitchFamily="34" charset="-122"/>
                <a:cs typeface="Carlito" pitchFamily="34" charset="-120"/>
              </a:rPr>
              <a:t>текст «Заголовок»</a:t>
            </a:r>
            <a:endParaRPr lang="en-US" sz="1300" dirty="0"/>
          </a:p>
        </p:txBody>
      </p:sp>
      <p:sp>
        <p:nvSpPr>
          <p:cNvPr id="17" name="Text 14"/>
          <p:cNvSpPr/>
          <p:nvPr/>
        </p:nvSpPr>
        <p:spPr>
          <a:xfrm>
            <a:off x="7118350" y="3136404"/>
            <a:ext cx="673298" cy="325041"/>
          </a:xfrm>
          <a:prstGeom prst="roundRect">
            <a:avLst>
              <a:gd name="adj" fmla="val 19536"/>
            </a:avLst>
          </a:prstGeom>
          <a:solidFill>
            <a:srgbClr val="972996"/>
          </a:solidFill>
          <a:ln/>
        </p:spPr>
        <p:txBody>
          <a:bodyPr wrap="none" lIns="0" tIns="0" rIns="0" bIns="0" rtlCol="0" anchor="ctr">
            <a:normAutofit/>
          </a:bodyPr>
          <a:lstStyle/>
          <a:p>
            <a:pPr marL="0" indent="0" algn="ctr">
              <a:lnSpc>
                <a:spcPts val="1960"/>
              </a:lnSpc>
              <a:buNone/>
            </a:pPr>
            <a:r>
              <a:rPr lang="en-US" sz="1400" b="1" dirty="0">
                <a:solidFill>
                  <a:srgbClr val="FFFFFF"/>
                </a:solidFill>
                <a:latin typeface="Carlito" pitchFamily="34" charset="0"/>
                <a:ea typeface="Carlito" pitchFamily="34" charset="-122"/>
                <a:cs typeface="Carlito" pitchFamily="34" charset="-120"/>
              </a:rPr>
              <a:t>ul .list</a:t>
            </a:r>
            <a:endParaRPr lang="en-US" sz="1400" dirty="0"/>
          </a:p>
        </p:txBody>
      </p:sp>
      <p:sp>
        <p:nvSpPr>
          <p:cNvPr id="18" name="Text 15"/>
          <p:cNvSpPr/>
          <p:nvPr/>
        </p:nvSpPr>
        <p:spPr>
          <a:xfrm>
            <a:off x="7372350" y="3524945"/>
            <a:ext cx="316012" cy="325041"/>
          </a:xfrm>
          <a:prstGeom prst="roundRect">
            <a:avLst>
              <a:gd name="adj" fmla="val 20094"/>
            </a:avLst>
          </a:prstGeom>
          <a:solidFill>
            <a:srgbClr val="B86BB7"/>
          </a:solidFill>
          <a:ln/>
        </p:spPr>
        <p:txBody>
          <a:bodyPr wrap="none" lIns="0" tIns="0" rIns="0" bIns="0" rtlCol="0" anchor="ctr">
            <a:normAutofit/>
          </a:bodyPr>
          <a:lstStyle/>
          <a:p>
            <a:pPr marL="0" indent="0" algn="ctr">
              <a:lnSpc>
                <a:spcPts val="1960"/>
              </a:lnSpc>
              <a:buNone/>
            </a:pPr>
            <a:r>
              <a:rPr lang="en-US" sz="1400" b="1" dirty="0">
                <a:solidFill>
                  <a:srgbClr val="111111"/>
                </a:solidFill>
                <a:latin typeface="Carlito" pitchFamily="34" charset="0"/>
                <a:ea typeface="Carlito" pitchFamily="34" charset="-122"/>
                <a:cs typeface="Carlito" pitchFamily="34" charset="-120"/>
              </a:rPr>
              <a:t>li</a:t>
            </a:r>
            <a:endParaRPr lang="en-US" sz="1400" dirty="0"/>
          </a:p>
        </p:txBody>
      </p:sp>
      <p:sp>
        <p:nvSpPr>
          <p:cNvPr id="19" name="Text 16"/>
          <p:cNvSpPr/>
          <p:nvPr/>
        </p:nvSpPr>
        <p:spPr>
          <a:xfrm>
            <a:off x="7764562" y="3571875"/>
            <a:ext cx="112180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5555"/>
                </a:solidFill>
                <a:latin typeface="Carlito" pitchFamily="34" charset="0"/>
                <a:ea typeface="Carlito" pitchFamily="34" charset="-122"/>
                <a:cs typeface="Carlito" pitchFamily="34" charset="-120"/>
              </a:rPr>
              <a:t>текст «Один»</a:t>
            </a:r>
            <a:endParaRPr lang="en-US" sz="1300" dirty="0"/>
          </a:p>
        </p:txBody>
      </p:sp>
      <p:sp>
        <p:nvSpPr>
          <p:cNvPr id="20" name="Text 17"/>
          <p:cNvSpPr/>
          <p:nvPr/>
        </p:nvSpPr>
        <p:spPr>
          <a:xfrm>
            <a:off x="7372350" y="3913485"/>
            <a:ext cx="316012" cy="325041"/>
          </a:xfrm>
          <a:prstGeom prst="roundRect">
            <a:avLst>
              <a:gd name="adj" fmla="val 20094"/>
            </a:avLst>
          </a:prstGeom>
          <a:solidFill>
            <a:srgbClr val="B86BB7"/>
          </a:solidFill>
          <a:ln/>
        </p:spPr>
        <p:txBody>
          <a:bodyPr wrap="none" lIns="0" tIns="0" rIns="0" bIns="0" rtlCol="0" anchor="ctr">
            <a:normAutofit/>
          </a:bodyPr>
          <a:lstStyle/>
          <a:p>
            <a:pPr marL="0" indent="0" algn="ctr">
              <a:lnSpc>
                <a:spcPts val="1960"/>
              </a:lnSpc>
              <a:buNone/>
            </a:pPr>
            <a:r>
              <a:rPr lang="en-US" sz="1400" b="1" dirty="0">
                <a:solidFill>
                  <a:srgbClr val="111111"/>
                </a:solidFill>
                <a:latin typeface="Carlito" pitchFamily="34" charset="0"/>
                <a:ea typeface="Carlito" pitchFamily="34" charset="-122"/>
                <a:cs typeface="Carlito" pitchFamily="34" charset="-120"/>
              </a:rPr>
              <a:t>li</a:t>
            </a:r>
            <a:endParaRPr lang="en-US" sz="1400" dirty="0"/>
          </a:p>
        </p:txBody>
      </p:sp>
      <p:sp>
        <p:nvSpPr>
          <p:cNvPr id="21" name="Text 18"/>
          <p:cNvSpPr/>
          <p:nvPr/>
        </p:nvSpPr>
        <p:spPr>
          <a:xfrm>
            <a:off x="7764562" y="3960416"/>
            <a:ext cx="9890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5555"/>
                </a:solidFill>
                <a:latin typeface="Carlito" pitchFamily="34" charset="0"/>
                <a:ea typeface="Carlito" pitchFamily="34" charset="-122"/>
                <a:cs typeface="Carlito" pitchFamily="34" charset="-120"/>
              </a:rPr>
              <a:t>текст «Два»</a:t>
            </a:r>
            <a:endParaRPr lang="en-US" sz="1300" dirty="0"/>
          </a:p>
        </p:txBody>
      </p:sp>
      <p:sp>
        <p:nvSpPr>
          <p:cNvPr id="22" name="Shape 19"/>
          <p:cNvSpPr/>
          <p:nvPr/>
        </p:nvSpPr>
        <p:spPr>
          <a:xfrm>
            <a:off x="6388100" y="4302026"/>
            <a:ext cx="0" cy="510480"/>
          </a:xfrm>
          <a:prstGeom prst="line">
            <a:avLst/>
          </a:prstGeom>
          <a:noFill/>
          <a:ln w="63500">
            <a:solidFill>
              <a:srgbClr val="972996"/>
            </a:solidFill>
            <a:prstDash val="solid"/>
          </a:ln>
        </p:spPr>
      </p:sp>
      <p:sp>
        <p:nvSpPr>
          <p:cNvPr id="23" name="Text 20"/>
          <p:cNvSpPr/>
          <p:nvPr/>
        </p:nvSpPr>
        <p:spPr>
          <a:xfrm>
            <a:off x="6546850" y="4302026"/>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document и window</a:t>
            </a:r>
            <a:endParaRPr lang="en-US" sz="1500" dirty="0"/>
          </a:p>
        </p:txBody>
      </p:sp>
      <p:sp>
        <p:nvSpPr>
          <p:cNvPr id="24" name="Text 21"/>
          <p:cNvSpPr/>
          <p:nvPr/>
        </p:nvSpPr>
        <p:spPr>
          <a:xfrm>
            <a:off x="6546850" y="4581426"/>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document — вход в страницу, window — само окно браузера</a:t>
            </a:r>
            <a:endParaRPr lang="en-US" sz="1400" dirty="0"/>
          </a:p>
        </p:txBody>
      </p:sp>
      <p:sp>
        <p:nvSpPr>
          <p:cNvPr id="25" name="Shape 22"/>
          <p:cNvSpPr/>
          <p:nvPr/>
        </p:nvSpPr>
        <p:spPr>
          <a:xfrm>
            <a:off x="6388100" y="4876006"/>
            <a:ext cx="0" cy="510480"/>
          </a:xfrm>
          <a:prstGeom prst="line">
            <a:avLst/>
          </a:prstGeom>
          <a:noFill/>
          <a:ln w="63500">
            <a:solidFill>
              <a:srgbClr val="972996"/>
            </a:solidFill>
            <a:prstDash val="solid"/>
          </a:ln>
        </p:spPr>
      </p:sp>
      <p:sp>
        <p:nvSpPr>
          <p:cNvPr id="26" name="Text 23"/>
          <p:cNvSpPr/>
          <p:nvPr/>
        </p:nvSpPr>
        <p:spPr>
          <a:xfrm>
            <a:off x="6546850" y="4876006"/>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Узлы</a:t>
            </a:r>
            <a:endParaRPr lang="en-US" sz="1500" dirty="0"/>
          </a:p>
        </p:txBody>
      </p:sp>
      <p:sp>
        <p:nvSpPr>
          <p:cNvPr id="27" name="Text 24"/>
          <p:cNvSpPr/>
          <p:nvPr/>
        </p:nvSpPr>
        <p:spPr>
          <a:xfrm>
            <a:off x="6546850" y="5155406"/>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элементы, текст и атрибуты; связи: родитель, потомки, соседи</a:t>
            </a:r>
            <a:endParaRPr lang="en-US" sz="1400" dirty="0"/>
          </a:p>
        </p:txBody>
      </p:sp>
      <p:pic>
        <p:nvPicPr>
          <p:cNvPr id="28" name="Рисунок 27"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59109" y="207895"/>
            <a:ext cx="737272" cy="72597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Поиск элементов</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Сначала находим элемент, потом работаем с ним</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625600"/>
          </a:xfrm>
          <a:prstGeom prst="roundRect">
            <a:avLst>
              <a:gd name="adj" fmla="val 4688"/>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&lt;h1</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"title"</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Заметки</a:t>
            </a:r>
            <a:r>
              <a:rPr lang="en-US" sz="1200" dirty="0">
                <a:solidFill>
                  <a:srgbClr val="FF9DE2"/>
                </a:solidFill>
                <a:latin typeface="JetBrains Mono" pitchFamily="49" charset="0"/>
                <a:ea typeface="JetBrains Mono" pitchFamily="49" charset="-122"/>
                <a:cs typeface="JetBrains Mono" pitchFamily="49" charset="-120"/>
              </a:rPr>
              <a:t>&lt;/h1&gt;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"item"</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Купить хлеб</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"item"</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Позвонить</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&lt;li&gt;</a:t>
            </a:r>
            <a:r>
              <a:rPr lang="en-US" sz="1200" dirty="0">
                <a:solidFill>
                  <a:srgbClr val="FFFFFF"/>
                </a:solidFill>
                <a:latin typeface="JetBrains Mono" pitchFamily="49" charset="0"/>
                <a:ea typeface="JetBrains Mono" pitchFamily="49" charset="-122"/>
                <a:cs typeface="JetBrains Mono" pitchFamily="49" charset="-120"/>
              </a:rPr>
              <a:t>Написать отчёт</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p:txBody>
      </p:sp>
      <p:sp>
        <p:nvSpPr>
          <p:cNvPr id="8" name="Text 5"/>
          <p:cNvSpPr/>
          <p:nvPr/>
        </p:nvSpPr>
        <p:spPr>
          <a:xfrm>
            <a:off x="635000" y="32967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3621782"/>
            <a:ext cx="5200650" cy="1625600"/>
          </a:xfrm>
          <a:prstGeom prst="roundRect">
            <a:avLst>
              <a:gd name="adj" fmla="val 4688"/>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"title"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first = document.</a:t>
            </a:r>
            <a:r>
              <a:rPr lang="en-US" sz="1200" dirty="0">
                <a:solidFill>
                  <a:srgbClr val="FFD27F"/>
                </a:solidFill>
                <a:latin typeface="JetBrains Mono" pitchFamily="49" charset="0"/>
                <a:ea typeface="JetBrains Mono" pitchFamily="49" charset="-122"/>
                <a:cs typeface="JetBrains Mono" pitchFamily="49" charset="-120"/>
              </a:rPr>
              <a:t>querySelector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".item"</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all = document.</a:t>
            </a:r>
            <a:r>
              <a:rPr lang="en-US" sz="1200" dirty="0">
                <a:solidFill>
                  <a:srgbClr val="FFD27F"/>
                </a:solidFill>
                <a:latin typeface="JetBrains Mono" pitchFamily="49" charset="0"/>
                <a:ea typeface="JetBrains Mono" pitchFamily="49" charset="-122"/>
                <a:cs typeface="JetBrains Mono" pitchFamily="49" charset="-120"/>
              </a:rPr>
              <a:t>querySelectorAll</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t.style.color = </a:t>
            </a:r>
            <a:r>
              <a:rPr lang="en-US" sz="1200" dirty="0">
                <a:solidFill>
                  <a:srgbClr val="9EE6A8"/>
                </a:solidFill>
                <a:latin typeface="JetBrains Mono" pitchFamily="49" charset="0"/>
                <a:ea typeface="JetBrains Mono" pitchFamily="49" charset="-122"/>
                <a:cs typeface="JetBrains Mono" pitchFamily="49" charset="-120"/>
              </a:rPr>
              <a:t>"#972996"</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first.style.background = </a:t>
            </a:r>
            <a:r>
              <a:rPr lang="en-US" sz="1200" dirty="0">
                <a:solidFill>
                  <a:srgbClr val="9EE6A8"/>
                </a:solidFill>
                <a:latin typeface="JetBrains Mono" pitchFamily="49" charset="0"/>
                <a:ea typeface="JetBrains Mono" pitchFamily="49" charset="-122"/>
                <a:cs typeface="JetBrains Mono" pitchFamily="49" charset="-120"/>
              </a:rPr>
              <a:t>"#ffe08a"</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all.</a:t>
            </a:r>
            <a:r>
              <a:rPr lang="en-US" sz="1200" dirty="0">
                <a:solidFill>
                  <a:srgbClr val="FFD27F"/>
                </a:solidFill>
                <a:latin typeface="JetBrains Mono" pitchFamily="49" charset="0"/>
                <a:ea typeface="JetBrains Mono" pitchFamily="49" charset="-122"/>
                <a:cs typeface="JetBrains Mono" pitchFamily="49" charset="-120"/>
              </a:rPr>
              <a:t>forEach</a:t>
            </a:r>
            <a:r>
              <a:rPr lang="en-US" sz="1200" dirty="0">
                <a:solidFill>
                  <a:srgbClr val="FFFFFF"/>
                </a:solidFill>
                <a:latin typeface="JetBrains Mono" pitchFamily="49" charset="0"/>
                <a:ea typeface="JetBrains Mono" pitchFamily="49" charset="-122"/>
                <a:cs typeface="JetBrains Mono" pitchFamily="49" charset="-120"/>
              </a:rPr>
              <a:t>(li =&gt; li.style.fontWeight = </a:t>
            </a:r>
            <a:r>
              <a:rPr lang="en-US" sz="1200" dirty="0">
                <a:solidFill>
                  <a:srgbClr val="9EE6A8"/>
                </a:solidFill>
                <a:latin typeface="JetBrains Mono" pitchFamily="49" charset="0"/>
                <a:ea typeface="JetBrains Mono" pitchFamily="49" charset="-122"/>
                <a:cs typeface="JetBrains Mono" pitchFamily="49" charset="-120"/>
              </a:rPr>
              <a:t>"bold"</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4240709"/>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2115641"/>
          </a:xfrm>
          <a:prstGeom prst="roundRect">
            <a:avLst>
              <a:gd name="adj" fmla="val 3602"/>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72250" y="2125762"/>
            <a:ext cx="4911916" cy="388541"/>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972996"/>
                </a:solidFill>
                <a:latin typeface="Times New Roman" pitchFamily="18" charset="0"/>
                <a:ea typeface="Times New Roman" pitchFamily="18" charset="-122"/>
                <a:cs typeface="Times New Roman" pitchFamily="18" charset="-120"/>
              </a:rPr>
              <a:t>Заметки</a:t>
            </a:r>
            <a:endParaRPr lang="en-US" sz="2600" dirty="0"/>
          </a:p>
        </p:txBody>
      </p:sp>
      <p:sp>
        <p:nvSpPr>
          <p:cNvPr id="19" name="Text 16"/>
          <p:cNvSpPr/>
          <p:nvPr/>
        </p:nvSpPr>
        <p:spPr>
          <a:xfrm>
            <a:off x="6572250" y="2539702"/>
            <a:ext cx="4768850" cy="309860"/>
          </a:xfrm>
          <a:prstGeom prst="rect">
            <a:avLst/>
          </a:prstGeom>
          <a:solidFill>
            <a:srgbClr val="FFE08A"/>
          </a:solidFill>
          <a:ln/>
        </p:spPr>
        <p:txBody>
          <a:bodyPr wrap="square" lIns="63500" tIns="12700" rIns="0" bIns="0" rtlCol="0" anchor="t">
            <a:normAutofit/>
          </a:bodyPr>
          <a:lstStyle/>
          <a:p>
            <a:pPr marL="0" indent="0" algn="l">
              <a:lnSpc>
                <a:spcPts val="2240"/>
              </a:lnSpc>
              <a:buNone/>
            </a:pPr>
            <a:r>
              <a:rPr lang="en-US" sz="1600" b="1" dirty="0">
                <a:solidFill>
                  <a:srgbClr val="111111"/>
                </a:solidFill>
                <a:latin typeface="Times New Roman" pitchFamily="18" charset="0"/>
                <a:ea typeface="Times New Roman" pitchFamily="18" charset="-122"/>
                <a:cs typeface="Times New Roman" pitchFamily="18" charset="-120"/>
              </a:rPr>
              <a:t>• Купить хлеб</a:t>
            </a:r>
            <a:endParaRPr lang="en-US" sz="1600" dirty="0"/>
          </a:p>
        </p:txBody>
      </p:sp>
      <p:sp>
        <p:nvSpPr>
          <p:cNvPr id="20" name="Text 17"/>
          <p:cNvSpPr/>
          <p:nvPr/>
        </p:nvSpPr>
        <p:spPr>
          <a:xfrm>
            <a:off x="6635750" y="2913063"/>
            <a:ext cx="47811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Times New Roman" pitchFamily="18" charset="0"/>
                <a:ea typeface="Times New Roman" pitchFamily="18" charset="-122"/>
                <a:cs typeface="Times New Roman" pitchFamily="18" charset="-120"/>
              </a:rPr>
              <a:t>• Позвонить</a:t>
            </a:r>
            <a:endParaRPr lang="en-US" sz="1600" dirty="0"/>
          </a:p>
        </p:txBody>
      </p:sp>
      <p:sp>
        <p:nvSpPr>
          <p:cNvPr id="21" name="Text 18"/>
          <p:cNvSpPr/>
          <p:nvPr/>
        </p:nvSpPr>
        <p:spPr>
          <a:xfrm>
            <a:off x="6635750" y="3273723"/>
            <a:ext cx="47811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1111"/>
                </a:solidFill>
                <a:latin typeface="Times New Roman" pitchFamily="18" charset="0"/>
                <a:ea typeface="Times New Roman" pitchFamily="18" charset="-122"/>
                <a:cs typeface="Times New Roman" pitchFamily="18" charset="-120"/>
              </a:rPr>
              <a:t>• Написать отчёт</a:t>
            </a:r>
            <a:endParaRPr lang="en-US" sz="1600" dirty="0"/>
          </a:p>
        </p:txBody>
      </p:sp>
      <p:sp>
        <p:nvSpPr>
          <p:cNvPr id="22" name="Text 19"/>
          <p:cNvSpPr/>
          <p:nvPr/>
        </p:nvSpPr>
        <p:spPr>
          <a:xfrm>
            <a:off x="6356350" y="3786783"/>
            <a:ext cx="5200650" cy="375245"/>
          </a:xfrm>
          <a:prstGeom prst="roundRect">
            <a:avLst>
              <a:gd name="adj" fmla="val 20307"/>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getElementById</a:t>
            </a:r>
            <a:r>
              <a:rPr lang="en-US" sz="1350" dirty="0">
                <a:solidFill>
                  <a:srgbClr val="FFFFFF"/>
                </a:solidFill>
                <a:latin typeface="Carlito" pitchFamily="34" charset="0"/>
                <a:ea typeface="Carlito" pitchFamily="34" charset="-122"/>
                <a:cs typeface="Carlito" pitchFamily="34" charset="-120"/>
              </a:rPr>
              <a:t> — один элемент по id. Быстро и однозначно.</a:t>
            </a:r>
            <a:endParaRPr lang="en-US" sz="1350" dirty="0"/>
          </a:p>
        </p:txBody>
      </p:sp>
      <p:sp>
        <p:nvSpPr>
          <p:cNvPr id="23" name="Text 20"/>
          <p:cNvSpPr/>
          <p:nvPr/>
        </p:nvSpPr>
        <p:spPr>
          <a:xfrm>
            <a:off x="6356350" y="4238228"/>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querySelector</a:t>
            </a:r>
            <a:r>
              <a:rPr lang="en-US" sz="1350" dirty="0">
                <a:solidFill>
                  <a:srgbClr val="FFFFFF"/>
                </a:solidFill>
                <a:latin typeface="Carlito" pitchFamily="34" charset="0"/>
                <a:ea typeface="Carlito" pitchFamily="34" charset="-122"/>
                <a:cs typeface="Carlito" pitchFamily="34" charset="-120"/>
              </a:rPr>
              <a:t> — первый элемент по CSS-селектору: "#id", ".class", "ul li".</a:t>
            </a:r>
            <a:endParaRPr lang="en-US" sz="1350" dirty="0"/>
          </a:p>
        </p:txBody>
      </p:sp>
      <p:sp>
        <p:nvSpPr>
          <p:cNvPr id="24" name="Text 21"/>
          <p:cNvSpPr/>
          <p:nvPr/>
        </p:nvSpPr>
        <p:spPr>
          <a:xfrm>
            <a:off x="6356350" y="4912519"/>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querySelectorAll</a:t>
            </a:r>
            <a:r>
              <a:rPr lang="en-US" sz="1350" dirty="0">
                <a:solidFill>
                  <a:srgbClr val="FFFFFF"/>
                </a:solidFill>
                <a:latin typeface="Carlito" pitchFamily="34" charset="0"/>
                <a:ea typeface="Carlito" pitchFamily="34" charset="-122"/>
                <a:cs typeface="Carlito" pitchFamily="34" charset="-120"/>
              </a:rPr>
              <a:t> — все подходящие; у результата есть forEach. Не найдено: null или пустой список.</a:t>
            </a:r>
            <a:endParaRPr lang="en-US" sz="1350" dirty="0"/>
          </a:p>
        </p:txBody>
      </p:sp>
      <p:pic>
        <p:nvPicPr>
          <p:cNvPr id="25" name="Рисунок 24"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81991" y="295985"/>
            <a:ext cx="737272" cy="72597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Содержимое: текст и HTML</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textContent, innerHTML и value</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939800"/>
          </a:xfrm>
          <a:prstGeom prst="roundRect">
            <a:avLst>
              <a:gd name="adj" fmla="val 8108"/>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"out"</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Текст</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&lt;div</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"box"</a:t>
            </a:r>
            <a:r>
              <a:rPr lang="en-US" sz="1200" dirty="0">
                <a:solidFill>
                  <a:srgbClr val="FF9DE2"/>
                </a:solidFill>
                <a:latin typeface="JetBrains Mono" pitchFamily="49" charset="0"/>
                <a:ea typeface="JetBrains Mono" pitchFamily="49" charset="-122"/>
                <a:cs typeface="JetBrains Mono" pitchFamily="49" charset="-120"/>
              </a:rPr>
              <a:t>&gt;&lt;/div&gt;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&lt;input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value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p:txBody>
      </p:sp>
      <p:sp>
        <p:nvSpPr>
          <p:cNvPr id="8" name="Text 5"/>
          <p:cNvSpPr/>
          <p:nvPr/>
        </p:nvSpPr>
        <p:spPr>
          <a:xfrm>
            <a:off x="635000" y="26109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2935982"/>
            <a:ext cx="5200650" cy="1854200"/>
          </a:xfrm>
          <a:prstGeom prst="roundRect">
            <a:avLst>
              <a:gd name="adj" fmla="val 4110"/>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out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"out"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box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"box"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inp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out.textContent = </a:t>
            </a:r>
            <a:r>
              <a:rPr lang="en-US" sz="1200" dirty="0">
                <a:solidFill>
                  <a:srgbClr val="9EE6A8"/>
                </a:solidFill>
                <a:latin typeface="JetBrains Mono" pitchFamily="49" charset="0"/>
                <a:ea typeface="JetBrains Mono" pitchFamily="49" charset="-122"/>
                <a:cs typeface="JetBrains Mono" pitchFamily="49" charset="-120"/>
              </a:rPr>
              <a:t>"Новый &lt;b&gt;текст&lt;/b&gt;"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box.innerHTML = </a:t>
            </a:r>
            <a:r>
              <a:rPr lang="en-US" sz="1200" dirty="0">
                <a:solidFill>
                  <a:srgbClr val="9EE6A8"/>
                </a:solidFill>
                <a:latin typeface="JetBrains Mono" pitchFamily="49" charset="0"/>
                <a:ea typeface="JetBrains Mono" pitchFamily="49" charset="-122"/>
                <a:cs typeface="JetBrains Mono" pitchFamily="49" charset="-120"/>
              </a:rPr>
              <a:t>"&lt;b&gt;Жирный&lt;/b&gt; текст"</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(inp.value);</a:t>
            </a:r>
            <a:endParaRPr lang="en-US" sz="1200" dirty="0"/>
          </a:p>
        </p:txBody>
      </p:sp>
      <p:sp>
        <p:nvSpPr>
          <p:cNvPr id="10" name="Shape 7"/>
          <p:cNvSpPr/>
          <p:nvPr/>
        </p:nvSpPr>
        <p:spPr>
          <a:xfrm>
            <a:off x="6089650" y="1269901"/>
            <a:ext cx="12700" cy="4515445"/>
          </a:xfrm>
          <a:prstGeom prst="rect">
            <a:avLst/>
          </a:prstGeom>
          <a:solidFill>
            <a:srgbClr val="972996"/>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65875" y="1604466"/>
            <a:ext cx="5181600" cy="1949152"/>
          </a:xfrm>
          <a:prstGeom prst="roundRect">
            <a:avLst>
              <a:gd name="adj" fmla="val 3421"/>
            </a:avLst>
          </a:prstGeom>
          <a:solidFill>
            <a:srgbClr val="FFFFFF"/>
          </a:solidFill>
          <a:ln w="19050">
            <a:solidFill>
              <a:srgbClr val="972996"/>
            </a:solidFill>
            <a:prstDash val="solid"/>
          </a:ln>
        </p:spPr>
      </p:sp>
      <p:sp>
        <p:nvSpPr>
          <p:cNvPr id="13" name="Shape 10"/>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4" name="Shape 11"/>
          <p:cNvSpPr/>
          <p:nvPr/>
        </p:nvSpPr>
        <p:spPr>
          <a:xfrm>
            <a:off x="6502400" y="1758752"/>
            <a:ext cx="101600" cy="101600"/>
          </a:xfrm>
          <a:prstGeom prst="roundRect">
            <a:avLst>
              <a:gd name="adj" fmla="val 50000"/>
            </a:avLst>
          </a:prstGeom>
          <a:solidFill>
            <a:srgbClr val="E57373"/>
          </a:solidFill>
          <a:ln/>
        </p:spPr>
      </p:sp>
      <p:sp>
        <p:nvSpPr>
          <p:cNvPr id="15" name="Shape 12"/>
          <p:cNvSpPr/>
          <p:nvPr/>
        </p:nvSpPr>
        <p:spPr>
          <a:xfrm>
            <a:off x="6667500" y="1758752"/>
            <a:ext cx="101600" cy="101600"/>
          </a:xfrm>
          <a:prstGeom prst="roundRect">
            <a:avLst>
              <a:gd name="adj" fmla="val 50000"/>
            </a:avLst>
          </a:prstGeom>
          <a:solidFill>
            <a:srgbClr val="FFD54F"/>
          </a:solidFill>
          <a:ln/>
        </p:spPr>
      </p:sp>
      <p:sp>
        <p:nvSpPr>
          <p:cNvPr id="16" name="Shape 13"/>
          <p:cNvSpPr/>
          <p:nvPr/>
        </p:nvSpPr>
        <p:spPr>
          <a:xfrm>
            <a:off x="6832600" y="1758752"/>
            <a:ext cx="101600" cy="101600"/>
          </a:xfrm>
          <a:prstGeom prst="roundRect">
            <a:avLst>
              <a:gd name="adj" fmla="val 50000"/>
            </a:avLst>
          </a:prstGeom>
          <a:solidFill>
            <a:srgbClr val="81C784"/>
          </a:solidFill>
          <a:ln/>
        </p:spPr>
      </p:sp>
      <p:sp>
        <p:nvSpPr>
          <p:cNvPr id="17" name="Text 14"/>
          <p:cNvSpPr/>
          <p:nvPr/>
        </p:nvSpPr>
        <p:spPr>
          <a:xfrm>
            <a:off x="7073900" y="170289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91300" y="2144812"/>
            <a:ext cx="4872673"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11111"/>
                </a:solidFill>
                <a:latin typeface="Times New Roman" pitchFamily="18" charset="0"/>
                <a:ea typeface="Times New Roman" pitchFamily="18" charset="-122"/>
                <a:cs typeface="Times New Roman" pitchFamily="18" charset="-120"/>
              </a:rPr>
              <a:t>Новый &lt;b&gt;текст&lt;/b&gt;</a:t>
            </a:r>
            <a:endParaRPr lang="en-US" sz="1600" dirty="0"/>
          </a:p>
        </p:txBody>
      </p:sp>
      <p:sp>
        <p:nvSpPr>
          <p:cNvPr id="19" name="Text 16"/>
          <p:cNvSpPr/>
          <p:nvPr/>
        </p:nvSpPr>
        <p:spPr>
          <a:xfrm>
            <a:off x="6591300" y="2452092"/>
            <a:ext cx="48726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11111"/>
                </a:solidFill>
                <a:latin typeface="Times New Roman" pitchFamily="18" charset="0"/>
                <a:ea typeface="Times New Roman" pitchFamily="18" charset="-122"/>
                <a:cs typeface="Times New Roman" pitchFamily="18" charset="-120"/>
              </a:rPr>
              <a:t>Жирный</a:t>
            </a:r>
            <a:r>
              <a:rPr lang="en-US" sz="1600" dirty="0">
                <a:solidFill>
                  <a:srgbClr val="111111"/>
                </a:solidFill>
                <a:latin typeface="Times New Roman" pitchFamily="18" charset="0"/>
                <a:ea typeface="Times New Roman" pitchFamily="18" charset="-122"/>
                <a:cs typeface="Times New Roman" pitchFamily="18" charset="-120"/>
              </a:rPr>
              <a:t> текст</a:t>
            </a:r>
            <a:endParaRPr lang="en-US" sz="1600" dirty="0"/>
          </a:p>
        </p:txBody>
      </p:sp>
      <p:sp>
        <p:nvSpPr>
          <p:cNvPr id="20" name="Text 17"/>
          <p:cNvSpPr/>
          <p:nvPr/>
        </p:nvSpPr>
        <p:spPr>
          <a:xfrm>
            <a:off x="6597650" y="2765723"/>
            <a:ext cx="1892300" cy="337741"/>
          </a:xfrm>
          <a:prstGeom prst="rect">
            <a:avLst/>
          </a:prstGeom>
          <a:noFill/>
          <a:ln w="12700">
            <a:solidFill>
              <a:srgbClr val="777777"/>
            </a:solidFill>
            <a:prstDash val="solid"/>
          </a:ln>
        </p:spPr>
        <p:txBody>
          <a:bodyPr wrap="square" lIns="69850" tIns="44450" rIns="17272" bIns="1905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Анна</a:t>
            </a:r>
            <a:endParaRPr lang="en-US" sz="1400" dirty="0"/>
          </a:p>
        </p:txBody>
      </p:sp>
      <p:sp>
        <p:nvSpPr>
          <p:cNvPr id="21" name="Text 18"/>
          <p:cNvSpPr/>
          <p:nvPr/>
        </p:nvSpPr>
        <p:spPr>
          <a:xfrm>
            <a:off x="6591300" y="3173313"/>
            <a:ext cx="487267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Console: Анна</a:t>
            </a:r>
            <a:endParaRPr lang="en-US" sz="1300" dirty="0"/>
          </a:p>
        </p:txBody>
      </p:sp>
      <p:sp>
        <p:nvSpPr>
          <p:cNvPr id="22" name="Shape 19"/>
          <p:cNvSpPr/>
          <p:nvPr/>
        </p:nvSpPr>
        <p:spPr>
          <a:xfrm>
            <a:off x="6388100" y="3639344"/>
            <a:ext cx="0" cy="741561"/>
          </a:xfrm>
          <a:prstGeom prst="line">
            <a:avLst/>
          </a:prstGeom>
          <a:noFill/>
          <a:ln w="63500">
            <a:solidFill>
              <a:srgbClr val="972996"/>
            </a:solidFill>
            <a:prstDash val="solid"/>
          </a:ln>
        </p:spPr>
      </p:sp>
      <p:sp>
        <p:nvSpPr>
          <p:cNvPr id="23" name="Text 20"/>
          <p:cNvSpPr/>
          <p:nvPr/>
        </p:nvSpPr>
        <p:spPr>
          <a:xfrm>
            <a:off x="6546850" y="363934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textContent</a:t>
            </a:r>
            <a:endParaRPr lang="en-US" sz="1500" dirty="0"/>
          </a:p>
        </p:txBody>
      </p:sp>
      <p:sp>
        <p:nvSpPr>
          <p:cNvPr id="24" name="Text 21"/>
          <p:cNvSpPr/>
          <p:nvPr/>
        </p:nvSpPr>
        <p:spPr>
          <a:xfrm>
            <a:off x="6546850" y="3918744"/>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вставляет всё как обычный текст: теги не разбираются, это безопасно</a:t>
            </a:r>
            <a:endParaRPr lang="en-US" sz="1400" dirty="0"/>
          </a:p>
        </p:txBody>
      </p:sp>
      <p:sp>
        <p:nvSpPr>
          <p:cNvPr id="25" name="Shape 22"/>
          <p:cNvSpPr/>
          <p:nvPr/>
        </p:nvSpPr>
        <p:spPr>
          <a:xfrm>
            <a:off x="6388100" y="4457105"/>
            <a:ext cx="0" cy="741561"/>
          </a:xfrm>
          <a:prstGeom prst="line">
            <a:avLst/>
          </a:prstGeom>
          <a:noFill/>
          <a:ln w="63500">
            <a:solidFill>
              <a:srgbClr val="972996"/>
            </a:solidFill>
            <a:prstDash val="solid"/>
          </a:ln>
        </p:spPr>
      </p:sp>
      <p:sp>
        <p:nvSpPr>
          <p:cNvPr id="26" name="Text 23"/>
          <p:cNvSpPr/>
          <p:nvPr/>
        </p:nvSpPr>
        <p:spPr>
          <a:xfrm>
            <a:off x="6546850" y="4457105"/>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innerHTML</a:t>
            </a:r>
            <a:endParaRPr lang="en-US" sz="1500" dirty="0"/>
          </a:p>
        </p:txBody>
      </p:sp>
      <p:sp>
        <p:nvSpPr>
          <p:cNvPr id="27" name="Text 24"/>
          <p:cNvSpPr/>
          <p:nvPr/>
        </p:nvSpPr>
        <p:spPr>
          <a:xfrm>
            <a:off x="6546850" y="4736505"/>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разбирает теги. Не вставляйте так чужой ввод: можно внедрить вредный код</a:t>
            </a:r>
            <a:endParaRPr lang="en-US" sz="1400" dirty="0"/>
          </a:p>
        </p:txBody>
      </p:sp>
      <p:sp>
        <p:nvSpPr>
          <p:cNvPr id="28" name="Shape 25"/>
          <p:cNvSpPr/>
          <p:nvPr/>
        </p:nvSpPr>
        <p:spPr>
          <a:xfrm>
            <a:off x="6388100" y="5274866"/>
            <a:ext cx="0" cy="510480"/>
          </a:xfrm>
          <a:prstGeom prst="line">
            <a:avLst/>
          </a:prstGeom>
          <a:noFill/>
          <a:ln w="63500">
            <a:solidFill>
              <a:srgbClr val="972996"/>
            </a:solidFill>
            <a:prstDash val="solid"/>
          </a:ln>
        </p:spPr>
      </p:sp>
      <p:sp>
        <p:nvSpPr>
          <p:cNvPr id="29" name="Text 26"/>
          <p:cNvSpPr/>
          <p:nvPr/>
        </p:nvSpPr>
        <p:spPr>
          <a:xfrm>
            <a:off x="6546850" y="5274866"/>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value</a:t>
            </a:r>
            <a:endParaRPr lang="en-US" sz="1500" dirty="0"/>
          </a:p>
        </p:txBody>
      </p:sp>
      <p:sp>
        <p:nvSpPr>
          <p:cNvPr id="30" name="Text 27"/>
          <p:cNvSpPr/>
          <p:nvPr/>
        </p:nvSpPr>
        <p:spPr>
          <a:xfrm>
            <a:off x="6546850" y="5554266"/>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текущее содержимое поля ввода; всегда строка</a:t>
            </a:r>
            <a:endParaRPr lang="en-US" sz="1400" dirty="0"/>
          </a:p>
        </p:txBody>
      </p:sp>
      <p:pic>
        <p:nvPicPr>
          <p:cNvPr id="31" name="Рисунок 30"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43431" y="261895"/>
            <a:ext cx="737272" cy="72597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Атрибуты, классы и стили</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Меняем внешний вид и состояние элементов</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 и CSS</a:t>
            </a:r>
            <a:endParaRPr lang="en-US" sz="1400" dirty="0"/>
          </a:p>
        </p:txBody>
      </p:sp>
      <p:sp>
        <p:nvSpPr>
          <p:cNvPr id="7" name="Text 4"/>
          <p:cNvSpPr/>
          <p:nvPr/>
        </p:nvSpPr>
        <p:spPr>
          <a:xfrm>
            <a:off x="635000" y="1594941"/>
            <a:ext cx="5200650" cy="1168400"/>
          </a:xfrm>
          <a:prstGeom prst="roundRect">
            <a:avLst>
              <a:gd name="adj" fmla="val 6522"/>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"msg"</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class</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data-id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"7"</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Привет</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&lt;button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disabled</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Кнопка</a:t>
            </a:r>
            <a:r>
              <a:rPr lang="en-US" sz="1200" dirty="0">
                <a:solidFill>
                  <a:srgbClr val="FF9DE2"/>
                </a:solidFill>
                <a:latin typeface="JetBrains Mono" pitchFamily="49" charset="0"/>
                <a:ea typeface="JetBrains Mono" pitchFamily="49" charset="-122"/>
                <a:cs typeface="JetBrains Mono" pitchFamily="49" charset="-120"/>
              </a:rPr>
              <a:t>&lt;/button&gt;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color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gray</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.active</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FFD27F"/>
                </a:solidFill>
                <a:latin typeface="JetBrains Mono" pitchFamily="49" charset="0"/>
                <a:ea typeface="JetBrains Mono" pitchFamily="49" charset="-122"/>
                <a:cs typeface="JetBrains Mono" pitchFamily="49" charset="-120"/>
              </a:rPr>
              <a:t>background</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#f3d9f3</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p:txBody>
      </p:sp>
      <p:sp>
        <p:nvSpPr>
          <p:cNvPr id="8" name="Text 5"/>
          <p:cNvSpPr/>
          <p:nvPr/>
        </p:nvSpPr>
        <p:spPr>
          <a:xfrm>
            <a:off x="635000" y="28395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3164582"/>
            <a:ext cx="5200650" cy="2082800"/>
          </a:xfrm>
          <a:prstGeom prst="roundRect">
            <a:avLst>
              <a:gd name="adj" fmla="val 3659"/>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msg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"msg"</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b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msg.classList.</a:t>
            </a:r>
            <a:r>
              <a:rPr lang="en-US" sz="1200" dirty="0">
                <a:solidFill>
                  <a:srgbClr val="FFD27F"/>
                </a:solidFill>
                <a:latin typeface="JetBrains Mono" pitchFamily="49" charset="0"/>
                <a:ea typeface="JetBrains Mono" pitchFamily="49" charset="-122"/>
                <a:cs typeface="JetBrains Mono" pitchFamily="49" charset="-120"/>
              </a:rPr>
              <a:t>add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"active"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msg.classList.</a:t>
            </a:r>
            <a:r>
              <a:rPr lang="en-US" sz="1200" dirty="0">
                <a:solidFill>
                  <a:srgbClr val="FFD27F"/>
                </a:solidFill>
                <a:latin typeface="JetBrains Mono" pitchFamily="49" charset="0"/>
                <a:ea typeface="JetBrains Mono" pitchFamily="49" charset="-122"/>
                <a:cs typeface="JetBrains Mono" pitchFamily="49" charset="-120"/>
              </a:rPr>
              <a:t>toggle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msg.style.fontSize = </a:t>
            </a:r>
            <a:r>
              <a:rPr lang="en-US" sz="1200" dirty="0">
                <a:solidFill>
                  <a:srgbClr val="9EE6A8"/>
                </a:solidFill>
                <a:latin typeface="JetBrains Mono" pitchFamily="49" charset="0"/>
                <a:ea typeface="JetBrains Mono" pitchFamily="49" charset="-122"/>
                <a:cs typeface="JetBrains Mono" pitchFamily="49" charset="-120"/>
              </a:rPr>
              <a:t>"32px"</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b.disabled = </a:t>
            </a:r>
            <a:r>
              <a:rPr lang="en-US" sz="1200" dirty="0">
                <a:solidFill>
                  <a:srgbClr val="8FD3FF"/>
                </a:solidFill>
                <a:latin typeface="JetBrains Mono" pitchFamily="49" charset="0"/>
                <a:ea typeface="JetBrains Mono" pitchFamily="49" charset="-122"/>
                <a:cs typeface="JetBrains Mono" pitchFamily="49" charset="-120"/>
              </a:rPr>
              <a:t>false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b.</a:t>
            </a:r>
            <a:r>
              <a:rPr lang="en-US" sz="1200" dirty="0">
                <a:solidFill>
                  <a:srgbClr val="FFD27F"/>
                </a:solidFill>
                <a:latin typeface="JetBrains Mono" pitchFamily="49" charset="0"/>
                <a:ea typeface="JetBrains Mono" pitchFamily="49" charset="-122"/>
                <a:cs typeface="JetBrains Mono" pitchFamily="49" charset="-120"/>
              </a:rPr>
              <a:t>setAttribute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"title"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"Нажми"</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(msg.dataset.id, msg.className);</a:t>
            </a:r>
            <a:endParaRPr lang="en-US" sz="1200" dirty="0"/>
          </a:p>
        </p:txBody>
      </p:sp>
      <p:sp>
        <p:nvSpPr>
          <p:cNvPr id="10" name="Shape 7"/>
          <p:cNvSpPr/>
          <p:nvPr/>
        </p:nvSpPr>
        <p:spPr>
          <a:xfrm>
            <a:off x="6089650" y="1269901"/>
            <a:ext cx="12700" cy="3977481"/>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56350" y="1594941"/>
            <a:ext cx="5200650" cy="1739702"/>
          </a:xfrm>
          <a:prstGeom prst="roundRect">
            <a:avLst>
              <a:gd name="adj" fmla="val 4380"/>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72250" y="2125762"/>
            <a:ext cx="829965" cy="335260"/>
          </a:xfrm>
          <a:prstGeom prst="rect">
            <a:avLst/>
          </a:prstGeom>
          <a:solidFill>
            <a:srgbClr val="F3D9F3"/>
          </a:solidFill>
          <a:ln/>
        </p:spPr>
        <p:txBody>
          <a:bodyPr wrap="none" lIns="0" tIns="0" rIns="0" bIns="0" rtlCol="0" anchor="ctr">
            <a:normAutofit/>
          </a:bodyPr>
          <a:lstStyle/>
          <a:p>
            <a:pPr marL="0" indent="0" algn="ctr">
              <a:lnSpc>
                <a:spcPts val="2240"/>
              </a:lnSpc>
              <a:buNone/>
            </a:pPr>
            <a:r>
              <a:rPr lang="en-US" sz="1600" dirty="0">
                <a:solidFill>
                  <a:srgbClr val="111111"/>
                </a:solidFill>
                <a:latin typeface="Arial" pitchFamily="34" charset="0"/>
                <a:ea typeface="Arial" pitchFamily="34" charset="-122"/>
                <a:cs typeface="Arial" pitchFamily="34" charset="-120"/>
              </a:rPr>
              <a:t>Привет</a:t>
            </a:r>
            <a:endParaRPr lang="en-US" sz="1600" dirty="0"/>
          </a:p>
        </p:txBody>
      </p:sp>
      <p:sp>
        <p:nvSpPr>
          <p:cNvPr id="19" name="Text 16"/>
          <p:cNvSpPr/>
          <p:nvPr/>
        </p:nvSpPr>
        <p:spPr>
          <a:xfrm>
            <a:off x="6572250" y="2537222"/>
            <a:ext cx="882352" cy="350441"/>
          </a:xfrm>
          <a:prstGeom prst="roundRect">
            <a:avLst>
              <a:gd name="adj" fmla="val 10872"/>
            </a:avLst>
          </a:prstGeom>
          <a:solidFill>
            <a:srgbClr val="972996"/>
          </a:solidFill>
          <a:ln/>
        </p:spPr>
        <p:txBody>
          <a:bodyPr wrap="none" lIns="0" tIns="0" rIns="0" bIns="0" rtlCol="0" anchor="ctr">
            <a:normAutofit/>
          </a:bodyPr>
          <a:lstStyle/>
          <a:p>
            <a:pPr marL="0" indent="0" algn="ctr">
              <a:lnSpc>
                <a:spcPts val="1960"/>
              </a:lnSpc>
              <a:buNone/>
            </a:pPr>
            <a:r>
              <a:rPr lang="en-US" sz="1400" dirty="0">
                <a:solidFill>
                  <a:srgbClr val="FFFFFF"/>
                </a:solidFill>
                <a:latin typeface="Arial" pitchFamily="34" charset="0"/>
                <a:ea typeface="Arial" pitchFamily="34" charset="-122"/>
                <a:cs typeface="Arial" pitchFamily="34" charset="-120"/>
              </a:rPr>
              <a:t>Кнопка</a:t>
            </a:r>
            <a:endParaRPr lang="en-US" sz="1400" dirty="0"/>
          </a:p>
        </p:txBody>
      </p:sp>
      <p:sp>
        <p:nvSpPr>
          <p:cNvPr id="20" name="Text 17"/>
          <p:cNvSpPr/>
          <p:nvPr/>
        </p:nvSpPr>
        <p:spPr>
          <a:xfrm>
            <a:off x="6572250" y="2963863"/>
            <a:ext cx="202084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Console: 7 active</a:t>
            </a:r>
            <a:endParaRPr lang="en-US" sz="1300" dirty="0"/>
          </a:p>
        </p:txBody>
      </p:sp>
      <p:sp>
        <p:nvSpPr>
          <p:cNvPr id="21" name="Text 18"/>
          <p:cNvSpPr/>
          <p:nvPr/>
        </p:nvSpPr>
        <p:spPr>
          <a:xfrm>
            <a:off x="6356350" y="341084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classList</a:t>
            </a:r>
            <a:r>
              <a:rPr lang="en-US" sz="1350" dirty="0">
                <a:solidFill>
                  <a:srgbClr val="FFFFFF"/>
                </a:solidFill>
                <a:latin typeface="Carlito" pitchFamily="34" charset="0"/>
                <a:ea typeface="Carlito" pitchFamily="34" charset="-122"/>
                <a:cs typeface="Carlito" pitchFamily="34" charset="-120"/>
              </a:rPr>
              <a:t> — add, remove, toggle, contains: управление классами. Оформление остаётся в CSS.</a:t>
            </a:r>
            <a:endParaRPr lang="en-US" sz="1350" dirty="0"/>
          </a:p>
        </p:txBody>
      </p:sp>
      <p:sp>
        <p:nvSpPr>
          <p:cNvPr id="22" name="Text 19"/>
          <p:cNvSpPr/>
          <p:nvPr/>
        </p:nvSpPr>
        <p:spPr>
          <a:xfrm>
            <a:off x="6356350" y="4085134"/>
            <a:ext cx="5200650" cy="375245"/>
          </a:xfrm>
          <a:prstGeom prst="roundRect">
            <a:avLst>
              <a:gd name="adj" fmla="val 20307"/>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style</a:t>
            </a:r>
            <a:r>
              <a:rPr lang="en-US" sz="1350" dirty="0">
                <a:solidFill>
                  <a:srgbClr val="FFFFFF"/>
                </a:solidFill>
                <a:latin typeface="Carlito" pitchFamily="34" charset="0"/>
                <a:ea typeface="Carlito" pitchFamily="34" charset="-122"/>
                <a:cs typeface="Carlito" pitchFamily="34" charset="-120"/>
              </a:rPr>
              <a:t> — отдельные свойства в camelCase: fontSize вместо font-size.</a:t>
            </a:r>
            <a:endParaRPr lang="en-US" sz="1350" dirty="0"/>
          </a:p>
        </p:txBody>
      </p:sp>
      <p:sp>
        <p:nvSpPr>
          <p:cNvPr id="23" name="Text 20"/>
          <p:cNvSpPr/>
          <p:nvPr/>
        </p:nvSpPr>
        <p:spPr>
          <a:xfrm>
            <a:off x="6356350" y="4536579"/>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setAttribute</a:t>
            </a:r>
            <a:r>
              <a:rPr lang="en-US" sz="1350" dirty="0">
                <a:solidFill>
                  <a:srgbClr val="FFFFFF"/>
                </a:solidFill>
                <a:latin typeface="Carlito" pitchFamily="34" charset="0"/>
                <a:ea typeface="Carlito" pitchFamily="34" charset="-122"/>
                <a:cs typeface="Carlito" pitchFamily="34" charset="-120"/>
              </a:rPr>
              <a:t>, getAttribute, removeAttribute; </a:t>
            </a:r>
            <a:r>
              <a:rPr lang="en-US" sz="1350" b="1" dirty="0">
                <a:solidFill>
                  <a:srgbClr val="FFFFFF"/>
                </a:solidFill>
                <a:latin typeface="Carlito" pitchFamily="34" charset="0"/>
                <a:ea typeface="Carlito" pitchFamily="34" charset="-122"/>
                <a:cs typeface="Carlito" pitchFamily="34" charset="-120"/>
              </a:rPr>
              <a:t>dataset</a:t>
            </a:r>
            <a:r>
              <a:rPr lang="en-US" sz="1350" dirty="0">
                <a:solidFill>
                  <a:srgbClr val="FFFFFF"/>
                </a:solidFill>
                <a:latin typeface="Carlito" pitchFamily="34" charset="0"/>
                <a:ea typeface="Carlito" pitchFamily="34" charset="-122"/>
                <a:cs typeface="Carlito" pitchFamily="34" charset="-120"/>
              </a:rPr>
              <a:t> читает атрибуты data-*.</a:t>
            </a:r>
            <a:endParaRPr lang="en-US" sz="1350" dirty="0"/>
          </a:p>
        </p:txBody>
      </p:sp>
      <p:pic>
        <p:nvPicPr>
          <p:cNvPr id="24" name="Рисунок 2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684955" y="178000"/>
            <a:ext cx="737272" cy="72597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Создание и удаление элементов</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Страница строится из данных прямо в браузере</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482600"/>
          </a:xfrm>
          <a:prstGeom prst="roundRect">
            <a:avLst>
              <a:gd name="adj" fmla="val 15789"/>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&lt;ul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9DE2"/>
                </a:solidFill>
                <a:latin typeface="JetBrains Mono" pitchFamily="49" charset="0"/>
                <a:ea typeface="JetBrains Mono" pitchFamily="49" charset="-122"/>
                <a:cs typeface="JetBrains Mono" pitchFamily="49" charset="-120"/>
              </a:rPr>
              <a:t>&gt;&lt;/ul&gt;</a:t>
            </a:r>
            <a:endParaRPr lang="en-US" sz="1200" dirty="0"/>
          </a:p>
        </p:txBody>
      </p:sp>
      <p:sp>
        <p:nvSpPr>
          <p:cNvPr id="8" name="Text 5"/>
          <p:cNvSpPr/>
          <p:nvPr/>
        </p:nvSpPr>
        <p:spPr>
          <a:xfrm>
            <a:off x="635000" y="21537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2478782"/>
            <a:ext cx="5200650" cy="2768600"/>
          </a:xfrm>
          <a:prstGeom prst="roundRect">
            <a:avLst>
              <a:gd name="adj" fmla="val 2752"/>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list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items = [</a:t>
            </a:r>
            <a:r>
              <a:rPr lang="en-US" sz="1200" dirty="0">
                <a:solidFill>
                  <a:srgbClr val="9EE6A8"/>
                </a:solidFill>
                <a:latin typeface="JetBrains Mono" pitchFamily="49" charset="0"/>
                <a:ea typeface="JetBrains Mono" pitchFamily="49" charset="-122"/>
                <a:cs typeface="JetBrains Mono" pitchFamily="49" charset="-120"/>
              </a:rPr>
              <a:t>"Хлеб"</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"Молоко"</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"Яйца"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for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text </a:t>
            </a:r>
            <a:r>
              <a:rPr lang="en-US" sz="1200" dirty="0">
                <a:solidFill>
                  <a:srgbClr val="FF9DE2"/>
                </a:solidFill>
                <a:latin typeface="JetBrains Mono" pitchFamily="49" charset="0"/>
                <a:ea typeface="JetBrains Mono" pitchFamily="49" charset="-122"/>
                <a:cs typeface="JetBrains Mono" pitchFamily="49" charset="-120"/>
              </a:rPr>
              <a:t>of</a:t>
            </a:r>
            <a:r>
              <a:rPr lang="en-US" sz="1200" dirty="0">
                <a:solidFill>
                  <a:srgbClr val="FFFFFF"/>
                </a:solidFill>
                <a:latin typeface="JetBrains Mono" pitchFamily="49" charset="0"/>
                <a:ea typeface="JetBrains Mono" pitchFamily="49" charset="-122"/>
                <a:cs typeface="JetBrains Mono" pitchFamily="49" charset="-120"/>
              </a:rPr>
              <a:t> items)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li = document.</a:t>
            </a:r>
            <a:r>
              <a:rPr lang="en-US" sz="1200" dirty="0">
                <a:solidFill>
                  <a:srgbClr val="FFD27F"/>
                </a:solidFill>
                <a:latin typeface="JetBrains Mono" pitchFamily="49" charset="0"/>
                <a:ea typeface="JetBrains Mono" pitchFamily="49" charset="-122"/>
                <a:cs typeface="JetBrains Mono" pitchFamily="49" charset="-120"/>
              </a:rPr>
              <a:t>createElement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li.textContent = text;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list.</a:t>
            </a:r>
            <a:r>
              <a:rPr lang="en-US" sz="1200" dirty="0">
                <a:solidFill>
                  <a:srgbClr val="FFD27F"/>
                </a:solidFill>
                <a:latin typeface="JetBrains Mono" pitchFamily="49" charset="0"/>
                <a:ea typeface="JetBrains Mono" pitchFamily="49" charset="-122"/>
                <a:cs typeface="JetBrains Mono" pitchFamily="49" charset="-120"/>
              </a:rPr>
              <a:t>append</a:t>
            </a:r>
            <a:r>
              <a:rPr lang="en-US" sz="1200" dirty="0">
                <a:solidFill>
                  <a:srgbClr val="FFFFFF"/>
                </a:solidFill>
                <a:latin typeface="JetBrains Mono" pitchFamily="49" charset="0"/>
                <a:ea typeface="JetBrains Mono" pitchFamily="49" charset="-122"/>
                <a:cs typeface="JetBrains Mono" pitchFamily="49" charset="-120"/>
              </a:rPr>
              <a:t>(li);</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list.firstElementChild.</a:t>
            </a:r>
            <a:r>
              <a:rPr lang="en-US" sz="1200" dirty="0">
                <a:solidFill>
                  <a:srgbClr val="FFD27F"/>
                </a:solidFill>
                <a:latin typeface="JetBrains Mono" pitchFamily="49" charset="0"/>
                <a:ea typeface="JetBrains Mono" pitchFamily="49" charset="-122"/>
                <a:cs typeface="JetBrains Mono" pitchFamily="49" charset="-120"/>
              </a:rPr>
              <a:t>remove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list.</a:t>
            </a:r>
            <a:r>
              <a:rPr lang="en-US" sz="1200" dirty="0">
                <a:solidFill>
                  <a:srgbClr val="FFD27F"/>
                </a:solidFill>
                <a:latin typeface="JetBrains Mono" pitchFamily="49" charset="0"/>
                <a:ea typeface="JetBrains Mono" pitchFamily="49" charset="-122"/>
                <a:cs typeface="JetBrains Mono" pitchFamily="49" charset="-120"/>
              </a:rPr>
              <a:t>insertAdjacentHTML</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"beforeend"</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"&lt;li&gt;&lt;b&gt;Сыр&lt;/b&gt;&lt;/li&gt;"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3977481"/>
          </a:xfrm>
          <a:prstGeom prst="rect">
            <a:avLst/>
          </a:prstGeom>
          <a:solidFill>
            <a:srgbClr val="972996"/>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браузере</a:t>
            </a:r>
            <a:endParaRPr lang="en-US" sz="1400" dirty="0"/>
          </a:p>
        </p:txBody>
      </p:sp>
      <p:sp>
        <p:nvSpPr>
          <p:cNvPr id="12" name="Shape 9"/>
          <p:cNvSpPr/>
          <p:nvPr/>
        </p:nvSpPr>
        <p:spPr>
          <a:xfrm>
            <a:off x="6365875" y="1604466"/>
            <a:ext cx="5181600" cy="1568351"/>
          </a:xfrm>
          <a:prstGeom prst="roundRect">
            <a:avLst>
              <a:gd name="adj" fmla="val 4251"/>
            </a:avLst>
          </a:prstGeom>
          <a:solidFill>
            <a:srgbClr val="FFFFFF"/>
          </a:solidFill>
          <a:ln w="19050">
            <a:solidFill>
              <a:srgbClr val="972996"/>
            </a:solidFill>
            <a:prstDash val="solid"/>
          </a:ln>
        </p:spPr>
      </p:sp>
      <p:sp>
        <p:nvSpPr>
          <p:cNvPr id="13" name="Shape 10"/>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4" name="Shape 11"/>
          <p:cNvSpPr/>
          <p:nvPr/>
        </p:nvSpPr>
        <p:spPr>
          <a:xfrm>
            <a:off x="6502400" y="1758752"/>
            <a:ext cx="101600" cy="101600"/>
          </a:xfrm>
          <a:prstGeom prst="roundRect">
            <a:avLst>
              <a:gd name="adj" fmla="val 50000"/>
            </a:avLst>
          </a:prstGeom>
          <a:solidFill>
            <a:srgbClr val="E57373"/>
          </a:solidFill>
          <a:ln/>
        </p:spPr>
      </p:sp>
      <p:sp>
        <p:nvSpPr>
          <p:cNvPr id="15" name="Shape 12"/>
          <p:cNvSpPr/>
          <p:nvPr/>
        </p:nvSpPr>
        <p:spPr>
          <a:xfrm>
            <a:off x="6667500" y="1758752"/>
            <a:ext cx="101600" cy="101600"/>
          </a:xfrm>
          <a:prstGeom prst="roundRect">
            <a:avLst>
              <a:gd name="adj" fmla="val 50000"/>
            </a:avLst>
          </a:prstGeom>
          <a:solidFill>
            <a:srgbClr val="FFD54F"/>
          </a:solidFill>
          <a:ln/>
        </p:spPr>
      </p:sp>
      <p:sp>
        <p:nvSpPr>
          <p:cNvPr id="16" name="Shape 13"/>
          <p:cNvSpPr/>
          <p:nvPr/>
        </p:nvSpPr>
        <p:spPr>
          <a:xfrm>
            <a:off x="6832600" y="1758752"/>
            <a:ext cx="101600" cy="101600"/>
          </a:xfrm>
          <a:prstGeom prst="roundRect">
            <a:avLst>
              <a:gd name="adj" fmla="val 50000"/>
            </a:avLst>
          </a:prstGeom>
          <a:solidFill>
            <a:srgbClr val="81C784"/>
          </a:solidFill>
          <a:ln/>
        </p:spPr>
      </p:sp>
      <p:sp>
        <p:nvSpPr>
          <p:cNvPr id="17" name="Text 14"/>
          <p:cNvSpPr/>
          <p:nvPr/>
        </p:nvSpPr>
        <p:spPr>
          <a:xfrm>
            <a:off x="7073900" y="170289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91300" y="2144812"/>
            <a:ext cx="4872673"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11111"/>
                </a:solidFill>
                <a:latin typeface="Times New Roman" pitchFamily="18" charset="0"/>
                <a:ea typeface="Times New Roman" pitchFamily="18" charset="-122"/>
                <a:cs typeface="Times New Roman" pitchFamily="18" charset="-120"/>
              </a:rPr>
              <a:t>• Молоко</a:t>
            </a:r>
            <a:endParaRPr lang="en-US" sz="1700" dirty="0"/>
          </a:p>
        </p:txBody>
      </p:sp>
      <p:sp>
        <p:nvSpPr>
          <p:cNvPr id="19" name="Text 16"/>
          <p:cNvSpPr/>
          <p:nvPr/>
        </p:nvSpPr>
        <p:spPr>
          <a:xfrm>
            <a:off x="6591300" y="2454672"/>
            <a:ext cx="4872673"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11111"/>
                </a:solidFill>
                <a:latin typeface="Times New Roman" pitchFamily="18" charset="0"/>
                <a:ea typeface="Times New Roman" pitchFamily="18" charset="-122"/>
                <a:cs typeface="Times New Roman" pitchFamily="18" charset="-120"/>
              </a:rPr>
              <a:t>• Яйца</a:t>
            </a:r>
            <a:endParaRPr lang="en-US" sz="1700" dirty="0"/>
          </a:p>
        </p:txBody>
      </p:sp>
      <p:sp>
        <p:nvSpPr>
          <p:cNvPr id="20" name="Text 17"/>
          <p:cNvSpPr/>
          <p:nvPr/>
        </p:nvSpPr>
        <p:spPr>
          <a:xfrm>
            <a:off x="6591300" y="2764532"/>
            <a:ext cx="4872673"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11111"/>
                </a:solidFill>
                <a:latin typeface="Times New Roman" pitchFamily="18" charset="0"/>
                <a:ea typeface="Times New Roman" pitchFamily="18" charset="-122"/>
                <a:cs typeface="Times New Roman" pitchFamily="18" charset="-120"/>
              </a:rPr>
              <a:t>• </a:t>
            </a:r>
            <a:r>
              <a:rPr lang="en-US" sz="1700" b="1" dirty="0">
                <a:solidFill>
                  <a:srgbClr val="111111"/>
                </a:solidFill>
                <a:latin typeface="Times New Roman" pitchFamily="18" charset="0"/>
                <a:ea typeface="Times New Roman" pitchFamily="18" charset="-122"/>
                <a:cs typeface="Times New Roman" pitchFamily="18" charset="-120"/>
              </a:rPr>
              <a:t>Сыр</a:t>
            </a:r>
            <a:endParaRPr lang="en-US" sz="1700" dirty="0"/>
          </a:p>
        </p:txBody>
      </p:sp>
      <p:sp>
        <p:nvSpPr>
          <p:cNvPr id="21" name="Shape 18"/>
          <p:cNvSpPr/>
          <p:nvPr/>
        </p:nvSpPr>
        <p:spPr>
          <a:xfrm>
            <a:off x="6388100" y="3258542"/>
            <a:ext cx="0" cy="510480"/>
          </a:xfrm>
          <a:prstGeom prst="line">
            <a:avLst/>
          </a:prstGeom>
          <a:noFill/>
          <a:ln w="63500">
            <a:solidFill>
              <a:srgbClr val="972996"/>
            </a:solidFill>
            <a:prstDash val="solid"/>
          </a:ln>
        </p:spPr>
      </p:sp>
      <p:sp>
        <p:nvSpPr>
          <p:cNvPr id="22" name="Text 19"/>
          <p:cNvSpPr/>
          <p:nvPr/>
        </p:nvSpPr>
        <p:spPr>
          <a:xfrm>
            <a:off x="6546850" y="3258542"/>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createElement</a:t>
            </a:r>
            <a:endParaRPr lang="en-US" sz="1500" dirty="0"/>
          </a:p>
        </p:txBody>
      </p:sp>
      <p:sp>
        <p:nvSpPr>
          <p:cNvPr id="23" name="Text 20"/>
          <p:cNvSpPr/>
          <p:nvPr/>
        </p:nvSpPr>
        <p:spPr>
          <a:xfrm>
            <a:off x="6546850" y="3537942"/>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создаёт элемент в памяти; на странице он появится после append</a:t>
            </a:r>
            <a:endParaRPr lang="en-US" sz="1400" dirty="0"/>
          </a:p>
        </p:txBody>
      </p:sp>
      <p:sp>
        <p:nvSpPr>
          <p:cNvPr id="24" name="Shape 21"/>
          <p:cNvSpPr/>
          <p:nvPr/>
        </p:nvSpPr>
        <p:spPr>
          <a:xfrm>
            <a:off x="6388100" y="3845223"/>
            <a:ext cx="0" cy="510480"/>
          </a:xfrm>
          <a:prstGeom prst="line">
            <a:avLst/>
          </a:prstGeom>
          <a:noFill/>
          <a:ln w="63500">
            <a:solidFill>
              <a:srgbClr val="972996"/>
            </a:solidFill>
            <a:prstDash val="solid"/>
          </a:ln>
        </p:spPr>
      </p:sp>
      <p:sp>
        <p:nvSpPr>
          <p:cNvPr id="25" name="Text 22"/>
          <p:cNvSpPr/>
          <p:nvPr/>
        </p:nvSpPr>
        <p:spPr>
          <a:xfrm>
            <a:off x="6546850" y="384522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append, prepend, remove</a:t>
            </a:r>
            <a:endParaRPr lang="en-US" sz="1500" dirty="0"/>
          </a:p>
        </p:txBody>
      </p:sp>
      <p:sp>
        <p:nvSpPr>
          <p:cNvPr id="26" name="Text 23"/>
          <p:cNvSpPr/>
          <p:nvPr/>
        </p:nvSpPr>
        <p:spPr>
          <a:xfrm>
            <a:off x="6546850" y="412462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добавить в конец, в начало и удалить элемент</a:t>
            </a:r>
            <a:endParaRPr lang="en-US" sz="1400" dirty="0"/>
          </a:p>
        </p:txBody>
      </p:sp>
      <p:sp>
        <p:nvSpPr>
          <p:cNvPr id="27" name="Shape 24"/>
          <p:cNvSpPr/>
          <p:nvPr/>
        </p:nvSpPr>
        <p:spPr>
          <a:xfrm>
            <a:off x="6388100" y="4431903"/>
            <a:ext cx="0" cy="510480"/>
          </a:xfrm>
          <a:prstGeom prst="line">
            <a:avLst/>
          </a:prstGeom>
          <a:noFill/>
          <a:ln w="63500">
            <a:solidFill>
              <a:srgbClr val="972996"/>
            </a:solidFill>
            <a:prstDash val="solid"/>
          </a:ln>
        </p:spPr>
      </p:sp>
      <p:sp>
        <p:nvSpPr>
          <p:cNvPr id="28" name="Text 25"/>
          <p:cNvSpPr/>
          <p:nvPr/>
        </p:nvSpPr>
        <p:spPr>
          <a:xfrm>
            <a:off x="6546850" y="443190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insertAdjacentHTML</a:t>
            </a:r>
            <a:endParaRPr lang="en-US" sz="1500" dirty="0"/>
          </a:p>
        </p:txBody>
      </p:sp>
      <p:sp>
        <p:nvSpPr>
          <p:cNvPr id="29" name="Text 26"/>
          <p:cNvSpPr/>
          <p:nvPr/>
        </p:nvSpPr>
        <p:spPr>
          <a:xfrm>
            <a:off x="6546850" y="471130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вставка HTML-строки: beforebegin, afterbegin, beforeend, afterend</a:t>
            </a:r>
            <a:endParaRPr lang="en-US" sz="1400" dirty="0"/>
          </a:p>
        </p:txBody>
      </p:sp>
      <p:pic>
        <p:nvPicPr>
          <p:cNvPr id="30" name="Рисунок 29"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84834" y="140101"/>
            <a:ext cx="737272" cy="72597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События</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Код запускается в ответ на действие пользователя</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711200"/>
          </a:xfrm>
          <a:prstGeom prst="roundRect">
            <a:avLst>
              <a:gd name="adj" fmla="val 10714"/>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&lt;button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"btn"</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Нажми</a:t>
            </a:r>
            <a:r>
              <a:rPr lang="en-US" sz="1200" dirty="0">
                <a:solidFill>
                  <a:srgbClr val="FF9DE2"/>
                </a:solidFill>
                <a:latin typeface="JetBrains Mono" pitchFamily="49" charset="0"/>
                <a:ea typeface="JetBrains Mono" pitchFamily="49" charset="-122"/>
                <a:cs typeface="JetBrains Mono" pitchFamily="49" charset="-120"/>
              </a:rPr>
              <a:t>&lt;/button&gt;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"count"</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Нажатий: 0</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p:txBody>
      </p:sp>
      <p:sp>
        <p:nvSpPr>
          <p:cNvPr id="8" name="Text 5"/>
          <p:cNvSpPr/>
          <p:nvPr/>
        </p:nvSpPr>
        <p:spPr>
          <a:xfrm>
            <a:off x="635000" y="23823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2707382"/>
            <a:ext cx="5200650" cy="2082800"/>
          </a:xfrm>
          <a:prstGeom prst="roundRect">
            <a:avLst>
              <a:gd name="adj" fmla="val 3659"/>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btn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"btn"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count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"count"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n =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btn.</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"click"</a:t>
            </a:r>
            <a:r>
              <a:rPr lang="en-US" sz="1200" dirty="0">
                <a:solidFill>
                  <a:srgbClr val="FFFFFF"/>
                </a:solidFill>
                <a:latin typeface="JetBrains Mono" pitchFamily="49" charset="0"/>
                <a:ea typeface="JetBrains Mono" pitchFamily="49" charset="-122"/>
                <a:cs typeface="JetBrains Mono" pitchFamily="49" charset="-120"/>
              </a:rPr>
              <a:t>, ()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n++;</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count.textContent = </a:t>
            </a:r>
            <a:r>
              <a:rPr lang="en-US" sz="1200" dirty="0">
                <a:solidFill>
                  <a:srgbClr val="9EE6A8"/>
                </a:solidFill>
                <a:latin typeface="JetBrains Mono" pitchFamily="49" charset="0"/>
                <a:ea typeface="JetBrains Mono" pitchFamily="49" charset="-122"/>
                <a:cs typeface="JetBrains Mono" pitchFamily="49" charset="-120"/>
              </a:rPr>
              <a:t>`Нажатий: ${n}`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3828653"/>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после трёх нажатий</a:t>
            </a:r>
            <a:endParaRPr lang="en-US" sz="1400" dirty="0"/>
          </a:p>
        </p:txBody>
      </p:sp>
      <p:sp>
        <p:nvSpPr>
          <p:cNvPr id="12" name="Shape 9"/>
          <p:cNvSpPr/>
          <p:nvPr/>
        </p:nvSpPr>
        <p:spPr>
          <a:xfrm>
            <a:off x="6356350" y="1594941"/>
            <a:ext cx="5200650" cy="1480741"/>
          </a:xfrm>
          <a:prstGeom prst="roundRect">
            <a:avLst>
              <a:gd name="adj" fmla="val 5146"/>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72250" y="2138462"/>
            <a:ext cx="964009" cy="393700"/>
          </a:xfrm>
          <a:prstGeom prst="roundRect">
            <a:avLst>
              <a:gd name="adj" fmla="val 9677"/>
            </a:avLst>
          </a:prstGeom>
          <a:solidFill>
            <a:srgbClr val="972996"/>
          </a:solidFill>
          <a:ln/>
        </p:spPr>
        <p:txBody>
          <a:bodyPr wrap="none" lIns="0" tIns="0" rIns="0" bIns="0" rtlCol="0" anchor="ctr">
            <a:normAutofit/>
          </a:bodyPr>
          <a:lstStyle/>
          <a:p>
            <a:pPr marL="0" indent="0" algn="ctr">
              <a:lnSpc>
                <a:spcPts val="2100"/>
              </a:lnSpc>
              <a:buNone/>
            </a:pPr>
            <a:r>
              <a:rPr lang="en-US" sz="1500" dirty="0">
                <a:solidFill>
                  <a:srgbClr val="FFFFFF"/>
                </a:solidFill>
                <a:latin typeface="Arial" pitchFamily="34" charset="0"/>
                <a:ea typeface="Arial" pitchFamily="34" charset="-122"/>
                <a:cs typeface="Arial" pitchFamily="34" charset="-120"/>
              </a:rPr>
              <a:t>Нажми</a:t>
            </a:r>
            <a:endParaRPr lang="en-US" sz="1500" dirty="0"/>
          </a:p>
        </p:txBody>
      </p:sp>
      <p:sp>
        <p:nvSpPr>
          <p:cNvPr id="19" name="Text 16"/>
          <p:cNvSpPr/>
          <p:nvPr/>
        </p:nvSpPr>
        <p:spPr>
          <a:xfrm>
            <a:off x="6572250" y="2621062"/>
            <a:ext cx="1409938"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Arial" pitchFamily="34" charset="0"/>
                <a:ea typeface="Arial" pitchFamily="34" charset="-122"/>
                <a:cs typeface="Arial" pitchFamily="34" charset="-120"/>
              </a:rPr>
              <a:t>Нажатий: 3</a:t>
            </a:r>
            <a:endParaRPr lang="en-US" sz="1700" dirty="0"/>
          </a:p>
        </p:txBody>
      </p:sp>
      <p:sp>
        <p:nvSpPr>
          <p:cNvPr id="20" name="Text 17"/>
          <p:cNvSpPr/>
          <p:nvPr/>
        </p:nvSpPr>
        <p:spPr>
          <a:xfrm>
            <a:off x="6356350" y="3151882"/>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addEventListener(событие, функция)</a:t>
            </a:r>
            <a:r>
              <a:rPr lang="en-US" sz="1350" dirty="0">
                <a:solidFill>
                  <a:srgbClr val="FFFFFF"/>
                </a:solidFill>
                <a:latin typeface="Carlito" pitchFamily="34" charset="0"/>
                <a:ea typeface="Carlito" pitchFamily="34" charset="-122"/>
                <a:cs typeface="Carlito" pitchFamily="34" charset="-120"/>
              </a:rPr>
              <a:t> — подписка. Функцию-обработчик вызывает браузер.</a:t>
            </a:r>
            <a:endParaRPr lang="en-US" sz="1350" dirty="0"/>
          </a:p>
        </p:txBody>
      </p:sp>
      <p:sp>
        <p:nvSpPr>
          <p:cNvPr id="21" name="Text 18"/>
          <p:cNvSpPr/>
          <p:nvPr/>
        </p:nvSpPr>
        <p:spPr>
          <a:xfrm>
            <a:off x="6356350" y="382617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Частые события:</a:t>
            </a:r>
            <a:r>
              <a:rPr lang="en-US" sz="1350" dirty="0">
                <a:solidFill>
                  <a:srgbClr val="FFFFFF"/>
                </a:solidFill>
                <a:latin typeface="Carlito" pitchFamily="34" charset="0"/>
                <a:ea typeface="Carlito" pitchFamily="34" charset="-122"/>
                <a:cs typeface="Carlito" pitchFamily="34" charset="-120"/>
              </a:rPr>
              <a:t> click, input, change, submit, keydown, keyup, mouseover, scroll.</a:t>
            </a:r>
            <a:endParaRPr lang="en-US" sz="1350" dirty="0"/>
          </a:p>
        </p:txBody>
      </p:sp>
      <p:sp>
        <p:nvSpPr>
          <p:cNvPr id="22" name="Text 19"/>
          <p:cNvSpPr/>
          <p:nvPr/>
        </p:nvSpPr>
        <p:spPr>
          <a:xfrm>
            <a:off x="6356350" y="450046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DOMContentLoaded</a:t>
            </a:r>
            <a:r>
              <a:rPr lang="en-US" sz="1350" dirty="0">
                <a:solidFill>
                  <a:srgbClr val="FFFFFF"/>
                </a:solidFill>
                <a:latin typeface="Carlito" pitchFamily="34" charset="0"/>
                <a:ea typeface="Carlito" pitchFamily="34" charset="-122"/>
                <a:cs typeface="Carlito" pitchFamily="34" charset="-120"/>
              </a:rPr>
              <a:t> — страница разобрана; </a:t>
            </a:r>
            <a:r>
              <a:rPr lang="en-US" sz="1350" b="1" dirty="0">
                <a:solidFill>
                  <a:srgbClr val="FFFFFF"/>
                </a:solidFill>
                <a:latin typeface="Carlito" pitchFamily="34" charset="0"/>
                <a:ea typeface="Carlito" pitchFamily="34" charset="-122"/>
                <a:cs typeface="Carlito" pitchFamily="34" charset="-120"/>
              </a:rPr>
              <a:t>removeEventListener</a:t>
            </a:r>
            <a:r>
              <a:rPr lang="en-US" sz="1350" dirty="0">
                <a:solidFill>
                  <a:srgbClr val="FFFFFF"/>
                </a:solidFill>
                <a:latin typeface="Carlito" pitchFamily="34" charset="0"/>
                <a:ea typeface="Carlito" pitchFamily="34" charset="-122"/>
                <a:cs typeface="Carlito" pitchFamily="34" charset="-120"/>
              </a:rPr>
              <a:t> снимает подписку.</a:t>
            </a:r>
            <a:endParaRPr lang="en-US" sz="1350" dirty="0"/>
          </a:p>
        </p:txBody>
      </p:sp>
      <p:pic>
        <p:nvPicPr>
          <p:cNvPr id="23" name="Рисунок 2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04024" y="205584"/>
            <a:ext cx="737272" cy="72597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Объект события и делегирование</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Обработчик получает подробности о том, что произошло</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397000"/>
          </a:xfrm>
          <a:prstGeom prst="roundRect">
            <a:avLst>
              <a:gd name="adj" fmla="val 5455"/>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&lt;ul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"menu"</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data-id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"1"</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Пункт 1</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&lt;li</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data-id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"2"</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Пункт 2</a:t>
            </a:r>
            <a:r>
              <a:rPr lang="en-US" sz="1200" dirty="0">
                <a:solidFill>
                  <a:srgbClr val="FF9DE2"/>
                </a:solidFill>
                <a:latin typeface="JetBrains Mono" pitchFamily="49" charset="0"/>
                <a:ea typeface="JetBrains Mono" pitchFamily="49" charset="-122"/>
                <a:cs typeface="JetBrains Mono" pitchFamily="49" charset="-120"/>
              </a:rPr>
              <a:t>&lt;/li&gt;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&lt;/ul&gt;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&lt;a</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"link"</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href</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"/other"</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Ссылка</a:t>
            </a:r>
            <a:r>
              <a:rPr lang="en-US" sz="1200" dirty="0">
                <a:solidFill>
                  <a:srgbClr val="FF9DE2"/>
                </a:solidFill>
                <a:latin typeface="JetBrains Mono" pitchFamily="49" charset="0"/>
                <a:ea typeface="JetBrains Mono" pitchFamily="49" charset="-122"/>
                <a:cs typeface="JetBrains Mono" pitchFamily="49" charset="-120"/>
              </a:rPr>
              <a:t>&lt;/a&gt;</a:t>
            </a:r>
            <a:endParaRPr lang="en-US" sz="1200" dirty="0"/>
          </a:p>
        </p:txBody>
      </p:sp>
      <p:sp>
        <p:nvSpPr>
          <p:cNvPr id="8" name="Text 5"/>
          <p:cNvSpPr/>
          <p:nvPr/>
        </p:nvSpPr>
        <p:spPr>
          <a:xfrm>
            <a:off x="635000" y="30681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3393182"/>
            <a:ext cx="5200650" cy="2311400"/>
          </a:xfrm>
          <a:prstGeom prst="roundRect">
            <a:avLst>
              <a:gd name="adj" fmla="val 3297"/>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C9A0C9"/>
                </a:solidFill>
                <a:latin typeface="JetBrains Mono" pitchFamily="49" charset="0"/>
                <a:ea typeface="JetBrains Mono" pitchFamily="49" charset="-122"/>
                <a:cs typeface="JetBrains Mono" pitchFamily="49" charset="-120"/>
              </a:rPr>
              <a:t>// menu и link найдены через getElementById</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menu.</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"click"</a:t>
            </a:r>
            <a:r>
              <a:rPr lang="en-US" sz="1200" dirty="0">
                <a:solidFill>
                  <a:srgbClr val="FFFFFF"/>
                </a:solidFill>
                <a:latin typeface="JetBrains Mono" pitchFamily="49" charset="0"/>
                <a:ea typeface="JetBrains Mono" pitchFamily="49" charset="-122"/>
                <a:cs typeface="JetBrains Mono" pitchFamily="49" charset="-120"/>
              </a:rPr>
              <a:t>, (e)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(e.target.dataset.id);</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(e.type);</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link.</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"click"</a:t>
            </a:r>
            <a:r>
              <a:rPr lang="en-US" sz="1200" dirty="0">
                <a:solidFill>
                  <a:srgbClr val="FFFFFF"/>
                </a:solidFill>
                <a:latin typeface="JetBrains Mono" pitchFamily="49" charset="0"/>
                <a:ea typeface="JetBrains Mono" pitchFamily="49" charset="-122"/>
                <a:cs typeface="JetBrains Mono" pitchFamily="49" charset="-120"/>
              </a:rPr>
              <a:t>, (e)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e.</a:t>
            </a:r>
            <a:r>
              <a:rPr lang="en-US" sz="1200" dirty="0">
                <a:solidFill>
                  <a:srgbClr val="FFD27F"/>
                </a:solidFill>
                <a:latin typeface="JetBrains Mono" pitchFamily="49" charset="0"/>
                <a:ea typeface="JetBrains Mono" pitchFamily="49" charset="-122"/>
                <a:cs typeface="JetBrains Mono" pitchFamily="49" charset="-120"/>
              </a:rPr>
              <a:t>preventDefault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"Переход отменён"</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4434681"/>
          </a:xfrm>
          <a:prstGeom prst="rect">
            <a:avLst/>
          </a:prstGeom>
          <a:solidFill>
            <a:srgbClr val="972996"/>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Консоль после клика на «Пункт 2» и на ссылку</a:t>
            </a:r>
            <a:endParaRPr lang="en-US" sz="1400" dirty="0"/>
          </a:p>
        </p:txBody>
      </p:sp>
      <p:sp>
        <p:nvSpPr>
          <p:cNvPr id="12" name="Shape 9"/>
          <p:cNvSpPr/>
          <p:nvPr/>
        </p:nvSpPr>
        <p:spPr>
          <a:xfrm>
            <a:off x="6365875" y="1604466"/>
            <a:ext cx="5181600" cy="1420912"/>
          </a:xfrm>
          <a:prstGeom prst="roundRect">
            <a:avLst>
              <a:gd name="adj" fmla="val 4692"/>
            </a:avLst>
          </a:prstGeom>
          <a:solidFill>
            <a:srgbClr val="FFFFFF"/>
          </a:solidFill>
          <a:ln w="19050">
            <a:solidFill>
              <a:srgbClr val="972996"/>
            </a:solidFill>
            <a:prstDash val="solid"/>
          </a:ln>
        </p:spPr>
      </p:sp>
      <p:sp>
        <p:nvSpPr>
          <p:cNvPr id="13" name="Shape 10"/>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4" name="Shape 11"/>
          <p:cNvSpPr/>
          <p:nvPr/>
        </p:nvSpPr>
        <p:spPr>
          <a:xfrm>
            <a:off x="6502400" y="1758752"/>
            <a:ext cx="101600" cy="101600"/>
          </a:xfrm>
          <a:prstGeom prst="roundRect">
            <a:avLst>
              <a:gd name="adj" fmla="val 50000"/>
            </a:avLst>
          </a:prstGeom>
          <a:solidFill>
            <a:srgbClr val="E57373"/>
          </a:solidFill>
          <a:ln/>
        </p:spPr>
      </p:sp>
      <p:sp>
        <p:nvSpPr>
          <p:cNvPr id="15" name="Shape 12"/>
          <p:cNvSpPr/>
          <p:nvPr/>
        </p:nvSpPr>
        <p:spPr>
          <a:xfrm>
            <a:off x="6667500" y="1758752"/>
            <a:ext cx="101600" cy="101600"/>
          </a:xfrm>
          <a:prstGeom prst="roundRect">
            <a:avLst>
              <a:gd name="adj" fmla="val 50000"/>
            </a:avLst>
          </a:prstGeom>
          <a:solidFill>
            <a:srgbClr val="FFD54F"/>
          </a:solidFill>
          <a:ln/>
        </p:spPr>
      </p:sp>
      <p:sp>
        <p:nvSpPr>
          <p:cNvPr id="16" name="Shape 13"/>
          <p:cNvSpPr/>
          <p:nvPr/>
        </p:nvSpPr>
        <p:spPr>
          <a:xfrm>
            <a:off x="6832600" y="1758752"/>
            <a:ext cx="101600" cy="101600"/>
          </a:xfrm>
          <a:prstGeom prst="roundRect">
            <a:avLst>
              <a:gd name="adj" fmla="val 50000"/>
            </a:avLst>
          </a:prstGeom>
          <a:solidFill>
            <a:srgbClr val="81C784"/>
          </a:solidFill>
          <a:ln/>
        </p:spPr>
      </p:sp>
      <p:sp>
        <p:nvSpPr>
          <p:cNvPr id="17" name="Text 14"/>
          <p:cNvSpPr/>
          <p:nvPr/>
        </p:nvSpPr>
        <p:spPr>
          <a:xfrm>
            <a:off x="7073900" y="1702891"/>
            <a:ext cx="5910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Console</a:t>
            </a:r>
            <a:endParaRPr lang="en-US" sz="1200" dirty="0"/>
          </a:p>
        </p:txBody>
      </p:sp>
      <p:sp>
        <p:nvSpPr>
          <p:cNvPr id="18" name="Shape 15"/>
          <p:cNvSpPr/>
          <p:nvPr/>
        </p:nvSpPr>
        <p:spPr>
          <a:xfrm>
            <a:off x="6375400" y="2340967"/>
            <a:ext cx="5162550" cy="0"/>
          </a:xfrm>
          <a:prstGeom prst="line">
            <a:avLst/>
          </a:prstGeom>
          <a:noFill/>
          <a:ln w="6350">
            <a:solidFill>
              <a:srgbClr val="DDDDDD"/>
            </a:solidFill>
            <a:prstDash val="solid"/>
          </a:ln>
        </p:spPr>
      </p:sp>
      <p:sp>
        <p:nvSpPr>
          <p:cNvPr id="19" name="Text 16"/>
          <p:cNvSpPr/>
          <p:nvPr/>
        </p:nvSpPr>
        <p:spPr>
          <a:xfrm>
            <a:off x="6527800" y="205591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2</a:t>
            </a:r>
            <a:endParaRPr lang="en-US" sz="1300" dirty="0"/>
          </a:p>
        </p:txBody>
      </p:sp>
      <p:sp>
        <p:nvSpPr>
          <p:cNvPr id="20" name="Shape 17"/>
          <p:cNvSpPr/>
          <p:nvPr/>
        </p:nvSpPr>
        <p:spPr>
          <a:xfrm>
            <a:off x="6375400" y="2679998"/>
            <a:ext cx="5162550" cy="0"/>
          </a:xfrm>
          <a:prstGeom prst="line">
            <a:avLst/>
          </a:prstGeom>
          <a:noFill/>
          <a:ln w="6350">
            <a:solidFill>
              <a:srgbClr val="DDDDDD"/>
            </a:solidFill>
            <a:prstDash val="solid"/>
          </a:ln>
        </p:spPr>
      </p:sp>
      <p:sp>
        <p:nvSpPr>
          <p:cNvPr id="21" name="Text 18"/>
          <p:cNvSpPr/>
          <p:nvPr/>
        </p:nvSpPr>
        <p:spPr>
          <a:xfrm>
            <a:off x="6527800" y="2394942"/>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click</a:t>
            </a:r>
            <a:endParaRPr lang="en-US" sz="1300" dirty="0"/>
          </a:p>
        </p:txBody>
      </p:sp>
      <p:sp>
        <p:nvSpPr>
          <p:cNvPr id="22" name="Text 19"/>
          <p:cNvSpPr/>
          <p:nvPr/>
        </p:nvSpPr>
        <p:spPr>
          <a:xfrm>
            <a:off x="6527800" y="2733973"/>
            <a:ext cx="50034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11111"/>
                </a:solidFill>
                <a:latin typeface="JetBrains Mono" pitchFamily="49" charset="0"/>
                <a:ea typeface="JetBrains Mono" pitchFamily="49" charset="-122"/>
                <a:cs typeface="JetBrains Mono" pitchFamily="49" charset="-120"/>
              </a:rPr>
              <a:t>Переход отменён</a:t>
            </a:r>
            <a:endParaRPr lang="en-US" sz="1300" dirty="0"/>
          </a:p>
        </p:txBody>
      </p:sp>
      <p:sp>
        <p:nvSpPr>
          <p:cNvPr id="23" name="Shape 20"/>
          <p:cNvSpPr/>
          <p:nvPr/>
        </p:nvSpPr>
        <p:spPr>
          <a:xfrm>
            <a:off x="6388100" y="3111103"/>
            <a:ext cx="0" cy="510480"/>
          </a:xfrm>
          <a:prstGeom prst="line">
            <a:avLst/>
          </a:prstGeom>
          <a:noFill/>
          <a:ln w="63500">
            <a:solidFill>
              <a:srgbClr val="972996"/>
            </a:solidFill>
            <a:prstDash val="solid"/>
          </a:ln>
        </p:spPr>
      </p:sp>
      <p:sp>
        <p:nvSpPr>
          <p:cNvPr id="24" name="Text 21"/>
          <p:cNvSpPr/>
          <p:nvPr/>
        </p:nvSpPr>
        <p:spPr>
          <a:xfrm>
            <a:off x="6546850" y="311110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e.target, e.type, e.key</a:t>
            </a:r>
            <a:endParaRPr lang="en-US" sz="1500" dirty="0"/>
          </a:p>
        </p:txBody>
      </p:sp>
      <p:sp>
        <p:nvSpPr>
          <p:cNvPr id="25" name="Text 22"/>
          <p:cNvSpPr/>
          <p:nvPr/>
        </p:nvSpPr>
        <p:spPr>
          <a:xfrm>
            <a:off x="6546850" y="339050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на каком элементе, какое событие, какая клавиша (для keydown)</a:t>
            </a:r>
            <a:endParaRPr lang="en-US" sz="1400" dirty="0"/>
          </a:p>
        </p:txBody>
      </p:sp>
      <p:sp>
        <p:nvSpPr>
          <p:cNvPr id="26" name="Shape 23"/>
          <p:cNvSpPr/>
          <p:nvPr/>
        </p:nvSpPr>
        <p:spPr>
          <a:xfrm>
            <a:off x="6388100" y="3697784"/>
            <a:ext cx="0" cy="741561"/>
          </a:xfrm>
          <a:prstGeom prst="line">
            <a:avLst/>
          </a:prstGeom>
          <a:noFill/>
          <a:ln w="63500">
            <a:solidFill>
              <a:srgbClr val="972996"/>
            </a:solidFill>
            <a:prstDash val="solid"/>
          </a:ln>
        </p:spPr>
      </p:sp>
      <p:sp>
        <p:nvSpPr>
          <p:cNvPr id="27" name="Text 24"/>
          <p:cNvSpPr/>
          <p:nvPr/>
        </p:nvSpPr>
        <p:spPr>
          <a:xfrm>
            <a:off x="6546850" y="3697784"/>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preventDefault()</a:t>
            </a:r>
            <a:endParaRPr lang="en-US" sz="1500" dirty="0"/>
          </a:p>
        </p:txBody>
      </p:sp>
      <p:sp>
        <p:nvSpPr>
          <p:cNvPr id="28" name="Text 25"/>
          <p:cNvSpPr/>
          <p:nvPr/>
        </p:nvSpPr>
        <p:spPr>
          <a:xfrm>
            <a:off x="6546850" y="3977184"/>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отменяет действие браузера: переход по ссылке, отправку формы</a:t>
            </a:r>
            <a:endParaRPr lang="en-US" sz="1400" dirty="0"/>
          </a:p>
        </p:txBody>
      </p:sp>
      <p:sp>
        <p:nvSpPr>
          <p:cNvPr id="29" name="Shape 26"/>
          <p:cNvSpPr/>
          <p:nvPr/>
        </p:nvSpPr>
        <p:spPr>
          <a:xfrm>
            <a:off x="6388100" y="4515545"/>
            <a:ext cx="0" cy="741561"/>
          </a:xfrm>
          <a:prstGeom prst="line">
            <a:avLst/>
          </a:prstGeom>
          <a:noFill/>
          <a:ln w="63500">
            <a:solidFill>
              <a:srgbClr val="972996"/>
            </a:solidFill>
            <a:prstDash val="solid"/>
          </a:ln>
        </p:spPr>
      </p:sp>
      <p:sp>
        <p:nvSpPr>
          <p:cNvPr id="30" name="Text 27"/>
          <p:cNvSpPr/>
          <p:nvPr/>
        </p:nvSpPr>
        <p:spPr>
          <a:xfrm>
            <a:off x="6546850" y="4515545"/>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Делегирование</a:t>
            </a:r>
            <a:endParaRPr lang="en-US" sz="1500" dirty="0"/>
          </a:p>
        </p:txBody>
      </p:sp>
      <p:sp>
        <p:nvSpPr>
          <p:cNvPr id="31" name="Text 28"/>
          <p:cNvSpPr/>
          <p:nvPr/>
        </p:nvSpPr>
        <p:spPr>
          <a:xfrm>
            <a:off x="6546850" y="4794945"/>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один обработчик на родителе вместо одного на каждый пункт; работает и для новых элементов</a:t>
            </a:r>
            <a:endParaRPr lang="en-US" sz="1400" dirty="0"/>
          </a:p>
        </p:txBody>
      </p:sp>
      <p:pic>
        <p:nvPicPr>
          <p:cNvPr id="32" name="Рисунок 3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39141" y="108815"/>
            <a:ext cx="737272" cy="72597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Формы и ввод</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Читаем значения полей и обрабатываем отправку</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397000"/>
          </a:xfrm>
          <a:prstGeom prst="roundRect">
            <a:avLst>
              <a:gd name="adj" fmla="val 5455"/>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&lt;form</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"f"</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&lt;input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"user"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placeholder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"Имя"</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&lt;button&gt;</a:t>
            </a:r>
            <a:r>
              <a:rPr lang="en-US" sz="1200" dirty="0">
                <a:solidFill>
                  <a:srgbClr val="FFFFFF"/>
                </a:solidFill>
                <a:latin typeface="JetBrains Mono" pitchFamily="49" charset="0"/>
                <a:ea typeface="JetBrains Mono" pitchFamily="49" charset="-122"/>
                <a:cs typeface="JetBrains Mono" pitchFamily="49" charset="-120"/>
              </a:rPr>
              <a:t>Отправить</a:t>
            </a:r>
            <a:r>
              <a:rPr lang="en-US" sz="1200" dirty="0">
                <a:solidFill>
                  <a:srgbClr val="FF9DE2"/>
                </a:solidFill>
                <a:latin typeface="JetBrains Mono" pitchFamily="49" charset="0"/>
                <a:ea typeface="JetBrains Mono" pitchFamily="49" charset="-122"/>
                <a:cs typeface="JetBrains Mono" pitchFamily="49" charset="-120"/>
              </a:rPr>
              <a:t>&lt;/button&gt;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&lt;/form&gt;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"out"</a:t>
            </a:r>
            <a:r>
              <a:rPr lang="en-US" sz="1200" dirty="0">
                <a:solidFill>
                  <a:srgbClr val="FF9DE2"/>
                </a:solidFill>
                <a:latin typeface="JetBrains Mono" pitchFamily="49" charset="0"/>
                <a:ea typeface="JetBrains Mono" pitchFamily="49" charset="-122"/>
                <a:cs typeface="JetBrains Mono" pitchFamily="49" charset="-120"/>
              </a:rPr>
              <a:t>&gt;&lt;/p&gt;</a:t>
            </a:r>
            <a:endParaRPr lang="en-US" sz="1200" dirty="0"/>
          </a:p>
        </p:txBody>
      </p:sp>
      <p:sp>
        <p:nvSpPr>
          <p:cNvPr id="8" name="Text 5"/>
          <p:cNvSpPr/>
          <p:nvPr/>
        </p:nvSpPr>
        <p:spPr>
          <a:xfrm>
            <a:off x="635000" y="30681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3393182"/>
            <a:ext cx="5200650" cy="2082800"/>
          </a:xfrm>
          <a:prstGeom prst="roundRect">
            <a:avLst>
              <a:gd name="adj" fmla="val 3659"/>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f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"f"</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out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"out"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f.</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"submit"</a:t>
            </a:r>
            <a:r>
              <a:rPr lang="en-US" sz="1200" dirty="0">
                <a:solidFill>
                  <a:srgbClr val="FFFFFF"/>
                </a:solidFill>
                <a:latin typeface="JetBrains Mono" pitchFamily="49" charset="0"/>
                <a:ea typeface="JetBrains Mono" pitchFamily="49" charset="-122"/>
                <a:cs typeface="JetBrains Mono" pitchFamily="49" charset="-120"/>
              </a:rPr>
              <a:t>, (e)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e.</a:t>
            </a:r>
            <a:r>
              <a:rPr lang="en-US" sz="1200" dirty="0">
                <a:solidFill>
                  <a:srgbClr val="FFD27F"/>
                </a:solidFill>
                <a:latin typeface="JetBrains Mono" pitchFamily="49" charset="0"/>
                <a:ea typeface="JetBrains Mono" pitchFamily="49" charset="-122"/>
                <a:cs typeface="JetBrains Mono" pitchFamily="49" charset="-120"/>
              </a:rPr>
              <a:t>preventDefault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v = f.elements.user.value.</a:t>
            </a:r>
            <a:r>
              <a:rPr lang="en-US" sz="1200" dirty="0">
                <a:solidFill>
                  <a:srgbClr val="FFD27F"/>
                </a:solidFill>
                <a:latin typeface="JetBrains Mono" pitchFamily="49" charset="0"/>
                <a:ea typeface="JetBrains Mono" pitchFamily="49" charset="-122"/>
                <a:cs typeface="JetBrains Mono" pitchFamily="49" charset="-120"/>
              </a:rPr>
              <a:t>trim</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out.textContent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v ? </a:t>
            </a:r>
            <a:r>
              <a:rPr lang="en-US" sz="1200" dirty="0">
                <a:solidFill>
                  <a:srgbClr val="9EE6A8"/>
                </a:solidFill>
                <a:latin typeface="JetBrains Mono" pitchFamily="49" charset="0"/>
                <a:ea typeface="JetBrains Mono" pitchFamily="49" charset="-122"/>
                <a:cs typeface="JetBrains Mono" pitchFamily="49" charset="-120"/>
              </a:rPr>
              <a:t>`Привет, ${v}!`</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"Введите имя"</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4206081"/>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в поле «Анна», нажата кнопка</a:t>
            </a:r>
            <a:endParaRPr lang="en-US" sz="1400" dirty="0"/>
          </a:p>
        </p:txBody>
      </p:sp>
      <p:sp>
        <p:nvSpPr>
          <p:cNvPr id="12" name="Shape 9"/>
          <p:cNvSpPr/>
          <p:nvPr/>
        </p:nvSpPr>
        <p:spPr>
          <a:xfrm>
            <a:off x="6356350" y="1594941"/>
            <a:ext cx="5200650" cy="1450181"/>
          </a:xfrm>
          <a:prstGeom prst="roundRect">
            <a:avLst>
              <a:gd name="adj" fmla="val 5255"/>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78600" y="2151162"/>
            <a:ext cx="1765300" cy="337741"/>
          </a:xfrm>
          <a:prstGeom prst="rect">
            <a:avLst/>
          </a:prstGeom>
          <a:noFill/>
          <a:ln w="12700">
            <a:solidFill>
              <a:srgbClr val="777777"/>
            </a:solidFill>
            <a:prstDash val="solid"/>
          </a:ln>
        </p:spPr>
        <p:txBody>
          <a:bodyPr wrap="square" lIns="69850" tIns="44450" rIns="19050" bIns="1905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Анна</a:t>
            </a:r>
            <a:endParaRPr lang="en-US" sz="1400" dirty="0"/>
          </a:p>
        </p:txBody>
      </p:sp>
      <p:sp>
        <p:nvSpPr>
          <p:cNvPr id="19" name="Text 16"/>
          <p:cNvSpPr/>
          <p:nvPr/>
        </p:nvSpPr>
        <p:spPr>
          <a:xfrm>
            <a:off x="8426450" y="2138462"/>
            <a:ext cx="1161058" cy="363141"/>
          </a:xfrm>
          <a:prstGeom prst="roundRect">
            <a:avLst>
              <a:gd name="adj" fmla="val 10492"/>
            </a:avLst>
          </a:prstGeom>
          <a:solidFill>
            <a:srgbClr val="972996"/>
          </a:solidFill>
          <a:ln/>
        </p:spPr>
        <p:txBody>
          <a:bodyPr wrap="none" lIns="0" tIns="0" rIns="0" bIns="0" rtlCol="0" anchor="ctr">
            <a:normAutofit/>
          </a:bodyPr>
          <a:lstStyle/>
          <a:p>
            <a:pPr marL="0" indent="0" algn="ctr">
              <a:lnSpc>
                <a:spcPts val="1960"/>
              </a:lnSpc>
              <a:buNone/>
            </a:pPr>
            <a:r>
              <a:rPr lang="en-US" sz="1400" dirty="0">
                <a:solidFill>
                  <a:srgbClr val="FFFFFF"/>
                </a:solidFill>
                <a:latin typeface="Arial" pitchFamily="34" charset="0"/>
                <a:ea typeface="Arial" pitchFamily="34" charset="-122"/>
                <a:cs typeface="Arial" pitchFamily="34" charset="-120"/>
              </a:rPr>
              <a:t>Отправить</a:t>
            </a:r>
            <a:endParaRPr lang="en-US" sz="1400" dirty="0"/>
          </a:p>
        </p:txBody>
      </p:sp>
      <p:sp>
        <p:nvSpPr>
          <p:cNvPr id="20" name="Text 17"/>
          <p:cNvSpPr/>
          <p:nvPr/>
        </p:nvSpPr>
        <p:spPr>
          <a:xfrm>
            <a:off x="6572250" y="2590502"/>
            <a:ext cx="1782127"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11111"/>
                </a:solidFill>
                <a:latin typeface="Arial" pitchFamily="34" charset="0"/>
                <a:ea typeface="Arial" pitchFamily="34" charset="-122"/>
                <a:cs typeface="Arial" pitchFamily="34" charset="-120"/>
              </a:rPr>
              <a:t>Привет, Анна!</a:t>
            </a:r>
            <a:endParaRPr lang="en-US" sz="1700" dirty="0"/>
          </a:p>
        </p:txBody>
      </p:sp>
      <p:sp>
        <p:nvSpPr>
          <p:cNvPr id="21" name="Text 18"/>
          <p:cNvSpPr/>
          <p:nvPr/>
        </p:nvSpPr>
        <p:spPr>
          <a:xfrm>
            <a:off x="6356350" y="312132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submit</a:t>
            </a:r>
            <a:r>
              <a:rPr lang="en-US" sz="1350" dirty="0">
                <a:solidFill>
                  <a:srgbClr val="FFFFFF"/>
                </a:solidFill>
                <a:latin typeface="Carlito" pitchFamily="34" charset="0"/>
                <a:ea typeface="Carlito" pitchFamily="34" charset="-122"/>
                <a:cs typeface="Carlito" pitchFamily="34" charset="-120"/>
              </a:rPr>
              <a:t> срабатывает на форме, в том числе по Enter. Без preventDefault страница перезагрузится.</a:t>
            </a:r>
            <a:endParaRPr lang="en-US" sz="1350" dirty="0"/>
          </a:p>
        </p:txBody>
      </p:sp>
      <p:sp>
        <p:nvSpPr>
          <p:cNvPr id="22" name="Text 19"/>
          <p:cNvSpPr/>
          <p:nvPr/>
        </p:nvSpPr>
        <p:spPr>
          <a:xfrm>
            <a:off x="6356350" y="379561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input</a:t>
            </a:r>
            <a:r>
              <a:rPr lang="en-US" sz="1350" dirty="0">
                <a:solidFill>
                  <a:srgbClr val="FFFFFF"/>
                </a:solidFill>
                <a:latin typeface="Carlito" pitchFamily="34" charset="0"/>
                <a:ea typeface="Carlito" pitchFamily="34" charset="-122"/>
                <a:cs typeface="Carlito" pitchFamily="34" charset="-120"/>
              </a:rPr>
              <a:t> — на каждое изменение, </a:t>
            </a:r>
            <a:r>
              <a:rPr lang="en-US" sz="1350" b="1" dirty="0">
                <a:solidFill>
                  <a:srgbClr val="FFFFFF"/>
                </a:solidFill>
                <a:latin typeface="Carlito" pitchFamily="34" charset="0"/>
                <a:ea typeface="Carlito" pitchFamily="34" charset="-122"/>
                <a:cs typeface="Carlito" pitchFamily="34" charset="-120"/>
              </a:rPr>
              <a:t>change</a:t>
            </a:r>
            <a:r>
              <a:rPr lang="en-US" sz="1350" dirty="0">
                <a:solidFill>
                  <a:srgbClr val="FFFFFF"/>
                </a:solidFill>
                <a:latin typeface="Carlito" pitchFamily="34" charset="0"/>
                <a:ea typeface="Carlito" pitchFamily="34" charset="-122"/>
                <a:cs typeface="Carlito" pitchFamily="34" charset="-120"/>
              </a:rPr>
              <a:t> — когда ввод завершён. У флажка читают .checked.</a:t>
            </a:r>
            <a:endParaRPr lang="en-US" sz="1350" dirty="0"/>
          </a:p>
        </p:txBody>
      </p:sp>
      <p:sp>
        <p:nvSpPr>
          <p:cNvPr id="23" name="Text 20"/>
          <p:cNvSpPr/>
          <p:nvPr/>
        </p:nvSpPr>
        <p:spPr>
          <a:xfrm>
            <a:off x="6356350" y="4469904"/>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Проверка:</a:t>
            </a:r>
            <a:r>
              <a:rPr lang="en-US" sz="1350" dirty="0">
                <a:solidFill>
                  <a:srgbClr val="FFFFFF"/>
                </a:solidFill>
                <a:latin typeface="Carlito" pitchFamily="34" charset="0"/>
                <a:ea typeface="Carlito" pitchFamily="34" charset="-122"/>
                <a:cs typeface="Carlito" pitchFamily="34" charset="-120"/>
              </a:rPr>
              <a:t> атрибуты required, type="email", pattern и метод checkValidity().</a:t>
            </a:r>
            <a:endParaRPr lang="en-US" sz="1350" dirty="0"/>
          </a:p>
        </p:txBody>
      </p:sp>
      <p:pic>
        <p:nvPicPr>
          <p:cNvPr id="24" name="Рисунок 2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601907" y="210840"/>
            <a:ext cx="737272" cy="72597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Таймеры</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Выполнить код позже или повторять через равные промежутки</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711200"/>
          </a:xfrm>
          <a:prstGeom prst="roundRect">
            <a:avLst>
              <a:gd name="adj" fmla="val 10714"/>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&lt;p</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"time"</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0</a:t>
            </a:r>
            <a:r>
              <a:rPr lang="en-US" sz="1200" dirty="0">
                <a:solidFill>
                  <a:srgbClr val="FF9DE2"/>
                </a:solidFill>
                <a:latin typeface="JetBrains Mono" pitchFamily="49" charset="0"/>
                <a:ea typeface="JetBrains Mono" pitchFamily="49" charset="-122"/>
                <a:cs typeface="JetBrains Mono" pitchFamily="49" charset="-120"/>
              </a:rPr>
              <a:t>&lt;/p&gt;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&lt;button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"stop"</a:t>
            </a:r>
            <a:r>
              <a:rPr lang="en-US" sz="1200" dirty="0">
                <a:solidFill>
                  <a:srgbClr val="FF9DE2"/>
                </a:solidFill>
                <a:latin typeface="JetBrains Mono" pitchFamily="49" charset="0"/>
                <a:ea typeface="JetBrains Mono" pitchFamily="49" charset="-122"/>
                <a:cs typeface="JetBrains Mono" pitchFamily="49" charset="-120"/>
              </a:rPr>
              <a:t>&gt;</a:t>
            </a:r>
            <a:r>
              <a:rPr lang="en-US" sz="1200" dirty="0">
                <a:solidFill>
                  <a:srgbClr val="FFFFFF"/>
                </a:solidFill>
                <a:latin typeface="JetBrains Mono" pitchFamily="49" charset="0"/>
                <a:ea typeface="JetBrains Mono" pitchFamily="49" charset="-122"/>
                <a:cs typeface="JetBrains Mono" pitchFamily="49" charset="-120"/>
              </a:rPr>
              <a:t>Стоп</a:t>
            </a:r>
            <a:r>
              <a:rPr lang="en-US" sz="1200" dirty="0">
                <a:solidFill>
                  <a:srgbClr val="FF9DE2"/>
                </a:solidFill>
                <a:latin typeface="JetBrains Mono" pitchFamily="49" charset="0"/>
                <a:ea typeface="JetBrains Mono" pitchFamily="49" charset="-122"/>
                <a:cs typeface="JetBrains Mono" pitchFamily="49" charset="-120"/>
              </a:rPr>
              <a:t>&lt;/button&gt;</a:t>
            </a:r>
            <a:endParaRPr lang="en-US" sz="1200" dirty="0"/>
          </a:p>
        </p:txBody>
      </p:sp>
      <p:sp>
        <p:nvSpPr>
          <p:cNvPr id="8" name="Text 5"/>
          <p:cNvSpPr/>
          <p:nvPr/>
        </p:nvSpPr>
        <p:spPr>
          <a:xfrm>
            <a:off x="635000" y="23823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2707382"/>
            <a:ext cx="5200650" cy="2540000"/>
          </a:xfrm>
          <a:prstGeom prst="roundRect">
            <a:avLst>
              <a:gd name="adj" fmla="val 3000"/>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time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"time"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stop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"stop"</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sec = </a:t>
            </a:r>
            <a:r>
              <a:rPr lang="en-US" sz="1200" dirty="0">
                <a:solidFill>
                  <a:srgbClr val="8FD3FF"/>
                </a:solidFill>
                <a:latin typeface="JetBrains Mono" pitchFamily="49" charset="0"/>
                <a:ea typeface="JetBrains Mono" pitchFamily="49" charset="-122"/>
                <a:cs typeface="JetBrains Mono" pitchFamily="49" charset="-120"/>
              </a:rPr>
              <a:t>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id = </a:t>
            </a:r>
            <a:r>
              <a:rPr lang="en-US" sz="1200" dirty="0">
                <a:solidFill>
                  <a:srgbClr val="FFD27F"/>
                </a:solidFill>
                <a:latin typeface="JetBrains Mono" pitchFamily="49" charset="0"/>
                <a:ea typeface="JetBrains Mono" pitchFamily="49" charset="-122"/>
                <a:cs typeface="JetBrains Mono" pitchFamily="49" charset="-120"/>
              </a:rPr>
              <a:t>setInterval</a:t>
            </a:r>
            <a:r>
              <a:rPr lang="en-US" sz="1200" dirty="0">
                <a:solidFill>
                  <a:srgbClr val="FFFFFF"/>
                </a:solidFill>
                <a:latin typeface="JetBrains Mono" pitchFamily="49" charset="0"/>
                <a:ea typeface="JetBrains Mono" pitchFamily="49" charset="-122"/>
                <a:cs typeface="JetBrains Mono" pitchFamily="49" charset="-120"/>
              </a:rPr>
              <a:t>(()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time.textContent = ++sec;</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1000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stop.</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"click"</a:t>
            </a:r>
            <a:r>
              <a:rPr lang="en-US" sz="1200" dirty="0">
                <a:solidFill>
                  <a:srgbClr val="FFFFFF"/>
                </a:solidFill>
                <a:latin typeface="JetBrains Mono" pitchFamily="49" charset="0"/>
                <a:ea typeface="JetBrains Mono" pitchFamily="49" charset="-122"/>
                <a:cs typeface="JetBrains Mono" pitchFamily="49" charset="-120"/>
              </a:rPr>
              <a:t>, ()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clearInterval</a:t>
            </a:r>
            <a:r>
              <a:rPr lang="en-US" sz="1200" dirty="0">
                <a:solidFill>
                  <a:srgbClr val="FFFFFF"/>
                </a:solidFill>
                <a:latin typeface="JetBrains Mono" pitchFamily="49" charset="0"/>
                <a:ea typeface="JetBrains Mono" pitchFamily="49" charset="-122"/>
                <a:cs typeface="JetBrains Mono" pitchFamily="49" charset="-120"/>
              </a:rPr>
              <a:t>(id);</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D27F"/>
                </a:solidFill>
                <a:latin typeface="JetBrains Mono" pitchFamily="49" charset="0"/>
                <a:ea typeface="JetBrains Mono" pitchFamily="49" charset="-122"/>
                <a:cs typeface="JetBrains Mono" pitchFamily="49" charset="-120"/>
              </a:rPr>
              <a:t>setTimeout</a:t>
            </a:r>
            <a:r>
              <a:rPr lang="en-US" sz="1200" dirty="0">
                <a:solidFill>
                  <a:srgbClr val="FFFFFF"/>
                </a:solidFill>
                <a:latin typeface="JetBrains Mono" pitchFamily="49" charset="0"/>
                <a:ea typeface="JetBrains Mono" pitchFamily="49" charset="-122"/>
                <a:cs typeface="JetBrains Mono" pitchFamily="49" charset="-120"/>
              </a:rPr>
              <a:t>(() =&gt;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"5 секунд"</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8FD3FF"/>
                </a:solidFill>
                <a:latin typeface="JetBrains Mono" pitchFamily="49" charset="0"/>
                <a:ea typeface="JetBrains Mono" pitchFamily="49" charset="-122"/>
                <a:cs typeface="JetBrains Mono" pitchFamily="49" charset="-120"/>
              </a:rPr>
              <a:t>5000</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3977481"/>
          </a:xfrm>
          <a:prstGeom prst="rect">
            <a:avLst/>
          </a:prstGeom>
          <a:solidFill>
            <a:srgbClr val="972996"/>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через 7 секунд после Стоп</a:t>
            </a:r>
            <a:endParaRPr lang="en-US" sz="1400" dirty="0"/>
          </a:p>
        </p:txBody>
      </p:sp>
      <p:sp>
        <p:nvSpPr>
          <p:cNvPr id="12" name="Shape 9"/>
          <p:cNvSpPr/>
          <p:nvPr/>
        </p:nvSpPr>
        <p:spPr>
          <a:xfrm>
            <a:off x="6365875" y="1604466"/>
            <a:ext cx="5181600" cy="1662311"/>
          </a:xfrm>
          <a:prstGeom prst="roundRect">
            <a:avLst>
              <a:gd name="adj" fmla="val 4011"/>
            </a:avLst>
          </a:prstGeom>
          <a:solidFill>
            <a:srgbClr val="FFFFFF"/>
          </a:solidFill>
          <a:ln w="19050">
            <a:solidFill>
              <a:srgbClr val="972996"/>
            </a:solidFill>
            <a:prstDash val="solid"/>
          </a:ln>
        </p:spPr>
      </p:sp>
      <p:sp>
        <p:nvSpPr>
          <p:cNvPr id="13" name="Shape 10"/>
          <p:cNvSpPr/>
          <p:nvPr/>
        </p:nvSpPr>
        <p:spPr>
          <a:xfrm>
            <a:off x="6375400" y="1613991"/>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4" name="Shape 11"/>
          <p:cNvSpPr/>
          <p:nvPr/>
        </p:nvSpPr>
        <p:spPr>
          <a:xfrm>
            <a:off x="6502400" y="1758752"/>
            <a:ext cx="101600" cy="101600"/>
          </a:xfrm>
          <a:prstGeom prst="roundRect">
            <a:avLst>
              <a:gd name="adj" fmla="val 50000"/>
            </a:avLst>
          </a:prstGeom>
          <a:solidFill>
            <a:srgbClr val="E57373"/>
          </a:solidFill>
          <a:ln/>
        </p:spPr>
      </p:sp>
      <p:sp>
        <p:nvSpPr>
          <p:cNvPr id="15" name="Shape 12"/>
          <p:cNvSpPr/>
          <p:nvPr/>
        </p:nvSpPr>
        <p:spPr>
          <a:xfrm>
            <a:off x="6667500" y="1758752"/>
            <a:ext cx="101600" cy="101600"/>
          </a:xfrm>
          <a:prstGeom prst="roundRect">
            <a:avLst>
              <a:gd name="adj" fmla="val 50000"/>
            </a:avLst>
          </a:prstGeom>
          <a:solidFill>
            <a:srgbClr val="FFD54F"/>
          </a:solidFill>
          <a:ln/>
        </p:spPr>
      </p:sp>
      <p:sp>
        <p:nvSpPr>
          <p:cNvPr id="16" name="Shape 13"/>
          <p:cNvSpPr/>
          <p:nvPr/>
        </p:nvSpPr>
        <p:spPr>
          <a:xfrm>
            <a:off x="6832600" y="1758752"/>
            <a:ext cx="101600" cy="101600"/>
          </a:xfrm>
          <a:prstGeom prst="roundRect">
            <a:avLst>
              <a:gd name="adj" fmla="val 50000"/>
            </a:avLst>
          </a:prstGeom>
          <a:solidFill>
            <a:srgbClr val="81C784"/>
          </a:solidFill>
          <a:ln/>
        </p:spPr>
      </p:sp>
      <p:sp>
        <p:nvSpPr>
          <p:cNvPr id="17" name="Text 14"/>
          <p:cNvSpPr/>
          <p:nvPr/>
        </p:nvSpPr>
        <p:spPr>
          <a:xfrm>
            <a:off x="7073900" y="170289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91300" y="2157512"/>
            <a:ext cx="339090"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972996"/>
                </a:solidFill>
                <a:latin typeface="Arial" pitchFamily="34" charset="0"/>
                <a:ea typeface="Arial" pitchFamily="34" charset="-122"/>
                <a:cs typeface="Arial" pitchFamily="34" charset="-120"/>
              </a:rPr>
              <a:t>7</a:t>
            </a:r>
            <a:endParaRPr lang="en-US" sz="4000" dirty="0"/>
          </a:p>
        </p:txBody>
      </p:sp>
      <p:sp>
        <p:nvSpPr>
          <p:cNvPr id="19" name="Text 16"/>
          <p:cNvSpPr/>
          <p:nvPr/>
        </p:nvSpPr>
        <p:spPr>
          <a:xfrm>
            <a:off x="6591300" y="2741712"/>
            <a:ext cx="733227" cy="363141"/>
          </a:xfrm>
          <a:prstGeom prst="roundRect">
            <a:avLst>
              <a:gd name="adj" fmla="val 10492"/>
            </a:avLst>
          </a:prstGeom>
          <a:solidFill>
            <a:srgbClr val="972996"/>
          </a:solidFill>
          <a:ln/>
        </p:spPr>
        <p:txBody>
          <a:bodyPr wrap="none" lIns="0" tIns="0" rIns="0" bIns="0" rtlCol="0" anchor="ctr">
            <a:normAutofit/>
          </a:bodyPr>
          <a:lstStyle/>
          <a:p>
            <a:pPr marL="0" indent="0" algn="ctr">
              <a:lnSpc>
                <a:spcPts val="1960"/>
              </a:lnSpc>
              <a:buNone/>
            </a:pPr>
            <a:r>
              <a:rPr lang="en-US" sz="1400" dirty="0">
                <a:solidFill>
                  <a:srgbClr val="FFFFFF"/>
                </a:solidFill>
                <a:latin typeface="Arial" pitchFamily="34" charset="0"/>
                <a:ea typeface="Arial" pitchFamily="34" charset="-122"/>
                <a:cs typeface="Arial" pitchFamily="34" charset="-120"/>
              </a:rPr>
              <a:t>Стоп</a:t>
            </a:r>
            <a:endParaRPr lang="en-US" sz="1400" dirty="0"/>
          </a:p>
        </p:txBody>
      </p:sp>
      <p:sp>
        <p:nvSpPr>
          <p:cNvPr id="20" name="Shape 17"/>
          <p:cNvSpPr/>
          <p:nvPr/>
        </p:nvSpPr>
        <p:spPr>
          <a:xfrm>
            <a:off x="6388100" y="3352502"/>
            <a:ext cx="0" cy="510480"/>
          </a:xfrm>
          <a:prstGeom prst="line">
            <a:avLst/>
          </a:prstGeom>
          <a:noFill/>
          <a:ln w="63500">
            <a:solidFill>
              <a:srgbClr val="972996"/>
            </a:solidFill>
            <a:prstDash val="solid"/>
          </a:ln>
        </p:spPr>
      </p:sp>
      <p:sp>
        <p:nvSpPr>
          <p:cNvPr id="21" name="Text 18"/>
          <p:cNvSpPr/>
          <p:nvPr/>
        </p:nvSpPr>
        <p:spPr>
          <a:xfrm>
            <a:off x="6546850" y="3352502"/>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setTimeout(функция, мс)</a:t>
            </a:r>
            <a:endParaRPr lang="en-US" sz="1500" dirty="0"/>
          </a:p>
        </p:txBody>
      </p:sp>
      <p:sp>
        <p:nvSpPr>
          <p:cNvPr id="22" name="Text 19"/>
          <p:cNvSpPr/>
          <p:nvPr/>
        </p:nvSpPr>
        <p:spPr>
          <a:xfrm>
            <a:off x="6546850" y="3631902"/>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выполнит функцию один раз через заданное время</a:t>
            </a:r>
            <a:endParaRPr lang="en-US" sz="1400" dirty="0"/>
          </a:p>
        </p:txBody>
      </p:sp>
      <p:sp>
        <p:nvSpPr>
          <p:cNvPr id="23" name="Shape 20"/>
          <p:cNvSpPr/>
          <p:nvPr/>
        </p:nvSpPr>
        <p:spPr>
          <a:xfrm>
            <a:off x="6388100" y="3939183"/>
            <a:ext cx="0" cy="510480"/>
          </a:xfrm>
          <a:prstGeom prst="line">
            <a:avLst/>
          </a:prstGeom>
          <a:noFill/>
          <a:ln w="63500">
            <a:solidFill>
              <a:srgbClr val="972996"/>
            </a:solidFill>
            <a:prstDash val="solid"/>
          </a:ln>
        </p:spPr>
      </p:sp>
      <p:sp>
        <p:nvSpPr>
          <p:cNvPr id="24" name="Text 21"/>
          <p:cNvSpPr/>
          <p:nvPr/>
        </p:nvSpPr>
        <p:spPr>
          <a:xfrm>
            <a:off x="6546850" y="393918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setInterval(функция, мс)</a:t>
            </a:r>
            <a:endParaRPr lang="en-US" sz="1500" dirty="0"/>
          </a:p>
        </p:txBody>
      </p:sp>
      <p:sp>
        <p:nvSpPr>
          <p:cNvPr id="25" name="Text 22"/>
          <p:cNvSpPr/>
          <p:nvPr/>
        </p:nvSpPr>
        <p:spPr>
          <a:xfrm>
            <a:off x="6546850" y="421858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повторяет, пока его не остановит clearInterval</a:t>
            </a:r>
            <a:endParaRPr lang="en-US" sz="1400" dirty="0"/>
          </a:p>
        </p:txBody>
      </p:sp>
      <p:sp>
        <p:nvSpPr>
          <p:cNvPr id="26" name="Shape 23"/>
          <p:cNvSpPr/>
          <p:nvPr/>
        </p:nvSpPr>
        <p:spPr>
          <a:xfrm>
            <a:off x="6388100" y="4525863"/>
            <a:ext cx="0" cy="510480"/>
          </a:xfrm>
          <a:prstGeom prst="line">
            <a:avLst/>
          </a:prstGeom>
          <a:noFill/>
          <a:ln w="63500">
            <a:solidFill>
              <a:srgbClr val="972996"/>
            </a:solidFill>
            <a:prstDash val="solid"/>
          </a:ln>
        </p:spPr>
      </p:sp>
      <p:sp>
        <p:nvSpPr>
          <p:cNvPr id="27" name="Text 24"/>
          <p:cNvSpPr/>
          <p:nvPr/>
        </p:nvSpPr>
        <p:spPr>
          <a:xfrm>
            <a:off x="6546850" y="452586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requestAnimationFrame</a:t>
            </a:r>
            <a:endParaRPr lang="en-US" sz="1500" dirty="0"/>
          </a:p>
        </p:txBody>
      </p:sp>
      <p:sp>
        <p:nvSpPr>
          <p:cNvPr id="28" name="Text 25"/>
          <p:cNvSpPr/>
          <p:nvPr/>
        </p:nvSpPr>
        <p:spPr>
          <a:xfrm>
            <a:off x="6546850" y="480526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для плавной анимации: вызывается перед каждой перерисовкой</a:t>
            </a:r>
            <a:endParaRPr lang="en-US" sz="1400" dirty="0"/>
          </a:p>
        </p:txBody>
      </p:sp>
      <p:pic>
        <p:nvPicPr>
          <p:cNvPr id="29" name="Рисунок 28"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453601" y="148038"/>
            <a:ext cx="737272" cy="72597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localStorage: память браузера</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Данные остаются после перезагрузки страницы и закрытия вкладки</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482600"/>
          </a:xfrm>
          <a:prstGeom prst="roundRect">
            <a:avLst>
              <a:gd name="adj" fmla="val 15789"/>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&lt;input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placeholder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"Заметка"</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p:txBody>
      </p:sp>
      <p:sp>
        <p:nvSpPr>
          <p:cNvPr id="8" name="Text 5"/>
          <p:cNvSpPr/>
          <p:nvPr/>
        </p:nvSpPr>
        <p:spPr>
          <a:xfrm>
            <a:off x="635000" y="21537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2478782"/>
            <a:ext cx="5200650" cy="2311400"/>
          </a:xfrm>
          <a:prstGeom prst="roundRect">
            <a:avLst>
              <a:gd name="adj" fmla="val 3297"/>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note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note.value = localStorage.</a:t>
            </a:r>
            <a:r>
              <a:rPr lang="en-US" sz="1200" dirty="0">
                <a:solidFill>
                  <a:srgbClr val="FFD27F"/>
                </a:solidFill>
                <a:latin typeface="JetBrains Mono" pitchFamily="49" charset="0"/>
                <a:ea typeface="JetBrains Mono" pitchFamily="49" charset="-122"/>
                <a:cs typeface="JetBrains Mono" pitchFamily="49" charset="-120"/>
              </a:rPr>
              <a:t>getItem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 ?? </a:t>
            </a:r>
            <a:r>
              <a:rPr lang="en-US" sz="1200" dirty="0">
                <a:solidFill>
                  <a:srgbClr val="9EE6A8"/>
                </a:solidFill>
                <a:latin typeface="JetBrains Mono" pitchFamily="49" charset="0"/>
                <a:ea typeface="JetBrains Mono" pitchFamily="49" charset="-122"/>
                <a:cs typeface="JetBrains Mono" pitchFamily="49" charset="-120"/>
              </a:rPr>
              <a: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note.</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"input"</a:t>
            </a:r>
            <a:r>
              <a:rPr lang="en-US" sz="1200" dirty="0">
                <a:solidFill>
                  <a:srgbClr val="FFFFFF"/>
                </a:solidFill>
                <a:latin typeface="JetBrains Mono" pitchFamily="49" charset="0"/>
                <a:ea typeface="JetBrains Mono" pitchFamily="49" charset="-122"/>
                <a:cs typeface="JetBrains Mono" pitchFamily="49" charset="-120"/>
              </a:rPr>
              <a:t>, () =&gt;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localStorage.</a:t>
            </a:r>
            <a:r>
              <a:rPr lang="en-US" sz="1200" dirty="0">
                <a:solidFill>
                  <a:srgbClr val="FFD27F"/>
                </a:solidFill>
                <a:latin typeface="JetBrains Mono" pitchFamily="49" charset="0"/>
                <a:ea typeface="JetBrains Mono" pitchFamily="49" charset="-122"/>
                <a:cs typeface="JetBrains Mono" pitchFamily="49" charset="-120"/>
              </a:rPr>
              <a:t>setItem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"note"</a:t>
            </a:r>
            <a:r>
              <a:rPr lang="en-US" sz="1200" dirty="0">
                <a:solidFill>
                  <a:srgbClr val="FFFFFF"/>
                </a:solidFill>
                <a:latin typeface="JetBrains Mono" pitchFamily="49" charset="0"/>
                <a:ea typeface="JetBrains Mono" pitchFamily="49" charset="-122"/>
                <a:cs typeface="JetBrains Mono" pitchFamily="49" charset="-120"/>
              </a:rPr>
              <a:t>, note.value);</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user = { theme: </a:t>
            </a:r>
            <a:r>
              <a:rPr lang="en-US" sz="1200" dirty="0">
                <a:solidFill>
                  <a:srgbClr val="9EE6A8"/>
                </a:solidFill>
                <a:latin typeface="JetBrains Mono" pitchFamily="49" charset="0"/>
                <a:ea typeface="JetBrains Mono" pitchFamily="49" charset="-122"/>
                <a:cs typeface="JetBrains Mono" pitchFamily="49" charset="-120"/>
              </a:rPr>
              <a:t>"dark"</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localStorage.</a:t>
            </a:r>
            <a:r>
              <a:rPr lang="en-US" sz="1200" dirty="0">
                <a:solidFill>
                  <a:srgbClr val="FFD27F"/>
                </a:solidFill>
                <a:latin typeface="JetBrains Mono" pitchFamily="49" charset="0"/>
                <a:ea typeface="JetBrains Mono" pitchFamily="49" charset="-122"/>
                <a:cs typeface="JetBrains Mono" pitchFamily="49" charset="-120"/>
              </a:rPr>
              <a:t>setItem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"u"</a:t>
            </a:r>
            <a:r>
              <a:rPr lang="en-US" sz="1200" dirty="0">
                <a:solidFill>
                  <a:srgbClr val="FFFFFF"/>
                </a:solidFill>
                <a:latin typeface="JetBrains Mono" pitchFamily="49" charset="0"/>
                <a:ea typeface="JetBrains Mono" pitchFamily="49" charset="-122"/>
                <a:cs typeface="JetBrains Mono" pitchFamily="49" charset="-120"/>
              </a:rPr>
              <a:t>, JSON.</a:t>
            </a:r>
            <a:r>
              <a:rPr lang="en-US" sz="1200" dirty="0">
                <a:solidFill>
                  <a:srgbClr val="FFD27F"/>
                </a:solidFill>
                <a:latin typeface="JetBrains Mono" pitchFamily="49" charset="0"/>
                <a:ea typeface="JetBrains Mono" pitchFamily="49" charset="-122"/>
                <a:cs typeface="JetBrains Mono" pitchFamily="49" charset="-120"/>
              </a:rPr>
              <a:t>stringify</a:t>
            </a:r>
            <a:r>
              <a:rPr lang="en-US" sz="1200" dirty="0">
                <a:solidFill>
                  <a:srgbClr val="FFFFFF"/>
                </a:solidFill>
                <a:latin typeface="JetBrains Mono" pitchFamily="49" charset="0"/>
                <a:ea typeface="JetBrains Mono" pitchFamily="49" charset="-122"/>
                <a:cs typeface="JetBrains Mono" pitchFamily="49" charset="-120"/>
              </a:rPr>
              <a:t>(user));</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b = JSON.</a:t>
            </a:r>
            <a:r>
              <a:rPr lang="en-US" sz="1200" dirty="0">
                <a:solidFill>
                  <a:srgbClr val="FFD27F"/>
                </a:solidFill>
                <a:latin typeface="JetBrains Mono" pitchFamily="49" charset="0"/>
                <a:ea typeface="JetBrains Mono" pitchFamily="49" charset="-122"/>
                <a:cs typeface="JetBrains Mono" pitchFamily="49" charset="-120"/>
              </a:rPr>
              <a:t>parse</a:t>
            </a:r>
            <a:r>
              <a:rPr lang="en-US" sz="1200" dirty="0">
                <a:solidFill>
                  <a:srgbClr val="FFFFFF"/>
                </a:solidFill>
                <a:latin typeface="JetBrains Mono" pitchFamily="49" charset="0"/>
                <a:ea typeface="JetBrains Mono" pitchFamily="49" charset="-122"/>
                <a:cs typeface="JetBrains Mono" pitchFamily="49" charset="-120"/>
              </a:rPr>
              <a:t>(localStorage.</a:t>
            </a:r>
            <a:r>
              <a:rPr lang="en-US" sz="1200" dirty="0">
                <a:solidFill>
                  <a:srgbClr val="FFD27F"/>
                </a:solidFill>
                <a:latin typeface="JetBrains Mono" pitchFamily="49" charset="0"/>
                <a:ea typeface="JetBrains Mono" pitchFamily="49" charset="-122"/>
                <a:cs typeface="JetBrains Mono" pitchFamily="49" charset="-120"/>
              </a:rPr>
              <a:t>getItem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"u"</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(b.theme);</a:t>
            </a:r>
            <a:endParaRPr lang="en-US" sz="1200" dirty="0"/>
          </a:p>
        </p:txBody>
      </p:sp>
      <p:sp>
        <p:nvSpPr>
          <p:cNvPr id="10" name="Shape 7"/>
          <p:cNvSpPr/>
          <p:nvPr/>
        </p:nvSpPr>
        <p:spPr>
          <a:xfrm>
            <a:off x="6089650" y="1269901"/>
            <a:ext cx="12700" cy="3992364"/>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Результат после перезагрузки страницы</a:t>
            </a:r>
            <a:endParaRPr lang="en-US" sz="1400" dirty="0"/>
          </a:p>
        </p:txBody>
      </p:sp>
      <p:sp>
        <p:nvSpPr>
          <p:cNvPr id="12" name="Shape 9"/>
          <p:cNvSpPr/>
          <p:nvPr/>
        </p:nvSpPr>
        <p:spPr>
          <a:xfrm>
            <a:off x="6356350" y="1594941"/>
            <a:ext cx="5200650" cy="1644452"/>
          </a:xfrm>
          <a:prstGeom prst="roundRect">
            <a:avLst>
              <a:gd name="adj" fmla="val 4634"/>
            </a:avLst>
          </a:prstGeom>
          <a:solidFill>
            <a:srgbClr val="FFFFFF"/>
          </a:solidFill>
          <a:ln/>
        </p:spPr>
      </p:sp>
      <p:sp>
        <p:nvSpPr>
          <p:cNvPr id="13" name="Shape 10"/>
          <p:cNvSpPr/>
          <p:nvPr/>
        </p:nvSpPr>
        <p:spPr>
          <a:xfrm>
            <a:off x="6356350" y="1594941"/>
            <a:ext cx="5200650" cy="391120"/>
          </a:xfrm>
          <a:custGeom>
            <a:avLst/>
            <a:gdLst/>
            <a:ahLst/>
            <a:cxnLst/>
            <a:rect l="l" t="t" r="r" b="b"/>
            <a:pathLst>
              <a:path w="5200650" h="391120">
                <a:moveTo>
                  <a:pt x="0" y="76200"/>
                </a:moveTo>
                <a:arcTo wR="76200" hR="76200" stAng="10800000" swAng="5400000"/>
                <a:lnTo>
                  <a:pt x="5124450" y="0"/>
                </a:lnTo>
                <a:arcTo wR="76200" hR="76200" stAng="16200000" swAng="5400000"/>
                <a:lnTo>
                  <a:pt x="5200650" y="391120"/>
                </a:lnTo>
                <a:lnTo>
                  <a:pt x="0" y="391120"/>
                </a:lnTo>
                <a:close/>
              </a:path>
            </a:pathLst>
          </a:custGeom>
          <a:solidFill>
            <a:srgbClr val="E6E6E6"/>
          </a:solidFill>
          <a:ln/>
        </p:spPr>
      </p:sp>
      <p:sp>
        <p:nvSpPr>
          <p:cNvPr id="14" name="Shape 11"/>
          <p:cNvSpPr/>
          <p:nvPr/>
        </p:nvSpPr>
        <p:spPr>
          <a:xfrm>
            <a:off x="6483350" y="1739702"/>
            <a:ext cx="101600" cy="101600"/>
          </a:xfrm>
          <a:prstGeom prst="roundRect">
            <a:avLst>
              <a:gd name="adj" fmla="val 50000"/>
            </a:avLst>
          </a:prstGeom>
          <a:solidFill>
            <a:srgbClr val="E57373"/>
          </a:solidFill>
          <a:ln/>
        </p:spPr>
      </p:sp>
      <p:sp>
        <p:nvSpPr>
          <p:cNvPr id="15" name="Shape 12"/>
          <p:cNvSpPr/>
          <p:nvPr/>
        </p:nvSpPr>
        <p:spPr>
          <a:xfrm>
            <a:off x="6648450" y="1739702"/>
            <a:ext cx="101600" cy="101600"/>
          </a:xfrm>
          <a:prstGeom prst="roundRect">
            <a:avLst>
              <a:gd name="adj" fmla="val 50000"/>
            </a:avLst>
          </a:prstGeom>
          <a:solidFill>
            <a:srgbClr val="FFD54F"/>
          </a:solidFill>
          <a:ln/>
        </p:spPr>
      </p:sp>
      <p:sp>
        <p:nvSpPr>
          <p:cNvPr id="16" name="Shape 13"/>
          <p:cNvSpPr/>
          <p:nvPr/>
        </p:nvSpPr>
        <p:spPr>
          <a:xfrm>
            <a:off x="6813550" y="1739702"/>
            <a:ext cx="101600" cy="101600"/>
          </a:xfrm>
          <a:prstGeom prst="roundRect">
            <a:avLst>
              <a:gd name="adj" fmla="val 50000"/>
            </a:avLst>
          </a:prstGeom>
          <a:solidFill>
            <a:srgbClr val="81C784"/>
          </a:solidFill>
          <a:ln/>
        </p:spPr>
      </p:sp>
      <p:sp>
        <p:nvSpPr>
          <p:cNvPr id="17" name="Text 14"/>
          <p:cNvSpPr/>
          <p:nvPr/>
        </p:nvSpPr>
        <p:spPr>
          <a:xfrm>
            <a:off x="7054850" y="168384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8" name="Text 15"/>
          <p:cNvSpPr/>
          <p:nvPr/>
        </p:nvSpPr>
        <p:spPr>
          <a:xfrm>
            <a:off x="6578600" y="2144812"/>
            <a:ext cx="2400300" cy="337741"/>
          </a:xfrm>
          <a:prstGeom prst="rect">
            <a:avLst/>
          </a:prstGeom>
          <a:noFill/>
          <a:ln w="12700">
            <a:solidFill>
              <a:srgbClr val="777777"/>
            </a:solidFill>
            <a:prstDash val="solid"/>
          </a:ln>
        </p:spPr>
        <p:txBody>
          <a:bodyPr wrap="square" lIns="69850" tIns="44450" rIns="2032" bIns="19050" rtlCol="0" anchor="t">
            <a:normAutofit/>
          </a:bodyPr>
          <a:lstStyle/>
          <a:p>
            <a:pPr marL="0" indent="0" algn="l">
              <a:lnSpc>
                <a:spcPts val="1960"/>
              </a:lnSpc>
              <a:buNone/>
            </a:pPr>
            <a:r>
              <a:rPr lang="en-US" sz="1400" dirty="0">
                <a:solidFill>
                  <a:srgbClr val="111111"/>
                </a:solidFill>
                <a:latin typeface="Arial" pitchFamily="34" charset="0"/>
                <a:ea typeface="Arial" pitchFamily="34" charset="-122"/>
                <a:cs typeface="Arial" pitchFamily="34" charset="-120"/>
              </a:rPr>
              <a:t>Купить хлеб</a:t>
            </a:r>
            <a:endParaRPr lang="en-US" sz="1400" dirty="0"/>
          </a:p>
        </p:txBody>
      </p:sp>
      <p:sp>
        <p:nvSpPr>
          <p:cNvPr id="19" name="Text 16"/>
          <p:cNvSpPr/>
          <p:nvPr/>
        </p:nvSpPr>
        <p:spPr>
          <a:xfrm>
            <a:off x="6572250" y="2565102"/>
            <a:ext cx="4911916"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5555"/>
                </a:solidFill>
                <a:latin typeface="Arial" pitchFamily="34" charset="0"/>
                <a:ea typeface="Arial" pitchFamily="34" charset="-122"/>
                <a:cs typeface="Arial" pitchFamily="34" charset="-120"/>
              </a:rPr>
              <a:t>Текст вернулся из памяти браузера.</a:t>
            </a:r>
            <a:endParaRPr lang="en-US" sz="1300" dirty="0"/>
          </a:p>
        </p:txBody>
      </p:sp>
      <p:sp>
        <p:nvSpPr>
          <p:cNvPr id="20" name="Text 17"/>
          <p:cNvSpPr/>
          <p:nvPr/>
        </p:nvSpPr>
        <p:spPr>
          <a:xfrm>
            <a:off x="6572250" y="2855913"/>
            <a:ext cx="491191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5FB4"/>
                </a:solidFill>
                <a:latin typeface="JetBrains Mono" pitchFamily="49" charset="0"/>
                <a:ea typeface="JetBrains Mono" pitchFamily="49" charset="-122"/>
                <a:cs typeface="JetBrains Mono" pitchFamily="49" charset="-120"/>
              </a:rPr>
              <a:t>Console: dark</a:t>
            </a:r>
            <a:endParaRPr lang="en-US" sz="1300" dirty="0"/>
          </a:p>
        </p:txBody>
      </p:sp>
      <p:sp>
        <p:nvSpPr>
          <p:cNvPr id="21" name="Text 18"/>
          <p:cNvSpPr/>
          <p:nvPr/>
        </p:nvSpPr>
        <p:spPr>
          <a:xfrm>
            <a:off x="6356350" y="3315593"/>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Только строки.</a:t>
            </a:r>
            <a:r>
              <a:rPr lang="en-US" sz="1350" dirty="0">
                <a:solidFill>
                  <a:srgbClr val="FFFFFF"/>
                </a:solidFill>
                <a:latin typeface="Carlito" pitchFamily="34" charset="0"/>
                <a:ea typeface="Carlito" pitchFamily="34" charset="-122"/>
                <a:cs typeface="Carlito" pitchFamily="34" charset="-120"/>
              </a:rPr>
              <a:t> Объекты и массивы переводят через JSON.stringify и JSON.parse.</a:t>
            </a:r>
            <a:endParaRPr lang="en-US" sz="1350" dirty="0"/>
          </a:p>
        </p:txBody>
      </p:sp>
      <p:sp>
        <p:nvSpPr>
          <p:cNvPr id="22" name="Text 19"/>
          <p:cNvSpPr/>
          <p:nvPr/>
        </p:nvSpPr>
        <p:spPr>
          <a:xfrm>
            <a:off x="6356350" y="3989884"/>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Методы:</a:t>
            </a:r>
            <a:r>
              <a:rPr lang="en-US" sz="1350" dirty="0">
                <a:solidFill>
                  <a:srgbClr val="FFFFFF"/>
                </a:solidFill>
                <a:latin typeface="Carlito" pitchFamily="34" charset="0"/>
                <a:ea typeface="Carlito" pitchFamily="34" charset="-122"/>
                <a:cs typeface="Carlito" pitchFamily="34" charset="-120"/>
              </a:rPr>
              <a:t> setItem, getItem, removeItem, clear. Вариант sessionStorage живёт до закрытия вкладки.</a:t>
            </a:r>
            <a:endParaRPr lang="en-US" sz="1350" dirty="0"/>
          </a:p>
        </p:txBody>
      </p:sp>
      <p:sp>
        <p:nvSpPr>
          <p:cNvPr id="23" name="Text 20"/>
          <p:cNvSpPr/>
          <p:nvPr/>
        </p:nvSpPr>
        <p:spPr>
          <a:xfrm>
            <a:off x="6356350" y="4664174"/>
            <a:ext cx="5200650" cy="598091"/>
          </a:xfrm>
          <a:prstGeom prst="roundRect">
            <a:avLst>
              <a:gd name="adj" fmla="val 12741"/>
            </a:avLst>
          </a:prstGeom>
          <a:solidFill>
            <a:srgbClr val="7A1F79"/>
          </a:solidFill>
          <a:ln/>
        </p:spPr>
        <p:txBody>
          <a:bodyPr wrap="square" lIns="117382" tIns="53882" rIns="0" bIns="28482" rtlCol="0" anchor="t">
            <a:normAutofit/>
          </a:bodyPr>
          <a:lstStyle/>
          <a:p>
            <a:pPr marL="0" indent="0" algn="l">
              <a:lnSpc>
                <a:spcPts val="1755"/>
              </a:lnSpc>
              <a:buNone/>
            </a:pPr>
            <a:r>
              <a:rPr lang="en-US" sz="1350" b="1" dirty="0">
                <a:solidFill>
                  <a:srgbClr val="FFFFFF"/>
                </a:solidFill>
                <a:latin typeface="Carlito" pitchFamily="34" charset="0"/>
                <a:ea typeface="Carlito" pitchFamily="34" charset="-122"/>
                <a:cs typeface="Carlito" pitchFamily="34" charset="-120"/>
              </a:rPr>
              <a:t>Осторожно:</a:t>
            </a:r>
            <a:r>
              <a:rPr lang="en-US" sz="1350" dirty="0">
                <a:solidFill>
                  <a:srgbClr val="FFFFFF"/>
                </a:solidFill>
                <a:latin typeface="Carlito" pitchFamily="34" charset="0"/>
                <a:ea typeface="Carlito" pitchFamily="34" charset="-122"/>
                <a:cs typeface="Carlito" pitchFamily="34" charset="-120"/>
              </a:rPr>
              <a:t> данные видны пользователю, паролям здесь не место.</a:t>
            </a:r>
            <a:endParaRPr lang="en-US" sz="1350" dirty="0"/>
          </a:p>
        </p:txBody>
      </p:sp>
      <p:pic>
        <p:nvPicPr>
          <p:cNvPr id="24" name="Рисунок 2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9897249" y="202116"/>
            <a:ext cx="737272" cy="72597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Запросы к серверу: fetch</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Получаем данные и выводим их на страницу</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482600"/>
          </a:xfrm>
          <a:prstGeom prst="roundRect">
            <a:avLst>
              <a:gd name="adj" fmla="val 15789"/>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&lt;ul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9DE2"/>
                </a:solidFill>
                <a:latin typeface="JetBrains Mono" pitchFamily="49" charset="0"/>
                <a:ea typeface="JetBrains Mono" pitchFamily="49" charset="-122"/>
                <a:cs typeface="JetBrains Mono" pitchFamily="49" charset="-120"/>
              </a:rPr>
              <a:t>&gt;&lt;/ul&gt;</a:t>
            </a:r>
            <a:endParaRPr lang="en-US" sz="1200" dirty="0"/>
          </a:p>
        </p:txBody>
      </p:sp>
      <p:sp>
        <p:nvSpPr>
          <p:cNvPr id="8" name="Text 5"/>
          <p:cNvSpPr/>
          <p:nvPr/>
        </p:nvSpPr>
        <p:spPr>
          <a:xfrm>
            <a:off x="635000" y="21537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JavaScript</a:t>
            </a:r>
            <a:endParaRPr lang="en-US" sz="1400" dirty="0"/>
          </a:p>
        </p:txBody>
      </p:sp>
      <p:sp>
        <p:nvSpPr>
          <p:cNvPr id="9" name="Text 6"/>
          <p:cNvSpPr/>
          <p:nvPr/>
        </p:nvSpPr>
        <p:spPr>
          <a:xfrm>
            <a:off x="635000" y="2478782"/>
            <a:ext cx="5200650" cy="2768600"/>
          </a:xfrm>
          <a:prstGeom prst="roundRect">
            <a:avLst>
              <a:gd name="adj" fmla="val 2752"/>
            </a:avLst>
          </a:prstGeom>
          <a:solidFill>
            <a:srgbClr val="2A002A"/>
          </a:solidFill>
          <a:ln/>
        </p:spPr>
        <p:txBody>
          <a:bodyPr wrap="square" lIns="142782" tIns="104682" rIns="0" bIns="79282" rtlCol="0" anchor="t">
            <a:normAutofit/>
          </a:bodyPr>
          <a:lstStyle/>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list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9DE2"/>
                </a:solidFill>
                <a:latin typeface="JetBrains Mono" pitchFamily="49" charset="0"/>
                <a:ea typeface="JetBrains Mono" pitchFamily="49" charset="-122"/>
                <a:cs typeface="JetBrains Mono" pitchFamily="49" charset="-120"/>
              </a:rPr>
              <a:t>async 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load</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res = </a:t>
            </a:r>
            <a:r>
              <a:rPr lang="en-US" sz="1200" dirty="0">
                <a:solidFill>
                  <a:srgbClr val="FF9DE2"/>
                </a:solidFill>
                <a:latin typeface="JetBrains Mono" pitchFamily="49" charset="0"/>
                <a:ea typeface="JetBrains Mono" pitchFamily="49" charset="-122"/>
                <a:cs typeface="JetBrains Mono" pitchFamily="49" charset="-120"/>
              </a:rPr>
              <a:t>await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fetch</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"/api/users"</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users = </a:t>
            </a:r>
            <a:r>
              <a:rPr lang="en-US" sz="1200" dirty="0">
                <a:solidFill>
                  <a:srgbClr val="FF9DE2"/>
                </a:solidFill>
                <a:latin typeface="JetBrains Mono" pitchFamily="49" charset="0"/>
                <a:ea typeface="JetBrains Mono" pitchFamily="49" charset="-122"/>
                <a:cs typeface="JetBrains Mono" pitchFamily="49" charset="-120"/>
              </a:rPr>
              <a:t>await</a:t>
            </a:r>
            <a:r>
              <a:rPr lang="en-US" sz="1200" dirty="0">
                <a:solidFill>
                  <a:srgbClr val="FFFFFF"/>
                </a:solidFill>
                <a:latin typeface="JetBrains Mono" pitchFamily="49" charset="0"/>
                <a:ea typeface="JetBrains Mono" pitchFamily="49" charset="-122"/>
                <a:cs typeface="JetBrains Mono" pitchFamily="49" charset="-120"/>
              </a:rPr>
              <a:t> res.</a:t>
            </a:r>
            <a:r>
              <a:rPr lang="en-US" sz="1200" dirty="0">
                <a:solidFill>
                  <a:srgbClr val="FFD27F"/>
                </a:solidFill>
                <a:latin typeface="JetBrains Mono" pitchFamily="49" charset="0"/>
                <a:ea typeface="JetBrains Mono" pitchFamily="49" charset="-122"/>
                <a:cs typeface="JetBrains Mono" pitchFamily="49" charset="-120"/>
              </a:rPr>
              <a:t>json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for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u </a:t>
            </a:r>
            <a:r>
              <a:rPr lang="en-US" sz="1200" dirty="0">
                <a:solidFill>
                  <a:srgbClr val="FF9DE2"/>
                </a:solidFill>
                <a:latin typeface="JetBrains Mono" pitchFamily="49" charset="0"/>
                <a:ea typeface="JetBrains Mono" pitchFamily="49" charset="-122"/>
                <a:cs typeface="JetBrains Mono" pitchFamily="49" charset="-120"/>
              </a:rPr>
              <a:t>of</a:t>
            </a:r>
            <a:r>
              <a:rPr lang="en-US" sz="1200" dirty="0">
                <a:solidFill>
                  <a:srgbClr val="FFFFFF"/>
                </a:solidFill>
                <a:latin typeface="JetBrains Mono" pitchFamily="49" charset="0"/>
                <a:ea typeface="JetBrains Mono" pitchFamily="49" charset="-122"/>
                <a:cs typeface="JetBrains Mono" pitchFamily="49" charset="-120"/>
              </a:rPr>
              <a:t> users)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li = document.</a:t>
            </a:r>
            <a:r>
              <a:rPr lang="en-US" sz="1200" dirty="0">
                <a:solidFill>
                  <a:srgbClr val="FFD27F"/>
                </a:solidFill>
                <a:latin typeface="JetBrains Mono" pitchFamily="49" charset="0"/>
                <a:ea typeface="JetBrains Mono" pitchFamily="49" charset="-122"/>
                <a:cs typeface="JetBrains Mono" pitchFamily="49" charset="-120"/>
              </a:rPr>
              <a:t>createElement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li.textContent = </a:t>
            </a:r>
            <a:r>
              <a:rPr lang="en-US" sz="1200" dirty="0">
                <a:solidFill>
                  <a:srgbClr val="9EE6A8"/>
                </a:solidFill>
                <a:latin typeface="JetBrains Mono" pitchFamily="49" charset="0"/>
                <a:ea typeface="JetBrains Mono" pitchFamily="49" charset="-122"/>
                <a:cs typeface="JetBrains Mono" pitchFamily="49" charset="-120"/>
              </a:rPr>
              <a:t>`${u.name}, ${u.city}`</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list.</a:t>
            </a:r>
            <a:r>
              <a:rPr lang="en-US" sz="1200" dirty="0">
                <a:solidFill>
                  <a:srgbClr val="FFD27F"/>
                </a:solidFill>
                <a:latin typeface="JetBrains Mono" pitchFamily="49" charset="0"/>
                <a:ea typeface="JetBrains Mono" pitchFamily="49" charset="-122"/>
                <a:cs typeface="JetBrains Mono" pitchFamily="49" charset="-120"/>
              </a:rPr>
              <a:t>append</a:t>
            </a:r>
            <a:r>
              <a:rPr lang="en-US" sz="1200" dirty="0">
                <a:solidFill>
                  <a:srgbClr val="FFFFFF"/>
                </a:solidFill>
                <a:latin typeface="JetBrains Mono" pitchFamily="49" charset="0"/>
                <a:ea typeface="JetBrains Mono" pitchFamily="49" charset="-122"/>
                <a:cs typeface="JetBrains Mono" pitchFamily="49" charset="-120"/>
              </a:rPr>
              <a:t>(li);</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D27F"/>
                </a:solidFill>
                <a:latin typeface="JetBrains Mono" pitchFamily="49" charset="0"/>
                <a:ea typeface="JetBrains Mono" pitchFamily="49" charset="-122"/>
                <a:cs typeface="JetBrains Mono" pitchFamily="49" charset="-120"/>
              </a:rPr>
              <a:t>load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catch</a:t>
            </a:r>
            <a:r>
              <a:rPr lang="en-US" sz="1200" dirty="0">
                <a:solidFill>
                  <a:srgbClr val="FFFFFF"/>
                </a:solidFill>
                <a:latin typeface="JetBrains Mono" pitchFamily="49" charset="0"/>
                <a:ea typeface="JetBrains Mono" pitchFamily="49" charset="-122"/>
                <a:cs typeface="JetBrains Mono" pitchFamily="49" charset="-120"/>
              </a:rPr>
              <a:t>(() =&gt; console.</a:t>
            </a:r>
            <a:r>
              <a:rPr lang="en-US" sz="1200" dirty="0">
                <a:solidFill>
                  <a:srgbClr val="FFD27F"/>
                </a:solidFill>
                <a:latin typeface="JetBrains Mono" pitchFamily="49" charset="0"/>
                <a:ea typeface="JetBrains Mono" pitchFamily="49" charset="-122"/>
                <a:cs typeface="JetBrains Mono" pitchFamily="49" charset="-120"/>
              </a:rPr>
              <a:t>log</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"Ошибка"</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6089650" y="1269901"/>
            <a:ext cx="12700" cy="4005163"/>
          </a:xfrm>
          <a:prstGeom prst="rect">
            <a:avLst/>
          </a:prstGeom>
          <a:solidFill>
            <a:srgbClr val="972996"/>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Ответ сервера (JSON)</a:t>
            </a:r>
            <a:endParaRPr lang="en-US" sz="1400" dirty="0"/>
          </a:p>
        </p:txBody>
      </p:sp>
      <p:sp>
        <p:nvSpPr>
          <p:cNvPr id="12" name="Text 9"/>
          <p:cNvSpPr/>
          <p:nvPr/>
        </p:nvSpPr>
        <p:spPr>
          <a:xfrm>
            <a:off x="6356350" y="1594941"/>
            <a:ext cx="5200650" cy="635000"/>
          </a:xfrm>
          <a:prstGeom prst="roundRect">
            <a:avLst>
              <a:gd name="adj" fmla="val 12000"/>
            </a:avLst>
          </a:prstGeom>
          <a:solidFill>
            <a:srgbClr val="2A002A"/>
          </a:solidFill>
          <a:ln/>
        </p:spPr>
        <p:txBody>
          <a:bodyPr wrap="square" lIns="117382" tIns="66582" rIns="0" bIns="41182" rtlCol="0" anchor="t">
            <a:normAutofit/>
          </a:bodyPr>
          <a:lstStyle/>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"Анна"</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"city"</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"Омск"</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"Олег"</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"city"</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9EE6A8"/>
                </a:solidFill>
                <a:latin typeface="JetBrains Mono" pitchFamily="49" charset="0"/>
                <a:ea typeface="JetBrains Mono" pitchFamily="49" charset="-122"/>
                <a:cs typeface="JetBrains Mono" pitchFamily="49" charset="-120"/>
              </a:rPr>
              <a:t>"Тверь"</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sp>
        <p:nvSpPr>
          <p:cNvPr id="13" name="Text 10"/>
          <p:cNvSpPr/>
          <p:nvPr/>
        </p:nvSpPr>
        <p:spPr>
          <a:xfrm>
            <a:off x="6356350" y="230614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72996"/>
                </a:solidFill>
                <a:latin typeface="Carlito" pitchFamily="34" charset="0"/>
                <a:ea typeface="Carlito" pitchFamily="34" charset="-122"/>
                <a:cs typeface="Carlito" pitchFamily="34" charset="-120"/>
              </a:rPr>
              <a:t>Результат в браузере</a:t>
            </a:r>
            <a:endParaRPr lang="en-US" sz="1400" dirty="0"/>
          </a:p>
        </p:txBody>
      </p:sp>
      <p:sp>
        <p:nvSpPr>
          <p:cNvPr id="14" name="Shape 11"/>
          <p:cNvSpPr/>
          <p:nvPr/>
        </p:nvSpPr>
        <p:spPr>
          <a:xfrm>
            <a:off x="6365875" y="2640707"/>
            <a:ext cx="5181600" cy="1220391"/>
          </a:xfrm>
          <a:prstGeom prst="roundRect">
            <a:avLst>
              <a:gd name="adj" fmla="val 5463"/>
            </a:avLst>
          </a:prstGeom>
          <a:solidFill>
            <a:srgbClr val="FFFFFF"/>
          </a:solidFill>
          <a:ln w="19050">
            <a:solidFill>
              <a:srgbClr val="972996"/>
            </a:solidFill>
            <a:prstDash val="solid"/>
          </a:ln>
        </p:spPr>
      </p:sp>
      <p:sp>
        <p:nvSpPr>
          <p:cNvPr id="15" name="Shape 12"/>
          <p:cNvSpPr/>
          <p:nvPr/>
        </p:nvSpPr>
        <p:spPr>
          <a:xfrm>
            <a:off x="6375400" y="2650232"/>
            <a:ext cx="5162550" cy="391120"/>
          </a:xfrm>
          <a:custGeom>
            <a:avLst/>
            <a:gdLst/>
            <a:ahLst/>
            <a:cxnLst/>
            <a:rect l="l" t="t" r="r" b="b"/>
            <a:pathLst>
              <a:path w="5162550" h="391120">
                <a:moveTo>
                  <a:pt x="0" y="57150"/>
                </a:moveTo>
                <a:arcTo wR="57150" hR="57150" stAng="10800000" swAng="5400000"/>
                <a:lnTo>
                  <a:pt x="5105400" y="0"/>
                </a:lnTo>
                <a:arcTo wR="57150" hR="57150" stAng="16200000" swAng="5400000"/>
                <a:lnTo>
                  <a:pt x="5162550" y="391120"/>
                </a:lnTo>
                <a:lnTo>
                  <a:pt x="0" y="391120"/>
                </a:lnTo>
                <a:close/>
              </a:path>
            </a:pathLst>
          </a:custGeom>
          <a:solidFill>
            <a:srgbClr val="E6E6E6"/>
          </a:solidFill>
          <a:ln/>
        </p:spPr>
      </p:sp>
      <p:sp>
        <p:nvSpPr>
          <p:cNvPr id="16" name="Shape 13"/>
          <p:cNvSpPr/>
          <p:nvPr/>
        </p:nvSpPr>
        <p:spPr>
          <a:xfrm>
            <a:off x="6502400" y="2794992"/>
            <a:ext cx="101600" cy="101600"/>
          </a:xfrm>
          <a:prstGeom prst="roundRect">
            <a:avLst>
              <a:gd name="adj" fmla="val 50000"/>
            </a:avLst>
          </a:prstGeom>
          <a:solidFill>
            <a:srgbClr val="E57373"/>
          </a:solidFill>
          <a:ln/>
        </p:spPr>
      </p:sp>
      <p:sp>
        <p:nvSpPr>
          <p:cNvPr id="17" name="Shape 14"/>
          <p:cNvSpPr/>
          <p:nvPr/>
        </p:nvSpPr>
        <p:spPr>
          <a:xfrm>
            <a:off x="6667500" y="2794992"/>
            <a:ext cx="101600" cy="101600"/>
          </a:xfrm>
          <a:prstGeom prst="roundRect">
            <a:avLst>
              <a:gd name="adj" fmla="val 50000"/>
            </a:avLst>
          </a:prstGeom>
          <a:solidFill>
            <a:srgbClr val="FFD54F"/>
          </a:solidFill>
          <a:ln/>
        </p:spPr>
      </p:sp>
      <p:sp>
        <p:nvSpPr>
          <p:cNvPr id="18" name="Shape 15"/>
          <p:cNvSpPr/>
          <p:nvPr/>
        </p:nvSpPr>
        <p:spPr>
          <a:xfrm>
            <a:off x="6832600" y="2794992"/>
            <a:ext cx="101600" cy="101600"/>
          </a:xfrm>
          <a:prstGeom prst="roundRect">
            <a:avLst>
              <a:gd name="adj" fmla="val 50000"/>
            </a:avLst>
          </a:prstGeom>
          <a:solidFill>
            <a:srgbClr val="81C784"/>
          </a:solidFill>
          <a:ln/>
        </p:spPr>
      </p:sp>
      <p:sp>
        <p:nvSpPr>
          <p:cNvPr id="19" name="Text 16"/>
          <p:cNvSpPr/>
          <p:nvPr/>
        </p:nvSpPr>
        <p:spPr>
          <a:xfrm>
            <a:off x="7073900" y="2739132"/>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20" name="Text 17"/>
          <p:cNvSpPr/>
          <p:nvPr/>
        </p:nvSpPr>
        <p:spPr>
          <a:xfrm>
            <a:off x="6591300" y="3168352"/>
            <a:ext cx="4872673"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11111"/>
                </a:solidFill>
                <a:latin typeface="Times New Roman" pitchFamily="18" charset="0"/>
                <a:ea typeface="Times New Roman" pitchFamily="18" charset="-122"/>
                <a:cs typeface="Times New Roman" pitchFamily="18" charset="-120"/>
              </a:rPr>
              <a:t>• Анна, Омск</a:t>
            </a:r>
            <a:endParaRPr lang="en-US" sz="1700" dirty="0"/>
          </a:p>
        </p:txBody>
      </p:sp>
      <p:sp>
        <p:nvSpPr>
          <p:cNvPr id="21" name="Text 18"/>
          <p:cNvSpPr/>
          <p:nvPr/>
        </p:nvSpPr>
        <p:spPr>
          <a:xfrm>
            <a:off x="6591300" y="3465513"/>
            <a:ext cx="4872673"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11111"/>
                </a:solidFill>
                <a:latin typeface="Times New Roman" pitchFamily="18" charset="0"/>
                <a:ea typeface="Times New Roman" pitchFamily="18" charset="-122"/>
                <a:cs typeface="Times New Roman" pitchFamily="18" charset="-120"/>
              </a:rPr>
              <a:t>• Олег, Тверь</a:t>
            </a:r>
            <a:endParaRPr lang="en-US" sz="1700" dirty="0"/>
          </a:p>
        </p:txBody>
      </p:sp>
      <p:sp>
        <p:nvSpPr>
          <p:cNvPr id="22" name="Shape 19"/>
          <p:cNvSpPr/>
          <p:nvPr/>
        </p:nvSpPr>
        <p:spPr>
          <a:xfrm>
            <a:off x="6388100" y="3946823"/>
            <a:ext cx="0" cy="510480"/>
          </a:xfrm>
          <a:prstGeom prst="line">
            <a:avLst/>
          </a:prstGeom>
          <a:noFill/>
          <a:ln w="63500">
            <a:solidFill>
              <a:srgbClr val="972996"/>
            </a:solidFill>
            <a:prstDash val="solid"/>
          </a:ln>
        </p:spPr>
      </p:sp>
      <p:sp>
        <p:nvSpPr>
          <p:cNvPr id="23" name="Text 20"/>
          <p:cNvSpPr/>
          <p:nvPr/>
        </p:nvSpPr>
        <p:spPr>
          <a:xfrm>
            <a:off x="6546850" y="394682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fetch и await</a:t>
            </a:r>
            <a:endParaRPr lang="en-US" sz="1500" dirty="0"/>
          </a:p>
        </p:txBody>
      </p:sp>
      <p:sp>
        <p:nvSpPr>
          <p:cNvPr id="24" name="Text 21"/>
          <p:cNvSpPr/>
          <p:nvPr/>
        </p:nvSpPr>
        <p:spPr>
          <a:xfrm>
            <a:off x="6546850" y="4226223"/>
            <a:ext cx="5160455"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fetch возвращает Promise; res.json() превращает ответ в объект</a:t>
            </a:r>
            <a:endParaRPr lang="en-US" sz="1400" dirty="0"/>
          </a:p>
        </p:txBody>
      </p:sp>
      <p:sp>
        <p:nvSpPr>
          <p:cNvPr id="25" name="Shape 22"/>
          <p:cNvSpPr/>
          <p:nvPr/>
        </p:nvSpPr>
        <p:spPr>
          <a:xfrm>
            <a:off x="6388100" y="4533503"/>
            <a:ext cx="0" cy="741561"/>
          </a:xfrm>
          <a:prstGeom prst="line">
            <a:avLst/>
          </a:prstGeom>
          <a:noFill/>
          <a:ln w="63500">
            <a:solidFill>
              <a:srgbClr val="972996"/>
            </a:solidFill>
            <a:prstDash val="solid"/>
          </a:ln>
        </p:spPr>
      </p:sp>
      <p:sp>
        <p:nvSpPr>
          <p:cNvPr id="26" name="Text 23"/>
          <p:cNvSpPr/>
          <p:nvPr/>
        </p:nvSpPr>
        <p:spPr>
          <a:xfrm>
            <a:off x="6546850" y="4533503"/>
            <a:ext cx="5160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Ошибки</a:t>
            </a:r>
            <a:endParaRPr lang="en-US" sz="1500" dirty="0"/>
          </a:p>
        </p:txBody>
      </p:sp>
      <p:sp>
        <p:nvSpPr>
          <p:cNvPr id="27" name="Text 24"/>
          <p:cNvSpPr/>
          <p:nvPr/>
        </p:nvSpPr>
        <p:spPr>
          <a:xfrm>
            <a:off x="6546850" y="4812903"/>
            <a:ext cx="5160455"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нет сети или сервер недоступен — сработает catch; код ответа смотрят в res.ok</a:t>
            </a:r>
            <a:endParaRPr lang="en-US" sz="1400" dirty="0"/>
          </a:p>
        </p:txBody>
      </p:sp>
      <p:pic>
        <p:nvPicPr>
          <p:cNvPr id="28" name="Рисунок 27"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376482" y="287345"/>
            <a:ext cx="737272" cy="72597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Пример: список дел. Код</a:t>
            </a:r>
            <a:endParaRPr lang="en-US" sz="3200" dirty="0"/>
          </a:p>
        </p:txBody>
      </p:sp>
      <p:sp>
        <p:nvSpPr>
          <p:cNvPr id="5" name="Text 2"/>
          <p:cNvSpPr/>
          <p:nvPr/>
        </p:nvSpPr>
        <p:spPr>
          <a:xfrm>
            <a:off x="635000" y="8787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Всё вместе: HTML, DOM, события, localStorage и JSON</a:t>
            </a:r>
            <a:endParaRPr lang="en-US" sz="1600" dirty="0"/>
          </a:p>
        </p:txBody>
      </p:sp>
      <p:sp>
        <p:nvSpPr>
          <p:cNvPr id="6" name="Text 3"/>
          <p:cNvSpPr/>
          <p:nvPr/>
        </p:nvSpPr>
        <p:spPr>
          <a:xfrm>
            <a:off x="63500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HTML</a:t>
            </a:r>
            <a:endParaRPr lang="en-US" sz="1400" dirty="0"/>
          </a:p>
        </p:txBody>
      </p:sp>
      <p:sp>
        <p:nvSpPr>
          <p:cNvPr id="7" name="Text 4"/>
          <p:cNvSpPr/>
          <p:nvPr/>
        </p:nvSpPr>
        <p:spPr>
          <a:xfrm>
            <a:off x="635000" y="1594941"/>
            <a:ext cx="5200650" cy="1533922"/>
          </a:xfrm>
          <a:prstGeom prst="roundRect">
            <a:avLst>
              <a:gd name="adj" fmla="val 4968"/>
            </a:avLst>
          </a:prstGeom>
          <a:solidFill>
            <a:srgbClr val="2A002A"/>
          </a:solidFill>
          <a:ln/>
        </p:spPr>
        <p:txBody>
          <a:bodyPr wrap="square" lIns="142782" tIns="104682" rIns="0" bIns="79282" rtlCol="0" anchor="t">
            <a:normAutofit/>
          </a:bodyPr>
          <a:lstStyle/>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&lt;h1&gt;</a:t>
            </a:r>
            <a:r>
              <a:rPr lang="en-US" sz="1200" dirty="0">
                <a:solidFill>
                  <a:srgbClr val="FFFFFF"/>
                </a:solidFill>
                <a:latin typeface="JetBrains Mono" pitchFamily="49" charset="0"/>
                <a:ea typeface="JetBrains Mono" pitchFamily="49" charset="-122"/>
                <a:cs typeface="JetBrains Mono" pitchFamily="49" charset="-120"/>
              </a:rPr>
              <a:t>Список дел</a:t>
            </a:r>
            <a:r>
              <a:rPr lang="en-US" sz="1200" dirty="0">
                <a:solidFill>
                  <a:srgbClr val="FF9DE2"/>
                </a:solidFill>
                <a:latin typeface="JetBrains Mono" pitchFamily="49" charset="0"/>
                <a:ea typeface="JetBrains Mono" pitchFamily="49" charset="-122"/>
                <a:cs typeface="JetBrains Mono" pitchFamily="49" charset="-120"/>
              </a:rPr>
              <a:t>&lt;/h1&gt;</a:t>
            </a:r>
            <a:endParaRPr lang="en-US" sz="1200" dirty="0"/>
          </a:p>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&lt;form</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"f"</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&lt;input</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name</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"task"</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placeholder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"Что сделать?"</a:t>
            </a:r>
            <a:r>
              <a:rPr lang="en-US" sz="1200" dirty="0">
                <a:solidFill>
                  <a:srgbClr val="FF9DE2"/>
                </a:solidFill>
                <a:latin typeface="JetBrains Mono" pitchFamily="49" charset="0"/>
                <a:ea typeface="JetBrains Mono" pitchFamily="49" charset="-122"/>
                <a:cs typeface="JetBrains Mono" pitchFamily="49" charset="-120"/>
              </a:rPr>
              <a:t>&gt;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&lt;button&gt;</a:t>
            </a:r>
            <a:r>
              <a:rPr lang="en-US" sz="1200" dirty="0">
                <a:solidFill>
                  <a:srgbClr val="FFFFFF"/>
                </a:solidFill>
                <a:latin typeface="JetBrains Mono" pitchFamily="49" charset="0"/>
                <a:ea typeface="JetBrains Mono" pitchFamily="49" charset="-122"/>
                <a:cs typeface="JetBrains Mono" pitchFamily="49" charset="-120"/>
              </a:rPr>
              <a:t>Добавить</a:t>
            </a:r>
            <a:r>
              <a:rPr lang="en-US" sz="1200" dirty="0">
                <a:solidFill>
                  <a:srgbClr val="FF9DE2"/>
                </a:solidFill>
                <a:latin typeface="JetBrains Mono" pitchFamily="49" charset="0"/>
                <a:ea typeface="JetBrains Mono" pitchFamily="49" charset="-122"/>
                <a:cs typeface="JetBrains Mono" pitchFamily="49" charset="-120"/>
              </a:rPr>
              <a:t>&lt;/button&gt;</a:t>
            </a:r>
            <a:endParaRPr lang="en-US" sz="1200" dirty="0"/>
          </a:p>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&lt;/form&gt;</a:t>
            </a:r>
            <a:endParaRPr lang="en-US" sz="1200" dirty="0"/>
          </a:p>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&lt;ul</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9DE2"/>
                </a:solidFill>
                <a:latin typeface="JetBrains Mono" pitchFamily="49" charset="0"/>
                <a:ea typeface="JetBrains Mono" pitchFamily="49" charset="-122"/>
                <a:cs typeface="JetBrains Mono" pitchFamily="49" charset="-120"/>
              </a:rPr>
              <a:t>&gt;&lt;/ul&gt;</a:t>
            </a:r>
            <a:endParaRPr lang="en-US" sz="1200" dirty="0"/>
          </a:p>
        </p:txBody>
      </p:sp>
      <p:sp>
        <p:nvSpPr>
          <p:cNvPr id="8" name="Text 5"/>
          <p:cNvSpPr/>
          <p:nvPr/>
        </p:nvSpPr>
        <p:spPr>
          <a:xfrm>
            <a:off x="635000" y="3205063"/>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 часть 1: данные</a:t>
            </a:r>
            <a:endParaRPr lang="en-US" sz="1400" dirty="0"/>
          </a:p>
        </p:txBody>
      </p:sp>
      <p:sp>
        <p:nvSpPr>
          <p:cNvPr id="9" name="Text 6"/>
          <p:cNvSpPr/>
          <p:nvPr/>
        </p:nvSpPr>
        <p:spPr>
          <a:xfrm>
            <a:off x="635000" y="3530104"/>
            <a:ext cx="5200650" cy="1107281"/>
          </a:xfrm>
          <a:prstGeom prst="roundRect">
            <a:avLst>
              <a:gd name="adj" fmla="val 6882"/>
            </a:avLst>
          </a:prstGeom>
          <a:solidFill>
            <a:srgbClr val="2A002A"/>
          </a:solidFill>
          <a:ln/>
        </p:spPr>
        <p:txBody>
          <a:bodyPr wrap="square" lIns="142782" tIns="104682" rIns="0" bIns="79282" rtlCol="0" anchor="t">
            <a:normAutofit/>
          </a:bodyPr>
          <a:lstStyle/>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f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"f"</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list = document.</a:t>
            </a:r>
            <a:r>
              <a:rPr lang="en-US" sz="1200" dirty="0">
                <a:solidFill>
                  <a:srgbClr val="FFD27F"/>
                </a:solidFill>
                <a:latin typeface="JetBrains Mono" pitchFamily="49" charset="0"/>
                <a:ea typeface="JetBrains Mono" pitchFamily="49" charset="-122"/>
                <a:cs typeface="JetBrains Mono" pitchFamily="49" charset="-120"/>
              </a:rPr>
              <a:t>getElementById</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"list"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let</a:t>
            </a:r>
            <a:r>
              <a:rPr lang="en-US" sz="1200" dirty="0">
                <a:solidFill>
                  <a:srgbClr val="FFFFFF"/>
                </a:solidFill>
                <a:latin typeface="JetBrains Mono" pitchFamily="49" charset="0"/>
                <a:ea typeface="JetBrains Mono" pitchFamily="49" charset="-122"/>
                <a:cs typeface="JetBrains Mono" pitchFamily="49" charset="-120"/>
              </a:rPr>
              <a:t> tasks =</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JSON.</a:t>
            </a:r>
            <a:r>
              <a:rPr lang="en-US" sz="1200" dirty="0">
                <a:solidFill>
                  <a:srgbClr val="FFD27F"/>
                </a:solidFill>
                <a:latin typeface="JetBrains Mono" pitchFamily="49" charset="0"/>
                <a:ea typeface="JetBrains Mono" pitchFamily="49" charset="-122"/>
                <a:cs typeface="JetBrains Mono" pitchFamily="49" charset="-120"/>
              </a:rPr>
              <a:t>parse</a:t>
            </a:r>
            <a:r>
              <a:rPr lang="en-US" sz="1200" dirty="0">
                <a:solidFill>
                  <a:srgbClr val="FFFFFF"/>
                </a:solidFill>
                <a:latin typeface="JetBrains Mono" pitchFamily="49" charset="0"/>
                <a:ea typeface="JetBrains Mono" pitchFamily="49" charset="-122"/>
                <a:cs typeface="JetBrains Mono" pitchFamily="49" charset="-120"/>
              </a:rPr>
              <a:t>(localStorage.</a:t>
            </a:r>
            <a:r>
              <a:rPr lang="en-US" sz="1200" dirty="0">
                <a:solidFill>
                  <a:srgbClr val="FFD27F"/>
                </a:solidFill>
                <a:latin typeface="JetBrains Mono" pitchFamily="49" charset="0"/>
                <a:ea typeface="JetBrains Mono" pitchFamily="49" charset="-122"/>
                <a:cs typeface="JetBrains Mono" pitchFamily="49" charset="-120"/>
              </a:rPr>
              <a:t>getItem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"tasks"</a:t>
            </a:r>
            <a:r>
              <a:rPr lang="en-US" sz="1200" dirty="0">
                <a:solidFill>
                  <a:srgbClr val="FFFFFF"/>
                </a:solidFill>
                <a:latin typeface="JetBrains Mono" pitchFamily="49" charset="0"/>
                <a:ea typeface="JetBrains Mono" pitchFamily="49" charset="-122"/>
                <a:cs typeface="JetBrains Mono" pitchFamily="49" charset="-120"/>
              </a:rPr>
              <a:t>)) ?? [];</a:t>
            </a:r>
            <a:endParaRPr lang="en-US" sz="1200" dirty="0"/>
          </a:p>
        </p:txBody>
      </p:sp>
      <p:sp>
        <p:nvSpPr>
          <p:cNvPr id="10" name="Shape 7"/>
          <p:cNvSpPr/>
          <p:nvPr/>
        </p:nvSpPr>
        <p:spPr>
          <a:xfrm>
            <a:off x="6089650" y="1269901"/>
            <a:ext cx="12700" cy="4632127"/>
          </a:xfrm>
          <a:prstGeom prst="rect">
            <a:avLst/>
          </a:prstGeom>
          <a:solidFill>
            <a:srgbClr val="FFFFFF"/>
          </a:solidFill>
          <a:ln/>
        </p:spPr>
      </p:sp>
      <p:sp>
        <p:nvSpPr>
          <p:cNvPr id="11" name="Text 8"/>
          <p:cNvSpPr/>
          <p:nvPr/>
        </p:nvSpPr>
        <p:spPr>
          <a:xfrm>
            <a:off x="6356350" y="1269901"/>
            <a:ext cx="53566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D6FF"/>
                </a:solidFill>
                <a:latin typeface="Carlito" pitchFamily="34" charset="0"/>
                <a:ea typeface="Carlito" pitchFamily="34" charset="-122"/>
                <a:cs typeface="Carlito" pitchFamily="34" charset="-120"/>
              </a:rPr>
              <a:t>JavaScript, часть 2: логика</a:t>
            </a:r>
            <a:endParaRPr lang="en-US" sz="1400" dirty="0"/>
          </a:p>
        </p:txBody>
      </p:sp>
      <p:sp>
        <p:nvSpPr>
          <p:cNvPr id="12" name="Text 9"/>
          <p:cNvSpPr/>
          <p:nvPr/>
        </p:nvSpPr>
        <p:spPr>
          <a:xfrm>
            <a:off x="6356350" y="1594941"/>
            <a:ext cx="5200650" cy="4307086"/>
          </a:xfrm>
          <a:prstGeom prst="roundRect">
            <a:avLst>
              <a:gd name="adj" fmla="val 1769"/>
            </a:avLst>
          </a:prstGeom>
          <a:solidFill>
            <a:srgbClr val="2A002A"/>
          </a:solidFill>
          <a:ln/>
        </p:spPr>
        <p:txBody>
          <a:bodyPr wrap="square" lIns="142782" tIns="104682" rIns="0" bIns="79282" rtlCol="0" anchor="t">
            <a:normAutofit fontScale="70000" lnSpcReduction="20000"/>
          </a:bodyPr>
          <a:lstStyle/>
          <a:p>
            <a:pPr marL="0" indent="0" algn="l">
              <a:lnSpc>
                <a:spcPts val="1680"/>
              </a:lnSpc>
              <a:buNone/>
            </a:pPr>
            <a:r>
              <a:rPr lang="en-US" sz="1200" dirty="0">
                <a:solidFill>
                  <a:srgbClr val="FF9DE2"/>
                </a:solidFill>
                <a:latin typeface="JetBrains Mono" pitchFamily="49" charset="0"/>
                <a:ea typeface="JetBrains Mono" pitchFamily="49" charset="-122"/>
                <a:cs typeface="JetBrains Mono" pitchFamily="49" charset="-120"/>
              </a:rPr>
              <a:t>function</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render</a:t>
            </a: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list.innerHTML = </a:t>
            </a:r>
            <a:r>
              <a:rPr lang="en-US" sz="1200" dirty="0">
                <a:solidFill>
                  <a:srgbClr val="9EE6A8"/>
                </a:solidFill>
                <a:latin typeface="JetBrains Mono" pitchFamily="49" charset="0"/>
                <a:ea typeface="JetBrains Mono" pitchFamily="49" charset="-122"/>
                <a:cs typeface="JetBrains Mono" pitchFamily="49" charset="-120"/>
              </a:rPr>
              <a: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for</a:t>
            </a: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t </a:t>
            </a:r>
            <a:r>
              <a:rPr lang="en-US" sz="1200" dirty="0">
                <a:solidFill>
                  <a:srgbClr val="FF9DE2"/>
                </a:solidFill>
                <a:latin typeface="JetBrains Mono" pitchFamily="49" charset="0"/>
                <a:ea typeface="JetBrains Mono" pitchFamily="49" charset="-122"/>
                <a:cs typeface="JetBrains Mono" pitchFamily="49" charset="-120"/>
              </a:rPr>
              <a:t>of</a:t>
            </a:r>
            <a:r>
              <a:rPr lang="en-US" sz="1200" dirty="0">
                <a:solidFill>
                  <a:srgbClr val="FFFFFF"/>
                </a:solidFill>
                <a:latin typeface="JetBrains Mono" pitchFamily="49" charset="0"/>
                <a:ea typeface="JetBrains Mono" pitchFamily="49" charset="-122"/>
                <a:cs typeface="JetBrains Mono" pitchFamily="49" charset="-120"/>
              </a:rPr>
              <a:t> tasks) {</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li = document.</a:t>
            </a:r>
            <a:r>
              <a:rPr lang="en-US" sz="1200" dirty="0">
                <a:solidFill>
                  <a:srgbClr val="FFD27F"/>
                </a:solidFill>
                <a:latin typeface="JetBrains Mono" pitchFamily="49" charset="0"/>
                <a:ea typeface="JetBrains Mono" pitchFamily="49" charset="-122"/>
                <a:cs typeface="JetBrains Mono" pitchFamily="49" charset="-120"/>
              </a:rPr>
              <a:t>createElement</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"li"</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li.textContent = 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list.</a:t>
            </a:r>
            <a:r>
              <a:rPr lang="en-US" sz="1200" dirty="0">
                <a:solidFill>
                  <a:srgbClr val="FFD27F"/>
                </a:solidFill>
                <a:latin typeface="JetBrains Mono" pitchFamily="49" charset="0"/>
                <a:ea typeface="JetBrains Mono" pitchFamily="49" charset="-122"/>
                <a:cs typeface="JetBrains Mono" pitchFamily="49" charset="-120"/>
              </a:rPr>
              <a:t>append</a:t>
            </a:r>
            <a:r>
              <a:rPr lang="en-US" sz="1200" dirty="0">
                <a:solidFill>
                  <a:srgbClr val="FFFFFF"/>
                </a:solidFill>
                <a:latin typeface="JetBrains Mono" pitchFamily="49" charset="0"/>
                <a:ea typeface="JetBrains Mono" pitchFamily="49" charset="-122"/>
                <a:cs typeface="JetBrains Mono" pitchFamily="49" charset="-120"/>
              </a:rPr>
              <a:t>(li);</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f.</a:t>
            </a:r>
            <a:r>
              <a:rPr lang="en-US" sz="1200" dirty="0">
                <a:solidFill>
                  <a:srgbClr val="FFD27F"/>
                </a:solidFill>
                <a:latin typeface="JetBrains Mono" pitchFamily="49" charset="0"/>
                <a:ea typeface="JetBrains Mono" pitchFamily="49" charset="-122"/>
                <a:cs typeface="JetBrains Mono" pitchFamily="49" charset="-120"/>
              </a:rPr>
              <a:t>addEventListener</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"submit"</a:t>
            </a:r>
            <a:r>
              <a:rPr lang="en-US" sz="1200" dirty="0">
                <a:solidFill>
                  <a:srgbClr val="FFFFFF"/>
                </a:solidFill>
                <a:latin typeface="JetBrains Mono" pitchFamily="49" charset="0"/>
                <a:ea typeface="JetBrains Mono" pitchFamily="49" charset="-122"/>
                <a:cs typeface="JetBrains Mono" pitchFamily="49" charset="-120"/>
              </a:rPr>
              <a:t>, (e) =&gt; {</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e.</a:t>
            </a:r>
            <a:r>
              <a:rPr lang="en-US" sz="1200" dirty="0">
                <a:solidFill>
                  <a:srgbClr val="FFD27F"/>
                </a:solidFill>
                <a:latin typeface="JetBrains Mono" pitchFamily="49" charset="0"/>
                <a:ea typeface="JetBrains Mono" pitchFamily="49" charset="-122"/>
                <a:cs typeface="JetBrains Mono" pitchFamily="49" charset="-120"/>
              </a:rPr>
              <a:t>preventDefault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v = f.elements.task.value.</a:t>
            </a:r>
            <a:r>
              <a:rPr lang="en-US" sz="1200" dirty="0">
                <a:solidFill>
                  <a:srgbClr val="FFD27F"/>
                </a:solidFill>
                <a:latin typeface="JetBrains Mono" pitchFamily="49" charset="0"/>
                <a:ea typeface="JetBrains Mono" pitchFamily="49" charset="-122"/>
                <a:cs typeface="JetBrains Mono" pitchFamily="49" charset="-120"/>
              </a:rPr>
              <a:t>trim</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if</a:t>
            </a:r>
            <a:r>
              <a:rPr lang="en-US" sz="1200" dirty="0">
                <a:solidFill>
                  <a:srgbClr val="FFFFFF"/>
                </a:solidFill>
                <a:latin typeface="JetBrains Mono" pitchFamily="49" charset="0"/>
                <a:ea typeface="JetBrains Mono" pitchFamily="49" charset="-122"/>
                <a:cs typeface="JetBrains Mono" pitchFamily="49" charset="-120"/>
              </a:rPr>
              <a:t> (!v) </a:t>
            </a:r>
            <a:r>
              <a:rPr lang="en-US" sz="1200" dirty="0">
                <a:solidFill>
                  <a:srgbClr val="FF9DE2"/>
                </a:solidFill>
                <a:latin typeface="JetBrains Mono" pitchFamily="49" charset="0"/>
                <a:ea typeface="JetBrains Mono" pitchFamily="49" charset="-122"/>
                <a:cs typeface="JetBrains Mono" pitchFamily="49" charset="-120"/>
              </a:rPr>
              <a:t>return</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tasks.</a:t>
            </a:r>
            <a:r>
              <a:rPr lang="en-US" sz="1200" dirty="0">
                <a:solidFill>
                  <a:srgbClr val="FFD27F"/>
                </a:solidFill>
                <a:latin typeface="JetBrains Mono" pitchFamily="49" charset="0"/>
                <a:ea typeface="JetBrains Mono" pitchFamily="49" charset="-122"/>
                <a:cs typeface="JetBrains Mono" pitchFamily="49" charset="-120"/>
              </a:rPr>
              <a:t>push</a:t>
            </a:r>
            <a:r>
              <a:rPr lang="en-US" sz="1200" dirty="0">
                <a:solidFill>
                  <a:srgbClr val="FFFFFF"/>
                </a:solidFill>
                <a:latin typeface="JetBrains Mono" pitchFamily="49" charset="0"/>
                <a:ea typeface="JetBrains Mono" pitchFamily="49" charset="-122"/>
                <a:cs typeface="JetBrains Mono" pitchFamily="49" charset="-120"/>
              </a:rPr>
              <a:t>(v);</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9DE2"/>
                </a:solidFill>
                <a:latin typeface="JetBrains Mono" pitchFamily="49" charset="0"/>
                <a:ea typeface="JetBrains Mono" pitchFamily="49" charset="-122"/>
                <a:cs typeface="JetBrains Mono" pitchFamily="49" charset="-120"/>
              </a:rPr>
              <a:t>const</a:t>
            </a:r>
            <a:r>
              <a:rPr lang="en-US" sz="1200" dirty="0">
                <a:solidFill>
                  <a:srgbClr val="FFFFFF"/>
                </a:solidFill>
                <a:latin typeface="JetBrains Mono" pitchFamily="49" charset="0"/>
                <a:ea typeface="JetBrains Mono" pitchFamily="49" charset="-122"/>
                <a:cs typeface="JetBrains Mono" pitchFamily="49" charset="-120"/>
              </a:rPr>
              <a:t> json = JSON.</a:t>
            </a:r>
            <a:r>
              <a:rPr lang="en-US" sz="1200" dirty="0">
                <a:solidFill>
                  <a:srgbClr val="FFD27F"/>
                </a:solidFill>
                <a:latin typeface="JetBrains Mono" pitchFamily="49" charset="0"/>
                <a:ea typeface="JetBrains Mono" pitchFamily="49" charset="-122"/>
                <a:cs typeface="JetBrains Mono" pitchFamily="49" charset="-120"/>
              </a:rPr>
              <a:t>stringify</a:t>
            </a:r>
            <a:r>
              <a:rPr lang="en-US" sz="1200" dirty="0">
                <a:solidFill>
                  <a:srgbClr val="FFFFFF"/>
                </a:solidFill>
                <a:latin typeface="JetBrains Mono" pitchFamily="49" charset="0"/>
                <a:ea typeface="JetBrains Mono" pitchFamily="49" charset="-122"/>
                <a:cs typeface="JetBrains Mono" pitchFamily="49" charset="-120"/>
              </a:rPr>
              <a:t>(tasks);</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localStorage.</a:t>
            </a:r>
            <a:r>
              <a:rPr lang="en-US" sz="1200" dirty="0">
                <a:solidFill>
                  <a:srgbClr val="FFD27F"/>
                </a:solidFill>
                <a:latin typeface="JetBrains Mono" pitchFamily="49" charset="0"/>
                <a:ea typeface="JetBrains Mono" pitchFamily="49" charset="-122"/>
                <a:cs typeface="JetBrains Mono" pitchFamily="49" charset="-120"/>
              </a:rPr>
              <a:t>setItem</a:t>
            </a:r>
            <a:r>
              <a:rPr lang="en-US" sz="1200" dirty="0">
                <a:solidFill>
                  <a:srgbClr val="FFFFFF"/>
                </a:solidFill>
                <a:latin typeface="JetBrains Mono" pitchFamily="49" charset="0"/>
                <a:ea typeface="JetBrains Mono" pitchFamily="49" charset="-122"/>
                <a:cs typeface="JetBrains Mono" pitchFamily="49" charset="-120"/>
              </a:rPr>
              <a:t>(</a:t>
            </a:r>
            <a:r>
              <a:rPr lang="en-US" sz="1200" dirty="0">
                <a:solidFill>
                  <a:srgbClr val="9EE6A8"/>
                </a:solidFill>
                <a:latin typeface="JetBrains Mono" pitchFamily="49" charset="0"/>
                <a:ea typeface="JetBrains Mono" pitchFamily="49" charset="-122"/>
                <a:cs typeface="JetBrains Mono" pitchFamily="49" charset="-120"/>
              </a:rPr>
              <a:t>"tasks"</a:t>
            </a:r>
            <a:r>
              <a:rPr lang="en-US" sz="1200" dirty="0">
                <a:solidFill>
                  <a:srgbClr val="FFFFFF"/>
                </a:solidFill>
                <a:latin typeface="JetBrains Mono" pitchFamily="49" charset="0"/>
                <a:ea typeface="JetBrains Mono" pitchFamily="49" charset="-122"/>
                <a:cs typeface="JetBrains Mono" pitchFamily="49" charset="-120"/>
              </a:rPr>
              <a:t>, json);</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a:t>
            </a:r>
            <a:r>
              <a:rPr lang="en-US" sz="1200" dirty="0">
                <a:solidFill>
                  <a:srgbClr val="FFD27F"/>
                </a:solidFill>
                <a:latin typeface="JetBrains Mono" pitchFamily="49" charset="0"/>
                <a:ea typeface="JetBrains Mono" pitchFamily="49" charset="-122"/>
                <a:cs typeface="JetBrains Mono" pitchFamily="49" charset="-120"/>
              </a:rPr>
              <a:t>render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  f.</a:t>
            </a:r>
            <a:r>
              <a:rPr lang="en-US" sz="1200" dirty="0">
                <a:solidFill>
                  <a:srgbClr val="FFD27F"/>
                </a:solidFill>
                <a:latin typeface="JetBrains Mono" pitchFamily="49" charset="0"/>
                <a:ea typeface="JetBrains Mono" pitchFamily="49" charset="-122"/>
                <a:cs typeface="JetBrains Mono" pitchFamily="49" charset="-120"/>
              </a:rPr>
              <a:t>reset</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FD27F"/>
                </a:solidFill>
                <a:latin typeface="JetBrains Mono" pitchFamily="49" charset="0"/>
                <a:ea typeface="JetBrains Mono" pitchFamily="49" charset="-122"/>
                <a:cs typeface="JetBrains Mono" pitchFamily="49" charset="-120"/>
              </a:rPr>
              <a:t>render</a:t>
            </a:r>
            <a:r>
              <a:rPr lang="en-US" sz="1200" dirty="0">
                <a:solidFill>
                  <a:srgbClr val="FFFFFF"/>
                </a:solidFill>
                <a:latin typeface="JetBrains Mono" pitchFamily="49" charset="0"/>
                <a:ea typeface="JetBrains Mono" pitchFamily="49" charset="-122"/>
                <a:cs typeface="JetBrains Mono" pitchFamily="49" charset="-120"/>
              </a:rPr>
              <a:t>();</a:t>
            </a:r>
            <a:endParaRPr lang="en-US" sz="1200" dirty="0"/>
          </a:p>
        </p:txBody>
      </p:sp>
      <p:pic>
        <p:nvPicPr>
          <p:cNvPr id="13" name="Рисунок 12"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178179" y="269911"/>
            <a:ext cx="737272" cy="72597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640064"/>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11111"/>
                </a:solidFill>
                <a:latin typeface="Carlito" pitchFamily="34" charset="0"/>
                <a:ea typeface="Carlito" pitchFamily="34" charset="-122"/>
                <a:cs typeface="Carlito" pitchFamily="34" charset="-120"/>
              </a:rPr>
              <a:t>Пример: что получилось</a:t>
            </a:r>
            <a:endParaRPr lang="en-US" sz="3200" dirty="0"/>
          </a:p>
        </p:txBody>
      </p:sp>
      <p:sp>
        <p:nvSpPr>
          <p:cNvPr id="5" name="Text 2"/>
          <p:cNvSpPr/>
          <p:nvPr/>
        </p:nvSpPr>
        <p:spPr>
          <a:xfrm>
            <a:off x="635000" y="878780"/>
            <a:ext cx="1111885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11111"/>
                </a:solidFill>
                <a:latin typeface="Carlito" pitchFamily="34" charset="0"/>
                <a:ea typeface="Carlito" pitchFamily="34" charset="-122"/>
                <a:cs typeface="Carlito" pitchFamily="34" charset="-120"/>
              </a:rPr>
              <a:t>Страница после добавления трёх дел. После перезагрузки список остаётся</a:t>
            </a:r>
            <a:endParaRPr lang="en-US" sz="1600" dirty="0"/>
          </a:p>
        </p:txBody>
      </p:sp>
      <p:sp>
        <p:nvSpPr>
          <p:cNvPr id="6" name="Shape 3"/>
          <p:cNvSpPr/>
          <p:nvPr/>
        </p:nvSpPr>
        <p:spPr>
          <a:xfrm>
            <a:off x="644525" y="1279426"/>
            <a:ext cx="5695950" cy="3234333"/>
          </a:xfrm>
          <a:prstGeom prst="roundRect">
            <a:avLst>
              <a:gd name="adj" fmla="val 2061"/>
            </a:avLst>
          </a:prstGeom>
          <a:solidFill>
            <a:srgbClr val="FFFFFF"/>
          </a:solidFill>
          <a:ln w="19050">
            <a:solidFill>
              <a:srgbClr val="972996"/>
            </a:solidFill>
            <a:prstDash val="solid"/>
          </a:ln>
        </p:spPr>
      </p:sp>
      <p:sp>
        <p:nvSpPr>
          <p:cNvPr id="7" name="Shape 4"/>
          <p:cNvSpPr/>
          <p:nvPr/>
        </p:nvSpPr>
        <p:spPr>
          <a:xfrm>
            <a:off x="654050" y="1288951"/>
            <a:ext cx="5676900" cy="391120"/>
          </a:xfrm>
          <a:custGeom>
            <a:avLst/>
            <a:gdLst/>
            <a:ahLst/>
            <a:cxnLst/>
            <a:rect l="l" t="t" r="r" b="b"/>
            <a:pathLst>
              <a:path w="5676900" h="391120">
                <a:moveTo>
                  <a:pt x="0" y="57150"/>
                </a:moveTo>
                <a:arcTo wR="57150" hR="57150" stAng="10800000" swAng="5400000"/>
                <a:lnTo>
                  <a:pt x="5619750" y="0"/>
                </a:lnTo>
                <a:arcTo wR="57150" hR="57150" stAng="16200000" swAng="5400000"/>
                <a:lnTo>
                  <a:pt x="5676900" y="391120"/>
                </a:lnTo>
                <a:lnTo>
                  <a:pt x="0" y="391120"/>
                </a:lnTo>
                <a:close/>
              </a:path>
            </a:pathLst>
          </a:custGeom>
          <a:solidFill>
            <a:srgbClr val="E6E6E6"/>
          </a:solidFill>
          <a:ln/>
        </p:spPr>
      </p:sp>
      <p:sp>
        <p:nvSpPr>
          <p:cNvPr id="8" name="Shape 5"/>
          <p:cNvSpPr/>
          <p:nvPr/>
        </p:nvSpPr>
        <p:spPr>
          <a:xfrm>
            <a:off x="781050" y="1433711"/>
            <a:ext cx="101600" cy="101600"/>
          </a:xfrm>
          <a:prstGeom prst="roundRect">
            <a:avLst>
              <a:gd name="adj" fmla="val 50000"/>
            </a:avLst>
          </a:prstGeom>
          <a:solidFill>
            <a:srgbClr val="E57373"/>
          </a:solidFill>
          <a:ln/>
        </p:spPr>
      </p:sp>
      <p:sp>
        <p:nvSpPr>
          <p:cNvPr id="9" name="Shape 6"/>
          <p:cNvSpPr/>
          <p:nvPr/>
        </p:nvSpPr>
        <p:spPr>
          <a:xfrm>
            <a:off x="946150" y="1433711"/>
            <a:ext cx="101600" cy="101600"/>
          </a:xfrm>
          <a:prstGeom prst="roundRect">
            <a:avLst>
              <a:gd name="adj" fmla="val 50000"/>
            </a:avLst>
          </a:prstGeom>
          <a:solidFill>
            <a:srgbClr val="FFD54F"/>
          </a:solidFill>
          <a:ln/>
        </p:spPr>
      </p:sp>
      <p:sp>
        <p:nvSpPr>
          <p:cNvPr id="10" name="Shape 7"/>
          <p:cNvSpPr/>
          <p:nvPr/>
        </p:nvSpPr>
        <p:spPr>
          <a:xfrm>
            <a:off x="1111250" y="1433711"/>
            <a:ext cx="101600" cy="101600"/>
          </a:xfrm>
          <a:prstGeom prst="roundRect">
            <a:avLst>
              <a:gd name="adj" fmla="val 50000"/>
            </a:avLst>
          </a:prstGeom>
          <a:solidFill>
            <a:srgbClr val="81C784"/>
          </a:solidFill>
          <a:ln/>
        </p:spPr>
      </p:sp>
      <p:sp>
        <p:nvSpPr>
          <p:cNvPr id="11" name="Text 8"/>
          <p:cNvSpPr/>
          <p:nvPr/>
        </p:nvSpPr>
        <p:spPr>
          <a:xfrm>
            <a:off x="1352550" y="1377851"/>
            <a:ext cx="7915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4444"/>
                </a:solidFill>
                <a:latin typeface="Carlito" pitchFamily="34" charset="0"/>
                <a:ea typeface="Carlito" pitchFamily="34" charset="-122"/>
                <a:cs typeface="Carlito" pitchFamily="34" charset="-120"/>
              </a:rPr>
              <a:t>index.html</a:t>
            </a:r>
            <a:endParaRPr lang="en-US" sz="1200" dirty="0"/>
          </a:p>
        </p:txBody>
      </p:sp>
      <p:sp>
        <p:nvSpPr>
          <p:cNvPr id="12" name="Text 9"/>
          <p:cNvSpPr/>
          <p:nvPr/>
        </p:nvSpPr>
        <p:spPr>
          <a:xfrm>
            <a:off x="933450" y="1870571"/>
            <a:ext cx="5271643"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11111"/>
                </a:solidFill>
                <a:latin typeface="Times New Roman" pitchFamily="18" charset="0"/>
                <a:ea typeface="Times New Roman" pitchFamily="18" charset="-122"/>
                <a:cs typeface="Times New Roman" pitchFamily="18" charset="-120"/>
              </a:rPr>
              <a:t>Список дел</a:t>
            </a:r>
            <a:endParaRPr lang="en-US" sz="2800" dirty="0"/>
          </a:p>
        </p:txBody>
      </p:sp>
      <p:sp>
        <p:nvSpPr>
          <p:cNvPr id="13" name="Text 10"/>
          <p:cNvSpPr/>
          <p:nvPr/>
        </p:nvSpPr>
        <p:spPr>
          <a:xfrm>
            <a:off x="939800" y="2363291"/>
            <a:ext cx="2654300" cy="337741"/>
          </a:xfrm>
          <a:prstGeom prst="rect">
            <a:avLst/>
          </a:prstGeom>
          <a:noFill/>
          <a:ln w="12700">
            <a:solidFill>
              <a:srgbClr val="777777"/>
            </a:solidFill>
            <a:prstDash val="solid"/>
          </a:ln>
        </p:spPr>
        <p:txBody>
          <a:bodyPr wrap="square" lIns="82550" tIns="44450" rIns="7874" bIns="19050" rtlCol="0" anchor="t">
            <a:normAutofit/>
          </a:bodyPr>
          <a:lstStyle/>
          <a:p>
            <a:pPr marL="0" indent="0" algn="l">
              <a:lnSpc>
                <a:spcPts val="1960"/>
              </a:lnSpc>
              <a:buNone/>
            </a:pPr>
            <a:r>
              <a:rPr lang="en-US" sz="1400" dirty="0">
                <a:solidFill>
                  <a:srgbClr val="888888"/>
                </a:solidFill>
                <a:latin typeface="Arial" pitchFamily="34" charset="0"/>
                <a:ea typeface="Arial" pitchFamily="34" charset="-122"/>
                <a:cs typeface="Arial" pitchFamily="34" charset="-120"/>
              </a:rPr>
              <a:t>Что сделать?</a:t>
            </a:r>
            <a:endParaRPr lang="en-US" sz="1400" dirty="0"/>
          </a:p>
        </p:txBody>
      </p:sp>
      <p:sp>
        <p:nvSpPr>
          <p:cNvPr id="14" name="Text 11"/>
          <p:cNvSpPr/>
          <p:nvPr/>
        </p:nvSpPr>
        <p:spPr>
          <a:xfrm>
            <a:off x="3676650" y="2350591"/>
            <a:ext cx="1090613" cy="363141"/>
          </a:xfrm>
          <a:prstGeom prst="roundRect">
            <a:avLst>
              <a:gd name="adj" fmla="val 10492"/>
            </a:avLst>
          </a:prstGeom>
          <a:solidFill>
            <a:srgbClr val="972996"/>
          </a:solidFill>
          <a:ln/>
        </p:spPr>
        <p:txBody>
          <a:bodyPr wrap="none" lIns="0" tIns="0" rIns="0" bIns="0" rtlCol="0" anchor="ctr">
            <a:normAutofit/>
          </a:bodyPr>
          <a:lstStyle/>
          <a:p>
            <a:pPr marL="0" indent="0" algn="ctr">
              <a:lnSpc>
                <a:spcPts val="1960"/>
              </a:lnSpc>
              <a:buNone/>
            </a:pPr>
            <a:r>
              <a:rPr lang="en-US" sz="1400" dirty="0">
                <a:solidFill>
                  <a:srgbClr val="FFFFFF"/>
                </a:solidFill>
                <a:latin typeface="Arial" pitchFamily="34" charset="0"/>
                <a:ea typeface="Arial" pitchFamily="34" charset="-122"/>
                <a:cs typeface="Arial" pitchFamily="34" charset="-120"/>
              </a:rPr>
              <a:t>Добавить</a:t>
            </a:r>
            <a:endParaRPr lang="en-US" sz="1400" dirty="0"/>
          </a:p>
        </p:txBody>
      </p:sp>
      <p:sp>
        <p:nvSpPr>
          <p:cNvPr id="15" name="Text 12"/>
          <p:cNvSpPr/>
          <p:nvPr/>
        </p:nvSpPr>
        <p:spPr>
          <a:xfrm>
            <a:off x="933450" y="2802632"/>
            <a:ext cx="5271643"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11111"/>
                </a:solidFill>
                <a:latin typeface="Times New Roman" pitchFamily="18" charset="0"/>
                <a:ea typeface="Times New Roman" pitchFamily="18" charset="-122"/>
                <a:cs typeface="Times New Roman" pitchFamily="18" charset="-120"/>
              </a:rPr>
              <a:t>• Купить хлеб</a:t>
            </a:r>
            <a:endParaRPr lang="en-US" sz="1800" dirty="0"/>
          </a:p>
        </p:txBody>
      </p:sp>
      <p:sp>
        <p:nvSpPr>
          <p:cNvPr id="16" name="Text 13"/>
          <p:cNvSpPr/>
          <p:nvPr/>
        </p:nvSpPr>
        <p:spPr>
          <a:xfrm>
            <a:off x="933450" y="3188692"/>
            <a:ext cx="5271643"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11111"/>
                </a:solidFill>
                <a:latin typeface="Times New Roman" pitchFamily="18" charset="0"/>
                <a:ea typeface="Times New Roman" pitchFamily="18" charset="-122"/>
                <a:cs typeface="Times New Roman" pitchFamily="18" charset="-120"/>
              </a:rPr>
              <a:t>• Позвонить маме</a:t>
            </a:r>
            <a:endParaRPr lang="en-US" sz="1800" dirty="0"/>
          </a:p>
        </p:txBody>
      </p:sp>
      <p:sp>
        <p:nvSpPr>
          <p:cNvPr id="17" name="Text 14"/>
          <p:cNvSpPr/>
          <p:nvPr/>
        </p:nvSpPr>
        <p:spPr>
          <a:xfrm>
            <a:off x="933450" y="3574752"/>
            <a:ext cx="5271643"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11111"/>
                </a:solidFill>
                <a:latin typeface="Times New Roman" pitchFamily="18" charset="0"/>
                <a:ea typeface="Times New Roman" pitchFamily="18" charset="-122"/>
                <a:cs typeface="Times New Roman" pitchFamily="18" charset="-120"/>
              </a:rPr>
              <a:t>• Написать отчёт</a:t>
            </a:r>
            <a:endParaRPr lang="en-US" sz="1800" dirty="0"/>
          </a:p>
        </p:txBody>
      </p:sp>
      <p:sp>
        <p:nvSpPr>
          <p:cNvPr id="18" name="Text 15"/>
          <p:cNvSpPr/>
          <p:nvPr/>
        </p:nvSpPr>
        <p:spPr>
          <a:xfrm>
            <a:off x="6667500" y="1269901"/>
            <a:ext cx="5036185"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972996"/>
                </a:solidFill>
                <a:latin typeface="Carlito" pitchFamily="34" charset="0"/>
                <a:ea typeface="Carlito" pitchFamily="34" charset="-122"/>
                <a:cs typeface="Carlito" pitchFamily="34" charset="-120"/>
              </a:rPr>
              <a:t>Что здесь использовано</a:t>
            </a:r>
            <a:endParaRPr lang="en-US" sz="1800" dirty="0"/>
          </a:p>
        </p:txBody>
      </p:sp>
      <p:sp>
        <p:nvSpPr>
          <p:cNvPr id="19" name="Shape 16"/>
          <p:cNvSpPr/>
          <p:nvPr/>
        </p:nvSpPr>
        <p:spPr>
          <a:xfrm>
            <a:off x="6699250" y="1666081"/>
            <a:ext cx="0" cy="510480"/>
          </a:xfrm>
          <a:prstGeom prst="line">
            <a:avLst/>
          </a:prstGeom>
          <a:noFill/>
          <a:ln w="63500">
            <a:solidFill>
              <a:srgbClr val="972996"/>
            </a:solidFill>
            <a:prstDash val="solid"/>
          </a:ln>
        </p:spPr>
      </p:sp>
      <p:sp>
        <p:nvSpPr>
          <p:cNvPr id="20" name="Text 17"/>
          <p:cNvSpPr/>
          <p:nvPr/>
        </p:nvSpPr>
        <p:spPr>
          <a:xfrm>
            <a:off x="6858000" y="1666081"/>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Форма и submit</a:t>
            </a:r>
            <a:endParaRPr lang="en-US" sz="1500" dirty="0"/>
          </a:p>
        </p:txBody>
      </p:sp>
      <p:sp>
        <p:nvSpPr>
          <p:cNvPr id="21" name="Text 18"/>
          <p:cNvSpPr/>
          <p:nvPr/>
        </p:nvSpPr>
        <p:spPr>
          <a:xfrm>
            <a:off x="6858000" y="1945481"/>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preventDefault не даёт странице перезагрузиться.</a:t>
            </a:r>
            <a:endParaRPr lang="en-US" sz="1400" dirty="0"/>
          </a:p>
        </p:txBody>
      </p:sp>
      <p:sp>
        <p:nvSpPr>
          <p:cNvPr id="22" name="Shape 19"/>
          <p:cNvSpPr/>
          <p:nvPr/>
        </p:nvSpPr>
        <p:spPr>
          <a:xfrm>
            <a:off x="6699250" y="2252762"/>
            <a:ext cx="0" cy="510480"/>
          </a:xfrm>
          <a:prstGeom prst="line">
            <a:avLst/>
          </a:prstGeom>
          <a:noFill/>
          <a:ln w="63500">
            <a:solidFill>
              <a:srgbClr val="972996"/>
            </a:solidFill>
            <a:prstDash val="solid"/>
          </a:ln>
        </p:spPr>
      </p:sp>
      <p:sp>
        <p:nvSpPr>
          <p:cNvPr id="23" name="Text 20"/>
          <p:cNvSpPr/>
          <p:nvPr/>
        </p:nvSpPr>
        <p:spPr>
          <a:xfrm>
            <a:off x="6858000" y="2252762"/>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Создание элементов</a:t>
            </a:r>
            <a:endParaRPr lang="en-US" sz="1500" dirty="0"/>
          </a:p>
        </p:txBody>
      </p:sp>
      <p:sp>
        <p:nvSpPr>
          <p:cNvPr id="24" name="Text 21"/>
          <p:cNvSpPr/>
          <p:nvPr/>
        </p:nvSpPr>
        <p:spPr>
          <a:xfrm>
            <a:off x="6858000" y="2532162"/>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createElement и append строят список из массива.</a:t>
            </a:r>
            <a:endParaRPr lang="en-US" sz="1400" dirty="0"/>
          </a:p>
        </p:txBody>
      </p:sp>
      <p:sp>
        <p:nvSpPr>
          <p:cNvPr id="25" name="Shape 22"/>
          <p:cNvSpPr/>
          <p:nvPr/>
        </p:nvSpPr>
        <p:spPr>
          <a:xfrm>
            <a:off x="6699250" y="2839442"/>
            <a:ext cx="0" cy="510480"/>
          </a:xfrm>
          <a:prstGeom prst="line">
            <a:avLst/>
          </a:prstGeom>
          <a:noFill/>
          <a:ln w="63500">
            <a:solidFill>
              <a:srgbClr val="972996"/>
            </a:solidFill>
            <a:prstDash val="solid"/>
          </a:ln>
        </p:spPr>
      </p:sp>
      <p:sp>
        <p:nvSpPr>
          <p:cNvPr id="26" name="Text 23"/>
          <p:cNvSpPr/>
          <p:nvPr/>
        </p:nvSpPr>
        <p:spPr>
          <a:xfrm>
            <a:off x="6858000" y="2839442"/>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localStorage и JSON</a:t>
            </a:r>
            <a:endParaRPr lang="en-US" sz="1500" dirty="0"/>
          </a:p>
        </p:txBody>
      </p:sp>
      <p:sp>
        <p:nvSpPr>
          <p:cNvPr id="27" name="Text 24"/>
          <p:cNvSpPr/>
          <p:nvPr/>
        </p:nvSpPr>
        <p:spPr>
          <a:xfrm>
            <a:off x="6858000" y="3118842"/>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массив сохраняется строкой и читается при загрузке.</a:t>
            </a:r>
            <a:endParaRPr lang="en-US" sz="1400" dirty="0"/>
          </a:p>
        </p:txBody>
      </p:sp>
      <p:sp>
        <p:nvSpPr>
          <p:cNvPr id="28" name="Shape 25"/>
          <p:cNvSpPr/>
          <p:nvPr/>
        </p:nvSpPr>
        <p:spPr>
          <a:xfrm>
            <a:off x="6699250" y="3426123"/>
            <a:ext cx="0" cy="510480"/>
          </a:xfrm>
          <a:prstGeom prst="line">
            <a:avLst/>
          </a:prstGeom>
          <a:noFill/>
          <a:ln w="63500">
            <a:solidFill>
              <a:srgbClr val="972996"/>
            </a:solidFill>
            <a:prstDash val="solid"/>
          </a:ln>
        </p:spPr>
      </p:sp>
      <p:sp>
        <p:nvSpPr>
          <p:cNvPr id="29" name="Text 26"/>
          <p:cNvSpPr/>
          <p:nvPr/>
        </p:nvSpPr>
        <p:spPr>
          <a:xfrm>
            <a:off x="6858000" y="3426123"/>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Проверка ввода</a:t>
            </a:r>
            <a:endParaRPr lang="en-US" sz="1500" dirty="0"/>
          </a:p>
        </p:txBody>
      </p:sp>
      <p:sp>
        <p:nvSpPr>
          <p:cNvPr id="30" name="Text 27"/>
          <p:cNvSpPr/>
          <p:nvPr/>
        </p:nvSpPr>
        <p:spPr>
          <a:xfrm>
            <a:off x="6858000" y="3705523"/>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trim и if (!v) не пропускают пустые строки.</a:t>
            </a:r>
            <a:endParaRPr lang="en-US" sz="1400" dirty="0"/>
          </a:p>
        </p:txBody>
      </p:sp>
      <p:sp>
        <p:nvSpPr>
          <p:cNvPr id="31" name="Shape 28"/>
          <p:cNvSpPr/>
          <p:nvPr/>
        </p:nvSpPr>
        <p:spPr>
          <a:xfrm>
            <a:off x="6699250" y="4012803"/>
            <a:ext cx="0" cy="510480"/>
          </a:xfrm>
          <a:prstGeom prst="line">
            <a:avLst/>
          </a:prstGeom>
          <a:noFill/>
          <a:ln w="63500">
            <a:solidFill>
              <a:srgbClr val="972996"/>
            </a:solidFill>
            <a:prstDash val="solid"/>
          </a:ln>
        </p:spPr>
      </p:sp>
      <p:sp>
        <p:nvSpPr>
          <p:cNvPr id="32" name="Text 29"/>
          <p:cNvSpPr/>
          <p:nvPr/>
        </p:nvSpPr>
        <p:spPr>
          <a:xfrm>
            <a:off x="6858000" y="4012803"/>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11111"/>
                </a:solidFill>
                <a:latin typeface="Carlito" pitchFamily="34" charset="0"/>
                <a:ea typeface="Carlito" pitchFamily="34" charset="-122"/>
                <a:cs typeface="Carlito" pitchFamily="34" charset="-120"/>
              </a:rPr>
              <a:t>Что добавить самому</a:t>
            </a:r>
            <a:endParaRPr lang="en-US" sz="1500" dirty="0"/>
          </a:p>
        </p:txBody>
      </p:sp>
      <p:sp>
        <p:nvSpPr>
          <p:cNvPr id="33" name="Text 30"/>
          <p:cNvSpPr/>
          <p:nvPr/>
        </p:nvSpPr>
        <p:spPr>
          <a:xfrm>
            <a:off x="6858000" y="4292203"/>
            <a:ext cx="4839970"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11111"/>
                </a:solidFill>
                <a:latin typeface="Carlito" pitchFamily="34" charset="0"/>
                <a:ea typeface="Carlito" pitchFamily="34" charset="-122"/>
                <a:cs typeface="Carlito" pitchFamily="34" charset="-120"/>
              </a:rPr>
              <a:t>удаление дел по клику, галочки, оформление через CSS.</a:t>
            </a:r>
            <a:endParaRPr lang="en-US" sz="1400" dirty="0"/>
          </a:p>
        </p:txBody>
      </p:sp>
      <p:pic>
        <p:nvPicPr>
          <p:cNvPr id="34" name="Рисунок 33"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167161" y="249818"/>
            <a:ext cx="737272" cy="72597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304800"/>
            <a:ext cx="948372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FFFF"/>
                </a:solidFill>
                <a:latin typeface="Carlito" pitchFamily="34" charset="0"/>
                <a:ea typeface="Carlito" pitchFamily="34" charset="-122"/>
                <a:cs typeface="Carlito" pitchFamily="34" charset="-120"/>
              </a:rPr>
              <a:t>Шпаргалка</a:t>
            </a:r>
            <a:endParaRPr lang="en-US" sz="3200" dirty="0"/>
          </a:p>
        </p:txBody>
      </p:sp>
      <p:sp>
        <p:nvSpPr>
          <p:cNvPr id="5" name="Text 2"/>
          <p:cNvSpPr/>
          <p:nvPr/>
        </p:nvSpPr>
        <p:spPr>
          <a:xfrm>
            <a:off x="635000" y="840680"/>
            <a:ext cx="1124966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Carlito" pitchFamily="34" charset="0"/>
                <a:ea typeface="Carlito" pitchFamily="34" charset="-122"/>
                <a:cs typeface="Carlito" pitchFamily="34" charset="-120"/>
              </a:rPr>
              <a:t>Главные конструкции JavaScript на одной странице</a:t>
            </a:r>
            <a:endParaRPr lang="en-US" sz="1600" dirty="0"/>
          </a:p>
        </p:txBody>
      </p:sp>
      <p:sp>
        <p:nvSpPr>
          <p:cNvPr id="6" name="Shape 3"/>
          <p:cNvSpPr/>
          <p:nvPr/>
        </p:nvSpPr>
        <p:spPr>
          <a:xfrm>
            <a:off x="635000" y="1193701"/>
            <a:ext cx="10922000" cy="350441"/>
          </a:xfrm>
          <a:custGeom>
            <a:avLst/>
            <a:gdLst/>
            <a:ahLst/>
            <a:cxnLst/>
            <a:rect l="l" t="t" r="r" b="b"/>
            <a:pathLst>
              <a:path w="10922000" h="350441">
                <a:moveTo>
                  <a:pt x="63500" y="0"/>
                </a:moveTo>
                <a:lnTo>
                  <a:pt x="10858500" y="0"/>
                </a:lnTo>
                <a:arcTo wR="63500" hR="63500" stAng="16200000" swAng="5400000"/>
                <a:lnTo>
                  <a:pt x="10922000" y="350441"/>
                </a:lnTo>
                <a:lnTo>
                  <a:pt x="0" y="350441"/>
                </a:lnTo>
                <a:lnTo>
                  <a:pt x="0" y="63500"/>
                </a:lnTo>
                <a:arcTo wR="63500" hR="63500" stAng="10800000" swAng="5400000"/>
                <a:close/>
              </a:path>
            </a:pathLst>
          </a:custGeom>
          <a:solidFill>
            <a:srgbClr val="640064"/>
          </a:solidFill>
          <a:ln/>
        </p:spPr>
      </p:sp>
      <p:sp>
        <p:nvSpPr>
          <p:cNvPr id="7" name="Text 4"/>
          <p:cNvSpPr/>
          <p:nvPr/>
        </p:nvSpPr>
        <p:spPr>
          <a:xfrm>
            <a:off x="762000" y="1244501"/>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Тема</a:t>
            </a:r>
            <a:endParaRPr lang="en-US" sz="1400" dirty="0"/>
          </a:p>
        </p:txBody>
      </p:sp>
      <p:sp>
        <p:nvSpPr>
          <p:cNvPr id="8" name="Text 5"/>
          <p:cNvSpPr/>
          <p:nvPr/>
        </p:nvSpPr>
        <p:spPr>
          <a:xfrm>
            <a:off x="2667000" y="1244501"/>
            <a:ext cx="562483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Запись</a:t>
            </a:r>
            <a:endParaRPr lang="en-US" sz="1400" dirty="0"/>
          </a:p>
        </p:txBody>
      </p:sp>
      <p:sp>
        <p:nvSpPr>
          <p:cNvPr id="9" name="Text 6"/>
          <p:cNvSpPr/>
          <p:nvPr/>
        </p:nvSpPr>
        <p:spPr>
          <a:xfrm>
            <a:off x="8128000" y="1244501"/>
            <a:ext cx="34010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Что делает</a:t>
            </a:r>
            <a:endParaRPr lang="en-US" sz="1400" dirty="0"/>
          </a:p>
        </p:txBody>
      </p:sp>
      <p:sp>
        <p:nvSpPr>
          <p:cNvPr id="10" name="Shape 7"/>
          <p:cNvSpPr/>
          <p:nvPr/>
        </p:nvSpPr>
        <p:spPr>
          <a:xfrm>
            <a:off x="635000" y="1544141"/>
            <a:ext cx="10922000" cy="337741"/>
          </a:xfrm>
          <a:prstGeom prst="rect">
            <a:avLst/>
          </a:prstGeom>
          <a:solidFill>
            <a:srgbClr val="7A1F79"/>
          </a:solidFill>
          <a:ln/>
        </p:spPr>
      </p:sp>
      <p:sp>
        <p:nvSpPr>
          <p:cNvPr id="11" name="Text 8"/>
          <p:cNvSpPr/>
          <p:nvPr/>
        </p:nvSpPr>
        <p:spPr>
          <a:xfrm>
            <a:off x="762000" y="1588591"/>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Переменные</a:t>
            </a:r>
            <a:endParaRPr lang="en-US" sz="1400" dirty="0"/>
          </a:p>
        </p:txBody>
      </p:sp>
      <p:sp>
        <p:nvSpPr>
          <p:cNvPr id="12" name="Text 9"/>
          <p:cNvSpPr/>
          <p:nvPr/>
        </p:nvSpPr>
        <p:spPr>
          <a:xfrm>
            <a:off x="2667000" y="1597422"/>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const x = 5; let y = 1;</a:t>
            </a:r>
            <a:endParaRPr lang="en-US" sz="1300" dirty="0"/>
          </a:p>
        </p:txBody>
      </p:sp>
      <p:sp>
        <p:nvSpPr>
          <p:cNvPr id="13" name="Text 10"/>
          <p:cNvSpPr/>
          <p:nvPr/>
        </p:nvSpPr>
        <p:spPr>
          <a:xfrm>
            <a:off x="8128000" y="1588591"/>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константа и изменяемая</a:t>
            </a:r>
            <a:endParaRPr lang="en-US" sz="1400" dirty="0"/>
          </a:p>
        </p:txBody>
      </p:sp>
      <p:sp>
        <p:nvSpPr>
          <p:cNvPr id="14" name="Text 11"/>
          <p:cNvSpPr/>
          <p:nvPr/>
        </p:nvSpPr>
        <p:spPr>
          <a:xfrm>
            <a:off x="762000" y="1926332"/>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Функция</a:t>
            </a:r>
            <a:endParaRPr lang="en-US" sz="1400" dirty="0"/>
          </a:p>
        </p:txBody>
      </p:sp>
      <p:sp>
        <p:nvSpPr>
          <p:cNvPr id="15" name="Text 12"/>
          <p:cNvSpPr/>
          <p:nvPr/>
        </p:nvSpPr>
        <p:spPr>
          <a:xfrm>
            <a:off x="2667000" y="1935163"/>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const f = (a) =&gt; a * 2;</a:t>
            </a:r>
            <a:endParaRPr lang="en-US" sz="1300" dirty="0"/>
          </a:p>
        </p:txBody>
      </p:sp>
      <p:sp>
        <p:nvSpPr>
          <p:cNvPr id="16" name="Text 13"/>
          <p:cNvSpPr/>
          <p:nvPr/>
        </p:nvSpPr>
        <p:spPr>
          <a:xfrm>
            <a:off x="8128000" y="1926332"/>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стрелочная функция</a:t>
            </a:r>
            <a:endParaRPr lang="en-US" sz="1400" dirty="0"/>
          </a:p>
        </p:txBody>
      </p:sp>
      <p:sp>
        <p:nvSpPr>
          <p:cNvPr id="17" name="Shape 14"/>
          <p:cNvSpPr/>
          <p:nvPr/>
        </p:nvSpPr>
        <p:spPr>
          <a:xfrm>
            <a:off x="635000" y="2219623"/>
            <a:ext cx="10922000" cy="337741"/>
          </a:xfrm>
          <a:prstGeom prst="rect">
            <a:avLst/>
          </a:prstGeom>
          <a:solidFill>
            <a:srgbClr val="7A1F79"/>
          </a:solidFill>
          <a:ln/>
        </p:spPr>
      </p:sp>
      <p:sp>
        <p:nvSpPr>
          <p:cNvPr id="18" name="Text 15"/>
          <p:cNvSpPr/>
          <p:nvPr/>
        </p:nvSpPr>
        <p:spPr>
          <a:xfrm>
            <a:off x="762000" y="2264073"/>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Условие</a:t>
            </a:r>
            <a:endParaRPr lang="en-US" sz="1400" dirty="0"/>
          </a:p>
        </p:txBody>
      </p:sp>
      <p:sp>
        <p:nvSpPr>
          <p:cNvPr id="19" name="Text 16"/>
          <p:cNvSpPr/>
          <p:nvPr/>
        </p:nvSpPr>
        <p:spPr>
          <a:xfrm>
            <a:off x="2667000" y="2272903"/>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if (x &gt; 0) {...} else {...}</a:t>
            </a:r>
            <a:endParaRPr lang="en-US" sz="1300" dirty="0"/>
          </a:p>
        </p:txBody>
      </p:sp>
      <p:sp>
        <p:nvSpPr>
          <p:cNvPr id="20" name="Text 17"/>
          <p:cNvSpPr/>
          <p:nvPr/>
        </p:nvSpPr>
        <p:spPr>
          <a:xfrm>
            <a:off x="8128000" y="2264073"/>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выбор ветки</a:t>
            </a:r>
            <a:endParaRPr lang="en-US" sz="1400" dirty="0"/>
          </a:p>
        </p:txBody>
      </p:sp>
      <p:sp>
        <p:nvSpPr>
          <p:cNvPr id="21" name="Text 18"/>
          <p:cNvSpPr/>
          <p:nvPr/>
        </p:nvSpPr>
        <p:spPr>
          <a:xfrm>
            <a:off x="762000" y="2601813"/>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Цикл</a:t>
            </a:r>
            <a:endParaRPr lang="en-US" sz="1400" dirty="0"/>
          </a:p>
        </p:txBody>
      </p:sp>
      <p:sp>
        <p:nvSpPr>
          <p:cNvPr id="22" name="Text 19"/>
          <p:cNvSpPr/>
          <p:nvPr/>
        </p:nvSpPr>
        <p:spPr>
          <a:xfrm>
            <a:off x="2667000" y="2610644"/>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for (const x of arr) {...}</a:t>
            </a:r>
            <a:endParaRPr lang="en-US" sz="1300" dirty="0"/>
          </a:p>
        </p:txBody>
      </p:sp>
      <p:sp>
        <p:nvSpPr>
          <p:cNvPr id="23" name="Text 20"/>
          <p:cNvSpPr/>
          <p:nvPr/>
        </p:nvSpPr>
        <p:spPr>
          <a:xfrm>
            <a:off x="8128000" y="2601813"/>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перебор элементов</a:t>
            </a:r>
            <a:endParaRPr lang="en-US" sz="1400" dirty="0"/>
          </a:p>
        </p:txBody>
      </p:sp>
      <p:sp>
        <p:nvSpPr>
          <p:cNvPr id="24" name="Shape 21"/>
          <p:cNvSpPr/>
          <p:nvPr/>
        </p:nvSpPr>
        <p:spPr>
          <a:xfrm>
            <a:off x="635000" y="2895104"/>
            <a:ext cx="10922000" cy="337741"/>
          </a:xfrm>
          <a:prstGeom prst="rect">
            <a:avLst/>
          </a:prstGeom>
          <a:solidFill>
            <a:srgbClr val="7A1F79"/>
          </a:solidFill>
          <a:ln/>
        </p:spPr>
      </p:sp>
      <p:sp>
        <p:nvSpPr>
          <p:cNvPr id="25" name="Text 22"/>
          <p:cNvSpPr/>
          <p:nvPr/>
        </p:nvSpPr>
        <p:spPr>
          <a:xfrm>
            <a:off x="762000" y="2939554"/>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Массив</a:t>
            </a:r>
            <a:endParaRPr lang="en-US" sz="1400" dirty="0"/>
          </a:p>
        </p:txBody>
      </p:sp>
      <p:sp>
        <p:nvSpPr>
          <p:cNvPr id="26" name="Text 23"/>
          <p:cNvSpPr/>
          <p:nvPr/>
        </p:nvSpPr>
        <p:spPr>
          <a:xfrm>
            <a:off x="2667000" y="2948384"/>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arr.map(x =&gt; x * 2)</a:t>
            </a:r>
            <a:endParaRPr lang="en-US" sz="1300" dirty="0"/>
          </a:p>
        </p:txBody>
      </p:sp>
      <p:sp>
        <p:nvSpPr>
          <p:cNvPr id="27" name="Text 24"/>
          <p:cNvSpPr/>
          <p:nvPr/>
        </p:nvSpPr>
        <p:spPr>
          <a:xfrm>
            <a:off x="8128000" y="2939554"/>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новый массив из результатов</a:t>
            </a:r>
            <a:endParaRPr lang="en-US" sz="1400" dirty="0"/>
          </a:p>
        </p:txBody>
      </p:sp>
      <p:sp>
        <p:nvSpPr>
          <p:cNvPr id="28" name="Text 25"/>
          <p:cNvSpPr/>
          <p:nvPr/>
        </p:nvSpPr>
        <p:spPr>
          <a:xfrm>
            <a:off x="762000" y="3277295"/>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Объект и JSON</a:t>
            </a:r>
            <a:endParaRPr lang="en-US" sz="1400" dirty="0"/>
          </a:p>
        </p:txBody>
      </p:sp>
      <p:sp>
        <p:nvSpPr>
          <p:cNvPr id="29" name="Text 26"/>
          <p:cNvSpPr/>
          <p:nvPr/>
        </p:nvSpPr>
        <p:spPr>
          <a:xfrm>
            <a:off x="2667000" y="3286125"/>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JSON.stringify(obj)</a:t>
            </a:r>
            <a:endParaRPr lang="en-US" sz="1300" dirty="0"/>
          </a:p>
        </p:txBody>
      </p:sp>
      <p:sp>
        <p:nvSpPr>
          <p:cNvPr id="30" name="Text 27"/>
          <p:cNvSpPr/>
          <p:nvPr/>
        </p:nvSpPr>
        <p:spPr>
          <a:xfrm>
            <a:off x="8128000" y="3277295"/>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объект в строку</a:t>
            </a:r>
            <a:endParaRPr lang="en-US" sz="1400" dirty="0"/>
          </a:p>
        </p:txBody>
      </p:sp>
      <p:sp>
        <p:nvSpPr>
          <p:cNvPr id="31" name="Shape 28"/>
          <p:cNvSpPr/>
          <p:nvPr/>
        </p:nvSpPr>
        <p:spPr>
          <a:xfrm>
            <a:off x="635000" y="3570585"/>
            <a:ext cx="10922000" cy="337741"/>
          </a:xfrm>
          <a:prstGeom prst="rect">
            <a:avLst/>
          </a:prstGeom>
          <a:solidFill>
            <a:srgbClr val="7A1F79"/>
          </a:solidFill>
          <a:ln/>
        </p:spPr>
      </p:sp>
      <p:sp>
        <p:nvSpPr>
          <p:cNvPr id="32" name="Text 29"/>
          <p:cNvSpPr/>
          <p:nvPr/>
        </p:nvSpPr>
        <p:spPr>
          <a:xfrm>
            <a:off x="762000" y="3615035"/>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Поиск в DOM</a:t>
            </a:r>
            <a:endParaRPr lang="en-US" sz="1400" dirty="0"/>
          </a:p>
        </p:txBody>
      </p:sp>
      <p:sp>
        <p:nvSpPr>
          <p:cNvPr id="33" name="Text 30"/>
          <p:cNvSpPr/>
          <p:nvPr/>
        </p:nvSpPr>
        <p:spPr>
          <a:xfrm>
            <a:off x="2667000" y="3623866"/>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document.querySelector(".a")</a:t>
            </a:r>
            <a:endParaRPr lang="en-US" sz="1300" dirty="0"/>
          </a:p>
        </p:txBody>
      </p:sp>
      <p:sp>
        <p:nvSpPr>
          <p:cNvPr id="34" name="Text 31"/>
          <p:cNvSpPr/>
          <p:nvPr/>
        </p:nvSpPr>
        <p:spPr>
          <a:xfrm>
            <a:off x="8128000" y="3615035"/>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первый элемент по селектору</a:t>
            </a:r>
            <a:endParaRPr lang="en-US" sz="1400" dirty="0"/>
          </a:p>
        </p:txBody>
      </p:sp>
      <p:sp>
        <p:nvSpPr>
          <p:cNvPr id="35" name="Text 32"/>
          <p:cNvSpPr/>
          <p:nvPr/>
        </p:nvSpPr>
        <p:spPr>
          <a:xfrm>
            <a:off x="762000" y="3952776"/>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Текст и класс</a:t>
            </a:r>
            <a:endParaRPr lang="en-US" sz="1400" dirty="0"/>
          </a:p>
        </p:txBody>
      </p:sp>
      <p:sp>
        <p:nvSpPr>
          <p:cNvPr id="36" name="Text 33"/>
          <p:cNvSpPr/>
          <p:nvPr/>
        </p:nvSpPr>
        <p:spPr>
          <a:xfrm>
            <a:off x="2667000" y="3961606"/>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el.textContent = "..."</a:t>
            </a:r>
            <a:endParaRPr lang="en-US" sz="1300" dirty="0"/>
          </a:p>
        </p:txBody>
      </p:sp>
      <p:sp>
        <p:nvSpPr>
          <p:cNvPr id="37" name="Text 34"/>
          <p:cNvSpPr/>
          <p:nvPr/>
        </p:nvSpPr>
        <p:spPr>
          <a:xfrm>
            <a:off x="8128000" y="3952776"/>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вывести текст; classList.toggle</a:t>
            </a:r>
            <a:endParaRPr lang="en-US" sz="1400" dirty="0"/>
          </a:p>
        </p:txBody>
      </p:sp>
      <p:sp>
        <p:nvSpPr>
          <p:cNvPr id="38" name="Shape 35"/>
          <p:cNvSpPr/>
          <p:nvPr/>
        </p:nvSpPr>
        <p:spPr>
          <a:xfrm>
            <a:off x="635000" y="4246066"/>
            <a:ext cx="10922000" cy="337741"/>
          </a:xfrm>
          <a:prstGeom prst="rect">
            <a:avLst/>
          </a:prstGeom>
          <a:solidFill>
            <a:srgbClr val="7A1F79"/>
          </a:solidFill>
          <a:ln/>
        </p:spPr>
      </p:sp>
      <p:sp>
        <p:nvSpPr>
          <p:cNvPr id="39" name="Text 36"/>
          <p:cNvSpPr/>
          <p:nvPr/>
        </p:nvSpPr>
        <p:spPr>
          <a:xfrm>
            <a:off x="762000" y="4290516"/>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Создание</a:t>
            </a:r>
            <a:endParaRPr lang="en-US" sz="1400" dirty="0"/>
          </a:p>
        </p:txBody>
      </p:sp>
      <p:sp>
        <p:nvSpPr>
          <p:cNvPr id="40" name="Text 37"/>
          <p:cNvSpPr/>
          <p:nvPr/>
        </p:nvSpPr>
        <p:spPr>
          <a:xfrm>
            <a:off x="2667000" y="4299347"/>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document.createElement("li")</a:t>
            </a:r>
            <a:endParaRPr lang="en-US" sz="1300" dirty="0"/>
          </a:p>
        </p:txBody>
      </p:sp>
      <p:sp>
        <p:nvSpPr>
          <p:cNvPr id="41" name="Text 38"/>
          <p:cNvSpPr/>
          <p:nvPr/>
        </p:nvSpPr>
        <p:spPr>
          <a:xfrm>
            <a:off x="8128000" y="4290516"/>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новый элемент; затем append</a:t>
            </a:r>
            <a:endParaRPr lang="en-US" sz="1400" dirty="0"/>
          </a:p>
        </p:txBody>
      </p:sp>
      <p:sp>
        <p:nvSpPr>
          <p:cNvPr id="42" name="Text 39"/>
          <p:cNvSpPr/>
          <p:nvPr/>
        </p:nvSpPr>
        <p:spPr>
          <a:xfrm>
            <a:off x="762000" y="4628257"/>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Событие</a:t>
            </a:r>
            <a:endParaRPr lang="en-US" sz="1400" dirty="0"/>
          </a:p>
        </p:txBody>
      </p:sp>
      <p:sp>
        <p:nvSpPr>
          <p:cNvPr id="43" name="Text 40"/>
          <p:cNvSpPr/>
          <p:nvPr/>
        </p:nvSpPr>
        <p:spPr>
          <a:xfrm>
            <a:off x="2667000" y="4637088"/>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el.addEventListener("click", fn)</a:t>
            </a:r>
            <a:endParaRPr lang="en-US" sz="1300" dirty="0"/>
          </a:p>
        </p:txBody>
      </p:sp>
      <p:sp>
        <p:nvSpPr>
          <p:cNvPr id="44" name="Text 41"/>
          <p:cNvSpPr/>
          <p:nvPr/>
        </p:nvSpPr>
        <p:spPr>
          <a:xfrm>
            <a:off x="8128000" y="4628257"/>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реакция на действие</a:t>
            </a:r>
            <a:endParaRPr lang="en-US" sz="1400" dirty="0"/>
          </a:p>
        </p:txBody>
      </p:sp>
      <p:sp>
        <p:nvSpPr>
          <p:cNvPr id="45" name="Shape 42"/>
          <p:cNvSpPr/>
          <p:nvPr/>
        </p:nvSpPr>
        <p:spPr>
          <a:xfrm>
            <a:off x="635000" y="4921548"/>
            <a:ext cx="10922000" cy="337741"/>
          </a:xfrm>
          <a:prstGeom prst="rect">
            <a:avLst/>
          </a:prstGeom>
          <a:solidFill>
            <a:srgbClr val="7A1F79"/>
          </a:solidFill>
          <a:ln/>
        </p:spPr>
      </p:sp>
      <p:sp>
        <p:nvSpPr>
          <p:cNvPr id="46" name="Text 43"/>
          <p:cNvSpPr/>
          <p:nvPr/>
        </p:nvSpPr>
        <p:spPr>
          <a:xfrm>
            <a:off x="762000" y="4965998"/>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Хранилище</a:t>
            </a:r>
            <a:endParaRPr lang="en-US" sz="1400" dirty="0"/>
          </a:p>
        </p:txBody>
      </p:sp>
      <p:sp>
        <p:nvSpPr>
          <p:cNvPr id="47" name="Text 44"/>
          <p:cNvSpPr/>
          <p:nvPr/>
        </p:nvSpPr>
        <p:spPr>
          <a:xfrm>
            <a:off x="2667000" y="4974828"/>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localStorage.setItem(k, v)</a:t>
            </a:r>
            <a:endParaRPr lang="en-US" sz="1300" dirty="0"/>
          </a:p>
        </p:txBody>
      </p:sp>
      <p:sp>
        <p:nvSpPr>
          <p:cNvPr id="48" name="Text 45"/>
          <p:cNvSpPr/>
          <p:nvPr/>
        </p:nvSpPr>
        <p:spPr>
          <a:xfrm>
            <a:off x="8128000" y="4965998"/>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сохранить строку</a:t>
            </a:r>
            <a:endParaRPr lang="en-US" sz="1400" dirty="0"/>
          </a:p>
        </p:txBody>
      </p:sp>
      <p:sp>
        <p:nvSpPr>
          <p:cNvPr id="49" name="Text 46"/>
          <p:cNvSpPr/>
          <p:nvPr/>
        </p:nvSpPr>
        <p:spPr>
          <a:xfrm>
            <a:off x="762000" y="5303738"/>
            <a:ext cx="196215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Запрос</a:t>
            </a:r>
            <a:endParaRPr lang="en-US" sz="1400" dirty="0"/>
          </a:p>
        </p:txBody>
      </p:sp>
      <p:sp>
        <p:nvSpPr>
          <p:cNvPr id="50" name="Text 47"/>
          <p:cNvSpPr/>
          <p:nvPr/>
        </p:nvSpPr>
        <p:spPr>
          <a:xfrm>
            <a:off x="2667000" y="5312569"/>
            <a:ext cx="56248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6FF"/>
                </a:solidFill>
                <a:latin typeface="JetBrains Mono" pitchFamily="49" charset="0"/>
                <a:ea typeface="JetBrains Mono" pitchFamily="49" charset="-122"/>
                <a:cs typeface="JetBrains Mono" pitchFamily="49" charset="-120"/>
              </a:rPr>
              <a:t>await fetch(url)</a:t>
            </a:r>
            <a:endParaRPr lang="en-US" sz="1300" dirty="0"/>
          </a:p>
        </p:txBody>
      </p:sp>
      <p:sp>
        <p:nvSpPr>
          <p:cNvPr id="51" name="Text 48"/>
          <p:cNvSpPr/>
          <p:nvPr/>
        </p:nvSpPr>
        <p:spPr>
          <a:xfrm>
            <a:off x="8128000" y="5303738"/>
            <a:ext cx="34010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rlito" pitchFamily="34" charset="0"/>
                <a:ea typeface="Carlito" pitchFamily="34" charset="-122"/>
                <a:cs typeface="Carlito" pitchFamily="34" charset="-120"/>
              </a:rPr>
              <a:t>получить данные с сервера</a:t>
            </a:r>
            <a:endParaRPr lang="en-US" sz="1400" dirty="0"/>
          </a:p>
        </p:txBody>
      </p:sp>
      <p:pic>
        <p:nvPicPr>
          <p:cNvPr id="52" name="Рисунок 51"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10245848" y="52299"/>
            <a:ext cx="737272" cy="72597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972996"/>
        </a:solidFill>
        <a:effectLst/>
      </p:bgPr>
    </p:bg>
    <p:spTree>
      <p:nvGrpSpPr>
        <p:cNvPr id="1" name=""/>
        <p:cNvGrpSpPr/>
        <p:nvPr/>
      </p:nvGrpSpPr>
      <p:grpSpPr>
        <a:xfrm>
          <a:off x="0" y="0"/>
          <a:ext cx="0" cy="0"/>
          <a:chOff x="0" y="0"/>
          <a:chExt cx="0" cy="0"/>
        </a:xfrm>
      </p:grpSpPr>
      <p:sp>
        <p:nvSpPr>
          <p:cNvPr id="2" name="Shape 0"/>
          <p:cNvSpPr/>
          <p:nvPr/>
        </p:nvSpPr>
        <p:spPr>
          <a:xfrm>
            <a:off x="0" y="6477000"/>
            <a:ext cx="12192000" cy="381000"/>
          </a:xfrm>
          <a:prstGeom prst="rect">
            <a:avLst/>
          </a:prstGeom>
          <a:solidFill>
            <a:srgbClr val="E6E6E6"/>
          </a:solidFill>
          <a:ln/>
        </p:spPr>
      </p:sp>
      <p:sp>
        <p:nvSpPr>
          <p:cNvPr id="4" name="Text 1"/>
          <p:cNvSpPr>
            <a:spLocks noGrp="1"/>
          </p:cNvSpPr>
          <p:nvPr>
            <p:ph type="title"/>
          </p:nvPr>
        </p:nvSpPr>
        <p:spPr>
          <a:xfrm>
            <a:off x="635000" y="698500"/>
            <a:ext cx="8175625" cy="61208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FFFFF"/>
                </a:solidFill>
                <a:latin typeface="Carlito" pitchFamily="34" charset="0"/>
                <a:ea typeface="Carlito" pitchFamily="34" charset="-122"/>
                <a:cs typeface="Carlito" pitchFamily="34" charset="-120"/>
              </a:rPr>
              <a:t>Итоги</a:t>
            </a:r>
            <a:endParaRPr lang="en-US" sz="4200" dirty="0"/>
          </a:p>
        </p:txBody>
      </p:sp>
      <p:sp>
        <p:nvSpPr>
          <p:cNvPr id="5" name="Text 2"/>
          <p:cNvSpPr/>
          <p:nvPr/>
        </p:nvSpPr>
        <p:spPr>
          <a:xfrm>
            <a:off x="635000" y="1450280"/>
            <a:ext cx="8175625" cy="652661"/>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FFFFFF"/>
                </a:solidFill>
                <a:latin typeface="Carlito" pitchFamily="34" charset="0"/>
                <a:ea typeface="Carlito" pitchFamily="34" charset="-122"/>
                <a:cs typeface="Carlito" pitchFamily="34" charset="-120"/>
              </a:rPr>
              <a:t>Язык:</a:t>
            </a:r>
            <a:r>
              <a:rPr lang="en-US" sz="1900" dirty="0">
                <a:solidFill>
                  <a:srgbClr val="FFFFFF"/>
                </a:solidFill>
                <a:latin typeface="Carlito" pitchFamily="34" charset="0"/>
                <a:ea typeface="Carlito" pitchFamily="34" charset="-122"/>
                <a:cs typeface="Carlito" pitchFamily="34" charset="-120"/>
              </a:rPr>
              <a:t> переменные, типы, условия, циклы, функции, массивы, объекты и классы.</a:t>
            </a:r>
            <a:endParaRPr lang="en-US" sz="1900" dirty="0"/>
          </a:p>
        </p:txBody>
      </p:sp>
      <p:sp>
        <p:nvSpPr>
          <p:cNvPr id="6" name="Text 3"/>
          <p:cNvSpPr/>
          <p:nvPr/>
        </p:nvSpPr>
        <p:spPr>
          <a:xfrm>
            <a:off x="635000" y="2204541"/>
            <a:ext cx="8175625" cy="33903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FFFFFF"/>
                </a:solidFill>
                <a:latin typeface="Carlito" pitchFamily="34" charset="0"/>
                <a:ea typeface="Carlito" pitchFamily="34" charset="-122"/>
                <a:cs typeface="Carlito" pitchFamily="34" charset="-120"/>
              </a:rPr>
              <a:t>Асинхронность:</a:t>
            </a:r>
            <a:r>
              <a:rPr lang="en-US" sz="1900" dirty="0">
                <a:solidFill>
                  <a:srgbClr val="FFFFFF"/>
                </a:solidFill>
                <a:latin typeface="Carlito" pitchFamily="34" charset="0"/>
                <a:ea typeface="Carlito" pitchFamily="34" charset="-122"/>
                <a:cs typeface="Carlito" pitchFamily="34" charset="-120"/>
              </a:rPr>
              <a:t> Promise, async/await и fetch не блокируют страницу.</a:t>
            </a:r>
            <a:endParaRPr lang="en-US" sz="1900" dirty="0"/>
          </a:p>
        </p:txBody>
      </p:sp>
      <p:sp>
        <p:nvSpPr>
          <p:cNvPr id="7" name="Text 4"/>
          <p:cNvSpPr/>
          <p:nvPr/>
        </p:nvSpPr>
        <p:spPr>
          <a:xfrm>
            <a:off x="635000" y="2645172"/>
            <a:ext cx="8175625" cy="652661"/>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FFFFFF"/>
                </a:solidFill>
                <a:latin typeface="Carlito" pitchFamily="34" charset="0"/>
                <a:ea typeface="Carlito" pitchFamily="34" charset="-122"/>
                <a:cs typeface="Carlito" pitchFamily="34" charset="-120"/>
              </a:rPr>
              <a:t>Вместе с HTML:</a:t>
            </a:r>
            <a:r>
              <a:rPr lang="en-US" sz="1900" dirty="0">
                <a:solidFill>
                  <a:srgbClr val="FFFFFF"/>
                </a:solidFill>
                <a:latin typeface="Carlito" pitchFamily="34" charset="0"/>
                <a:ea typeface="Carlito" pitchFamily="34" charset="-122"/>
                <a:cs typeface="Carlito" pitchFamily="34" charset="-120"/>
              </a:rPr>
              <a:t> JavaScript находит элементы DOM, меняет их и слушает события.</a:t>
            </a:r>
            <a:endParaRPr lang="en-US" sz="1900" dirty="0"/>
          </a:p>
        </p:txBody>
      </p:sp>
      <p:sp>
        <p:nvSpPr>
          <p:cNvPr id="8" name="Text 5"/>
          <p:cNvSpPr/>
          <p:nvPr/>
        </p:nvSpPr>
        <p:spPr>
          <a:xfrm>
            <a:off x="635000" y="3399433"/>
            <a:ext cx="8175625"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FFFFFF"/>
                </a:solidFill>
                <a:latin typeface="Carlito" pitchFamily="34" charset="0"/>
                <a:ea typeface="Carlito" pitchFamily="34" charset="-122"/>
                <a:cs typeface="Carlito" pitchFamily="34" charset="-120"/>
              </a:rPr>
              <a:t>Дальше: модули, Node.js и фреймворки.</a:t>
            </a:r>
            <a:endParaRPr lang="en-US" sz="1900" dirty="0"/>
          </a:p>
        </p:txBody>
      </p:sp>
      <p:sp>
        <p:nvSpPr>
          <p:cNvPr id="9" name="Text 6"/>
          <p:cNvSpPr/>
          <p:nvPr/>
        </p:nvSpPr>
        <p:spPr>
          <a:xfrm>
            <a:off x="635000" y="5572820"/>
            <a:ext cx="8175625" cy="612080"/>
          </a:xfrm>
          <a:prstGeom prst="rect">
            <a:avLst/>
          </a:prstGeom>
          <a:noFill/>
          <a:ln/>
        </p:spPr>
        <p:txBody>
          <a:bodyPr wrap="square" lIns="0" tIns="0" rIns="0" bIns="0" rtlCol="0" anchor="t">
            <a:normAutofit/>
          </a:bodyPr>
          <a:lstStyle/>
          <a:p>
            <a:pPr marL="0" indent="0" algn="l">
              <a:lnSpc>
                <a:spcPts val="4620"/>
              </a:lnSpc>
              <a:buNone/>
            </a:pPr>
            <a:r>
              <a:rPr lang="en-US" sz="4200" b="1" dirty="0">
                <a:solidFill>
                  <a:srgbClr val="FFFFFF"/>
                </a:solidFill>
                <a:latin typeface="Carlito" pitchFamily="34" charset="0"/>
                <a:ea typeface="Carlito" pitchFamily="34" charset="-122"/>
                <a:cs typeface="Carlito" pitchFamily="34" charset="-120"/>
              </a:rPr>
              <a:t>Спасибо за внимание!</a:t>
            </a:r>
            <a:endParaRPr lang="en-US" sz="4200" dirty="0"/>
          </a:p>
        </p:txBody>
      </p:sp>
      <p:pic>
        <p:nvPicPr>
          <p:cNvPr id="10" name="Рисунок 9" descr="Изображение выглядит как Графика, символ, графическая вставка, Шрифт&#10;&#10;Автоматически созданное описание">
            <a:extLst>
              <a:ext uri="{FF2B5EF4-FFF2-40B4-BE49-F238E27FC236}">
                <a16:creationId xmlns:a16="http://schemas.microsoft.com/office/drawing/2014/main" id="{88535093-46FD-738B-18BF-BF7CB22E5F03}"/>
              </a:ext>
            </a:extLst>
          </p:cNvPr>
          <p:cNvPicPr>
            <a:picLocks noChangeAspect="1"/>
          </p:cNvPicPr>
          <p:nvPr/>
        </p:nvPicPr>
        <p:blipFill>
          <a:blip r:embed="rId3"/>
          <a:stretch>
            <a:fillRect/>
          </a:stretch>
        </p:blipFill>
        <p:spPr>
          <a:xfrm>
            <a:off x="8646834" y="4406211"/>
            <a:ext cx="1108602" cy="1091621"/>
          </a:xfrm>
          <a:prstGeom prst="rect">
            <a:avLst/>
          </a:prstGeom>
        </p:spPr>
      </p:pic>
    </p:spTree>
  </p:cSld>
  <p:clrMapOvr>
    <a:masterClrMapping/>
  </p:clrMapOvr>
</p:sld>
</file>

<file path=ppt/theme/theme1.xml><?xml version="1.0" encoding="utf-8"?>
<a:theme xmlns:a="http://schemas.openxmlformats.org/drawingml/2006/main" name="JavaScript: основы и работа с HTML">
  <a:themeElements>
    <a:clrScheme name="JavaScript: основы и работа с HTML">
      <a:dk1>
        <a:srgbClr val="972996"/>
      </a:dk1>
      <a:lt1>
        <a:srgbClr val="FFFFFF"/>
      </a:lt1>
      <a:dk2>
        <a:srgbClr val="A13EA1"/>
      </a:dk2>
      <a:lt2>
        <a:srgbClr val="E5CAE5"/>
      </a:lt2>
      <a:accent1>
        <a:srgbClr val="FFD6FF"/>
      </a:accent1>
      <a:accent2>
        <a:srgbClr val="2A002A"/>
      </a:accent2>
      <a:accent3>
        <a:srgbClr val="7A1F79"/>
      </a:accent3>
      <a:accent4>
        <a:srgbClr val="1A5FB4"/>
      </a:accent4>
      <a:accent5>
        <a:srgbClr val="E57373"/>
      </a:accent5>
      <a:accent6>
        <a:srgbClr val="FFD54F"/>
      </a:accent6>
      <a:hlink>
        <a:srgbClr val="0563C1"/>
      </a:hlink>
      <a:folHlink>
        <a:srgbClr val="954F72"/>
      </a:folHlink>
    </a:clrScheme>
    <a:fontScheme name="JavaScript: основы и работа с HTML">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6698</Words>
  <Application>Microsoft Office PowerPoint</Application>
  <PresentationFormat>Широкоэкранный</PresentationFormat>
  <Paragraphs>978</Paragraphs>
  <Slides>38</Slides>
  <Notes>38</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38</vt:i4>
      </vt:variant>
    </vt:vector>
  </HeadingPairs>
  <TitlesOfParts>
    <vt:vector size="43" baseType="lpstr">
      <vt:lpstr>Carlito</vt:lpstr>
      <vt:lpstr>Times New Roman</vt:lpstr>
      <vt:lpstr>Arial</vt:lpstr>
      <vt:lpstr>JetBrains Mono</vt:lpstr>
      <vt:lpstr>JavaScript: основы и работа с HTML</vt:lpstr>
      <vt:lpstr>JavaScript</vt:lpstr>
      <vt:lpstr>Что такое JavaScript</vt:lpstr>
      <vt:lpstr>Как запустить код</vt:lpstr>
      <vt:lpstr>Вывод и комментарии</vt:lpstr>
      <vt:lpstr>Переменные: let и const</vt:lpstr>
      <vt:lpstr>Типы данных</vt:lpstr>
      <vt:lpstr>Строки</vt:lpstr>
      <vt:lpstr>Числа и математика</vt:lpstr>
      <vt:lpstr>Сравнение и логика</vt:lpstr>
      <vt:lpstr>Условия: if и switch</vt:lpstr>
      <vt:lpstr>Циклы</vt:lpstr>
      <vt:lpstr>Функции</vt:lpstr>
      <vt:lpstr>Область видимости и замыкания</vt:lpstr>
      <vt:lpstr>Массивы</vt:lpstr>
      <vt:lpstr>Методы массивов</vt:lpstr>
      <vt:lpstr>Объекты</vt:lpstr>
      <vt:lpstr>Деструктуризация, spread и rest</vt:lpstr>
      <vt:lpstr>JSON</vt:lpstr>
      <vt:lpstr>Классы</vt:lpstr>
      <vt:lpstr>Обработка ошибок</vt:lpstr>
      <vt:lpstr>Асинхронность: Promise и async/await</vt:lpstr>
      <vt:lpstr>Часть 2. JavaScript вместе с HTML</vt:lpstr>
      <vt:lpstr>Подключение: тег script</vt:lpstr>
      <vt:lpstr>DOM: дерево страницы</vt:lpstr>
      <vt:lpstr>Поиск элементов</vt:lpstr>
      <vt:lpstr>Содержимое: текст и HTML</vt:lpstr>
      <vt:lpstr>Атрибуты, классы и стили</vt:lpstr>
      <vt:lpstr>Создание и удаление элементов</vt:lpstr>
      <vt:lpstr>События</vt:lpstr>
      <vt:lpstr>Объект события и делегирование</vt:lpstr>
      <vt:lpstr>Формы и ввод</vt:lpstr>
      <vt:lpstr>Таймеры</vt:lpstr>
      <vt:lpstr>localStorage: память браузера</vt:lpstr>
      <vt:lpstr>Запросы к серверу: fetch</vt:lpstr>
      <vt:lpstr>Пример: список дел. Код</vt:lpstr>
      <vt:lpstr>Пример: что получилось</vt:lpstr>
      <vt:lpstr>Шпаргалка</vt:lpstr>
      <vt:lpstr>Итоги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основы и работа с HTML</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Илья Паньковский</cp:lastModifiedBy>
  <cp:revision>35</cp:revision>
  <dcterms:created xsi:type="dcterms:W3CDTF">2026-10-24T14:33:17Z</dcterms:created>
  <dcterms:modified xsi:type="dcterms:W3CDTF">2026-10-24T21:14:23Z</dcterms:modified>
</cp:coreProperties>
</file>