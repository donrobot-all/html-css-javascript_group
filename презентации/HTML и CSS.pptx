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12192000"/>
  <p:embeddedFontLst>
    <p:embeddedFont>
      <p:font typeface="Carlito" panose="020F0502020204030204" pitchFamily="34" charset="0"/>
      <p:regular r:id="rId42"/>
      <p:bold r:id="rId43"/>
      <p:italic r:id="rId44"/>
      <p:boldItalic r:id="rId45"/>
    </p:embeddedFont>
    <p:embeddedFont>
      <p:font typeface="JetBrains Mono" panose="020B0604020202020204" charset="0"/>
      <p:regular r:id="rId46"/>
      <p:bold r:id="rId4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200" d="100"/>
          <a:sy n="200" d="100"/>
        </p:scale>
        <p:origin x="966"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6066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Обложка. В презентации по каждому тегу показаны код и то, как он выглядит в браузере.</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технологии работают вместе. HTML отвечает за содержание, CSS за внешний вид, JavaScript за интерактивность.</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Объясните, что head — это «служебная» часть, а body — «видимая». Теги вложены друг в друга: html содержит head и body.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Элемент — это открывающий тег, содержимое и закрывающий тег вместе. Тег — только сама «скобка» в угловых скобках.</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Без CSS браузер использует стили по умолчанию: шрифт с засечками, крупный жирный заголовок, отступы между абзацами.</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обзорная таблица. Дальше по слайдам разберём каждую группу тегов с кодом и результатом.</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Частая ошибка — брать h3 только потому, что он «помельче». Заголовки строят структуру документа, по ней ориентируются поисковики и программы чтения с экрана.</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Покажите, что Enter в редакторе кода не создаёт новую строку на странице. Тег hr рисует линию между смысловыми частями текста.</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Тег code показывает фрагмент программы моноширинным шрифтом. Sub и sup нужны для химических формул и степеней.</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Списки часто используют для меню навигации: ul с пунктами li, внутри каждого ссылка.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Вложенность списков — основа многоуровневых меню. dl подходит для глоссариев и характеристик товара.</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Посетитель видит синий подчёркнутый текст — так выглядит ссылка без CSS. Цвет и подчёркивание потом меняются стилями.</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Здесь вместо фотографии показана заливка-заглушка. Атрибут alt обязателен: без него страница хуже доступна и хуже ранжируется.</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Таблицы нужны для данных, а не для вёрстки страницы. Рамка в примере задана атрибутом border, в современном коде её рисуют через CSS.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Форма сама по себе ничего не сохраняет: данные принимает сервер по адресу из action. Без атрибута name значение поля не отправляется.</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Если браузер не знает значение type, он показывает обычное текстовое поле. Дополнительно полезны атрибуты placeholder, required и value.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Раньше всю страницу собирали из div с классами header, menu, footer. Семантические теги дают то же самое, но с готовым смыслом.</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Покажите, что вся структура сайта читается по названиям тегов: шапка, меню, основное, подвал.</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Если подходящего смыслового тега нет — берут div (для блока) или span (для части строки).</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нужен для якорных ссылок, связи label и input, а также для поиска элемента в JavaScript. Класс — главный инструмент оформления в CSS.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Видео и аудио показаны упрощённо: внешний вид плеера зависит от браузера.</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Рекомендуйте внешний файл: код и оформление разделены, браузер кэширует файл, а один и тот же стиль подключается к любому числу страниц.</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Разберите правило по частям. Одно правило может содержать сколько угодно объявлений.</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Заметка — тоже абзац p, но правило .note сильнее правила для тега, поэтому она красная.</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Вес считают по каждому типу: id важнее любого количества классов, класс важнее любого количества тегов — здесь упрощённая шкала для запоминания.</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 пять записей слева дают один и тот же фиолетовый цвет, кроме полупрозрачного варианта.</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Размеры в результате показаны крупнее реальных в два раза, чтобы читались со слайда.</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Размеры в результате показаны вдвое крупнее реальных, чтобы читались со слайда.</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Блочная модель объясняет, почему блок оказался шире или выше, чем написано в width и height.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Отличие none от visibility: hidden — none убирает элемент вместе с занимаемым местом.</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Значок прижимается к углу карточки, потому что у родителя .card задан position: relative.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Flexbox удобен для меню, рядов карточек и центрирования: display:flex плюс justify-content:center и align-items:center.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Запись repeat(3, 1fr) эквивалентна 1fr 1fr 1fr. Для адаптивной галереи используют repeat(auto-fit, minmax(200px, 1fr)).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слайде оба состояния показаны рядом. В браузере кнопка меняет цвет за 0,3 секунды, когда над ней проходит курсор.</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Подход «сначала мобильная версия»: базовые стили для телефона, а для широких экранов добавляют правила с min-width.</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Слева разметка: что есть на странице. Справа стили: как это выглядит. Результат — на следующем слайде.</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Предложите слушателям изменить цвета и текст и посмотреть, как меняется результат.</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можно распечатать и держать рядом при первых самостоятельных страницах.</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Финальный слайд: короткие итоги и приглашение к вопросам.</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97299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5000" y="304800"/>
            <a:ext cx="9207500" cy="446980"/>
          </a:xfrm>
          <a:prstGeom prst="rect">
            <a:avLst/>
          </a:prstGeom>
          <a:noFill/>
          <a:ln/>
        </p:spPr>
        <p:txBody>
          <a:bodyPr wrap="square" lIns="0" tIns="0" rIns="0" bIns="0" rtlCol="0" anchor="t"/>
          <a:lstStyle>
            <a:lvl1pPr marL="0" indent="0" algn="l">
              <a:lnSpc>
                <a:spcPct val="115000"/>
              </a:lnSpc>
              <a:buNone/>
              <a:defRPr lang="en-US" sz="3200" dirty="0">
                <a:solidFill>
                  <a:srgbClr val="FFFFFF"/>
                </a:solidFill>
                <a:latin typeface="Carlito" pitchFamily="34" charset="0"/>
                <a:ea typeface="Carlito" pitchFamily="34" charset="-122"/>
                <a:cs typeface="Carlito"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635000" y="1056580"/>
            <a:ext cx="10744200" cy="4988620"/>
          </a:xfrm>
          <a:prstGeom prst="rect">
            <a:avLst/>
          </a:prstGeom>
          <a:noFill/>
          <a:ln/>
        </p:spPr>
        <p:txBody>
          <a:bodyPr wrap="square" lIns="0" tIns="0" rIns="0" bIns="0" rtlCol="0" anchor="t"/>
          <a:lstStyle>
            <a:lvl1pPr marL="0" indent="0" algn="l">
              <a:lnSpc>
                <a:spcPct val="140000"/>
              </a:lnSpc>
              <a:buNone/>
              <a:defRPr lang="en-US" sz="1600" dirty="0">
                <a:solidFill>
                  <a:srgbClr val="FFFFFF"/>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7299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5000" y="304800"/>
            <a:ext cx="9207500" cy="446980"/>
          </a:xfrm>
          <a:prstGeom prst="rect">
            <a:avLst/>
          </a:prstGeom>
          <a:noFill/>
          <a:ln/>
        </p:spPr>
        <p:txBody>
          <a:bodyPr wrap="square" lIns="0" tIns="0" rIns="0" bIns="0" rtlCol="0" anchor="t"/>
          <a:lstStyle>
            <a:lvl1pPr marL="0" indent="0" algn="l">
              <a:lnSpc>
                <a:spcPct val="115000"/>
              </a:lnSpc>
              <a:buNone/>
              <a:defRPr lang="en-US" sz="3200" dirty="0">
                <a:solidFill>
                  <a:srgbClr val="FFFFFF"/>
                </a:solidFill>
                <a:latin typeface="Carlito" pitchFamily="34" charset="0"/>
                <a:ea typeface="Carlito" pitchFamily="34" charset="-122"/>
                <a:cs typeface="Carlito"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635000" y="1056580"/>
            <a:ext cx="10744200" cy="4988620"/>
          </a:xfrm>
          <a:prstGeom prst="rect">
            <a:avLst/>
          </a:prstGeom>
          <a:noFill/>
          <a:ln/>
        </p:spPr>
        <p:txBody>
          <a:bodyPr wrap="square" lIns="0" tIns="0" rIns="0" bIns="0" rtlCol="0" anchor="t"/>
          <a:lstStyle>
            <a:lvl1pPr marL="0" indent="0" algn="l">
              <a:lnSpc>
                <a:spcPct val="140000"/>
              </a:lnSpc>
              <a:buNone/>
              <a:defRPr lang="en-US" sz="1600" dirty="0">
                <a:solidFill>
                  <a:srgbClr val="FFFFFF"/>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xample.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572877" y="170755"/>
            <a:ext cx="7848600" cy="958850"/>
          </a:xfrm>
          <a:prstGeom prst="rect">
            <a:avLst/>
          </a:prstGeom>
          <a:noFill/>
          <a:ln/>
        </p:spPr>
        <p:txBody>
          <a:bodyPr wrap="square" lIns="0" tIns="0" rIns="0" bIns="0" rtlCol="0" anchor="t">
            <a:normAutofit/>
          </a:bodyPr>
          <a:lstStyle/>
          <a:p>
            <a:pPr marL="0" indent="0" algn="l">
              <a:lnSpc>
                <a:spcPts val="7350"/>
              </a:lnSpc>
              <a:buNone/>
            </a:pPr>
            <a:r>
              <a:rPr lang="en-US" sz="7000" b="1" i="0" dirty="0">
                <a:solidFill>
                  <a:srgbClr val="FFFFFF"/>
                </a:solidFill>
                <a:latin typeface="Carlito" pitchFamily="34" charset="0"/>
                <a:ea typeface="Carlito" pitchFamily="34" charset="-122"/>
                <a:cs typeface="Carlito" pitchFamily="34" charset="-120"/>
              </a:rPr>
              <a:t>HTML и CSS</a:t>
            </a:r>
            <a:endParaRPr lang="en-US" sz="7000" dirty="0"/>
          </a:p>
        </p:txBody>
      </p:sp>
      <p:sp>
        <p:nvSpPr>
          <p:cNvPr id="5" name="Text 2"/>
          <p:cNvSpPr/>
          <p:nvPr/>
        </p:nvSpPr>
        <p:spPr>
          <a:xfrm>
            <a:off x="572877" y="1129605"/>
            <a:ext cx="7848600" cy="421580"/>
          </a:xfrm>
          <a:prstGeom prst="rect">
            <a:avLst/>
          </a:prstGeom>
          <a:noFill/>
          <a:ln/>
        </p:spPr>
        <p:txBody>
          <a:bodyPr wrap="square" lIns="0" tIns="0" rIns="0" bIns="0" rtlCol="0" anchor="t">
            <a:normAutofit/>
          </a:bodyPr>
          <a:lstStyle/>
          <a:p>
            <a:pPr marL="0" indent="0" algn="l">
              <a:lnSpc>
                <a:spcPts val="3120"/>
              </a:lnSpc>
              <a:buNone/>
            </a:pPr>
            <a:r>
              <a:rPr lang="en-US" sz="2600" b="1" dirty="0">
                <a:solidFill>
                  <a:srgbClr val="FFFFFF"/>
                </a:solidFill>
                <a:latin typeface="Carlito" pitchFamily="34" charset="0"/>
                <a:ea typeface="Carlito" pitchFamily="34" charset="-122"/>
                <a:cs typeface="Carlito" pitchFamily="34" charset="-120"/>
              </a:rPr>
              <a:t>Основные теги, их использование и внешний вид</a:t>
            </a:r>
            <a:endParaRPr lang="en-US" sz="2600" dirty="0"/>
          </a:p>
        </p:txBody>
      </p:sp>
      <p:sp>
        <p:nvSpPr>
          <p:cNvPr id="6" name="Text 3"/>
          <p:cNvSpPr/>
          <p:nvPr/>
        </p:nvSpPr>
        <p:spPr>
          <a:xfrm>
            <a:off x="611436" y="1685230"/>
            <a:ext cx="784860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3D9F3"/>
                </a:solidFill>
                <a:latin typeface="Carlito" pitchFamily="34" charset="0"/>
                <a:ea typeface="Carlito" pitchFamily="34" charset="-122"/>
                <a:cs typeface="Carlito" pitchFamily="34" charset="-120"/>
              </a:rPr>
              <a:t>Подробный разбор с примерами кода и результатом в браузере</a:t>
            </a:r>
            <a:endParaRPr lang="en-US" sz="1800" dirty="0"/>
          </a:p>
        </p:txBody>
      </p:sp>
      <p:pic>
        <p:nvPicPr>
          <p:cNvPr id="10" name="Рисунок 9"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145A5A2A-B324-2CE1-697A-9C747BBA76B1}"/>
              </a:ext>
            </a:extLst>
          </p:cNvPr>
          <p:cNvPicPr>
            <a:picLocks noChangeAspect="1"/>
          </p:cNvPicPr>
          <p:nvPr/>
        </p:nvPicPr>
        <p:blipFill>
          <a:blip r:embed="rId3"/>
          <a:stretch>
            <a:fillRect/>
          </a:stretch>
        </p:blipFill>
        <p:spPr>
          <a:xfrm>
            <a:off x="10359169" y="72048"/>
            <a:ext cx="960662" cy="9459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Что такое HTML и CSS</a:t>
            </a:r>
            <a:endParaRPr lang="en-US" sz="3200" dirty="0"/>
          </a:p>
        </p:txBody>
      </p:sp>
      <p:sp>
        <p:nvSpPr>
          <p:cNvPr id="5" name="Text 2"/>
          <p:cNvSpPr/>
          <p:nvPr/>
        </p:nvSpPr>
        <p:spPr>
          <a:xfrm>
            <a:off x="635000" y="891480"/>
            <a:ext cx="11118850" cy="93206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11111"/>
                </a:solidFill>
                <a:latin typeface="Carlito" pitchFamily="34" charset="0"/>
                <a:ea typeface="Carlito" pitchFamily="34" charset="-122"/>
                <a:cs typeface="Carlito" pitchFamily="34" charset="-120"/>
              </a:rPr>
              <a:t>HTML</a:t>
            </a:r>
            <a:r>
              <a:rPr lang="en-US" sz="1700" dirty="0">
                <a:solidFill>
                  <a:srgbClr val="111111"/>
                </a:solidFill>
                <a:latin typeface="Carlito" pitchFamily="34" charset="0"/>
                <a:ea typeface="Carlito" pitchFamily="34" charset="-122"/>
                <a:cs typeface="Carlito" pitchFamily="34" charset="-120"/>
              </a:rPr>
              <a:t> (HyperText Markup Language) — язык разметки: с его помощью мы сообщаем браузеру, что находится на странице — заголовок, абзац, ссылка, картинка, таблица. </a:t>
            </a:r>
            <a:r>
              <a:rPr lang="en-US" sz="1700" b="1" dirty="0">
                <a:solidFill>
                  <a:srgbClr val="111111"/>
                </a:solidFill>
                <a:latin typeface="Carlito" pitchFamily="34" charset="0"/>
                <a:ea typeface="Carlito" pitchFamily="34" charset="-122"/>
                <a:cs typeface="Carlito" pitchFamily="34" charset="-120"/>
              </a:rPr>
              <a:t>CSS</a:t>
            </a:r>
            <a:r>
              <a:rPr lang="en-US" sz="1700" dirty="0">
                <a:solidFill>
                  <a:srgbClr val="111111"/>
                </a:solidFill>
                <a:latin typeface="Carlito" pitchFamily="34" charset="0"/>
                <a:ea typeface="Carlito" pitchFamily="34" charset="-122"/>
                <a:cs typeface="Carlito" pitchFamily="34" charset="-120"/>
              </a:rPr>
              <a:t> (Cascading Style Sheets) — язык стилей: он отвечает за то, как всё это выглядит — цвета, шрифты, отступы, расположение блоков.</a:t>
            </a:r>
            <a:endParaRPr lang="en-US" sz="1700" dirty="0"/>
          </a:p>
        </p:txBody>
      </p:sp>
      <p:sp>
        <p:nvSpPr>
          <p:cNvPr id="6" name="Shape 3"/>
          <p:cNvSpPr/>
          <p:nvPr/>
        </p:nvSpPr>
        <p:spPr>
          <a:xfrm>
            <a:off x="647700" y="1950541"/>
            <a:ext cx="3496667" cy="1982986"/>
          </a:xfrm>
          <a:prstGeom prst="roundRect">
            <a:avLst>
              <a:gd name="adj" fmla="val 5124"/>
            </a:avLst>
          </a:prstGeom>
          <a:noFill/>
          <a:ln w="25400">
            <a:solidFill>
              <a:srgbClr val="972996"/>
            </a:solidFill>
            <a:prstDash val="solid"/>
          </a:ln>
        </p:spPr>
      </p:sp>
      <p:sp>
        <p:nvSpPr>
          <p:cNvPr id="7" name="Text 4"/>
          <p:cNvSpPr/>
          <p:nvPr/>
        </p:nvSpPr>
        <p:spPr>
          <a:xfrm>
            <a:off x="850900" y="2128341"/>
            <a:ext cx="3182975"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972996"/>
                </a:solidFill>
                <a:latin typeface="Carlito" pitchFamily="34" charset="0"/>
                <a:ea typeface="Carlito" pitchFamily="34" charset="-122"/>
                <a:cs typeface="Carlito" pitchFamily="34" charset="-120"/>
              </a:rPr>
              <a:t>HTML</a:t>
            </a:r>
            <a:endParaRPr lang="en-US" sz="2400" dirty="0"/>
          </a:p>
        </p:txBody>
      </p:sp>
      <p:sp>
        <p:nvSpPr>
          <p:cNvPr id="8" name="Text 5"/>
          <p:cNvSpPr/>
          <p:nvPr/>
        </p:nvSpPr>
        <p:spPr>
          <a:xfrm>
            <a:off x="850900" y="2618482"/>
            <a:ext cx="3182975"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11111"/>
                </a:solidFill>
                <a:latin typeface="Carlito" pitchFamily="34" charset="0"/>
                <a:ea typeface="Carlito" pitchFamily="34" charset="-122"/>
                <a:cs typeface="Carlito" pitchFamily="34" charset="-120"/>
              </a:rPr>
              <a:t>Структура</a:t>
            </a:r>
            <a:endParaRPr lang="en-US" sz="1700" dirty="0"/>
          </a:p>
        </p:txBody>
      </p:sp>
      <p:sp>
        <p:nvSpPr>
          <p:cNvPr id="9" name="Text 6"/>
          <p:cNvSpPr/>
          <p:nvPr/>
        </p:nvSpPr>
        <p:spPr>
          <a:xfrm>
            <a:off x="850900" y="2984202"/>
            <a:ext cx="3182975"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11111"/>
                </a:solidFill>
                <a:latin typeface="Carlito" pitchFamily="34" charset="0"/>
                <a:ea typeface="Carlito" pitchFamily="34" charset="-122"/>
                <a:cs typeface="Carlito" pitchFamily="34" charset="-120"/>
              </a:rPr>
              <a:t>Что есть на странице: заголовки, текст, списки, ссылки, изображения.</a:t>
            </a:r>
            <a:endParaRPr lang="en-US" sz="1500" dirty="0"/>
          </a:p>
        </p:txBody>
      </p:sp>
      <p:sp>
        <p:nvSpPr>
          <p:cNvPr id="10" name="Shape 7"/>
          <p:cNvSpPr/>
          <p:nvPr/>
        </p:nvSpPr>
        <p:spPr>
          <a:xfrm>
            <a:off x="4347567" y="1950541"/>
            <a:ext cx="3496766" cy="1982986"/>
          </a:xfrm>
          <a:prstGeom prst="roundRect">
            <a:avLst>
              <a:gd name="adj" fmla="val 5124"/>
            </a:avLst>
          </a:prstGeom>
          <a:noFill/>
          <a:ln w="25400">
            <a:solidFill>
              <a:srgbClr val="972996"/>
            </a:solidFill>
            <a:prstDash val="solid"/>
          </a:ln>
        </p:spPr>
      </p:sp>
      <p:sp>
        <p:nvSpPr>
          <p:cNvPr id="11" name="Text 8"/>
          <p:cNvSpPr/>
          <p:nvPr/>
        </p:nvSpPr>
        <p:spPr>
          <a:xfrm>
            <a:off x="4550767" y="2128341"/>
            <a:ext cx="3183077"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972996"/>
                </a:solidFill>
                <a:latin typeface="Carlito" pitchFamily="34" charset="0"/>
                <a:ea typeface="Carlito" pitchFamily="34" charset="-122"/>
                <a:cs typeface="Carlito" pitchFamily="34" charset="-120"/>
              </a:rPr>
              <a:t>CSS</a:t>
            </a:r>
            <a:endParaRPr lang="en-US" sz="2400" dirty="0"/>
          </a:p>
        </p:txBody>
      </p:sp>
      <p:sp>
        <p:nvSpPr>
          <p:cNvPr id="12" name="Text 9"/>
          <p:cNvSpPr/>
          <p:nvPr/>
        </p:nvSpPr>
        <p:spPr>
          <a:xfrm>
            <a:off x="4550767" y="2618482"/>
            <a:ext cx="3183077"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11111"/>
                </a:solidFill>
                <a:latin typeface="Carlito" pitchFamily="34" charset="0"/>
                <a:ea typeface="Carlito" pitchFamily="34" charset="-122"/>
                <a:cs typeface="Carlito" pitchFamily="34" charset="-120"/>
              </a:rPr>
              <a:t>Оформление</a:t>
            </a:r>
            <a:endParaRPr lang="en-US" sz="1700" dirty="0"/>
          </a:p>
        </p:txBody>
      </p:sp>
      <p:sp>
        <p:nvSpPr>
          <p:cNvPr id="13" name="Text 10"/>
          <p:cNvSpPr/>
          <p:nvPr/>
        </p:nvSpPr>
        <p:spPr>
          <a:xfrm>
            <a:off x="4550767" y="2984202"/>
            <a:ext cx="3183077"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11111"/>
                </a:solidFill>
                <a:latin typeface="Carlito" pitchFamily="34" charset="0"/>
                <a:ea typeface="Carlito" pitchFamily="34" charset="-122"/>
                <a:cs typeface="Carlito" pitchFamily="34" charset="-120"/>
              </a:rPr>
              <a:t>Как всё выглядит: цвет, шрифт, размеры, отступы, фон, расположение.</a:t>
            </a:r>
            <a:endParaRPr lang="en-US" sz="1500" dirty="0"/>
          </a:p>
        </p:txBody>
      </p:sp>
      <p:sp>
        <p:nvSpPr>
          <p:cNvPr id="14" name="Shape 11"/>
          <p:cNvSpPr/>
          <p:nvPr/>
        </p:nvSpPr>
        <p:spPr>
          <a:xfrm>
            <a:off x="8047534" y="1950541"/>
            <a:ext cx="3496766" cy="1982986"/>
          </a:xfrm>
          <a:prstGeom prst="roundRect">
            <a:avLst>
              <a:gd name="adj" fmla="val 5124"/>
            </a:avLst>
          </a:prstGeom>
          <a:noFill/>
          <a:ln w="25400">
            <a:solidFill>
              <a:srgbClr val="972996"/>
            </a:solidFill>
            <a:prstDash val="solid"/>
          </a:ln>
        </p:spPr>
      </p:sp>
      <p:sp>
        <p:nvSpPr>
          <p:cNvPr id="15" name="Text 12"/>
          <p:cNvSpPr/>
          <p:nvPr/>
        </p:nvSpPr>
        <p:spPr>
          <a:xfrm>
            <a:off x="8250734" y="2128341"/>
            <a:ext cx="3183077"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972996"/>
                </a:solidFill>
                <a:latin typeface="Carlito" pitchFamily="34" charset="0"/>
                <a:ea typeface="Carlito" pitchFamily="34" charset="-122"/>
                <a:cs typeface="Carlito" pitchFamily="34" charset="-120"/>
              </a:rPr>
              <a:t>JavaScript</a:t>
            </a:r>
            <a:endParaRPr lang="en-US" sz="2400" dirty="0"/>
          </a:p>
        </p:txBody>
      </p:sp>
      <p:sp>
        <p:nvSpPr>
          <p:cNvPr id="16" name="Text 13"/>
          <p:cNvSpPr/>
          <p:nvPr/>
        </p:nvSpPr>
        <p:spPr>
          <a:xfrm>
            <a:off x="8250734" y="2618482"/>
            <a:ext cx="3183077"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11111"/>
                </a:solidFill>
                <a:latin typeface="Carlito" pitchFamily="34" charset="0"/>
                <a:ea typeface="Carlito" pitchFamily="34" charset="-122"/>
                <a:cs typeface="Carlito" pitchFamily="34" charset="-120"/>
              </a:rPr>
              <a:t>Поведение</a:t>
            </a:r>
            <a:endParaRPr lang="en-US" sz="1700" dirty="0"/>
          </a:p>
        </p:txBody>
      </p:sp>
      <p:sp>
        <p:nvSpPr>
          <p:cNvPr id="17" name="Text 14"/>
          <p:cNvSpPr/>
          <p:nvPr/>
        </p:nvSpPr>
        <p:spPr>
          <a:xfrm>
            <a:off x="8250734" y="2984202"/>
            <a:ext cx="3183077"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11111"/>
                </a:solidFill>
                <a:latin typeface="Carlito" pitchFamily="34" charset="0"/>
                <a:ea typeface="Carlito" pitchFamily="34" charset="-122"/>
                <a:cs typeface="Carlito" pitchFamily="34" charset="-120"/>
              </a:rPr>
              <a:t>Что происходит при клике, вводе, прокрутке. В этой презентации не рассматривается.</a:t>
            </a:r>
            <a:endParaRPr lang="en-US" sz="1500" dirty="0"/>
          </a:p>
        </p:txBody>
      </p:sp>
      <p:sp>
        <p:nvSpPr>
          <p:cNvPr id="18" name="Text 15"/>
          <p:cNvSpPr/>
          <p:nvPr/>
        </p:nvSpPr>
        <p:spPr>
          <a:xfrm>
            <a:off x="635000" y="4085927"/>
            <a:ext cx="10795000" cy="530820"/>
          </a:xfrm>
          <a:prstGeom prst="roundRect">
            <a:avLst>
              <a:gd name="adj" fmla="val 16748"/>
            </a:avLst>
          </a:prstGeom>
          <a:solidFill>
            <a:srgbClr val="972996"/>
          </a:solidFill>
          <a:ln/>
        </p:spPr>
        <p:txBody>
          <a:bodyPr wrap="square" lIns="164462" tIns="88262" rIns="0" bIns="62862" rtlCol="0" anchor="t">
            <a:normAutofit/>
          </a:bodyPr>
          <a:lstStyle/>
          <a:p>
            <a:pPr marL="0" indent="0" algn="l">
              <a:lnSpc>
                <a:spcPts val="2380"/>
              </a:lnSpc>
              <a:buNone/>
            </a:pPr>
            <a:r>
              <a:rPr lang="en-US" sz="1700" dirty="0">
                <a:solidFill>
                  <a:srgbClr val="FFFFFF"/>
                </a:solidFill>
                <a:latin typeface="Carlito" pitchFamily="34" charset="0"/>
                <a:ea typeface="Carlito" pitchFamily="34" charset="-122"/>
                <a:cs typeface="Carlito" pitchFamily="34" charset="-120"/>
              </a:rPr>
              <a:t>Сравнение с домом: HTML — стены и комнаты, CSS — отделка и мебель, JavaScript — электричество и лифт.</a:t>
            </a:r>
            <a:endParaRPr lang="en-US" sz="1700" dirty="0"/>
          </a:p>
        </p:txBody>
      </p:sp>
      <p:pic>
        <p:nvPicPr>
          <p:cNvPr id="19" name="Рисунок 18"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Каркас HTML-документа</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Любая страница начинается с одного и того же набора тегов</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806700"/>
          </a:xfrm>
          <a:prstGeom prst="roundRect">
            <a:avLst>
              <a:gd name="adj" fmla="val 2715"/>
            </a:avLst>
          </a:prstGeom>
          <a:solidFill>
            <a:srgbClr val="2A002A"/>
          </a:solidFill>
          <a:ln/>
        </p:spPr>
        <p:txBody>
          <a:bodyPr wrap="square" lIns="168182" tIns="142782" rIns="23592" bIns="117382" rtlCol="0" anchor="t">
            <a:normAutofit fontScale="55000" lnSpcReduction="20000"/>
          </a:bodyPr>
          <a:lstStyle/>
          <a:p>
            <a:pPr marL="0" indent="0" algn="l">
              <a:lnSpc>
                <a:spcPts val="1950"/>
              </a:lnSpc>
              <a:buNone/>
            </a:pPr>
            <a:r>
              <a:rPr lang="en-US" sz="1300" dirty="0">
                <a:solidFill>
                  <a:srgbClr val="FF9DE2"/>
                </a:solidFill>
                <a:latin typeface="JetBrains Mono" pitchFamily="49" charset="0"/>
                <a:ea typeface="JetBrains Mono" pitchFamily="49" charset="-122"/>
                <a:cs typeface="JetBrains Mono" pitchFamily="49" charset="-120"/>
              </a:rPr>
              <a:t>&lt;!DOCTYPE html&gt;</a:t>
            </a:r>
            <a:endParaRPr lang="en-US" sz="1300" dirty="0"/>
          </a:p>
          <a:p>
            <a:pPr marL="0" indent="0" algn="l">
              <a:lnSpc>
                <a:spcPts val="1950"/>
              </a:lnSpc>
              <a:buNone/>
            </a:pPr>
            <a:r>
              <a:rPr lang="en-US" sz="1300" dirty="0">
                <a:solidFill>
                  <a:srgbClr val="FF9DE2"/>
                </a:solidFill>
                <a:latin typeface="JetBrains Mono" pitchFamily="49" charset="0"/>
                <a:ea typeface="JetBrains Mono" pitchFamily="49" charset="-122"/>
                <a:cs typeface="JetBrains Mono" pitchFamily="49" charset="-120"/>
              </a:rPr>
              <a:t>&lt;html</a:t>
            </a:r>
            <a:r>
              <a:rPr lang="en-US" sz="1300" dirty="0">
                <a:solidFill>
                  <a:srgbClr val="FFFFFF"/>
                </a:solidFill>
                <a:latin typeface="JetBrains Mono" pitchFamily="49" charset="0"/>
                <a:ea typeface="JetBrains Mono" pitchFamily="49" charset="-122"/>
                <a:cs typeface="JetBrains Mono" pitchFamily="49" charset="-120"/>
              </a:rPr>
              <a:t> </a:t>
            </a:r>
            <a:r>
              <a:rPr lang="en-US" sz="1300" dirty="0">
                <a:solidFill>
                  <a:srgbClr val="FFD27F"/>
                </a:solidFill>
                <a:latin typeface="JetBrains Mono" pitchFamily="49" charset="0"/>
                <a:ea typeface="JetBrains Mono" pitchFamily="49" charset="-122"/>
                <a:cs typeface="JetBrains Mono" pitchFamily="49" charset="-120"/>
              </a:rPr>
              <a:t>lang</a:t>
            </a:r>
            <a:r>
              <a:rPr lang="en-US" sz="1300" dirty="0">
                <a:solidFill>
                  <a:srgbClr val="FFFFFF"/>
                </a:solidFill>
                <a:latin typeface="JetBrains Mono" pitchFamily="49" charset="0"/>
                <a:ea typeface="JetBrains Mono" pitchFamily="49" charset="-122"/>
                <a:cs typeface="JetBrains Mono" pitchFamily="49" charset="-120"/>
              </a:rPr>
              <a:t>=</a:t>
            </a:r>
            <a:r>
              <a:rPr lang="en-US" sz="1300" dirty="0">
                <a:solidFill>
                  <a:srgbClr val="9EE6A8"/>
                </a:solidFill>
                <a:latin typeface="JetBrains Mono" pitchFamily="49" charset="0"/>
                <a:ea typeface="JetBrains Mono" pitchFamily="49" charset="-122"/>
                <a:cs typeface="JetBrains Mono" pitchFamily="49" charset="-120"/>
              </a:rPr>
              <a:t>"ru"</a:t>
            </a:r>
            <a:r>
              <a:rPr lang="en-US" sz="1300" dirty="0">
                <a:solidFill>
                  <a:srgbClr val="FF9DE2"/>
                </a:solidFill>
                <a:latin typeface="JetBrains Mono" pitchFamily="49" charset="0"/>
                <a:ea typeface="JetBrains Mono" pitchFamily="49" charset="-122"/>
                <a:cs typeface="JetBrains Mono" pitchFamily="49" charset="-120"/>
              </a:rPr>
              <a:t>&gt;</a:t>
            </a:r>
            <a:endParaRPr lang="en-US" sz="1300" dirty="0"/>
          </a:p>
          <a:p>
            <a:pPr marL="0" indent="0" algn="l">
              <a:lnSpc>
                <a:spcPts val="1950"/>
              </a:lnSpc>
              <a:buNone/>
            </a:pPr>
            <a:r>
              <a:rPr lang="en-US" sz="1300" dirty="0">
                <a:solidFill>
                  <a:srgbClr val="FF9DE2"/>
                </a:solidFill>
                <a:latin typeface="JetBrains Mono" pitchFamily="49" charset="0"/>
                <a:ea typeface="JetBrains Mono" pitchFamily="49" charset="-122"/>
                <a:cs typeface="JetBrains Mono" pitchFamily="49" charset="-120"/>
              </a:rPr>
              <a:t>&lt;head&gt;</a:t>
            </a:r>
            <a:endParaRPr lang="en-US" sz="1300" dirty="0"/>
          </a:p>
          <a:p>
            <a:pPr marL="0" indent="0" algn="l">
              <a:lnSpc>
                <a:spcPts val="1950"/>
              </a:lnSpc>
              <a:buNone/>
            </a:pPr>
            <a:r>
              <a:rPr lang="en-US" sz="1300" dirty="0">
                <a:solidFill>
                  <a:srgbClr val="FFFFFF"/>
                </a:solidFill>
                <a:latin typeface="JetBrains Mono" pitchFamily="49" charset="0"/>
                <a:ea typeface="JetBrains Mono" pitchFamily="49" charset="-122"/>
                <a:cs typeface="JetBrains Mono" pitchFamily="49" charset="-120"/>
              </a:rPr>
              <a:t>  </a:t>
            </a:r>
            <a:r>
              <a:rPr lang="en-US" sz="1300" dirty="0">
                <a:solidFill>
                  <a:srgbClr val="FF9DE2"/>
                </a:solidFill>
                <a:latin typeface="JetBrains Mono" pitchFamily="49" charset="0"/>
                <a:ea typeface="JetBrains Mono" pitchFamily="49" charset="-122"/>
                <a:cs typeface="JetBrains Mono" pitchFamily="49" charset="-120"/>
              </a:rPr>
              <a:t>&lt;meta</a:t>
            </a:r>
            <a:r>
              <a:rPr lang="en-US" sz="1300" dirty="0">
                <a:solidFill>
                  <a:srgbClr val="FFFFFF"/>
                </a:solidFill>
                <a:latin typeface="JetBrains Mono" pitchFamily="49" charset="0"/>
                <a:ea typeface="JetBrains Mono" pitchFamily="49" charset="-122"/>
                <a:cs typeface="JetBrains Mono" pitchFamily="49" charset="-120"/>
              </a:rPr>
              <a:t> </a:t>
            </a:r>
            <a:r>
              <a:rPr lang="en-US" sz="1300" dirty="0">
                <a:solidFill>
                  <a:srgbClr val="FFD27F"/>
                </a:solidFill>
                <a:latin typeface="JetBrains Mono" pitchFamily="49" charset="0"/>
                <a:ea typeface="JetBrains Mono" pitchFamily="49" charset="-122"/>
                <a:cs typeface="JetBrains Mono" pitchFamily="49" charset="-120"/>
              </a:rPr>
              <a:t>charset</a:t>
            </a:r>
            <a:r>
              <a:rPr lang="en-US" sz="1300" dirty="0">
                <a:solidFill>
                  <a:srgbClr val="FFFFFF"/>
                </a:solidFill>
                <a:latin typeface="JetBrains Mono" pitchFamily="49" charset="0"/>
                <a:ea typeface="JetBrains Mono" pitchFamily="49" charset="-122"/>
                <a:cs typeface="JetBrains Mono" pitchFamily="49" charset="-120"/>
              </a:rPr>
              <a:t>=</a:t>
            </a:r>
            <a:r>
              <a:rPr lang="en-US" sz="1300" dirty="0">
                <a:solidFill>
                  <a:srgbClr val="9EE6A8"/>
                </a:solidFill>
                <a:latin typeface="JetBrains Mono" pitchFamily="49" charset="0"/>
                <a:ea typeface="JetBrains Mono" pitchFamily="49" charset="-122"/>
                <a:cs typeface="JetBrains Mono" pitchFamily="49" charset="-120"/>
              </a:rPr>
              <a:t>"UTF-8"</a:t>
            </a:r>
            <a:r>
              <a:rPr lang="en-US" sz="1300" dirty="0">
                <a:solidFill>
                  <a:srgbClr val="FF9DE2"/>
                </a:solidFill>
                <a:latin typeface="JetBrains Mono" pitchFamily="49" charset="0"/>
                <a:ea typeface="JetBrains Mono" pitchFamily="49" charset="-122"/>
                <a:cs typeface="JetBrains Mono" pitchFamily="49" charset="-120"/>
              </a:rPr>
              <a:t>&gt;</a:t>
            </a:r>
            <a:endParaRPr lang="en-US" sz="1300" dirty="0"/>
          </a:p>
          <a:p>
            <a:pPr marL="0" indent="0" algn="l">
              <a:lnSpc>
                <a:spcPts val="1950"/>
              </a:lnSpc>
              <a:buNone/>
            </a:pPr>
            <a:r>
              <a:rPr lang="en-US" sz="1300" dirty="0">
                <a:solidFill>
                  <a:srgbClr val="FFFFFF"/>
                </a:solidFill>
                <a:latin typeface="JetBrains Mono" pitchFamily="49" charset="0"/>
                <a:ea typeface="JetBrains Mono" pitchFamily="49" charset="-122"/>
                <a:cs typeface="JetBrains Mono" pitchFamily="49" charset="-120"/>
              </a:rPr>
              <a:t>  </a:t>
            </a:r>
            <a:r>
              <a:rPr lang="en-US" sz="1300" dirty="0">
                <a:solidFill>
                  <a:srgbClr val="FF9DE2"/>
                </a:solidFill>
                <a:latin typeface="JetBrains Mono" pitchFamily="49" charset="0"/>
                <a:ea typeface="JetBrains Mono" pitchFamily="49" charset="-122"/>
                <a:cs typeface="JetBrains Mono" pitchFamily="49" charset="-120"/>
              </a:rPr>
              <a:t>&lt;title&gt;</a:t>
            </a:r>
            <a:r>
              <a:rPr lang="en-US" sz="1300" dirty="0">
                <a:solidFill>
                  <a:srgbClr val="FFFFFF"/>
                </a:solidFill>
                <a:latin typeface="JetBrains Mono" pitchFamily="49" charset="0"/>
                <a:ea typeface="JetBrains Mono" pitchFamily="49" charset="-122"/>
                <a:cs typeface="JetBrains Mono" pitchFamily="49" charset="-120"/>
              </a:rPr>
              <a:t>Моя страница</a:t>
            </a:r>
            <a:r>
              <a:rPr lang="en-US" sz="1300" dirty="0">
                <a:solidFill>
                  <a:srgbClr val="FF9DE2"/>
                </a:solidFill>
                <a:latin typeface="JetBrains Mono" pitchFamily="49" charset="0"/>
                <a:ea typeface="JetBrains Mono" pitchFamily="49" charset="-122"/>
                <a:cs typeface="JetBrains Mono" pitchFamily="49" charset="-120"/>
              </a:rPr>
              <a:t>&lt;/title&gt;</a:t>
            </a:r>
            <a:endParaRPr lang="en-US" sz="1300" dirty="0"/>
          </a:p>
          <a:p>
            <a:pPr marL="0" indent="0" algn="l">
              <a:lnSpc>
                <a:spcPts val="1950"/>
              </a:lnSpc>
              <a:buNone/>
            </a:pPr>
            <a:r>
              <a:rPr lang="en-US" sz="1300" dirty="0">
                <a:solidFill>
                  <a:srgbClr val="FF9DE2"/>
                </a:solidFill>
                <a:latin typeface="JetBrains Mono" pitchFamily="49" charset="0"/>
                <a:ea typeface="JetBrains Mono" pitchFamily="49" charset="-122"/>
                <a:cs typeface="JetBrains Mono" pitchFamily="49" charset="-120"/>
              </a:rPr>
              <a:t>&lt;/head&gt;</a:t>
            </a:r>
            <a:endParaRPr lang="en-US" sz="1300" dirty="0"/>
          </a:p>
          <a:p>
            <a:pPr marL="0" indent="0" algn="l">
              <a:lnSpc>
                <a:spcPts val="1950"/>
              </a:lnSpc>
              <a:buNone/>
            </a:pPr>
            <a:r>
              <a:rPr lang="en-US" sz="1300" dirty="0">
                <a:solidFill>
                  <a:srgbClr val="FF9DE2"/>
                </a:solidFill>
                <a:latin typeface="JetBrains Mono" pitchFamily="49" charset="0"/>
                <a:ea typeface="JetBrains Mono" pitchFamily="49" charset="-122"/>
                <a:cs typeface="JetBrains Mono" pitchFamily="49" charset="-120"/>
              </a:rPr>
              <a:t>&lt;body&gt;</a:t>
            </a:r>
            <a:endParaRPr lang="en-US" sz="1300" dirty="0"/>
          </a:p>
          <a:p>
            <a:pPr marL="0" indent="0" algn="l">
              <a:lnSpc>
                <a:spcPts val="1950"/>
              </a:lnSpc>
              <a:buNone/>
            </a:pPr>
            <a:r>
              <a:rPr lang="en-US" sz="1300" dirty="0">
                <a:solidFill>
                  <a:srgbClr val="FFFFFF"/>
                </a:solidFill>
                <a:latin typeface="JetBrains Mono" pitchFamily="49" charset="0"/>
                <a:ea typeface="JetBrains Mono" pitchFamily="49" charset="-122"/>
                <a:cs typeface="JetBrains Mono" pitchFamily="49" charset="-120"/>
              </a:rPr>
              <a:t>  </a:t>
            </a:r>
            <a:r>
              <a:rPr lang="en-US" sz="1300" dirty="0">
                <a:solidFill>
                  <a:srgbClr val="FF9DE2"/>
                </a:solidFill>
                <a:latin typeface="JetBrains Mono" pitchFamily="49" charset="0"/>
                <a:ea typeface="JetBrains Mono" pitchFamily="49" charset="-122"/>
                <a:cs typeface="JetBrains Mono" pitchFamily="49" charset="-120"/>
              </a:rPr>
              <a:t>&lt;h1&gt;</a:t>
            </a:r>
            <a:r>
              <a:rPr lang="en-US" sz="1300" dirty="0">
                <a:solidFill>
                  <a:srgbClr val="FFFFFF"/>
                </a:solidFill>
                <a:latin typeface="JetBrains Mono" pitchFamily="49" charset="0"/>
                <a:ea typeface="JetBrains Mono" pitchFamily="49" charset="-122"/>
                <a:cs typeface="JetBrains Mono" pitchFamily="49" charset="-120"/>
              </a:rPr>
              <a:t>Привет, мир!</a:t>
            </a:r>
            <a:r>
              <a:rPr lang="en-US" sz="1300" dirty="0">
                <a:solidFill>
                  <a:srgbClr val="FF9DE2"/>
                </a:solidFill>
                <a:latin typeface="JetBrains Mono" pitchFamily="49" charset="0"/>
                <a:ea typeface="JetBrains Mono" pitchFamily="49" charset="-122"/>
                <a:cs typeface="JetBrains Mono" pitchFamily="49" charset="-120"/>
              </a:rPr>
              <a:t>&lt;/h1&gt;</a:t>
            </a:r>
            <a:endParaRPr lang="en-US" sz="1300" dirty="0"/>
          </a:p>
          <a:p>
            <a:pPr marL="0" indent="0" algn="l">
              <a:lnSpc>
                <a:spcPts val="1950"/>
              </a:lnSpc>
              <a:buNone/>
            </a:pPr>
            <a:r>
              <a:rPr lang="en-US" sz="1300" dirty="0">
                <a:solidFill>
                  <a:srgbClr val="FF9DE2"/>
                </a:solidFill>
                <a:latin typeface="JetBrains Mono" pitchFamily="49" charset="0"/>
                <a:ea typeface="JetBrains Mono" pitchFamily="49" charset="-122"/>
                <a:cs typeface="JetBrains Mono" pitchFamily="49" charset="-120"/>
              </a:rPr>
              <a:t>&lt;/body&gt;</a:t>
            </a:r>
            <a:endParaRPr lang="en-US" sz="1300" dirty="0"/>
          </a:p>
          <a:p>
            <a:pPr marL="0" indent="0" algn="l">
              <a:lnSpc>
                <a:spcPts val="1950"/>
              </a:lnSpc>
              <a:buNone/>
            </a:pPr>
            <a:r>
              <a:rPr lang="en-US" sz="1300" dirty="0">
                <a:solidFill>
                  <a:srgbClr val="FF9DE2"/>
                </a:solidFill>
                <a:latin typeface="JetBrains Mono" pitchFamily="49" charset="0"/>
                <a:ea typeface="JetBrains Mono" pitchFamily="49" charset="-122"/>
                <a:cs typeface="JetBrains Mono" pitchFamily="49" charset="-120"/>
              </a:rPr>
              <a:t>&lt;/html&gt;</a:t>
            </a:r>
            <a:endParaRPr lang="en-US" sz="1300" dirty="0"/>
          </a:p>
        </p:txBody>
      </p:sp>
      <p:sp>
        <p:nvSpPr>
          <p:cNvPr id="8" name="Shape 5"/>
          <p:cNvSpPr/>
          <p:nvPr/>
        </p:nvSpPr>
        <p:spPr>
          <a:xfrm>
            <a:off x="6089650" y="1269901"/>
            <a:ext cx="12700" cy="3144441"/>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Что означает</a:t>
            </a:r>
            <a:endParaRPr lang="en-US" sz="1400" dirty="0"/>
          </a:p>
        </p:txBody>
      </p:sp>
      <p:sp>
        <p:nvSpPr>
          <p:cNvPr id="10" name="Text 7"/>
          <p:cNvSpPr/>
          <p:nvPr/>
        </p:nvSpPr>
        <p:spPr>
          <a:xfrm>
            <a:off x="6440551" y="1607641"/>
            <a:ext cx="5264849" cy="1461294"/>
          </a:xfrm>
          <a:prstGeom prst="rect">
            <a:avLst/>
          </a:prstGeom>
          <a:noFill/>
          <a:ln/>
        </p:spPr>
        <p:txBody>
          <a:bodyPr wrap="square" lIns="0" tIns="0" rIns="0" bIns="0" rtlCol="0" anchor="t">
            <a:normAutofit/>
          </a:bodyPr>
          <a:lstStyle/>
          <a:p>
            <a:pPr marL="169799" indent="-169799" algn="l">
              <a:lnSpc>
                <a:spcPts val="1885"/>
              </a:lnSpc>
              <a:buSzPct val="100000"/>
              <a:buChar char="•"/>
            </a:pPr>
            <a:r>
              <a:rPr lang="en-US" sz="1450" b="1" dirty="0">
                <a:solidFill>
                  <a:srgbClr val="FFFFFF"/>
                </a:solidFill>
                <a:latin typeface="Carlito" pitchFamily="34" charset="0"/>
                <a:ea typeface="Carlito" pitchFamily="34" charset="-122"/>
                <a:cs typeface="Carlito" pitchFamily="34" charset="-120"/>
              </a:rPr>
              <a:t>&lt;!DOCTYPE html&gt;</a:t>
            </a:r>
            <a:r>
              <a:rPr lang="en-US" sz="1450" dirty="0">
                <a:solidFill>
                  <a:srgbClr val="FFFFFF"/>
                </a:solidFill>
                <a:latin typeface="Carlito" pitchFamily="34" charset="0"/>
                <a:ea typeface="Carlito" pitchFamily="34" charset="-122"/>
                <a:cs typeface="Carlito" pitchFamily="34" charset="-120"/>
              </a:rPr>
              <a:t> — сообщает браузеру, что это HTML5</a:t>
            </a:r>
            <a:endParaRPr lang="en-US" sz="1450" dirty="0"/>
          </a:p>
          <a:p>
            <a:pPr marL="169799" indent="-169799" algn="l">
              <a:lnSpc>
                <a:spcPts val="1885"/>
              </a:lnSpc>
              <a:buSzPct val="100000"/>
              <a:buChar char="•"/>
            </a:pPr>
            <a:r>
              <a:rPr lang="en-US" sz="1450" b="1" dirty="0">
                <a:solidFill>
                  <a:srgbClr val="FFFFFF"/>
                </a:solidFill>
                <a:latin typeface="Carlito" pitchFamily="34" charset="0"/>
                <a:ea typeface="Carlito" pitchFamily="34" charset="-122"/>
                <a:cs typeface="Carlito" pitchFamily="34" charset="-120"/>
              </a:rPr>
              <a:t>&lt;html lang="ru"&gt;</a:t>
            </a:r>
            <a:r>
              <a:rPr lang="en-US" sz="1450" dirty="0">
                <a:solidFill>
                  <a:srgbClr val="FFFFFF"/>
                </a:solidFill>
                <a:latin typeface="Carlito" pitchFamily="34" charset="0"/>
                <a:ea typeface="Carlito" pitchFamily="34" charset="-122"/>
                <a:cs typeface="Carlito" pitchFamily="34" charset="-120"/>
              </a:rPr>
              <a:t> — корневой тег; lang задаёт язык страницы</a:t>
            </a:r>
            <a:endParaRPr lang="en-US" sz="1450" dirty="0"/>
          </a:p>
          <a:p>
            <a:pPr marL="169799" indent="-169799" algn="l">
              <a:lnSpc>
                <a:spcPts val="1885"/>
              </a:lnSpc>
              <a:buSzPct val="100000"/>
              <a:buChar char="•"/>
            </a:pPr>
            <a:r>
              <a:rPr lang="en-US" sz="1450" b="1" dirty="0">
                <a:solidFill>
                  <a:srgbClr val="FFFFFF"/>
                </a:solidFill>
                <a:latin typeface="Carlito" pitchFamily="34" charset="0"/>
                <a:ea typeface="Carlito" pitchFamily="34" charset="-122"/>
                <a:cs typeface="Carlito" pitchFamily="34" charset="-120"/>
              </a:rPr>
              <a:t>&lt;head&gt;</a:t>
            </a:r>
            <a:r>
              <a:rPr lang="en-US" sz="1450" dirty="0">
                <a:solidFill>
                  <a:srgbClr val="FFFFFF"/>
                </a:solidFill>
                <a:latin typeface="Carlito" pitchFamily="34" charset="0"/>
                <a:ea typeface="Carlito" pitchFamily="34" charset="-122"/>
                <a:cs typeface="Carlito" pitchFamily="34" charset="-120"/>
              </a:rPr>
              <a:t> — служебная информация, на странице не видна</a:t>
            </a:r>
            <a:endParaRPr lang="en-US" sz="1450" dirty="0"/>
          </a:p>
          <a:p>
            <a:pPr marL="169799" indent="-169799" algn="l">
              <a:lnSpc>
                <a:spcPts val="1885"/>
              </a:lnSpc>
              <a:buSzPct val="100000"/>
              <a:buChar char="•"/>
            </a:pPr>
            <a:r>
              <a:rPr lang="en-US" sz="1450" b="1" dirty="0">
                <a:solidFill>
                  <a:srgbClr val="FFFFFF"/>
                </a:solidFill>
                <a:latin typeface="Carlito" pitchFamily="34" charset="0"/>
                <a:ea typeface="Carlito" pitchFamily="34" charset="-122"/>
                <a:cs typeface="Carlito" pitchFamily="34" charset="-120"/>
              </a:rPr>
              <a:t>&lt;meta charset&gt;</a:t>
            </a:r>
            <a:r>
              <a:rPr lang="en-US" sz="1450" dirty="0">
                <a:solidFill>
                  <a:srgbClr val="FFFFFF"/>
                </a:solidFill>
                <a:latin typeface="Carlito" pitchFamily="34" charset="0"/>
                <a:ea typeface="Carlito" pitchFamily="34" charset="-122"/>
                <a:cs typeface="Carlito" pitchFamily="34" charset="-120"/>
              </a:rPr>
              <a:t> — кодировка, чтобы русские буквы читались</a:t>
            </a:r>
            <a:endParaRPr lang="en-US" sz="1450" dirty="0"/>
          </a:p>
          <a:p>
            <a:pPr marL="169799" indent="-169799" algn="l">
              <a:lnSpc>
                <a:spcPts val="1885"/>
              </a:lnSpc>
              <a:buSzPct val="100000"/>
              <a:buChar char="•"/>
            </a:pPr>
            <a:r>
              <a:rPr lang="en-US" sz="1450" b="1" dirty="0">
                <a:solidFill>
                  <a:srgbClr val="FFFFFF"/>
                </a:solidFill>
                <a:latin typeface="Carlito" pitchFamily="34" charset="0"/>
                <a:ea typeface="Carlito" pitchFamily="34" charset="-122"/>
                <a:cs typeface="Carlito" pitchFamily="34" charset="-120"/>
              </a:rPr>
              <a:t>&lt;title&gt;</a:t>
            </a:r>
            <a:r>
              <a:rPr lang="en-US" sz="1450" dirty="0">
                <a:solidFill>
                  <a:srgbClr val="FFFFFF"/>
                </a:solidFill>
                <a:latin typeface="Carlito" pitchFamily="34" charset="0"/>
                <a:ea typeface="Carlito" pitchFamily="34" charset="-122"/>
                <a:cs typeface="Carlito" pitchFamily="34" charset="-120"/>
              </a:rPr>
              <a:t> — название на вкладке браузера</a:t>
            </a:r>
            <a:endParaRPr lang="en-US" sz="1450" dirty="0"/>
          </a:p>
          <a:p>
            <a:pPr marL="169799" indent="-169799" algn="l">
              <a:lnSpc>
                <a:spcPts val="1885"/>
              </a:lnSpc>
              <a:buSzPct val="100000"/>
              <a:buChar char="•"/>
            </a:pPr>
            <a:r>
              <a:rPr lang="en-US" sz="1450" b="1" dirty="0">
                <a:solidFill>
                  <a:srgbClr val="FFFFFF"/>
                </a:solidFill>
                <a:latin typeface="Carlito" pitchFamily="34" charset="0"/>
                <a:ea typeface="Carlito" pitchFamily="34" charset="-122"/>
                <a:cs typeface="Carlito" pitchFamily="34" charset="-120"/>
              </a:rPr>
              <a:t>&lt;body&gt;</a:t>
            </a:r>
            <a:r>
              <a:rPr lang="en-US" sz="1450" dirty="0">
                <a:solidFill>
                  <a:srgbClr val="FFFFFF"/>
                </a:solidFill>
                <a:latin typeface="Carlito" pitchFamily="34" charset="0"/>
                <a:ea typeface="Carlito" pitchFamily="34" charset="-122"/>
                <a:cs typeface="Carlito" pitchFamily="34" charset="-120"/>
              </a:rPr>
              <a:t> — всё, что видит посетитель</a:t>
            </a:r>
            <a:endParaRPr lang="en-US" sz="1450" dirty="0"/>
          </a:p>
        </p:txBody>
      </p:sp>
      <p:pic>
        <p:nvPicPr>
          <p:cNvPr id="11" name="Рисунок 10"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17B52A8E-A04F-0F9D-D854-A46AF76E4535}"/>
              </a:ext>
            </a:extLst>
          </p:cNvPr>
          <p:cNvPicPr>
            <a:picLocks noChangeAspect="1"/>
          </p:cNvPicPr>
          <p:nvPr/>
        </p:nvPicPr>
        <p:blipFill>
          <a:blip r:embed="rId3"/>
          <a:stretch>
            <a:fillRect/>
          </a:stretch>
        </p:blipFill>
        <p:spPr>
          <a:xfrm>
            <a:off x="10265525" y="213322"/>
            <a:ext cx="737272" cy="72597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Как устроен тег</a:t>
            </a:r>
            <a:endParaRPr lang="en-US" sz="3200" dirty="0"/>
          </a:p>
        </p:txBody>
      </p:sp>
      <p:sp>
        <p:nvSpPr>
          <p:cNvPr id="5" name="Text 2"/>
          <p:cNvSpPr/>
          <p:nvPr/>
        </p:nvSpPr>
        <p:spPr>
          <a:xfrm>
            <a:off x="635000" y="891480"/>
            <a:ext cx="10795000" cy="775891"/>
          </a:xfrm>
          <a:prstGeom prst="roundRect">
            <a:avLst>
              <a:gd name="adj" fmla="val 11458"/>
            </a:avLst>
          </a:prstGeom>
          <a:solidFill>
            <a:srgbClr val="F6ECF6"/>
          </a:solidFill>
          <a:ln/>
        </p:spPr>
        <p:txBody>
          <a:bodyPr wrap="square" lIns="202562" tIns="139062" rIns="0" bIns="113662" rtlCol="0" anchor="t">
            <a:normAutofit/>
          </a:bodyPr>
          <a:lstStyle/>
          <a:p>
            <a:pPr marL="0" indent="0" algn="l">
              <a:lnSpc>
                <a:spcPts val="3510"/>
              </a:lnSpc>
              <a:buNone/>
            </a:pPr>
            <a:r>
              <a:rPr lang="en-US" sz="2700" dirty="0">
                <a:solidFill>
                  <a:srgbClr val="A3005F"/>
                </a:solidFill>
                <a:latin typeface="JetBrains Mono" pitchFamily="49" charset="0"/>
                <a:ea typeface="JetBrains Mono" pitchFamily="49" charset="-122"/>
                <a:cs typeface="JetBrains Mono" pitchFamily="49" charset="-120"/>
              </a:rPr>
              <a:t>&lt;p</a:t>
            </a:r>
            <a:r>
              <a:rPr lang="en-US" sz="2700" dirty="0">
                <a:solidFill>
                  <a:srgbClr val="111111"/>
                </a:solidFill>
                <a:latin typeface="JetBrains Mono" pitchFamily="49" charset="0"/>
                <a:ea typeface="JetBrains Mono" pitchFamily="49" charset="-122"/>
                <a:cs typeface="JetBrains Mono" pitchFamily="49" charset="-120"/>
              </a:rPr>
              <a:t> </a:t>
            </a:r>
            <a:r>
              <a:rPr lang="en-US" sz="2700" dirty="0">
                <a:solidFill>
                  <a:srgbClr val="7A4A00"/>
                </a:solidFill>
                <a:latin typeface="JetBrains Mono" pitchFamily="49" charset="0"/>
                <a:ea typeface="JetBrains Mono" pitchFamily="49" charset="-122"/>
                <a:cs typeface="JetBrains Mono" pitchFamily="49" charset="-120"/>
              </a:rPr>
              <a:t>class</a:t>
            </a:r>
            <a:r>
              <a:rPr lang="en-US" sz="2700" dirty="0">
                <a:solidFill>
                  <a:srgbClr val="111111"/>
                </a:solidFill>
                <a:latin typeface="JetBrains Mono" pitchFamily="49" charset="0"/>
                <a:ea typeface="JetBrains Mono" pitchFamily="49" charset="-122"/>
                <a:cs typeface="JetBrains Mono" pitchFamily="49" charset="-120"/>
              </a:rPr>
              <a:t>=</a:t>
            </a:r>
            <a:r>
              <a:rPr lang="en-US" sz="2700" dirty="0">
                <a:solidFill>
                  <a:srgbClr val="1B6B2F"/>
                </a:solidFill>
                <a:latin typeface="JetBrains Mono" pitchFamily="49" charset="0"/>
                <a:ea typeface="JetBrains Mono" pitchFamily="49" charset="-122"/>
                <a:cs typeface="JetBrains Mono" pitchFamily="49" charset="-120"/>
              </a:rPr>
              <a:t>"note"</a:t>
            </a:r>
            <a:r>
              <a:rPr lang="en-US" sz="2700" dirty="0">
                <a:solidFill>
                  <a:srgbClr val="A3005F"/>
                </a:solidFill>
                <a:latin typeface="JetBrains Mono" pitchFamily="49" charset="0"/>
                <a:ea typeface="JetBrains Mono" pitchFamily="49" charset="-122"/>
                <a:cs typeface="JetBrains Mono" pitchFamily="49" charset="-120"/>
              </a:rPr>
              <a:t>&gt;</a:t>
            </a:r>
            <a:r>
              <a:rPr lang="en-US" sz="2700" dirty="0">
                <a:solidFill>
                  <a:srgbClr val="111111"/>
                </a:solidFill>
                <a:latin typeface="JetBrains Mono" pitchFamily="49" charset="0"/>
                <a:ea typeface="JetBrains Mono" pitchFamily="49" charset="-122"/>
                <a:cs typeface="JetBrains Mono" pitchFamily="49" charset="-120"/>
              </a:rPr>
              <a:t>Привет!</a:t>
            </a:r>
            <a:r>
              <a:rPr lang="en-US" sz="2700" dirty="0">
                <a:solidFill>
                  <a:srgbClr val="A3005F"/>
                </a:solidFill>
                <a:latin typeface="JetBrains Mono" pitchFamily="49" charset="0"/>
                <a:ea typeface="JetBrains Mono" pitchFamily="49" charset="-122"/>
                <a:cs typeface="JetBrains Mono" pitchFamily="49" charset="-120"/>
              </a:rPr>
              <a:t>&lt;/p&gt;</a:t>
            </a:r>
            <a:endParaRPr lang="en-US" sz="2700" dirty="0"/>
          </a:p>
        </p:txBody>
      </p:sp>
      <p:sp>
        <p:nvSpPr>
          <p:cNvPr id="6" name="Shape 3"/>
          <p:cNvSpPr/>
          <p:nvPr/>
        </p:nvSpPr>
        <p:spPr>
          <a:xfrm>
            <a:off x="635000" y="1832471"/>
            <a:ext cx="2635250" cy="0"/>
          </a:xfrm>
          <a:prstGeom prst="line">
            <a:avLst/>
          </a:prstGeom>
          <a:noFill/>
          <a:ln w="50800">
            <a:solidFill>
              <a:srgbClr val="A3005F"/>
            </a:solidFill>
            <a:prstDash val="solid"/>
          </a:ln>
        </p:spPr>
      </p:sp>
      <p:sp>
        <p:nvSpPr>
          <p:cNvPr id="7" name="Text 4"/>
          <p:cNvSpPr/>
          <p:nvPr/>
        </p:nvSpPr>
        <p:spPr>
          <a:xfrm>
            <a:off x="635000" y="1934071"/>
            <a:ext cx="271430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1111"/>
                </a:solidFill>
                <a:latin typeface="Carlito" pitchFamily="34" charset="0"/>
                <a:ea typeface="Carlito" pitchFamily="34" charset="-122"/>
                <a:cs typeface="Carlito" pitchFamily="34" charset="-120"/>
              </a:rPr>
              <a:t>Открывающий тег</a:t>
            </a:r>
            <a:endParaRPr lang="en-US" sz="1600" dirty="0"/>
          </a:p>
        </p:txBody>
      </p:sp>
      <p:sp>
        <p:nvSpPr>
          <p:cNvPr id="8" name="Text 5"/>
          <p:cNvSpPr/>
          <p:nvPr/>
        </p:nvSpPr>
        <p:spPr>
          <a:xfrm>
            <a:off x="635000" y="2269331"/>
            <a:ext cx="2714307"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Начало элемента: &lt;p&gt;</a:t>
            </a:r>
            <a:endParaRPr lang="en-US" sz="1400" dirty="0"/>
          </a:p>
        </p:txBody>
      </p:sp>
      <p:sp>
        <p:nvSpPr>
          <p:cNvPr id="9" name="Shape 6"/>
          <p:cNvSpPr/>
          <p:nvPr/>
        </p:nvSpPr>
        <p:spPr>
          <a:xfrm>
            <a:off x="3397250" y="1832471"/>
            <a:ext cx="2635250" cy="0"/>
          </a:xfrm>
          <a:prstGeom prst="line">
            <a:avLst/>
          </a:prstGeom>
          <a:noFill/>
          <a:ln w="50800">
            <a:solidFill>
              <a:srgbClr val="7A4A00"/>
            </a:solidFill>
            <a:prstDash val="solid"/>
          </a:ln>
        </p:spPr>
      </p:sp>
      <p:sp>
        <p:nvSpPr>
          <p:cNvPr id="10" name="Text 7"/>
          <p:cNvSpPr/>
          <p:nvPr/>
        </p:nvSpPr>
        <p:spPr>
          <a:xfrm>
            <a:off x="3397250" y="1934071"/>
            <a:ext cx="271430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1111"/>
                </a:solidFill>
                <a:latin typeface="Carlito" pitchFamily="34" charset="0"/>
                <a:ea typeface="Carlito" pitchFamily="34" charset="-122"/>
                <a:cs typeface="Carlito" pitchFamily="34" charset="-120"/>
              </a:rPr>
              <a:t>Атрибут</a:t>
            </a:r>
            <a:endParaRPr lang="en-US" sz="1600" dirty="0"/>
          </a:p>
        </p:txBody>
      </p:sp>
      <p:sp>
        <p:nvSpPr>
          <p:cNvPr id="11" name="Text 8"/>
          <p:cNvSpPr/>
          <p:nvPr/>
        </p:nvSpPr>
        <p:spPr>
          <a:xfrm>
            <a:off x="3397250" y="2269331"/>
            <a:ext cx="271430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Имя и значение в кавычках: class="note"</a:t>
            </a:r>
            <a:endParaRPr lang="en-US" sz="1400" dirty="0"/>
          </a:p>
        </p:txBody>
      </p:sp>
      <p:sp>
        <p:nvSpPr>
          <p:cNvPr id="12" name="Shape 9"/>
          <p:cNvSpPr/>
          <p:nvPr/>
        </p:nvSpPr>
        <p:spPr>
          <a:xfrm>
            <a:off x="6159500" y="1832471"/>
            <a:ext cx="2635250" cy="0"/>
          </a:xfrm>
          <a:prstGeom prst="line">
            <a:avLst/>
          </a:prstGeom>
          <a:noFill/>
          <a:ln w="50800">
            <a:solidFill>
              <a:srgbClr val="111111"/>
            </a:solidFill>
            <a:prstDash val="solid"/>
          </a:ln>
        </p:spPr>
      </p:sp>
      <p:sp>
        <p:nvSpPr>
          <p:cNvPr id="13" name="Text 10"/>
          <p:cNvSpPr/>
          <p:nvPr/>
        </p:nvSpPr>
        <p:spPr>
          <a:xfrm>
            <a:off x="6159500" y="1934071"/>
            <a:ext cx="271430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1111"/>
                </a:solidFill>
                <a:latin typeface="Carlito" pitchFamily="34" charset="0"/>
                <a:ea typeface="Carlito" pitchFamily="34" charset="-122"/>
                <a:cs typeface="Carlito" pitchFamily="34" charset="-120"/>
              </a:rPr>
              <a:t>Содержимое</a:t>
            </a:r>
            <a:endParaRPr lang="en-US" sz="1600" dirty="0"/>
          </a:p>
        </p:txBody>
      </p:sp>
      <p:sp>
        <p:nvSpPr>
          <p:cNvPr id="14" name="Text 11"/>
          <p:cNvSpPr/>
          <p:nvPr/>
        </p:nvSpPr>
        <p:spPr>
          <a:xfrm>
            <a:off x="6159500" y="2269331"/>
            <a:ext cx="271430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Текст или другие теги внутри элемента</a:t>
            </a:r>
            <a:endParaRPr lang="en-US" sz="1400" dirty="0"/>
          </a:p>
        </p:txBody>
      </p:sp>
      <p:sp>
        <p:nvSpPr>
          <p:cNvPr id="15" name="Shape 12"/>
          <p:cNvSpPr/>
          <p:nvPr/>
        </p:nvSpPr>
        <p:spPr>
          <a:xfrm>
            <a:off x="8921750" y="1832471"/>
            <a:ext cx="2635250" cy="0"/>
          </a:xfrm>
          <a:prstGeom prst="line">
            <a:avLst/>
          </a:prstGeom>
          <a:noFill/>
          <a:ln w="50800">
            <a:solidFill>
              <a:srgbClr val="A3005F"/>
            </a:solidFill>
            <a:prstDash val="solid"/>
          </a:ln>
        </p:spPr>
      </p:sp>
      <p:sp>
        <p:nvSpPr>
          <p:cNvPr id="16" name="Text 13"/>
          <p:cNvSpPr/>
          <p:nvPr/>
        </p:nvSpPr>
        <p:spPr>
          <a:xfrm>
            <a:off x="8921750" y="1934071"/>
            <a:ext cx="271430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1111"/>
                </a:solidFill>
                <a:latin typeface="Carlito" pitchFamily="34" charset="0"/>
                <a:ea typeface="Carlito" pitchFamily="34" charset="-122"/>
                <a:cs typeface="Carlito" pitchFamily="34" charset="-120"/>
              </a:rPr>
              <a:t>Закрывающий тег</a:t>
            </a:r>
            <a:endParaRPr lang="en-US" sz="1600" dirty="0"/>
          </a:p>
        </p:txBody>
      </p:sp>
      <p:sp>
        <p:nvSpPr>
          <p:cNvPr id="17" name="Text 14"/>
          <p:cNvSpPr/>
          <p:nvPr/>
        </p:nvSpPr>
        <p:spPr>
          <a:xfrm>
            <a:off x="8921750" y="2269331"/>
            <a:ext cx="2714307"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Конец элемента, со слешем: &lt;/p&gt;</a:t>
            </a:r>
            <a:endParaRPr lang="en-US" sz="1400" dirty="0"/>
          </a:p>
        </p:txBody>
      </p:sp>
      <p:sp>
        <p:nvSpPr>
          <p:cNvPr id="18" name="Shape 15"/>
          <p:cNvSpPr/>
          <p:nvPr/>
        </p:nvSpPr>
        <p:spPr>
          <a:xfrm>
            <a:off x="647700" y="2883892"/>
            <a:ext cx="3496667" cy="1378049"/>
          </a:xfrm>
          <a:prstGeom prst="roundRect">
            <a:avLst>
              <a:gd name="adj" fmla="val 6451"/>
            </a:avLst>
          </a:prstGeom>
          <a:noFill/>
          <a:ln w="25400">
            <a:solidFill>
              <a:srgbClr val="972996"/>
            </a:solidFill>
            <a:prstDash val="solid"/>
          </a:ln>
        </p:spPr>
      </p:sp>
      <p:sp>
        <p:nvSpPr>
          <p:cNvPr id="19" name="Text 16"/>
          <p:cNvSpPr/>
          <p:nvPr/>
        </p:nvSpPr>
        <p:spPr>
          <a:xfrm>
            <a:off x="825500" y="3023592"/>
            <a:ext cx="3235299"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972996"/>
                </a:solidFill>
                <a:latin typeface="Carlito" pitchFamily="34" charset="0"/>
                <a:ea typeface="Carlito" pitchFamily="34" charset="-122"/>
                <a:cs typeface="Carlito" pitchFamily="34" charset="-120"/>
              </a:rPr>
              <a:t>Пустые теги</a:t>
            </a:r>
            <a:endParaRPr lang="en-US" sz="1700" dirty="0"/>
          </a:p>
        </p:txBody>
      </p:sp>
      <p:sp>
        <p:nvSpPr>
          <p:cNvPr id="20" name="Text 17"/>
          <p:cNvSpPr/>
          <p:nvPr/>
        </p:nvSpPr>
        <p:spPr>
          <a:xfrm>
            <a:off x="825500" y="3376613"/>
            <a:ext cx="3235299" cy="771029"/>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111111"/>
                </a:solidFill>
                <a:latin typeface="Carlito" pitchFamily="34" charset="0"/>
                <a:ea typeface="Carlito" pitchFamily="34" charset="-122"/>
                <a:cs typeface="Carlito" pitchFamily="34" charset="-120"/>
              </a:rPr>
              <a:t>Содержимого нет, закрывающего тега тоже: &lt;br&gt;, &lt;hr&gt;, &lt;img&gt;, &lt;input&gt;, &lt;meta&gt;.</a:t>
            </a:r>
            <a:endParaRPr lang="en-US" sz="1450" dirty="0"/>
          </a:p>
        </p:txBody>
      </p:sp>
      <p:sp>
        <p:nvSpPr>
          <p:cNvPr id="21" name="Shape 18"/>
          <p:cNvSpPr/>
          <p:nvPr/>
        </p:nvSpPr>
        <p:spPr>
          <a:xfrm>
            <a:off x="4347567" y="2883892"/>
            <a:ext cx="3496766" cy="1378049"/>
          </a:xfrm>
          <a:prstGeom prst="roundRect">
            <a:avLst>
              <a:gd name="adj" fmla="val 6451"/>
            </a:avLst>
          </a:prstGeom>
          <a:noFill/>
          <a:ln w="25400">
            <a:solidFill>
              <a:srgbClr val="972996"/>
            </a:solidFill>
            <a:prstDash val="solid"/>
          </a:ln>
        </p:spPr>
      </p:sp>
      <p:sp>
        <p:nvSpPr>
          <p:cNvPr id="22" name="Text 19"/>
          <p:cNvSpPr/>
          <p:nvPr/>
        </p:nvSpPr>
        <p:spPr>
          <a:xfrm>
            <a:off x="4525367" y="3023592"/>
            <a:ext cx="3235401"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972996"/>
                </a:solidFill>
                <a:latin typeface="Carlito" pitchFamily="34" charset="0"/>
                <a:ea typeface="Carlito" pitchFamily="34" charset="-122"/>
                <a:cs typeface="Carlito" pitchFamily="34" charset="-120"/>
              </a:rPr>
              <a:t>Вложенность</a:t>
            </a:r>
            <a:endParaRPr lang="en-US" sz="1700" dirty="0"/>
          </a:p>
        </p:txBody>
      </p:sp>
      <p:sp>
        <p:nvSpPr>
          <p:cNvPr id="23" name="Text 20"/>
          <p:cNvSpPr/>
          <p:nvPr/>
        </p:nvSpPr>
        <p:spPr>
          <a:xfrm>
            <a:off x="4525367" y="3376613"/>
            <a:ext cx="3235401" cy="771029"/>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111111"/>
                </a:solidFill>
                <a:latin typeface="Carlito" pitchFamily="34" charset="0"/>
                <a:ea typeface="Carlito" pitchFamily="34" charset="-122"/>
                <a:cs typeface="Carlito" pitchFamily="34" charset="-120"/>
              </a:rPr>
              <a:t>Теги закрываются в обратном порядке: &lt;p&gt;&lt;b&gt;текст&lt;/b&gt;&lt;/p&gt;. Пересекаться теги не должны.</a:t>
            </a:r>
            <a:endParaRPr lang="en-US" sz="1450" dirty="0"/>
          </a:p>
        </p:txBody>
      </p:sp>
      <p:sp>
        <p:nvSpPr>
          <p:cNvPr id="24" name="Shape 21"/>
          <p:cNvSpPr/>
          <p:nvPr/>
        </p:nvSpPr>
        <p:spPr>
          <a:xfrm>
            <a:off x="8047534" y="2883892"/>
            <a:ext cx="3496766" cy="1378049"/>
          </a:xfrm>
          <a:prstGeom prst="roundRect">
            <a:avLst>
              <a:gd name="adj" fmla="val 6451"/>
            </a:avLst>
          </a:prstGeom>
          <a:noFill/>
          <a:ln w="25400">
            <a:solidFill>
              <a:srgbClr val="972996"/>
            </a:solidFill>
            <a:prstDash val="solid"/>
          </a:ln>
        </p:spPr>
      </p:sp>
      <p:sp>
        <p:nvSpPr>
          <p:cNvPr id="25" name="Text 22"/>
          <p:cNvSpPr/>
          <p:nvPr/>
        </p:nvSpPr>
        <p:spPr>
          <a:xfrm>
            <a:off x="8225334" y="3023592"/>
            <a:ext cx="3235401"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972996"/>
                </a:solidFill>
                <a:latin typeface="Carlito" pitchFamily="34" charset="0"/>
                <a:ea typeface="Carlito" pitchFamily="34" charset="-122"/>
                <a:cs typeface="Carlito" pitchFamily="34" charset="-120"/>
              </a:rPr>
              <a:t>Комментарии</a:t>
            </a:r>
            <a:endParaRPr lang="en-US" sz="1700" dirty="0"/>
          </a:p>
        </p:txBody>
      </p:sp>
      <p:sp>
        <p:nvSpPr>
          <p:cNvPr id="26" name="Text 23"/>
          <p:cNvSpPr/>
          <p:nvPr/>
        </p:nvSpPr>
        <p:spPr>
          <a:xfrm>
            <a:off x="8225334" y="3376613"/>
            <a:ext cx="3235401" cy="522486"/>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111111"/>
                </a:solidFill>
                <a:latin typeface="Carlito" pitchFamily="34" charset="0"/>
                <a:ea typeface="Carlito" pitchFamily="34" charset="-122"/>
                <a:cs typeface="Carlito" pitchFamily="34" charset="-120"/>
              </a:rPr>
              <a:t>Браузер их не показывает: &lt;!-- заметка для себя --&gt;</a:t>
            </a:r>
            <a:endParaRPr lang="en-US" sz="1450" dirty="0"/>
          </a:p>
        </p:txBody>
      </p:sp>
      <p:pic>
        <p:nvPicPr>
          <p:cNvPr id="27" name="Рисунок 26"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1847B297-277B-6F12-881E-C6B5291B4C6B}"/>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FFF"/>
                </a:solidFill>
                <a:latin typeface="Carlito" pitchFamily="34" charset="0"/>
                <a:ea typeface="Carlito" pitchFamily="34" charset="-122"/>
                <a:cs typeface="Carlito" pitchFamily="34" charset="-120"/>
              </a:rPr>
              <a:t>Первая страница</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Сохраните файл как index.html и откройте его в браузере</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3302000"/>
          </a:xfrm>
          <a:prstGeom prst="roundRect">
            <a:avLst>
              <a:gd name="adj" fmla="val 2308"/>
            </a:avLst>
          </a:prstGeom>
          <a:solidFill>
            <a:srgbClr val="2A002A"/>
          </a:solidFill>
          <a:ln/>
        </p:spPr>
        <p:txBody>
          <a:bodyPr wrap="square" lIns="168182" tIns="142782" rIns="23592" bIns="117382" rtlCol="0" anchor="t">
            <a:noAutofit/>
          </a:bodyPr>
          <a:lstStyle/>
          <a:p>
            <a:pPr marL="0" indent="0" algn="l">
              <a:lnSpc>
                <a:spcPts val="1950"/>
              </a:lnSpc>
              <a:buNone/>
            </a:pPr>
            <a:r>
              <a:rPr lang="en-US" sz="800" dirty="0">
                <a:solidFill>
                  <a:srgbClr val="FF9DE2"/>
                </a:solidFill>
                <a:latin typeface="JetBrains Mono" pitchFamily="49" charset="0"/>
                <a:ea typeface="JetBrains Mono" pitchFamily="49" charset="-122"/>
                <a:cs typeface="JetBrains Mono" pitchFamily="49" charset="-120"/>
              </a:rPr>
              <a:t>&lt;!DOCTYPE html&gt;</a:t>
            </a:r>
            <a:endParaRPr lang="en-US" sz="800" dirty="0"/>
          </a:p>
          <a:p>
            <a:pPr marL="0" indent="0" algn="l">
              <a:lnSpc>
                <a:spcPts val="1950"/>
              </a:lnSpc>
              <a:buNone/>
            </a:pPr>
            <a:r>
              <a:rPr lang="en-US" sz="800" dirty="0">
                <a:solidFill>
                  <a:srgbClr val="FF9DE2"/>
                </a:solidFill>
                <a:latin typeface="JetBrains Mono" pitchFamily="49" charset="0"/>
                <a:ea typeface="JetBrains Mono" pitchFamily="49" charset="-122"/>
                <a:cs typeface="JetBrains Mono" pitchFamily="49" charset="-120"/>
              </a:rPr>
              <a:t>&lt;html</a:t>
            </a: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D27F"/>
                </a:solidFill>
                <a:latin typeface="JetBrains Mono" pitchFamily="49" charset="0"/>
                <a:ea typeface="JetBrains Mono" pitchFamily="49" charset="-122"/>
                <a:cs typeface="JetBrains Mono" pitchFamily="49" charset="-120"/>
              </a:rPr>
              <a:t>lang</a:t>
            </a:r>
            <a:r>
              <a:rPr lang="en-US" sz="800" dirty="0">
                <a:solidFill>
                  <a:srgbClr val="FFFFFF"/>
                </a:solidFill>
                <a:latin typeface="JetBrains Mono" pitchFamily="49" charset="0"/>
                <a:ea typeface="JetBrains Mono" pitchFamily="49" charset="-122"/>
                <a:cs typeface="JetBrains Mono" pitchFamily="49" charset="-120"/>
              </a:rPr>
              <a:t>=</a:t>
            </a:r>
            <a:r>
              <a:rPr lang="en-US" sz="800" dirty="0">
                <a:solidFill>
                  <a:srgbClr val="9EE6A8"/>
                </a:solidFill>
                <a:latin typeface="JetBrains Mono" pitchFamily="49" charset="0"/>
                <a:ea typeface="JetBrains Mono" pitchFamily="49" charset="-122"/>
                <a:cs typeface="JetBrains Mono" pitchFamily="49" charset="-120"/>
              </a:rPr>
              <a:t>"ru"</a:t>
            </a:r>
            <a:r>
              <a:rPr lang="en-US" sz="800" dirty="0">
                <a:solidFill>
                  <a:srgbClr val="FF9DE2"/>
                </a:solidFill>
                <a:latin typeface="JetBrains Mono" pitchFamily="49" charset="0"/>
                <a:ea typeface="JetBrains Mono" pitchFamily="49" charset="-122"/>
                <a:cs typeface="JetBrains Mono" pitchFamily="49" charset="-120"/>
              </a:rPr>
              <a:t>&gt;</a:t>
            </a:r>
            <a:endParaRPr lang="en-US" sz="800" dirty="0"/>
          </a:p>
          <a:p>
            <a:pPr marL="0" indent="0" algn="l">
              <a:lnSpc>
                <a:spcPts val="1950"/>
              </a:lnSpc>
              <a:buNone/>
            </a:pPr>
            <a:r>
              <a:rPr lang="en-US" sz="800" dirty="0">
                <a:solidFill>
                  <a:srgbClr val="FF9DE2"/>
                </a:solidFill>
                <a:latin typeface="JetBrains Mono" pitchFamily="49" charset="0"/>
                <a:ea typeface="JetBrains Mono" pitchFamily="49" charset="-122"/>
                <a:cs typeface="JetBrains Mono" pitchFamily="49" charset="-120"/>
              </a:rPr>
              <a:t>&lt;head&gt;</a:t>
            </a:r>
            <a:endParaRPr lang="en-US" sz="800" dirty="0"/>
          </a:p>
          <a:p>
            <a:pPr marL="0" indent="0" algn="l">
              <a:lnSpc>
                <a:spcPts val="1950"/>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9DE2"/>
                </a:solidFill>
                <a:latin typeface="JetBrains Mono" pitchFamily="49" charset="0"/>
                <a:ea typeface="JetBrains Mono" pitchFamily="49" charset="-122"/>
                <a:cs typeface="JetBrains Mono" pitchFamily="49" charset="-120"/>
              </a:rPr>
              <a:t>&lt;meta</a:t>
            </a: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D27F"/>
                </a:solidFill>
                <a:latin typeface="JetBrains Mono" pitchFamily="49" charset="0"/>
                <a:ea typeface="JetBrains Mono" pitchFamily="49" charset="-122"/>
                <a:cs typeface="JetBrains Mono" pitchFamily="49" charset="-120"/>
              </a:rPr>
              <a:t>charset</a:t>
            </a:r>
            <a:r>
              <a:rPr lang="en-US" sz="800" dirty="0">
                <a:solidFill>
                  <a:srgbClr val="FFFFFF"/>
                </a:solidFill>
                <a:latin typeface="JetBrains Mono" pitchFamily="49" charset="0"/>
                <a:ea typeface="JetBrains Mono" pitchFamily="49" charset="-122"/>
                <a:cs typeface="JetBrains Mono" pitchFamily="49" charset="-120"/>
              </a:rPr>
              <a:t>=</a:t>
            </a:r>
            <a:r>
              <a:rPr lang="en-US" sz="800" dirty="0">
                <a:solidFill>
                  <a:srgbClr val="9EE6A8"/>
                </a:solidFill>
                <a:latin typeface="JetBrains Mono" pitchFamily="49" charset="0"/>
                <a:ea typeface="JetBrains Mono" pitchFamily="49" charset="-122"/>
                <a:cs typeface="JetBrains Mono" pitchFamily="49" charset="-120"/>
              </a:rPr>
              <a:t>"UTF-8"</a:t>
            </a:r>
            <a:r>
              <a:rPr lang="en-US" sz="800" dirty="0">
                <a:solidFill>
                  <a:srgbClr val="FF9DE2"/>
                </a:solidFill>
                <a:latin typeface="JetBrains Mono" pitchFamily="49" charset="0"/>
                <a:ea typeface="JetBrains Mono" pitchFamily="49" charset="-122"/>
                <a:cs typeface="JetBrains Mono" pitchFamily="49" charset="-120"/>
              </a:rPr>
              <a:t>&gt;</a:t>
            </a:r>
            <a:endParaRPr lang="en-US" sz="800" dirty="0"/>
          </a:p>
          <a:p>
            <a:pPr marL="0" indent="0" algn="l">
              <a:lnSpc>
                <a:spcPts val="1950"/>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9DE2"/>
                </a:solidFill>
                <a:latin typeface="JetBrains Mono" pitchFamily="49" charset="0"/>
                <a:ea typeface="JetBrains Mono" pitchFamily="49" charset="-122"/>
                <a:cs typeface="JetBrains Mono" pitchFamily="49" charset="-120"/>
              </a:rPr>
              <a:t>&lt;title&gt;</a:t>
            </a:r>
            <a:r>
              <a:rPr lang="en-US" sz="800" dirty="0">
                <a:solidFill>
                  <a:srgbClr val="FFFFFF"/>
                </a:solidFill>
                <a:latin typeface="JetBrains Mono" pitchFamily="49" charset="0"/>
                <a:ea typeface="JetBrains Mono" pitchFamily="49" charset="-122"/>
                <a:cs typeface="JetBrains Mono" pitchFamily="49" charset="-120"/>
              </a:rPr>
              <a:t>Привет</a:t>
            </a:r>
            <a:r>
              <a:rPr lang="en-US" sz="800" dirty="0">
                <a:solidFill>
                  <a:srgbClr val="FF9DE2"/>
                </a:solidFill>
                <a:latin typeface="JetBrains Mono" pitchFamily="49" charset="0"/>
                <a:ea typeface="JetBrains Mono" pitchFamily="49" charset="-122"/>
                <a:cs typeface="JetBrains Mono" pitchFamily="49" charset="-120"/>
              </a:rPr>
              <a:t>&lt;/title&gt;</a:t>
            </a:r>
            <a:endParaRPr lang="en-US" sz="800" dirty="0"/>
          </a:p>
          <a:p>
            <a:pPr marL="0" indent="0" algn="l">
              <a:lnSpc>
                <a:spcPts val="1950"/>
              </a:lnSpc>
              <a:buNone/>
            </a:pPr>
            <a:r>
              <a:rPr lang="en-US" sz="800" dirty="0">
                <a:solidFill>
                  <a:srgbClr val="FF9DE2"/>
                </a:solidFill>
                <a:latin typeface="JetBrains Mono" pitchFamily="49" charset="0"/>
                <a:ea typeface="JetBrains Mono" pitchFamily="49" charset="-122"/>
                <a:cs typeface="JetBrains Mono" pitchFamily="49" charset="-120"/>
              </a:rPr>
              <a:t>&lt;/head&gt;</a:t>
            </a:r>
            <a:endParaRPr lang="en-US" sz="800" dirty="0"/>
          </a:p>
          <a:p>
            <a:pPr marL="0" indent="0" algn="l">
              <a:lnSpc>
                <a:spcPts val="1950"/>
              </a:lnSpc>
              <a:buNone/>
            </a:pPr>
            <a:r>
              <a:rPr lang="en-US" sz="800" dirty="0">
                <a:solidFill>
                  <a:srgbClr val="FF9DE2"/>
                </a:solidFill>
                <a:latin typeface="JetBrains Mono" pitchFamily="49" charset="0"/>
                <a:ea typeface="JetBrains Mono" pitchFamily="49" charset="-122"/>
                <a:cs typeface="JetBrains Mono" pitchFamily="49" charset="-120"/>
              </a:rPr>
              <a:t>&lt;body&gt;</a:t>
            </a:r>
            <a:endParaRPr lang="en-US" sz="800" dirty="0"/>
          </a:p>
          <a:p>
            <a:pPr marL="0" indent="0" algn="l">
              <a:lnSpc>
                <a:spcPts val="1950"/>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9DE2"/>
                </a:solidFill>
                <a:latin typeface="JetBrains Mono" pitchFamily="49" charset="0"/>
                <a:ea typeface="JetBrains Mono" pitchFamily="49" charset="-122"/>
                <a:cs typeface="JetBrains Mono" pitchFamily="49" charset="-120"/>
              </a:rPr>
              <a:t>&lt;h1&gt;</a:t>
            </a:r>
            <a:r>
              <a:rPr lang="en-US" sz="800" dirty="0">
                <a:solidFill>
                  <a:srgbClr val="FFFFFF"/>
                </a:solidFill>
                <a:latin typeface="JetBrains Mono" pitchFamily="49" charset="0"/>
                <a:ea typeface="JetBrains Mono" pitchFamily="49" charset="-122"/>
                <a:cs typeface="JetBrains Mono" pitchFamily="49" charset="-120"/>
              </a:rPr>
              <a:t>Моя первая страница</a:t>
            </a:r>
            <a:r>
              <a:rPr lang="en-US" sz="800" dirty="0">
                <a:solidFill>
                  <a:srgbClr val="FF9DE2"/>
                </a:solidFill>
                <a:latin typeface="JetBrains Mono" pitchFamily="49" charset="0"/>
                <a:ea typeface="JetBrains Mono" pitchFamily="49" charset="-122"/>
                <a:cs typeface="JetBrains Mono" pitchFamily="49" charset="-120"/>
              </a:rPr>
              <a:t>&lt;/h1&gt;</a:t>
            </a:r>
            <a:endParaRPr lang="en-US" sz="800" dirty="0"/>
          </a:p>
          <a:p>
            <a:pPr marL="0" indent="0" algn="l">
              <a:lnSpc>
                <a:spcPts val="1950"/>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9DE2"/>
                </a:solidFill>
                <a:latin typeface="JetBrains Mono" pitchFamily="49" charset="0"/>
                <a:ea typeface="JetBrains Mono" pitchFamily="49" charset="-122"/>
                <a:cs typeface="JetBrains Mono" pitchFamily="49" charset="-120"/>
              </a:rPr>
              <a:t>&lt;p&gt;</a:t>
            </a:r>
            <a:r>
              <a:rPr lang="en-US" sz="800" dirty="0">
                <a:solidFill>
                  <a:srgbClr val="FFFFFF"/>
                </a:solidFill>
                <a:latin typeface="JetBrains Mono" pitchFamily="49" charset="0"/>
                <a:ea typeface="JetBrains Mono" pitchFamily="49" charset="-122"/>
                <a:cs typeface="JetBrains Mono" pitchFamily="49" charset="-120"/>
              </a:rPr>
              <a:t>Это абзац текста.</a:t>
            </a:r>
            <a:r>
              <a:rPr lang="en-US" sz="800" dirty="0">
                <a:solidFill>
                  <a:srgbClr val="FF9DE2"/>
                </a:solidFill>
                <a:latin typeface="JetBrains Mono" pitchFamily="49" charset="0"/>
                <a:ea typeface="JetBrains Mono" pitchFamily="49" charset="-122"/>
                <a:cs typeface="JetBrains Mono" pitchFamily="49" charset="-120"/>
              </a:rPr>
              <a:t>&lt;/p&gt;</a:t>
            </a:r>
            <a:endParaRPr lang="en-US" sz="800" dirty="0"/>
          </a:p>
          <a:p>
            <a:pPr marL="0" indent="0" algn="l">
              <a:lnSpc>
                <a:spcPts val="1950"/>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9DE2"/>
                </a:solidFill>
                <a:latin typeface="JetBrains Mono" pitchFamily="49" charset="0"/>
                <a:ea typeface="JetBrains Mono" pitchFamily="49" charset="-122"/>
                <a:cs typeface="JetBrains Mono" pitchFamily="49" charset="-120"/>
              </a:rPr>
              <a:t>&lt;p&gt;</a:t>
            </a:r>
            <a:r>
              <a:rPr lang="en-US" sz="800" dirty="0">
                <a:solidFill>
                  <a:srgbClr val="FFFFFF"/>
                </a:solidFill>
                <a:latin typeface="JetBrains Mono" pitchFamily="49" charset="0"/>
                <a:ea typeface="JetBrains Mono" pitchFamily="49" charset="-122"/>
                <a:cs typeface="JetBrains Mono" pitchFamily="49" charset="-120"/>
              </a:rPr>
              <a:t>Ещё один абзац.</a:t>
            </a:r>
            <a:r>
              <a:rPr lang="en-US" sz="800" dirty="0">
                <a:solidFill>
                  <a:srgbClr val="FF9DE2"/>
                </a:solidFill>
                <a:latin typeface="JetBrains Mono" pitchFamily="49" charset="0"/>
                <a:ea typeface="JetBrains Mono" pitchFamily="49" charset="-122"/>
                <a:cs typeface="JetBrains Mono" pitchFamily="49" charset="-120"/>
              </a:rPr>
              <a:t>&lt;/p&gt;</a:t>
            </a:r>
            <a:endParaRPr lang="en-US" sz="800" dirty="0"/>
          </a:p>
          <a:p>
            <a:pPr marL="0" indent="0" algn="l">
              <a:lnSpc>
                <a:spcPts val="1950"/>
              </a:lnSpc>
              <a:buNone/>
            </a:pPr>
            <a:r>
              <a:rPr lang="en-US" sz="800" dirty="0">
                <a:solidFill>
                  <a:srgbClr val="FF9DE2"/>
                </a:solidFill>
                <a:latin typeface="JetBrains Mono" pitchFamily="49" charset="0"/>
                <a:ea typeface="JetBrains Mono" pitchFamily="49" charset="-122"/>
                <a:cs typeface="JetBrains Mono" pitchFamily="49" charset="-120"/>
              </a:rPr>
              <a:t>&lt;/body&gt;</a:t>
            </a:r>
            <a:endParaRPr lang="en-US" sz="800" dirty="0"/>
          </a:p>
          <a:p>
            <a:pPr marL="0" indent="0" algn="l">
              <a:lnSpc>
                <a:spcPts val="1950"/>
              </a:lnSpc>
              <a:buNone/>
            </a:pPr>
            <a:r>
              <a:rPr lang="en-US" sz="800" dirty="0">
                <a:solidFill>
                  <a:srgbClr val="FF9DE2"/>
                </a:solidFill>
                <a:latin typeface="JetBrains Mono" pitchFamily="49" charset="0"/>
                <a:ea typeface="JetBrains Mono" pitchFamily="49" charset="-122"/>
                <a:cs typeface="JetBrains Mono" pitchFamily="49" charset="-120"/>
              </a:rPr>
              <a:t>&lt;/html&gt;</a:t>
            </a:r>
            <a:endParaRPr lang="en-US" sz="800" dirty="0"/>
          </a:p>
        </p:txBody>
      </p:sp>
      <p:sp>
        <p:nvSpPr>
          <p:cNvPr id="8" name="Shape 5"/>
          <p:cNvSpPr/>
          <p:nvPr/>
        </p:nvSpPr>
        <p:spPr>
          <a:xfrm>
            <a:off x="6089650" y="1269901"/>
            <a:ext cx="12700" cy="3639741"/>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0" name="Shape 7"/>
          <p:cNvSpPr/>
          <p:nvPr/>
        </p:nvSpPr>
        <p:spPr>
          <a:xfrm>
            <a:off x="6356350" y="1607641"/>
            <a:ext cx="5200650" cy="2047081"/>
          </a:xfrm>
          <a:prstGeom prst="roundRect">
            <a:avLst>
              <a:gd name="adj" fmla="val 3722"/>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5573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Привет</a:t>
            </a:r>
            <a:endParaRPr lang="en-US" sz="1200" dirty="0"/>
          </a:p>
        </p:txBody>
      </p:sp>
      <p:sp>
        <p:nvSpPr>
          <p:cNvPr id="16" name="Text 13"/>
          <p:cNvSpPr>
            <a:spLocks noGrp="1"/>
          </p:cNvSpPr>
          <p:nvPr>
            <p:ph type="title"/>
          </p:nvPr>
        </p:nvSpPr>
        <p:spPr>
          <a:xfrm>
            <a:off x="6572250" y="2189262"/>
            <a:ext cx="4911916"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11111"/>
                </a:solidFill>
                <a:latin typeface="Times New Roman" pitchFamily="18" charset="0"/>
                <a:ea typeface="Times New Roman" pitchFamily="18" charset="-122"/>
                <a:cs typeface="Times New Roman" pitchFamily="18" charset="-120"/>
              </a:rPr>
              <a:t>Моя первая страница</a:t>
            </a:r>
            <a:endParaRPr lang="en-US" sz="3200" dirty="0"/>
          </a:p>
        </p:txBody>
      </p:sp>
      <p:sp>
        <p:nvSpPr>
          <p:cNvPr id="17" name="Text 14"/>
          <p:cNvSpPr/>
          <p:nvPr/>
        </p:nvSpPr>
        <p:spPr>
          <a:xfrm>
            <a:off x="6572250" y="2796282"/>
            <a:ext cx="491191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Times New Roman" pitchFamily="18" charset="0"/>
                <a:ea typeface="Times New Roman" pitchFamily="18" charset="-122"/>
                <a:cs typeface="Times New Roman" pitchFamily="18" charset="-120"/>
              </a:rPr>
              <a:t>Это абзац текста.</a:t>
            </a:r>
            <a:endParaRPr lang="en-US" sz="1600" dirty="0"/>
          </a:p>
        </p:txBody>
      </p:sp>
      <p:sp>
        <p:nvSpPr>
          <p:cNvPr id="18" name="Text 15"/>
          <p:cNvSpPr/>
          <p:nvPr/>
        </p:nvSpPr>
        <p:spPr>
          <a:xfrm>
            <a:off x="6572250" y="3200102"/>
            <a:ext cx="491191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Times New Roman" pitchFamily="18" charset="0"/>
                <a:ea typeface="Times New Roman" pitchFamily="18" charset="-122"/>
                <a:cs typeface="Times New Roman" pitchFamily="18" charset="-120"/>
              </a:rPr>
              <a:t>Ещё один абзац.</a:t>
            </a:r>
            <a:endParaRPr lang="en-US" sz="1600" dirty="0"/>
          </a:p>
        </p:txBody>
      </p:sp>
      <p:pic>
        <p:nvPicPr>
          <p:cNvPr id="19" name="Рисунок 18"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606A58B7-B513-977D-D13E-8E4468B79F1C}"/>
              </a:ext>
            </a:extLst>
          </p:cNvPr>
          <p:cNvPicPr>
            <a:picLocks noChangeAspect="1"/>
          </p:cNvPicPr>
          <p:nvPr/>
        </p:nvPicPr>
        <p:blipFill>
          <a:blip r:embed="rId3"/>
          <a:stretch>
            <a:fillRect/>
          </a:stretch>
        </p:blipFill>
        <p:spPr>
          <a:xfrm>
            <a:off x="10353661" y="161882"/>
            <a:ext cx="737272" cy="72597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Текст на странице</a:t>
            </a:r>
            <a:endParaRPr lang="en-US" sz="3200" dirty="0"/>
          </a:p>
        </p:txBody>
      </p:sp>
      <p:sp>
        <p:nvSpPr>
          <p:cNvPr id="5" name="Text 2"/>
          <p:cNvSpPr/>
          <p:nvPr/>
        </p:nvSpPr>
        <p:spPr>
          <a:xfrm>
            <a:off x="635000" y="919361"/>
            <a:ext cx="11118850" cy="34042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11111"/>
                </a:solidFill>
                <a:latin typeface="Carlito" pitchFamily="34" charset="0"/>
                <a:ea typeface="Carlito" pitchFamily="34" charset="-122"/>
                <a:cs typeface="Carlito" pitchFamily="34" charset="-120"/>
              </a:rPr>
              <a:t>Теги не меняют сам текст, а объясняют браузеру его смысл: это заголовок, это абзац, это важное слово. </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7700" y="1566962"/>
          <a:ext cx="10782300" cy="3302000"/>
        </p:xfrm>
        <a:graphic>
          <a:graphicData uri="http://schemas.openxmlformats.org/drawingml/2006/table">
            <a:tbl>
              <a:tblPr/>
              <a:tblGrid>
                <a:gridCol w="2372106">
                  <a:extLst>
                    <a:ext uri="{9D8B030D-6E8A-4147-A177-3AD203B41FA5}">
                      <a16:colId xmlns:a16="http://schemas.microsoft.com/office/drawing/2014/main" val="20000"/>
                    </a:ext>
                  </a:extLst>
                </a:gridCol>
                <a:gridCol w="4097274">
                  <a:extLst>
                    <a:ext uri="{9D8B030D-6E8A-4147-A177-3AD203B41FA5}">
                      <a16:colId xmlns:a16="http://schemas.microsoft.com/office/drawing/2014/main" val="20001"/>
                    </a:ext>
                  </a:extLst>
                </a:gridCol>
                <a:gridCol w="4312920">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FFFFFF"/>
                          </a:solidFill>
                          <a:latin typeface="Carlito" pitchFamily="34" charset="0"/>
                          <a:ea typeface="Carlito" pitchFamily="34" charset="-122"/>
                          <a:cs typeface="Carlito" pitchFamily="34" charset="-120"/>
                        </a:rPr>
                        <a:t>Тег</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2100"/>
                        </a:lnSpc>
                        <a:buNone/>
                      </a:pPr>
                      <a:r>
                        <a:rPr lang="en-US" sz="1500" b="1" dirty="0">
                          <a:solidFill>
                            <a:srgbClr val="FFFFFF"/>
                          </a:solidFill>
                          <a:latin typeface="Carlito" pitchFamily="34" charset="0"/>
                          <a:ea typeface="Carlito" pitchFamily="34" charset="-122"/>
                          <a:cs typeface="Carlito" pitchFamily="34" charset="-120"/>
                        </a:rPr>
                        <a:t>Для чего нужен</a:t>
                      </a:r>
                      <a:endParaRPr lang="en-US" sz="1500" dirty="0">
                        <a:latin typeface="Carlito" charset="0"/>
                        <a:ea typeface="Carlito" charset="0"/>
                        <a:cs typeface="Carlito" charset="0"/>
                      </a:endParaRPr>
                    </a:p>
                  </a:txBody>
                  <a:tcPr marL="66675" marR="66675" marT="66675" marB="66675">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2100"/>
                        </a:lnSpc>
                        <a:buNone/>
                      </a:pPr>
                      <a:r>
                        <a:rPr lang="en-US" sz="1500" b="1" dirty="0">
                          <a:solidFill>
                            <a:srgbClr val="FFFFFF"/>
                          </a:solidFill>
                          <a:latin typeface="Carlito" pitchFamily="34" charset="0"/>
                          <a:ea typeface="Carlito" pitchFamily="34" charset="-122"/>
                          <a:cs typeface="Carlito" pitchFamily="34" charset="-120"/>
                        </a:rPr>
                        <a:t>Как выглядит по умолчанию</a:t>
                      </a:r>
                      <a:endParaRPr lang="en-US" sz="1500" dirty="0">
                        <a:latin typeface="Carlito" charset="0"/>
                        <a:ea typeface="Carlito" charset="0"/>
                        <a:cs typeface="Carlito" charset="0"/>
                      </a:endParaRPr>
                    </a:p>
                  </a:txBody>
                  <a:tcPr marL="66675" marR="66675" marT="66675" marB="66675">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&lt;h1&gt; … &lt;h6&gt;</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Заголовки шести уровней</a:t>
                      </a:r>
                      <a:endParaRPr lang="en-US" sz="1500" dirty="0">
                        <a:latin typeface="Carlito" charset="0"/>
                        <a:ea typeface="Carlito" charset="0"/>
                        <a:cs typeface="Carlito" charset="0"/>
                      </a:endParaRPr>
                    </a:p>
                  </a:txBody>
                  <a:tcPr marL="66675" marR="66675" marT="66675" marB="66675">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Жирный текст, h1 самый крупный</a:t>
                      </a:r>
                      <a:endParaRPr lang="en-US" sz="1500" dirty="0">
                        <a:latin typeface="Carlito" charset="0"/>
                        <a:ea typeface="Carlito" charset="0"/>
                        <a:cs typeface="Carlito" charset="0"/>
                      </a:endParaRPr>
                    </a:p>
                  </a:txBody>
                  <a:tcPr marL="66675" marR="66675" marT="66675" marB="66675">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&lt;p&gt;</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Абзац текста</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Блок с отступами сверху и снизу</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&lt;br&gt;</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Перенос строки</a:t>
                      </a:r>
                      <a:endParaRPr lang="en-US" sz="1500" dirty="0">
                        <a:latin typeface="Carlito" charset="0"/>
                        <a:ea typeface="Carlito" charset="0"/>
                        <a:cs typeface="Carlito" charset="0"/>
                      </a:endParaRPr>
                    </a:p>
                  </a:txBody>
                  <a:tcPr marL="66675" marR="66675" marT="66675" marB="66675">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Текст продолжается с новой строки</a:t>
                      </a:r>
                      <a:endParaRPr lang="en-US" sz="1500" dirty="0">
                        <a:latin typeface="Carlito" charset="0"/>
                        <a:ea typeface="Carlito" charset="0"/>
                        <a:cs typeface="Carlito" charset="0"/>
                      </a:endParaRPr>
                    </a:p>
                  </a:txBody>
                  <a:tcPr marL="66675" marR="66675" marT="66675" marB="66675">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&lt;hr&gt;</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Тематический разрыв</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Горизонтальная линия</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&lt;strong&gt;, &lt;b&gt;</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Важный текст</a:t>
                      </a:r>
                      <a:endParaRPr lang="en-US" sz="1500" dirty="0">
                        <a:latin typeface="Carlito" charset="0"/>
                        <a:ea typeface="Carlito" charset="0"/>
                        <a:cs typeface="Carlito" charset="0"/>
                      </a:endParaRPr>
                    </a:p>
                  </a:txBody>
                  <a:tcPr marL="66675" marR="66675" marT="66675" marB="66675">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Жирный шрифт</a:t>
                      </a:r>
                      <a:endParaRPr lang="en-US" sz="1500" dirty="0">
                        <a:latin typeface="Carlito" charset="0"/>
                        <a:ea typeface="Carlito" charset="0"/>
                        <a:cs typeface="Carlito" charset="0"/>
                      </a:endParaRPr>
                    </a:p>
                  </a:txBody>
                  <a:tcPr marL="66675" marR="66675" marT="66675" marB="66675">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&lt;em&gt;, &lt;i&gt;</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Акцент в речи</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Курсив</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412750">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&lt;mark&gt;</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Выделение маркером</a:t>
                      </a:r>
                      <a:endParaRPr lang="en-US" sz="1500" dirty="0">
                        <a:latin typeface="Carlito" charset="0"/>
                        <a:ea typeface="Carlito" charset="0"/>
                        <a:cs typeface="Carlito" charset="0"/>
                      </a:endParaRPr>
                    </a:p>
                  </a:txBody>
                  <a:tcPr marL="66675" marR="66675" marT="66675" marB="66675">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Жёлтый фон под текстом</a:t>
                      </a:r>
                      <a:endParaRPr lang="en-US" sz="1500" dirty="0">
                        <a:latin typeface="Carlito" charset="0"/>
                        <a:ea typeface="Carlito" charset="0"/>
                        <a:cs typeface="Carlito" charset="0"/>
                      </a:endParaRPr>
                    </a:p>
                  </a:txBody>
                  <a:tcPr marL="66675" marR="66675" marT="66675" marB="66675">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7"/>
                  </a:ext>
                </a:extLst>
              </a:tr>
            </a:tbl>
          </a:graphicData>
        </a:graphic>
      </p:graphicFrame>
      <p:pic>
        <p:nvPicPr>
          <p:cNvPr id="7" name="Рисунок 6"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20DF34C6-5B64-3053-88FA-074181CDC5D5}"/>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Заголовки h1–h6</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Шесть уровней: от самого важного до самого мелкого</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1865511"/>
          </a:xfrm>
          <a:prstGeom prst="roundRect">
            <a:avLst>
              <a:gd name="adj" fmla="val 4085"/>
            </a:avLst>
          </a:prstGeom>
          <a:solidFill>
            <a:srgbClr val="2A002A"/>
          </a:solidFill>
          <a:ln/>
        </p:spPr>
        <p:txBody>
          <a:bodyPr wrap="square" lIns="168182" tIns="142782" rIns="23592" bIns="117382" rtlCol="0" anchor="t">
            <a:normAutofit/>
          </a:bodyPr>
          <a:lstStyle/>
          <a:p>
            <a:pPr marL="0" indent="0" algn="l">
              <a:lnSpc>
                <a:spcPts val="2015"/>
              </a:lnSpc>
              <a:buNone/>
            </a:pPr>
            <a:r>
              <a:rPr lang="en-US" sz="1300" dirty="0">
                <a:solidFill>
                  <a:srgbClr val="FF9DE2"/>
                </a:solidFill>
                <a:latin typeface="JetBrains Mono" pitchFamily="49" charset="0"/>
                <a:ea typeface="JetBrains Mono" pitchFamily="49" charset="-122"/>
                <a:cs typeface="JetBrains Mono" pitchFamily="49" charset="-120"/>
              </a:rPr>
              <a:t>&lt;h1&gt;</a:t>
            </a:r>
            <a:r>
              <a:rPr lang="en-US" sz="1300" dirty="0">
                <a:solidFill>
                  <a:srgbClr val="FFFFFF"/>
                </a:solidFill>
                <a:latin typeface="JetBrains Mono" pitchFamily="49" charset="0"/>
                <a:ea typeface="JetBrains Mono" pitchFamily="49" charset="-122"/>
                <a:cs typeface="JetBrains Mono" pitchFamily="49" charset="-120"/>
              </a:rPr>
              <a:t>Заголовок 1</a:t>
            </a:r>
            <a:r>
              <a:rPr lang="en-US" sz="1300" dirty="0">
                <a:solidFill>
                  <a:srgbClr val="FF9DE2"/>
                </a:solidFill>
                <a:latin typeface="JetBrains Mono" pitchFamily="49" charset="0"/>
                <a:ea typeface="JetBrains Mono" pitchFamily="49" charset="-122"/>
                <a:cs typeface="JetBrains Mono" pitchFamily="49" charset="-120"/>
              </a:rPr>
              <a:t>&lt;/h1&gt;</a:t>
            </a:r>
            <a:endParaRPr lang="en-US" sz="1300" dirty="0"/>
          </a:p>
          <a:p>
            <a:pPr marL="0" indent="0" algn="l">
              <a:lnSpc>
                <a:spcPts val="2015"/>
              </a:lnSpc>
              <a:buNone/>
            </a:pPr>
            <a:r>
              <a:rPr lang="en-US" sz="1300" dirty="0">
                <a:solidFill>
                  <a:srgbClr val="FF9DE2"/>
                </a:solidFill>
                <a:latin typeface="JetBrains Mono" pitchFamily="49" charset="0"/>
                <a:ea typeface="JetBrains Mono" pitchFamily="49" charset="-122"/>
                <a:cs typeface="JetBrains Mono" pitchFamily="49" charset="-120"/>
              </a:rPr>
              <a:t>&lt;h2&gt;</a:t>
            </a:r>
            <a:r>
              <a:rPr lang="en-US" sz="1300" dirty="0">
                <a:solidFill>
                  <a:srgbClr val="FFFFFF"/>
                </a:solidFill>
                <a:latin typeface="JetBrains Mono" pitchFamily="49" charset="0"/>
                <a:ea typeface="JetBrains Mono" pitchFamily="49" charset="-122"/>
                <a:cs typeface="JetBrains Mono" pitchFamily="49" charset="-120"/>
              </a:rPr>
              <a:t>Заголовок 2</a:t>
            </a:r>
            <a:r>
              <a:rPr lang="en-US" sz="1300" dirty="0">
                <a:solidFill>
                  <a:srgbClr val="FF9DE2"/>
                </a:solidFill>
                <a:latin typeface="JetBrains Mono" pitchFamily="49" charset="0"/>
                <a:ea typeface="JetBrains Mono" pitchFamily="49" charset="-122"/>
                <a:cs typeface="JetBrains Mono" pitchFamily="49" charset="-120"/>
              </a:rPr>
              <a:t>&lt;/h2&gt;</a:t>
            </a:r>
            <a:endParaRPr lang="en-US" sz="1300" dirty="0"/>
          </a:p>
          <a:p>
            <a:pPr marL="0" indent="0" algn="l">
              <a:lnSpc>
                <a:spcPts val="2015"/>
              </a:lnSpc>
              <a:buNone/>
            </a:pPr>
            <a:r>
              <a:rPr lang="en-US" sz="1300" dirty="0">
                <a:solidFill>
                  <a:srgbClr val="FF9DE2"/>
                </a:solidFill>
                <a:latin typeface="JetBrains Mono" pitchFamily="49" charset="0"/>
                <a:ea typeface="JetBrains Mono" pitchFamily="49" charset="-122"/>
                <a:cs typeface="JetBrains Mono" pitchFamily="49" charset="-120"/>
              </a:rPr>
              <a:t>&lt;h3&gt;</a:t>
            </a:r>
            <a:r>
              <a:rPr lang="en-US" sz="1300" dirty="0">
                <a:solidFill>
                  <a:srgbClr val="FFFFFF"/>
                </a:solidFill>
                <a:latin typeface="JetBrains Mono" pitchFamily="49" charset="0"/>
                <a:ea typeface="JetBrains Mono" pitchFamily="49" charset="-122"/>
                <a:cs typeface="JetBrains Mono" pitchFamily="49" charset="-120"/>
              </a:rPr>
              <a:t>Заголовок 3</a:t>
            </a:r>
            <a:r>
              <a:rPr lang="en-US" sz="1300" dirty="0">
                <a:solidFill>
                  <a:srgbClr val="FF9DE2"/>
                </a:solidFill>
                <a:latin typeface="JetBrains Mono" pitchFamily="49" charset="0"/>
                <a:ea typeface="JetBrains Mono" pitchFamily="49" charset="-122"/>
                <a:cs typeface="JetBrains Mono" pitchFamily="49" charset="-120"/>
              </a:rPr>
              <a:t>&lt;/h3&gt;</a:t>
            </a:r>
            <a:endParaRPr lang="en-US" sz="1300" dirty="0"/>
          </a:p>
          <a:p>
            <a:pPr marL="0" indent="0" algn="l">
              <a:lnSpc>
                <a:spcPts val="2015"/>
              </a:lnSpc>
              <a:buNone/>
            </a:pPr>
            <a:r>
              <a:rPr lang="en-US" sz="1300" dirty="0">
                <a:solidFill>
                  <a:srgbClr val="FF9DE2"/>
                </a:solidFill>
                <a:latin typeface="JetBrains Mono" pitchFamily="49" charset="0"/>
                <a:ea typeface="JetBrains Mono" pitchFamily="49" charset="-122"/>
                <a:cs typeface="JetBrains Mono" pitchFamily="49" charset="-120"/>
              </a:rPr>
              <a:t>&lt;h4&gt;</a:t>
            </a:r>
            <a:r>
              <a:rPr lang="en-US" sz="1300" dirty="0">
                <a:solidFill>
                  <a:srgbClr val="FFFFFF"/>
                </a:solidFill>
                <a:latin typeface="JetBrains Mono" pitchFamily="49" charset="0"/>
                <a:ea typeface="JetBrains Mono" pitchFamily="49" charset="-122"/>
                <a:cs typeface="JetBrains Mono" pitchFamily="49" charset="-120"/>
              </a:rPr>
              <a:t>Заголовок 4</a:t>
            </a:r>
            <a:r>
              <a:rPr lang="en-US" sz="1300" dirty="0">
                <a:solidFill>
                  <a:srgbClr val="FF9DE2"/>
                </a:solidFill>
                <a:latin typeface="JetBrains Mono" pitchFamily="49" charset="0"/>
                <a:ea typeface="JetBrains Mono" pitchFamily="49" charset="-122"/>
                <a:cs typeface="JetBrains Mono" pitchFamily="49" charset="-120"/>
              </a:rPr>
              <a:t>&lt;/h4&gt;</a:t>
            </a:r>
            <a:endParaRPr lang="en-US" sz="1300" dirty="0"/>
          </a:p>
          <a:p>
            <a:pPr marL="0" indent="0" algn="l">
              <a:lnSpc>
                <a:spcPts val="2015"/>
              </a:lnSpc>
              <a:buNone/>
            </a:pPr>
            <a:r>
              <a:rPr lang="en-US" sz="1300" dirty="0">
                <a:solidFill>
                  <a:srgbClr val="FF9DE2"/>
                </a:solidFill>
                <a:latin typeface="JetBrains Mono" pitchFamily="49" charset="0"/>
                <a:ea typeface="JetBrains Mono" pitchFamily="49" charset="-122"/>
                <a:cs typeface="JetBrains Mono" pitchFamily="49" charset="-120"/>
              </a:rPr>
              <a:t>&lt;h5&gt;</a:t>
            </a:r>
            <a:r>
              <a:rPr lang="en-US" sz="1300" dirty="0">
                <a:solidFill>
                  <a:srgbClr val="FFFFFF"/>
                </a:solidFill>
                <a:latin typeface="JetBrains Mono" pitchFamily="49" charset="0"/>
                <a:ea typeface="JetBrains Mono" pitchFamily="49" charset="-122"/>
                <a:cs typeface="JetBrains Mono" pitchFamily="49" charset="-120"/>
              </a:rPr>
              <a:t>Заголовок 5</a:t>
            </a:r>
            <a:r>
              <a:rPr lang="en-US" sz="1300" dirty="0">
                <a:solidFill>
                  <a:srgbClr val="FF9DE2"/>
                </a:solidFill>
                <a:latin typeface="JetBrains Mono" pitchFamily="49" charset="0"/>
                <a:ea typeface="JetBrains Mono" pitchFamily="49" charset="-122"/>
                <a:cs typeface="JetBrains Mono" pitchFamily="49" charset="-120"/>
              </a:rPr>
              <a:t>&lt;/h5&gt;</a:t>
            </a:r>
            <a:endParaRPr lang="en-US" sz="1300" dirty="0"/>
          </a:p>
          <a:p>
            <a:pPr marL="0" indent="0" algn="l">
              <a:lnSpc>
                <a:spcPts val="2015"/>
              </a:lnSpc>
              <a:buNone/>
            </a:pPr>
            <a:r>
              <a:rPr lang="en-US" sz="1300" dirty="0">
                <a:solidFill>
                  <a:srgbClr val="FF9DE2"/>
                </a:solidFill>
                <a:latin typeface="JetBrains Mono" pitchFamily="49" charset="0"/>
                <a:ea typeface="JetBrains Mono" pitchFamily="49" charset="-122"/>
                <a:cs typeface="JetBrains Mono" pitchFamily="49" charset="-120"/>
              </a:rPr>
              <a:t>&lt;h6&gt;</a:t>
            </a:r>
            <a:r>
              <a:rPr lang="en-US" sz="1300" dirty="0">
                <a:solidFill>
                  <a:srgbClr val="FFFFFF"/>
                </a:solidFill>
                <a:latin typeface="JetBrains Mono" pitchFamily="49" charset="0"/>
                <a:ea typeface="JetBrains Mono" pitchFamily="49" charset="-122"/>
                <a:cs typeface="JetBrains Mono" pitchFamily="49" charset="-120"/>
              </a:rPr>
              <a:t>Заголовок 6</a:t>
            </a:r>
            <a:r>
              <a:rPr lang="en-US" sz="1300" dirty="0">
                <a:solidFill>
                  <a:srgbClr val="FF9DE2"/>
                </a:solidFill>
                <a:latin typeface="JetBrains Mono" pitchFamily="49" charset="0"/>
                <a:ea typeface="JetBrains Mono" pitchFamily="49" charset="-122"/>
                <a:cs typeface="JetBrains Mono" pitchFamily="49" charset="-120"/>
              </a:rPr>
              <a:t>&lt;/h6&gt;</a:t>
            </a:r>
            <a:endParaRPr lang="en-US" sz="1300" dirty="0"/>
          </a:p>
        </p:txBody>
      </p:sp>
      <p:sp>
        <p:nvSpPr>
          <p:cNvPr id="8" name="Shape 5"/>
          <p:cNvSpPr/>
          <p:nvPr/>
        </p:nvSpPr>
        <p:spPr>
          <a:xfrm>
            <a:off x="6089650" y="1269901"/>
            <a:ext cx="12700" cy="3060204"/>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0" name="Shape 7"/>
          <p:cNvSpPr/>
          <p:nvPr/>
        </p:nvSpPr>
        <p:spPr>
          <a:xfrm>
            <a:off x="6356350" y="1607641"/>
            <a:ext cx="5200650" cy="2722463"/>
          </a:xfrm>
          <a:prstGeom prst="roundRect">
            <a:avLst>
              <a:gd name="adj" fmla="val 2799"/>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10563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headings.html</a:t>
            </a:r>
            <a:endParaRPr lang="en-US" sz="1200" dirty="0"/>
          </a:p>
        </p:txBody>
      </p:sp>
      <p:sp>
        <p:nvSpPr>
          <p:cNvPr id="16" name="Text 13"/>
          <p:cNvSpPr/>
          <p:nvPr/>
        </p:nvSpPr>
        <p:spPr>
          <a:xfrm>
            <a:off x="6572250" y="2163862"/>
            <a:ext cx="4911916"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11111"/>
                </a:solidFill>
                <a:latin typeface="Times New Roman" pitchFamily="18" charset="0"/>
                <a:ea typeface="Times New Roman" pitchFamily="18" charset="-122"/>
                <a:cs typeface="Times New Roman" pitchFamily="18" charset="-120"/>
              </a:rPr>
              <a:t>Заголовок 1</a:t>
            </a:r>
            <a:endParaRPr lang="en-US" sz="3200" dirty="0"/>
          </a:p>
        </p:txBody>
      </p:sp>
      <p:sp>
        <p:nvSpPr>
          <p:cNvPr id="17" name="Text 14"/>
          <p:cNvSpPr/>
          <p:nvPr/>
        </p:nvSpPr>
        <p:spPr>
          <a:xfrm>
            <a:off x="6572250" y="2687042"/>
            <a:ext cx="4911916" cy="36066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11111"/>
                </a:solidFill>
                <a:latin typeface="Times New Roman" pitchFamily="18" charset="0"/>
                <a:ea typeface="Times New Roman" pitchFamily="18" charset="-122"/>
                <a:cs typeface="Times New Roman" pitchFamily="18" charset="-120"/>
              </a:rPr>
              <a:t>Заголовок 2</a:t>
            </a:r>
            <a:endParaRPr lang="en-US" sz="2400" dirty="0"/>
          </a:p>
        </p:txBody>
      </p:sp>
      <p:sp>
        <p:nvSpPr>
          <p:cNvPr id="18" name="Text 15"/>
          <p:cNvSpPr/>
          <p:nvPr/>
        </p:nvSpPr>
        <p:spPr>
          <a:xfrm>
            <a:off x="6572250" y="3098502"/>
            <a:ext cx="4911916" cy="283766"/>
          </a:xfrm>
          <a:prstGeom prst="rect">
            <a:avLst/>
          </a:prstGeom>
          <a:noFill/>
          <a:ln/>
        </p:spPr>
        <p:txBody>
          <a:bodyPr wrap="square" lIns="0" tIns="0" rIns="0" bIns="0" rtlCol="0" anchor="t">
            <a:normAutofit/>
          </a:bodyPr>
          <a:lstStyle/>
          <a:p>
            <a:pPr marL="0" indent="0" algn="l">
              <a:lnSpc>
                <a:spcPts val="2035"/>
              </a:lnSpc>
              <a:buNone/>
            </a:pPr>
            <a:r>
              <a:rPr lang="en-US" sz="1850" b="1" dirty="0">
                <a:solidFill>
                  <a:srgbClr val="111111"/>
                </a:solidFill>
                <a:latin typeface="Times New Roman" pitchFamily="18" charset="0"/>
                <a:ea typeface="Times New Roman" pitchFamily="18" charset="-122"/>
                <a:cs typeface="Times New Roman" pitchFamily="18" charset="-120"/>
              </a:rPr>
              <a:t>Заголовок 3</a:t>
            </a:r>
            <a:endParaRPr lang="en-US" sz="1850" dirty="0"/>
          </a:p>
        </p:txBody>
      </p:sp>
      <p:sp>
        <p:nvSpPr>
          <p:cNvPr id="19" name="Text 16"/>
          <p:cNvSpPr/>
          <p:nvPr/>
        </p:nvSpPr>
        <p:spPr>
          <a:xfrm>
            <a:off x="6572250" y="3433068"/>
            <a:ext cx="4911916" cy="248841"/>
          </a:xfrm>
          <a:prstGeom prst="rect">
            <a:avLst/>
          </a:prstGeom>
          <a:noFill/>
          <a:ln/>
        </p:spPr>
        <p:txBody>
          <a:bodyPr wrap="square" lIns="0" tIns="0" rIns="0" bIns="0" rtlCol="0" anchor="t">
            <a:normAutofit/>
          </a:bodyPr>
          <a:lstStyle/>
          <a:p>
            <a:pPr marL="0" indent="0" algn="l">
              <a:lnSpc>
                <a:spcPts val="1760"/>
              </a:lnSpc>
              <a:buNone/>
            </a:pPr>
            <a:r>
              <a:rPr lang="en-US" sz="1600" b="1" dirty="0">
                <a:solidFill>
                  <a:srgbClr val="111111"/>
                </a:solidFill>
                <a:latin typeface="Times New Roman" pitchFamily="18" charset="0"/>
                <a:ea typeface="Times New Roman" pitchFamily="18" charset="-122"/>
                <a:cs typeface="Times New Roman" pitchFamily="18" charset="-120"/>
              </a:rPr>
              <a:t>Заголовок 4</a:t>
            </a:r>
            <a:endParaRPr lang="en-US" sz="1600" dirty="0"/>
          </a:p>
        </p:txBody>
      </p:sp>
      <p:sp>
        <p:nvSpPr>
          <p:cNvPr id="20" name="Text 17"/>
          <p:cNvSpPr/>
          <p:nvPr/>
        </p:nvSpPr>
        <p:spPr>
          <a:xfrm>
            <a:off x="6572250" y="3732709"/>
            <a:ext cx="4911916" cy="213916"/>
          </a:xfrm>
          <a:prstGeom prst="rect">
            <a:avLst/>
          </a:prstGeom>
          <a:noFill/>
          <a:ln/>
        </p:spPr>
        <p:txBody>
          <a:bodyPr wrap="square" lIns="0" tIns="0" rIns="0" bIns="0" rtlCol="0" anchor="t">
            <a:normAutofit/>
          </a:bodyPr>
          <a:lstStyle/>
          <a:p>
            <a:pPr marL="0" indent="0" algn="l">
              <a:lnSpc>
                <a:spcPts val="1485"/>
              </a:lnSpc>
              <a:buNone/>
            </a:pPr>
            <a:r>
              <a:rPr lang="en-US" sz="1350" b="1" dirty="0">
                <a:solidFill>
                  <a:srgbClr val="111111"/>
                </a:solidFill>
                <a:latin typeface="Times New Roman" pitchFamily="18" charset="0"/>
                <a:ea typeface="Times New Roman" pitchFamily="18" charset="-122"/>
                <a:cs typeface="Times New Roman" pitchFamily="18" charset="-120"/>
              </a:rPr>
              <a:t>Заголовок 5</a:t>
            </a:r>
            <a:endParaRPr lang="en-US" sz="1350" dirty="0"/>
          </a:p>
        </p:txBody>
      </p:sp>
      <p:sp>
        <p:nvSpPr>
          <p:cNvPr id="21" name="Text 18"/>
          <p:cNvSpPr/>
          <p:nvPr/>
        </p:nvSpPr>
        <p:spPr>
          <a:xfrm>
            <a:off x="6572250" y="3997424"/>
            <a:ext cx="4911916" cy="192980"/>
          </a:xfrm>
          <a:prstGeom prst="rect">
            <a:avLst/>
          </a:prstGeom>
          <a:noFill/>
          <a:ln/>
        </p:spPr>
        <p:txBody>
          <a:bodyPr wrap="square" lIns="0" tIns="0" rIns="0" bIns="0" rtlCol="0" anchor="t">
            <a:normAutofit/>
          </a:bodyPr>
          <a:lstStyle/>
          <a:p>
            <a:pPr marL="0" indent="0" algn="l">
              <a:lnSpc>
                <a:spcPts val="1320"/>
              </a:lnSpc>
              <a:buNone/>
            </a:pPr>
            <a:r>
              <a:rPr lang="en-US" sz="1200" b="1" dirty="0">
                <a:solidFill>
                  <a:srgbClr val="111111"/>
                </a:solidFill>
                <a:latin typeface="Times New Roman" pitchFamily="18" charset="0"/>
                <a:ea typeface="Times New Roman" pitchFamily="18" charset="-122"/>
                <a:cs typeface="Times New Roman" pitchFamily="18" charset="-120"/>
              </a:rPr>
              <a:t>Заголовок 6</a:t>
            </a:r>
            <a:endParaRPr lang="en-US" sz="1200" dirty="0"/>
          </a:p>
        </p:txBody>
      </p:sp>
      <p:sp>
        <p:nvSpPr>
          <p:cNvPr id="22" name="Text 19"/>
          <p:cNvSpPr/>
          <p:nvPr/>
        </p:nvSpPr>
        <p:spPr>
          <a:xfrm>
            <a:off x="635000" y="4457105"/>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h1 — один на страницу, это главный заголовок. h2–h6 — подзаголовки по убыванию важности. Уровень выбирают по смыслу, а размер потом меняется через CSS.</a:t>
            </a:r>
            <a:endParaRPr lang="en-US" sz="1500" dirty="0"/>
          </a:p>
        </p:txBody>
      </p:sp>
      <p:pic>
        <p:nvPicPr>
          <p:cNvPr id="23" name="Рисунок 22"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EEC262CE-3B78-D241-578B-F0AE67E3051C}"/>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Абзацы, переносы и линии</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Теги p, br и hr</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377281"/>
          </a:xfrm>
          <a:prstGeom prst="roundRect">
            <a:avLst>
              <a:gd name="adj" fmla="val 3205"/>
            </a:avLst>
          </a:prstGeom>
          <a:solidFill>
            <a:srgbClr val="2A002A"/>
          </a:solidFill>
          <a:ln/>
        </p:spPr>
        <p:txBody>
          <a:bodyPr wrap="square" lIns="168182" tIns="142782" rIns="23592" bIns="117382" rtlCol="0" anchor="t">
            <a:normAutofit/>
          </a:bodyPr>
          <a:lstStyle/>
          <a:p>
            <a:pPr marL="0" indent="0" algn="l">
              <a:lnSpc>
                <a:spcPts val="2015"/>
              </a:lnSpc>
              <a:buNone/>
            </a:pPr>
            <a:r>
              <a:rPr lang="en-US" sz="1300" dirty="0">
                <a:solidFill>
                  <a:srgbClr val="FF9DE2"/>
                </a:solidFill>
                <a:latin typeface="JetBrains Mono" pitchFamily="49" charset="0"/>
                <a:ea typeface="JetBrains Mono" pitchFamily="49" charset="-122"/>
                <a:cs typeface="JetBrains Mono" pitchFamily="49" charset="-120"/>
              </a:rPr>
              <a:t>&lt;p&gt;</a:t>
            </a:r>
            <a:r>
              <a:rPr lang="en-US" sz="1300" dirty="0">
                <a:solidFill>
                  <a:srgbClr val="FFFFFF"/>
                </a:solidFill>
                <a:latin typeface="JetBrains Mono" pitchFamily="49" charset="0"/>
                <a:ea typeface="JetBrains Mono" pitchFamily="49" charset="-122"/>
                <a:cs typeface="JetBrains Mono" pitchFamily="49" charset="-120"/>
              </a:rPr>
              <a:t>Первый абзац текста.</a:t>
            </a:r>
            <a:r>
              <a:rPr lang="en-US" sz="1300" dirty="0">
                <a:solidFill>
                  <a:srgbClr val="FF9DE2"/>
                </a:solidFill>
                <a:latin typeface="JetBrains Mono" pitchFamily="49" charset="0"/>
                <a:ea typeface="JetBrains Mono" pitchFamily="49" charset="-122"/>
                <a:cs typeface="JetBrains Mono" pitchFamily="49" charset="-120"/>
              </a:rPr>
              <a:t>&lt;/p&gt;</a:t>
            </a:r>
            <a:endParaRPr lang="en-US" sz="1300" dirty="0"/>
          </a:p>
          <a:p>
            <a:pPr marL="0" indent="0" algn="l">
              <a:lnSpc>
                <a:spcPts val="2015"/>
              </a:lnSpc>
              <a:buNone/>
            </a:pPr>
            <a:endParaRPr lang="en-US" sz="1300" dirty="0"/>
          </a:p>
          <a:p>
            <a:pPr marL="0" indent="0" algn="l">
              <a:lnSpc>
                <a:spcPts val="2015"/>
              </a:lnSpc>
              <a:buNone/>
            </a:pPr>
            <a:r>
              <a:rPr lang="en-US" sz="1300" dirty="0">
                <a:solidFill>
                  <a:srgbClr val="FF9DE2"/>
                </a:solidFill>
                <a:latin typeface="JetBrains Mono" pitchFamily="49" charset="0"/>
                <a:ea typeface="JetBrains Mono" pitchFamily="49" charset="-122"/>
                <a:cs typeface="JetBrains Mono" pitchFamily="49" charset="-120"/>
              </a:rPr>
              <a:t>&lt;p&gt;</a:t>
            </a:r>
            <a:r>
              <a:rPr lang="en-US" sz="1300" dirty="0">
                <a:solidFill>
                  <a:srgbClr val="FFFFFF"/>
                </a:solidFill>
                <a:latin typeface="JetBrains Mono" pitchFamily="49" charset="0"/>
                <a:ea typeface="JetBrains Mono" pitchFamily="49" charset="-122"/>
                <a:cs typeface="JetBrains Mono" pitchFamily="49" charset="-120"/>
              </a:rPr>
              <a:t>Второй абзац,</a:t>
            </a:r>
            <a:r>
              <a:rPr lang="en-US" sz="1300" dirty="0">
                <a:solidFill>
                  <a:srgbClr val="FF9DE2"/>
                </a:solidFill>
                <a:latin typeface="JetBrains Mono" pitchFamily="49" charset="0"/>
                <a:ea typeface="JetBrains Mono" pitchFamily="49" charset="-122"/>
                <a:cs typeface="JetBrains Mono" pitchFamily="49" charset="-120"/>
              </a:rPr>
              <a:t>&lt;br&gt;</a:t>
            </a:r>
            <a:endParaRPr lang="en-US" sz="1300" dirty="0"/>
          </a:p>
          <a:p>
            <a:pPr marL="0" indent="0" algn="l">
              <a:lnSpc>
                <a:spcPts val="2015"/>
              </a:lnSpc>
              <a:buNone/>
            </a:pPr>
            <a:r>
              <a:rPr lang="en-US" sz="1300" dirty="0">
                <a:solidFill>
                  <a:srgbClr val="FFFFFF"/>
                </a:solidFill>
                <a:latin typeface="JetBrains Mono" pitchFamily="49" charset="0"/>
                <a:ea typeface="JetBrains Mono" pitchFamily="49" charset="-122"/>
                <a:cs typeface="JetBrains Mono" pitchFamily="49" charset="-120"/>
              </a:rPr>
              <a:t>  продолжение с новой строки.</a:t>
            </a:r>
            <a:r>
              <a:rPr lang="en-US" sz="1300" dirty="0">
                <a:solidFill>
                  <a:srgbClr val="FF9DE2"/>
                </a:solidFill>
                <a:latin typeface="JetBrains Mono" pitchFamily="49" charset="0"/>
                <a:ea typeface="JetBrains Mono" pitchFamily="49" charset="-122"/>
                <a:cs typeface="JetBrains Mono" pitchFamily="49" charset="-120"/>
              </a:rPr>
              <a:t>&lt;/p&gt;</a:t>
            </a:r>
            <a:endParaRPr lang="en-US" sz="1300" dirty="0"/>
          </a:p>
          <a:p>
            <a:pPr marL="0" indent="0" algn="l">
              <a:lnSpc>
                <a:spcPts val="2015"/>
              </a:lnSpc>
              <a:buNone/>
            </a:pPr>
            <a:endParaRPr lang="en-US" sz="1300" dirty="0"/>
          </a:p>
          <a:p>
            <a:pPr marL="0" indent="0" algn="l">
              <a:lnSpc>
                <a:spcPts val="2015"/>
              </a:lnSpc>
              <a:buNone/>
            </a:pPr>
            <a:r>
              <a:rPr lang="en-US" sz="1300" dirty="0">
                <a:solidFill>
                  <a:srgbClr val="FF9DE2"/>
                </a:solidFill>
                <a:latin typeface="JetBrains Mono" pitchFamily="49" charset="0"/>
                <a:ea typeface="JetBrains Mono" pitchFamily="49" charset="-122"/>
                <a:cs typeface="JetBrains Mono" pitchFamily="49" charset="-120"/>
              </a:rPr>
              <a:t>&lt;hr&gt;</a:t>
            </a:r>
            <a:endParaRPr lang="en-US" sz="1300" dirty="0"/>
          </a:p>
          <a:p>
            <a:pPr marL="0" indent="0" algn="l">
              <a:lnSpc>
                <a:spcPts val="2015"/>
              </a:lnSpc>
              <a:buNone/>
            </a:pPr>
            <a:endParaRPr lang="en-US" sz="1300" dirty="0"/>
          </a:p>
          <a:p>
            <a:pPr marL="0" indent="0" algn="l">
              <a:lnSpc>
                <a:spcPts val="2015"/>
              </a:lnSpc>
              <a:buNone/>
            </a:pPr>
            <a:r>
              <a:rPr lang="en-US" sz="1300" dirty="0">
                <a:solidFill>
                  <a:srgbClr val="FF9DE2"/>
                </a:solidFill>
                <a:latin typeface="JetBrains Mono" pitchFamily="49" charset="0"/>
                <a:ea typeface="JetBrains Mono" pitchFamily="49" charset="-122"/>
                <a:cs typeface="JetBrains Mono" pitchFamily="49" charset="-120"/>
              </a:rPr>
              <a:t>&lt;p&gt;</a:t>
            </a:r>
            <a:r>
              <a:rPr lang="en-US" sz="1300" dirty="0">
                <a:solidFill>
                  <a:srgbClr val="FFFFFF"/>
                </a:solidFill>
                <a:latin typeface="JetBrains Mono" pitchFamily="49" charset="0"/>
                <a:ea typeface="JetBrains Mono" pitchFamily="49" charset="-122"/>
                <a:cs typeface="JetBrains Mono" pitchFamily="49" charset="-120"/>
              </a:rPr>
              <a:t>Абзац после линии.</a:t>
            </a:r>
            <a:r>
              <a:rPr lang="en-US" sz="1300" dirty="0">
                <a:solidFill>
                  <a:srgbClr val="FF9DE2"/>
                </a:solidFill>
                <a:latin typeface="JetBrains Mono" pitchFamily="49" charset="0"/>
                <a:ea typeface="JetBrains Mono" pitchFamily="49" charset="-122"/>
                <a:cs typeface="JetBrains Mono" pitchFamily="49" charset="-120"/>
              </a:rPr>
              <a:t>&lt;/p&gt;</a:t>
            </a:r>
            <a:endParaRPr lang="en-US" sz="1300" dirty="0"/>
          </a:p>
        </p:txBody>
      </p:sp>
      <p:sp>
        <p:nvSpPr>
          <p:cNvPr id="8" name="Shape 5"/>
          <p:cNvSpPr/>
          <p:nvPr/>
        </p:nvSpPr>
        <p:spPr>
          <a:xfrm>
            <a:off x="6089650" y="1269901"/>
            <a:ext cx="12700" cy="2715022"/>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0" name="Shape 7"/>
          <p:cNvSpPr/>
          <p:nvPr/>
        </p:nvSpPr>
        <p:spPr>
          <a:xfrm>
            <a:off x="6356350" y="1607641"/>
            <a:ext cx="5200650" cy="2203252"/>
          </a:xfrm>
          <a:prstGeom prst="roundRect">
            <a:avLst>
              <a:gd name="adj" fmla="val 3459"/>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12186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paragraphs.html</a:t>
            </a:r>
            <a:endParaRPr lang="en-US" sz="1200" dirty="0"/>
          </a:p>
        </p:txBody>
      </p:sp>
      <p:sp>
        <p:nvSpPr>
          <p:cNvPr id="16" name="Text 13"/>
          <p:cNvSpPr/>
          <p:nvPr/>
        </p:nvSpPr>
        <p:spPr>
          <a:xfrm>
            <a:off x="6572250" y="2176562"/>
            <a:ext cx="491191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Times New Roman" pitchFamily="18" charset="0"/>
                <a:ea typeface="Times New Roman" pitchFamily="18" charset="-122"/>
                <a:cs typeface="Times New Roman" pitchFamily="18" charset="-120"/>
              </a:rPr>
              <a:t>Первый абзац текста.</a:t>
            </a:r>
            <a:endParaRPr lang="en-US" sz="1600" dirty="0"/>
          </a:p>
        </p:txBody>
      </p:sp>
      <p:sp>
        <p:nvSpPr>
          <p:cNvPr id="17" name="Text 14"/>
          <p:cNvSpPr/>
          <p:nvPr/>
        </p:nvSpPr>
        <p:spPr>
          <a:xfrm>
            <a:off x="6572250" y="2567682"/>
            <a:ext cx="4911916"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Times New Roman" pitchFamily="18" charset="0"/>
                <a:ea typeface="Times New Roman" pitchFamily="18" charset="-122"/>
                <a:cs typeface="Times New Roman" pitchFamily="18" charset="-120"/>
              </a:rPr>
              <a:t>Второй абзац,</a:t>
            </a:r>
            <a:endParaRPr lang="en-US" sz="1600" dirty="0"/>
          </a:p>
          <a:p>
            <a:pPr marL="0" indent="0" algn="l">
              <a:lnSpc>
                <a:spcPts val="2080"/>
              </a:lnSpc>
              <a:buNone/>
            </a:pPr>
            <a:r>
              <a:rPr lang="en-US" sz="1600" dirty="0">
                <a:solidFill>
                  <a:srgbClr val="111111"/>
                </a:solidFill>
                <a:latin typeface="Times New Roman" pitchFamily="18" charset="0"/>
                <a:ea typeface="Times New Roman" pitchFamily="18" charset="-122"/>
                <a:cs typeface="Times New Roman" pitchFamily="18" charset="-120"/>
              </a:rPr>
              <a:t>продолжение с новой строки.</a:t>
            </a:r>
            <a:endParaRPr lang="en-US" sz="1600" dirty="0"/>
          </a:p>
        </p:txBody>
      </p:sp>
      <p:sp>
        <p:nvSpPr>
          <p:cNvPr id="18" name="Shape 15"/>
          <p:cNvSpPr/>
          <p:nvPr/>
        </p:nvSpPr>
        <p:spPr>
          <a:xfrm>
            <a:off x="6572250" y="3232448"/>
            <a:ext cx="4768850" cy="0"/>
          </a:xfrm>
          <a:prstGeom prst="line">
            <a:avLst/>
          </a:prstGeom>
          <a:noFill/>
          <a:ln w="19050">
            <a:solidFill>
              <a:srgbClr val="999999"/>
            </a:solidFill>
            <a:prstDash val="solid"/>
          </a:ln>
        </p:spPr>
      </p:sp>
      <p:sp>
        <p:nvSpPr>
          <p:cNvPr id="19" name="Text 16"/>
          <p:cNvSpPr/>
          <p:nvPr/>
        </p:nvSpPr>
        <p:spPr>
          <a:xfrm>
            <a:off x="6572250" y="3368973"/>
            <a:ext cx="491191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Times New Roman" pitchFamily="18" charset="0"/>
                <a:ea typeface="Times New Roman" pitchFamily="18" charset="-122"/>
                <a:cs typeface="Times New Roman" pitchFamily="18" charset="-120"/>
              </a:rPr>
              <a:t>Абзац после линии.</a:t>
            </a:r>
            <a:endParaRPr lang="en-US" sz="1600" dirty="0"/>
          </a:p>
        </p:txBody>
      </p:sp>
      <p:sp>
        <p:nvSpPr>
          <p:cNvPr id="20" name="Text 17"/>
          <p:cNvSpPr/>
          <p:nvPr/>
        </p:nvSpPr>
        <p:spPr>
          <a:xfrm>
            <a:off x="635000" y="4111923"/>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Лишние пробелы и переводы строк в коде браузер склеивает в один пробел. Для переноса внутри абзаца нужен &lt;br&gt;, для нового блока текста — новый &lt;p&gt;.</a:t>
            </a:r>
            <a:endParaRPr lang="en-US" sz="1500" dirty="0"/>
          </a:p>
        </p:txBody>
      </p:sp>
      <p:pic>
        <p:nvPicPr>
          <p:cNvPr id="21" name="Рисунок 20"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F3E21A38-F9F4-E472-A7C4-F6FCB9BDB82F}"/>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Выделение текста</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strong, em, u, mark, small, sub, sup, code</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1806575"/>
          </a:xfrm>
          <a:prstGeom prst="roundRect">
            <a:avLst>
              <a:gd name="adj" fmla="val 4218"/>
            </a:avLst>
          </a:prstGeom>
          <a:solidFill>
            <a:srgbClr val="2A002A"/>
          </a:solidFill>
          <a:ln/>
        </p:spPr>
        <p:txBody>
          <a:bodyPr wrap="square" lIns="142782" tIns="142782" rIns="0" bIns="117382" rtlCol="0" anchor="t">
            <a:normAutofit/>
          </a:bodyPr>
          <a:lstStyle/>
          <a:p>
            <a:pPr marL="0" indent="0" algn="l">
              <a:lnSpc>
                <a:spcPts val="1938"/>
              </a:lnSpc>
              <a:buNone/>
            </a:pPr>
            <a:r>
              <a:rPr lang="en-US" sz="1250" dirty="0">
                <a:solidFill>
                  <a:srgbClr val="FF9DE2"/>
                </a:solidFill>
                <a:latin typeface="JetBrains Mono" pitchFamily="49" charset="0"/>
                <a:ea typeface="JetBrains Mono" pitchFamily="49" charset="-122"/>
                <a:cs typeface="JetBrains Mono" pitchFamily="49" charset="-120"/>
              </a:rPr>
              <a:t>&lt;p&gt;&lt;strong&gt;</a:t>
            </a:r>
            <a:r>
              <a:rPr lang="en-US" sz="1250" dirty="0">
                <a:solidFill>
                  <a:srgbClr val="FFFFFF"/>
                </a:solidFill>
                <a:latin typeface="JetBrains Mono" pitchFamily="49" charset="0"/>
                <a:ea typeface="JetBrains Mono" pitchFamily="49" charset="-122"/>
                <a:cs typeface="JetBrains Mono" pitchFamily="49" charset="-120"/>
              </a:rPr>
              <a:t>Важно:</a:t>
            </a:r>
            <a:r>
              <a:rPr lang="en-US" sz="1250" dirty="0">
                <a:solidFill>
                  <a:srgbClr val="FF9DE2"/>
                </a:solidFill>
                <a:latin typeface="JetBrains Mono" pitchFamily="49" charset="0"/>
                <a:ea typeface="JetBrains Mono" pitchFamily="49" charset="-122"/>
                <a:cs typeface="JetBrains Mono" pitchFamily="49" charset="-120"/>
              </a:rPr>
              <a:t>&lt;/strong&gt;</a:t>
            </a:r>
            <a:r>
              <a:rPr lang="en-US" sz="1250" dirty="0">
                <a:solidFill>
                  <a:srgbClr val="FFFFFF"/>
                </a:solidFill>
                <a:latin typeface="JetBrains Mono" pitchFamily="49" charset="0"/>
                <a:ea typeface="JetBrains Mono" pitchFamily="49" charset="-122"/>
                <a:cs typeface="JetBrains Mono" pitchFamily="49" charset="-120"/>
              </a:rPr>
              <a:t> текст</a:t>
            </a:r>
            <a:r>
              <a:rPr lang="en-US" sz="1250" dirty="0">
                <a:solidFill>
                  <a:srgbClr val="FF9DE2"/>
                </a:solidFill>
                <a:latin typeface="JetBrains Mono" pitchFamily="49" charset="0"/>
                <a:ea typeface="JetBrains Mono" pitchFamily="49" charset="-122"/>
                <a:cs typeface="JetBrains Mono" pitchFamily="49" charset="-120"/>
              </a:rPr>
              <a:t>&lt;/p&gt;</a:t>
            </a:r>
            <a:endParaRPr lang="en-US" sz="1250" dirty="0"/>
          </a:p>
          <a:p>
            <a:pPr marL="0" indent="0" algn="l">
              <a:lnSpc>
                <a:spcPts val="1938"/>
              </a:lnSpc>
              <a:buNone/>
            </a:pPr>
            <a:r>
              <a:rPr lang="en-US" sz="1250" dirty="0">
                <a:solidFill>
                  <a:srgbClr val="FF9DE2"/>
                </a:solidFill>
                <a:latin typeface="JetBrains Mono" pitchFamily="49" charset="0"/>
                <a:ea typeface="JetBrains Mono" pitchFamily="49" charset="-122"/>
                <a:cs typeface="JetBrains Mono" pitchFamily="49" charset="-120"/>
              </a:rPr>
              <a:t>&lt;p&gt;&lt;em&gt;</a:t>
            </a:r>
            <a:r>
              <a:rPr lang="en-US" sz="1250" dirty="0">
                <a:solidFill>
                  <a:srgbClr val="FFFFFF"/>
                </a:solidFill>
                <a:latin typeface="JetBrains Mono" pitchFamily="49" charset="0"/>
                <a:ea typeface="JetBrains Mono" pitchFamily="49" charset="-122"/>
                <a:cs typeface="JetBrains Mono" pitchFamily="49" charset="-120"/>
              </a:rPr>
              <a:t>Курсив</a:t>
            </a:r>
            <a:r>
              <a:rPr lang="en-US" sz="1250" dirty="0">
                <a:solidFill>
                  <a:srgbClr val="FF9DE2"/>
                </a:solidFill>
                <a:latin typeface="JetBrains Mono" pitchFamily="49" charset="0"/>
                <a:ea typeface="JetBrains Mono" pitchFamily="49" charset="-122"/>
                <a:cs typeface="JetBrains Mono" pitchFamily="49" charset="-120"/>
              </a:rPr>
              <a:t>&lt;/em&gt;</a:t>
            </a:r>
            <a:r>
              <a:rPr lang="en-US" sz="1250" dirty="0">
                <a:solidFill>
                  <a:srgbClr val="FFFFFF"/>
                </a:solidFill>
                <a:latin typeface="JetBrains Mono" pitchFamily="49" charset="0"/>
                <a:ea typeface="JetBrains Mono" pitchFamily="49" charset="-122"/>
                <a:cs typeface="JetBrains Mono" pitchFamily="49" charset="-120"/>
              </a:rPr>
              <a:t> и </a:t>
            </a:r>
            <a:r>
              <a:rPr lang="en-US" sz="1250" dirty="0">
                <a:solidFill>
                  <a:srgbClr val="FF9DE2"/>
                </a:solidFill>
                <a:latin typeface="JetBrains Mono" pitchFamily="49" charset="0"/>
                <a:ea typeface="JetBrains Mono" pitchFamily="49" charset="-122"/>
                <a:cs typeface="JetBrains Mono" pitchFamily="49" charset="-120"/>
              </a:rPr>
              <a:t>&lt;u&gt;</a:t>
            </a:r>
            <a:r>
              <a:rPr lang="en-US" sz="1250" dirty="0">
                <a:solidFill>
                  <a:srgbClr val="FFFFFF"/>
                </a:solidFill>
                <a:latin typeface="JetBrains Mono" pitchFamily="49" charset="0"/>
                <a:ea typeface="JetBrains Mono" pitchFamily="49" charset="-122"/>
                <a:cs typeface="JetBrains Mono" pitchFamily="49" charset="-120"/>
              </a:rPr>
              <a:t>линия</a:t>
            </a:r>
            <a:r>
              <a:rPr lang="en-US" sz="1250" dirty="0">
                <a:solidFill>
                  <a:srgbClr val="FF9DE2"/>
                </a:solidFill>
                <a:latin typeface="JetBrains Mono" pitchFamily="49" charset="0"/>
                <a:ea typeface="JetBrains Mono" pitchFamily="49" charset="-122"/>
                <a:cs typeface="JetBrains Mono" pitchFamily="49" charset="-120"/>
              </a:rPr>
              <a:t>&lt;/u&gt;&lt;/p&gt;</a:t>
            </a:r>
            <a:endParaRPr lang="en-US" sz="1250" dirty="0"/>
          </a:p>
          <a:p>
            <a:pPr marL="0" indent="0" algn="l">
              <a:lnSpc>
                <a:spcPts val="1938"/>
              </a:lnSpc>
              <a:buNone/>
            </a:pPr>
            <a:r>
              <a:rPr lang="en-US" sz="1250" dirty="0">
                <a:solidFill>
                  <a:srgbClr val="FF9DE2"/>
                </a:solidFill>
                <a:latin typeface="JetBrains Mono" pitchFamily="49" charset="0"/>
                <a:ea typeface="JetBrains Mono" pitchFamily="49" charset="-122"/>
                <a:cs typeface="JetBrains Mono" pitchFamily="49" charset="-120"/>
              </a:rPr>
              <a:t>&lt;p&gt;</a:t>
            </a:r>
            <a:r>
              <a:rPr lang="en-US" sz="1250" dirty="0">
                <a:solidFill>
                  <a:srgbClr val="FFFFFF"/>
                </a:solidFill>
                <a:latin typeface="JetBrains Mono" pitchFamily="49" charset="0"/>
                <a:ea typeface="JetBrains Mono" pitchFamily="49" charset="-122"/>
                <a:cs typeface="JetBrains Mono" pitchFamily="49" charset="-120"/>
              </a:rPr>
              <a:t>H</a:t>
            </a:r>
            <a:r>
              <a:rPr lang="en-US" sz="1250" dirty="0">
                <a:solidFill>
                  <a:srgbClr val="FF9DE2"/>
                </a:solidFill>
                <a:latin typeface="JetBrains Mono" pitchFamily="49" charset="0"/>
                <a:ea typeface="JetBrains Mono" pitchFamily="49" charset="-122"/>
                <a:cs typeface="JetBrains Mono" pitchFamily="49" charset="-120"/>
              </a:rPr>
              <a:t>&lt;sub&gt;</a:t>
            </a:r>
            <a:r>
              <a:rPr lang="en-US" sz="1250" dirty="0">
                <a:solidFill>
                  <a:srgbClr val="FFFFFF"/>
                </a:solidFill>
                <a:latin typeface="JetBrains Mono" pitchFamily="49" charset="0"/>
                <a:ea typeface="JetBrains Mono" pitchFamily="49" charset="-122"/>
                <a:cs typeface="JetBrains Mono" pitchFamily="49" charset="-120"/>
              </a:rPr>
              <a:t>2</a:t>
            </a:r>
            <a:r>
              <a:rPr lang="en-US" sz="1250" dirty="0">
                <a:solidFill>
                  <a:srgbClr val="FF9DE2"/>
                </a:solidFill>
                <a:latin typeface="JetBrains Mono" pitchFamily="49" charset="0"/>
                <a:ea typeface="JetBrains Mono" pitchFamily="49" charset="-122"/>
                <a:cs typeface="JetBrains Mono" pitchFamily="49" charset="-120"/>
              </a:rPr>
              <a:t>&lt;/sub&gt;</a:t>
            </a:r>
            <a:r>
              <a:rPr lang="en-US" sz="1250" dirty="0">
                <a:solidFill>
                  <a:srgbClr val="FFFFFF"/>
                </a:solidFill>
                <a:latin typeface="JetBrains Mono" pitchFamily="49" charset="0"/>
                <a:ea typeface="JetBrains Mono" pitchFamily="49" charset="-122"/>
                <a:cs typeface="JetBrains Mono" pitchFamily="49" charset="-120"/>
              </a:rPr>
              <a:t>O и x</a:t>
            </a:r>
            <a:r>
              <a:rPr lang="en-US" sz="1250" dirty="0">
                <a:solidFill>
                  <a:srgbClr val="FF9DE2"/>
                </a:solidFill>
                <a:latin typeface="JetBrains Mono" pitchFamily="49" charset="0"/>
                <a:ea typeface="JetBrains Mono" pitchFamily="49" charset="-122"/>
                <a:cs typeface="JetBrains Mono" pitchFamily="49" charset="-120"/>
              </a:rPr>
              <a:t>&lt;sup&gt;</a:t>
            </a:r>
            <a:r>
              <a:rPr lang="en-US" sz="1250" dirty="0">
                <a:solidFill>
                  <a:srgbClr val="FFFFFF"/>
                </a:solidFill>
                <a:latin typeface="JetBrains Mono" pitchFamily="49" charset="0"/>
                <a:ea typeface="JetBrains Mono" pitchFamily="49" charset="-122"/>
                <a:cs typeface="JetBrains Mono" pitchFamily="49" charset="-120"/>
              </a:rPr>
              <a:t>2</a:t>
            </a:r>
            <a:r>
              <a:rPr lang="en-US" sz="1250" dirty="0">
                <a:solidFill>
                  <a:srgbClr val="FF9DE2"/>
                </a:solidFill>
                <a:latin typeface="JetBrains Mono" pitchFamily="49" charset="0"/>
                <a:ea typeface="JetBrains Mono" pitchFamily="49" charset="-122"/>
                <a:cs typeface="JetBrains Mono" pitchFamily="49" charset="-120"/>
              </a:rPr>
              <a:t>&lt;/sup&gt;&lt;/p&gt;</a:t>
            </a:r>
            <a:endParaRPr lang="en-US" sz="1250" dirty="0"/>
          </a:p>
          <a:p>
            <a:pPr marL="0" indent="0" algn="l">
              <a:lnSpc>
                <a:spcPts val="1938"/>
              </a:lnSpc>
              <a:buNone/>
            </a:pPr>
            <a:r>
              <a:rPr lang="en-US" sz="1250" dirty="0">
                <a:solidFill>
                  <a:srgbClr val="FF9DE2"/>
                </a:solidFill>
                <a:latin typeface="JetBrains Mono" pitchFamily="49" charset="0"/>
                <a:ea typeface="JetBrains Mono" pitchFamily="49" charset="-122"/>
                <a:cs typeface="JetBrains Mono" pitchFamily="49" charset="-120"/>
              </a:rPr>
              <a:t>&lt;p&gt;&lt;mark&gt;</a:t>
            </a:r>
            <a:r>
              <a:rPr lang="en-US" sz="1250" dirty="0">
                <a:solidFill>
                  <a:srgbClr val="FFFFFF"/>
                </a:solidFill>
                <a:latin typeface="JetBrains Mono" pitchFamily="49" charset="0"/>
                <a:ea typeface="JetBrains Mono" pitchFamily="49" charset="-122"/>
                <a:cs typeface="JetBrains Mono" pitchFamily="49" charset="-120"/>
              </a:rPr>
              <a:t>Маркер</a:t>
            </a:r>
            <a:r>
              <a:rPr lang="en-US" sz="1250" dirty="0">
                <a:solidFill>
                  <a:srgbClr val="FF9DE2"/>
                </a:solidFill>
                <a:latin typeface="JetBrains Mono" pitchFamily="49" charset="0"/>
                <a:ea typeface="JetBrains Mono" pitchFamily="49" charset="-122"/>
                <a:cs typeface="JetBrains Mono" pitchFamily="49" charset="-120"/>
              </a:rPr>
              <a:t>&lt;/mark&gt;&lt;/p&gt;</a:t>
            </a:r>
            <a:endParaRPr lang="en-US" sz="1250" dirty="0"/>
          </a:p>
          <a:p>
            <a:pPr marL="0" indent="0" algn="l">
              <a:lnSpc>
                <a:spcPts val="1938"/>
              </a:lnSpc>
              <a:buNone/>
            </a:pPr>
            <a:r>
              <a:rPr lang="en-US" sz="1250" dirty="0">
                <a:solidFill>
                  <a:srgbClr val="FF9DE2"/>
                </a:solidFill>
                <a:latin typeface="JetBrains Mono" pitchFamily="49" charset="0"/>
                <a:ea typeface="JetBrains Mono" pitchFamily="49" charset="-122"/>
                <a:cs typeface="JetBrains Mono" pitchFamily="49" charset="-120"/>
              </a:rPr>
              <a:t>&lt;p&gt;&lt;small&gt;</a:t>
            </a:r>
            <a:r>
              <a:rPr lang="en-US" sz="1250" dirty="0">
                <a:solidFill>
                  <a:srgbClr val="FFFFFF"/>
                </a:solidFill>
                <a:latin typeface="JetBrains Mono" pitchFamily="49" charset="0"/>
                <a:ea typeface="JetBrains Mono" pitchFamily="49" charset="-122"/>
                <a:cs typeface="JetBrains Mono" pitchFamily="49" charset="-120"/>
              </a:rPr>
              <a:t>Мелко</a:t>
            </a:r>
            <a:r>
              <a:rPr lang="en-US" sz="1250" dirty="0">
                <a:solidFill>
                  <a:srgbClr val="FF9DE2"/>
                </a:solidFill>
                <a:latin typeface="JetBrains Mono" pitchFamily="49" charset="0"/>
                <a:ea typeface="JetBrains Mono" pitchFamily="49" charset="-122"/>
                <a:cs typeface="JetBrains Mono" pitchFamily="49" charset="-120"/>
              </a:rPr>
              <a:t>&lt;/small&gt;&lt;/p&gt;</a:t>
            </a:r>
            <a:endParaRPr lang="en-US" sz="1250" dirty="0"/>
          </a:p>
          <a:p>
            <a:pPr marL="0" indent="0" algn="l">
              <a:lnSpc>
                <a:spcPts val="1938"/>
              </a:lnSpc>
              <a:buNone/>
            </a:pPr>
            <a:r>
              <a:rPr lang="en-US" sz="1250" dirty="0">
                <a:solidFill>
                  <a:srgbClr val="FF9DE2"/>
                </a:solidFill>
                <a:latin typeface="JetBrains Mono" pitchFamily="49" charset="0"/>
                <a:ea typeface="JetBrains Mono" pitchFamily="49" charset="-122"/>
                <a:cs typeface="JetBrains Mono" pitchFamily="49" charset="-120"/>
              </a:rPr>
              <a:t>&lt;p&gt;&lt;code&gt;</a:t>
            </a:r>
            <a:r>
              <a:rPr lang="en-US" sz="1250" dirty="0">
                <a:solidFill>
                  <a:srgbClr val="FFFFFF"/>
                </a:solidFill>
                <a:latin typeface="JetBrains Mono" pitchFamily="49" charset="0"/>
                <a:ea typeface="JetBrains Mono" pitchFamily="49" charset="-122"/>
                <a:cs typeface="JetBrains Mono" pitchFamily="49" charset="-120"/>
              </a:rPr>
              <a:t>print("Hi")</a:t>
            </a:r>
            <a:r>
              <a:rPr lang="en-US" sz="1250" dirty="0">
                <a:solidFill>
                  <a:srgbClr val="FF9DE2"/>
                </a:solidFill>
                <a:latin typeface="JetBrains Mono" pitchFamily="49" charset="0"/>
                <a:ea typeface="JetBrains Mono" pitchFamily="49" charset="-122"/>
                <a:cs typeface="JetBrains Mono" pitchFamily="49" charset="-120"/>
              </a:rPr>
              <a:t>&lt;/code&gt;&lt;/p&gt;</a:t>
            </a:r>
            <a:endParaRPr lang="en-US" sz="1250" dirty="0"/>
          </a:p>
        </p:txBody>
      </p:sp>
      <p:sp>
        <p:nvSpPr>
          <p:cNvPr id="8" name="Shape 5"/>
          <p:cNvSpPr/>
          <p:nvPr/>
        </p:nvSpPr>
        <p:spPr>
          <a:xfrm>
            <a:off x="6089650" y="1269901"/>
            <a:ext cx="12700" cy="3003748"/>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0" name="Shape 7"/>
          <p:cNvSpPr/>
          <p:nvPr/>
        </p:nvSpPr>
        <p:spPr>
          <a:xfrm>
            <a:off x="6356350" y="1607641"/>
            <a:ext cx="5200650" cy="2666008"/>
          </a:xfrm>
          <a:prstGeom prst="roundRect">
            <a:avLst>
              <a:gd name="adj" fmla="val 2858"/>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109180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emphasis.html</a:t>
            </a:r>
            <a:endParaRPr lang="en-US" sz="1200" dirty="0"/>
          </a:p>
        </p:txBody>
      </p:sp>
      <p:sp>
        <p:nvSpPr>
          <p:cNvPr id="16" name="Text 13"/>
          <p:cNvSpPr/>
          <p:nvPr/>
        </p:nvSpPr>
        <p:spPr>
          <a:xfrm>
            <a:off x="6572250" y="2163862"/>
            <a:ext cx="4911916"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11111"/>
                </a:solidFill>
                <a:latin typeface="Times New Roman" pitchFamily="18" charset="0"/>
                <a:ea typeface="Times New Roman" pitchFamily="18" charset="-122"/>
                <a:cs typeface="Times New Roman" pitchFamily="18" charset="-120"/>
              </a:rPr>
              <a:t>Важно:</a:t>
            </a:r>
            <a:r>
              <a:rPr lang="en-US" sz="1600" dirty="0">
                <a:solidFill>
                  <a:srgbClr val="111111"/>
                </a:solidFill>
                <a:latin typeface="Times New Roman" pitchFamily="18" charset="0"/>
                <a:ea typeface="Times New Roman" pitchFamily="18" charset="-122"/>
                <a:cs typeface="Times New Roman" pitchFamily="18" charset="-120"/>
              </a:rPr>
              <a:t> текст</a:t>
            </a:r>
            <a:endParaRPr lang="en-US" sz="1600" dirty="0"/>
          </a:p>
        </p:txBody>
      </p:sp>
      <p:sp>
        <p:nvSpPr>
          <p:cNvPr id="17" name="Text 14"/>
          <p:cNvSpPr/>
          <p:nvPr/>
        </p:nvSpPr>
        <p:spPr>
          <a:xfrm>
            <a:off x="6572250" y="2519462"/>
            <a:ext cx="4911916" cy="279400"/>
          </a:xfrm>
          <a:prstGeom prst="rect">
            <a:avLst/>
          </a:prstGeom>
          <a:noFill/>
          <a:ln/>
        </p:spPr>
        <p:txBody>
          <a:bodyPr wrap="square" lIns="0" tIns="0" rIns="0" bIns="0" rtlCol="0" anchor="t">
            <a:normAutofit/>
          </a:bodyPr>
          <a:lstStyle/>
          <a:p>
            <a:pPr marL="0" indent="0" algn="l">
              <a:lnSpc>
                <a:spcPts val="2000"/>
              </a:lnSpc>
              <a:buNone/>
            </a:pPr>
            <a:r>
              <a:rPr lang="en-US" sz="1600" i="1" dirty="0">
                <a:solidFill>
                  <a:srgbClr val="111111"/>
                </a:solidFill>
                <a:latin typeface="Times New Roman" pitchFamily="18" charset="0"/>
                <a:ea typeface="Times New Roman" pitchFamily="18" charset="-122"/>
                <a:cs typeface="Times New Roman" pitchFamily="18" charset="-120"/>
              </a:rPr>
              <a:t>Курсив</a:t>
            </a:r>
            <a:r>
              <a:rPr lang="en-US" sz="1600" dirty="0">
                <a:solidFill>
                  <a:srgbClr val="111111"/>
                </a:solidFill>
                <a:latin typeface="Times New Roman" pitchFamily="18" charset="0"/>
                <a:ea typeface="Times New Roman" pitchFamily="18" charset="-122"/>
                <a:cs typeface="Times New Roman" pitchFamily="18" charset="-120"/>
              </a:rPr>
              <a:t> и </a:t>
            </a:r>
            <a:r>
              <a:rPr lang="en-US" sz="1600" u="sng" dirty="0">
                <a:solidFill>
                  <a:srgbClr val="111111"/>
                </a:solidFill>
                <a:latin typeface="Times New Roman" pitchFamily="18" charset="0"/>
                <a:ea typeface="Times New Roman" pitchFamily="18" charset="-122"/>
                <a:cs typeface="Times New Roman" pitchFamily="18" charset="-120"/>
              </a:rPr>
              <a:t>линия</a:t>
            </a:r>
            <a:endParaRPr lang="en-US" sz="1600" dirty="0"/>
          </a:p>
        </p:txBody>
      </p:sp>
      <p:sp>
        <p:nvSpPr>
          <p:cNvPr id="18" name="Text 15"/>
          <p:cNvSpPr/>
          <p:nvPr/>
        </p:nvSpPr>
        <p:spPr>
          <a:xfrm>
            <a:off x="6572250" y="2875062"/>
            <a:ext cx="4911916"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11111"/>
                </a:solidFill>
                <a:latin typeface="Times New Roman" pitchFamily="18" charset="0"/>
                <a:ea typeface="Times New Roman" pitchFamily="18" charset="-122"/>
                <a:cs typeface="Times New Roman" pitchFamily="18" charset="-120"/>
              </a:rPr>
              <a:t>H₂O и x²</a:t>
            </a:r>
            <a:endParaRPr lang="en-US" sz="1600" dirty="0"/>
          </a:p>
        </p:txBody>
      </p:sp>
      <p:sp>
        <p:nvSpPr>
          <p:cNvPr id="19" name="Text 16"/>
          <p:cNvSpPr/>
          <p:nvPr/>
        </p:nvSpPr>
        <p:spPr>
          <a:xfrm>
            <a:off x="6572250" y="3230662"/>
            <a:ext cx="759520" cy="254000"/>
          </a:xfrm>
          <a:prstGeom prst="rect">
            <a:avLst/>
          </a:prstGeom>
          <a:solidFill>
            <a:srgbClr val="FFFF00"/>
          </a:solidFill>
          <a:ln/>
        </p:spPr>
        <p:txBody>
          <a:bodyPr wrap="none" lIns="0" tIns="0" rIns="0" bIns="0" rtlCol="0" anchor="ctr">
            <a:normAutofit/>
          </a:bodyPr>
          <a:lstStyle/>
          <a:p>
            <a:pPr marL="0" indent="0" algn="ctr">
              <a:lnSpc>
                <a:spcPts val="2000"/>
              </a:lnSpc>
              <a:buNone/>
            </a:pPr>
            <a:r>
              <a:rPr lang="en-US" sz="1600" dirty="0">
                <a:solidFill>
                  <a:srgbClr val="111111"/>
                </a:solidFill>
                <a:latin typeface="Times New Roman" pitchFamily="18" charset="0"/>
                <a:ea typeface="Times New Roman" pitchFamily="18" charset="-122"/>
                <a:cs typeface="Times New Roman" pitchFamily="18" charset="-120"/>
              </a:rPr>
              <a:t>Маркер</a:t>
            </a:r>
            <a:endParaRPr lang="en-US" sz="1600" dirty="0"/>
          </a:p>
        </p:txBody>
      </p:sp>
      <p:sp>
        <p:nvSpPr>
          <p:cNvPr id="20" name="Text 17"/>
          <p:cNvSpPr/>
          <p:nvPr/>
        </p:nvSpPr>
        <p:spPr>
          <a:xfrm>
            <a:off x="6572250" y="3586262"/>
            <a:ext cx="4911916"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111111"/>
                </a:solidFill>
                <a:latin typeface="Times New Roman" pitchFamily="18" charset="0"/>
                <a:ea typeface="Times New Roman" pitchFamily="18" charset="-122"/>
                <a:cs typeface="Times New Roman" pitchFamily="18" charset="-120"/>
              </a:rPr>
              <a:t>Мелко</a:t>
            </a:r>
            <a:endParaRPr lang="en-US" sz="1200" dirty="0"/>
          </a:p>
        </p:txBody>
      </p:sp>
      <p:sp>
        <p:nvSpPr>
          <p:cNvPr id="21" name="Text 18"/>
          <p:cNvSpPr/>
          <p:nvPr/>
        </p:nvSpPr>
        <p:spPr>
          <a:xfrm>
            <a:off x="6572250" y="3878362"/>
            <a:ext cx="4911916" cy="255588"/>
          </a:xfrm>
          <a:prstGeom prst="rect">
            <a:avLst/>
          </a:prstGeom>
          <a:noFill/>
          <a:ln/>
        </p:spPr>
        <p:txBody>
          <a:bodyPr wrap="square" lIns="0" tIns="0" rIns="0" bIns="0" rtlCol="0" anchor="t">
            <a:normAutofit/>
          </a:bodyPr>
          <a:lstStyle/>
          <a:p>
            <a:pPr marL="0" indent="0" algn="l">
              <a:lnSpc>
                <a:spcPts val="1813"/>
              </a:lnSpc>
              <a:buNone/>
            </a:pPr>
            <a:r>
              <a:rPr lang="en-US" sz="1450" dirty="0">
                <a:solidFill>
                  <a:srgbClr val="111111"/>
                </a:solidFill>
                <a:latin typeface="Courier New" pitchFamily="49" charset="0"/>
                <a:ea typeface="Courier New" pitchFamily="49" charset="-122"/>
                <a:cs typeface="Courier New" pitchFamily="49" charset="-120"/>
              </a:rPr>
              <a:t>print("Hi")</a:t>
            </a:r>
            <a:endParaRPr lang="en-US" sz="1450" dirty="0"/>
          </a:p>
        </p:txBody>
      </p:sp>
      <p:sp>
        <p:nvSpPr>
          <p:cNvPr id="22" name="Text 19"/>
          <p:cNvSpPr/>
          <p:nvPr/>
        </p:nvSpPr>
        <p:spPr>
          <a:xfrm>
            <a:off x="635000" y="4400649"/>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&lt;strong&gt; и &lt;em&gt; передают смысл (важно, акцент), а &lt;b&gt; и &lt;i&gt; — только внешний вид. Для доступности и поиска лучше использовать &lt;strong&gt; и &lt;em&gt;.</a:t>
            </a:r>
            <a:endParaRPr lang="en-US" sz="1500" dirty="0"/>
          </a:p>
        </p:txBody>
      </p:sp>
      <p:pic>
        <p:nvPicPr>
          <p:cNvPr id="23" name="Рисунок 22"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3B6008AC-FF2A-012B-20CB-0ECBA853F39A}"/>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Списки: ul, ol, li</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Маркированный и нумерованный списки</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559050"/>
          </a:xfrm>
          <a:prstGeom prst="roundRect">
            <a:avLst>
              <a:gd name="adj" fmla="val 2978"/>
            </a:avLst>
          </a:prstGeom>
          <a:solidFill>
            <a:srgbClr val="2A002A"/>
          </a:solidFill>
          <a:ln/>
        </p:spPr>
        <p:txBody>
          <a:bodyPr wrap="square" lIns="168182" tIns="142782" rIns="23592" bIns="117382" rtlCol="0" anchor="t">
            <a:normAutofit fontScale="70000" lnSpcReduction="20000"/>
          </a:bodyPr>
          <a:lstStyle/>
          <a:p>
            <a:pPr marL="0" indent="0" algn="l">
              <a:lnSpc>
                <a:spcPts val="1950"/>
              </a:lnSpc>
              <a:buNone/>
            </a:pPr>
            <a:r>
              <a:rPr lang="en-US" sz="1300" dirty="0">
                <a:solidFill>
                  <a:srgbClr val="FF9DE2"/>
                </a:solidFill>
                <a:latin typeface="JetBrains Mono" pitchFamily="49" charset="0"/>
                <a:ea typeface="JetBrains Mono" pitchFamily="49" charset="-122"/>
                <a:cs typeface="JetBrains Mono" pitchFamily="49" charset="-120"/>
              </a:rPr>
              <a:t>&lt;ul&gt;</a:t>
            </a:r>
            <a:endParaRPr lang="en-US" sz="1300" dirty="0"/>
          </a:p>
          <a:p>
            <a:pPr marL="0" indent="0" algn="l">
              <a:lnSpc>
                <a:spcPts val="1950"/>
              </a:lnSpc>
              <a:buNone/>
            </a:pPr>
            <a:r>
              <a:rPr lang="en-US" sz="1300" dirty="0">
                <a:solidFill>
                  <a:srgbClr val="FFFFFF"/>
                </a:solidFill>
                <a:latin typeface="JetBrains Mono" pitchFamily="49" charset="0"/>
                <a:ea typeface="JetBrains Mono" pitchFamily="49" charset="-122"/>
                <a:cs typeface="JetBrains Mono" pitchFamily="49" charset="-120"/>
              </a:rPr>
              <a:t>  </a:t>
            </a:r>
            <a:r>
              <a:rPr lang="en-US" sz="1300" dirty="0">
                <a:solidFill>
                  <a:srgbClr val="FF9DE2"/>
                </a:solidFill>
                <a:latin typeface="JetBrains Mono" pitchFamily="49" charset="0"/>
                <a:ea typeface="JetBrains Mono" pitchFamily="49" charset="-122"/>
                <a:cs typeface="JetBrains Mono" pitchFamily="49" charset="-120"/>
              </a:rPr>
              <a:t>&lt;li&gt;</a:t>
            </a:r>
            <a:r>
              <a:rPr lang="en-US" sz="1300" dirty="0">
                <a:solidFill>
                  <a:srgbClr val="FFFFFF"/>
                </a:solidFill>
                <a:latin typeface="JetBrains Mono" pitchFamily="49" charset="0"/>
                <a:ea typeface="JetBrains Mono" pitchFamily="49" charset="-122"/>
                <a:cs typeface="JetBrains Mono" pitchFamily="49" charset="-120"/>
              </a:rPr>
              <a:t>Яблоки</a:t>
            </a:r>
            <a:r>
              <a:rPr lang="en-US" sz="1300" dirty="0">
                <a:solidFill>
                  <a:srgbClr val="FF9DE2"/>
                </a:solidFill>
                <a:latin typeface="JetBrains Mono" pitchFamily="49" charset="0"/>
                <a:ea typeface="JetBrains Mono" pitchFamily="49" charset="-122"/>
                <a:cs typeface="JetBrains Mono" pitchFamily="49" charset="-120"/>
              </a:rPr>
              <a:t>&lt;/li&gt;</a:t>
            </a:r>
            <a:endParaRPr lang="en-US" sz="1300" dirty="0"/>
          </a:p>
          <a:p>
            <a:pPr marL="0" indent="0" algn="l">
              <a:lnSpc>
                <a:spcPts val="1950"/>
              </a:lnSpc>
              <a:buNone/>
            </a:pPr>
            <a:r>
              <a:rPr lang="en-US" sz="1300" dirty="0">
                <a:solidFill>
                  <a:srgbClr val="FFFFFF"/>
                </a:solidFill>
                <a:latin typeface="JetBrains Mono" pitchFamily="49" charset="0"/>
                <a:ea typeface="JetBrains Mono" pitchFamily="49" charset="-122"/>
                <a:cs typeface="JetBrains Mono" pitchFamily="49" charset="-120"/>
              </a:rPr>
              <a:t>  </a:t>
            </a:r>
            <a:r>
              <a:rPr lang="en-US" sz="1300" dirty="0">
                <a:solidFill>
                  <a:srgbClr val="FF9DE2"/>
                </a:solidFill>
                <a:latin typeface="JetBrains Mono" pitchFamily="49" charset="0"/>
                <a:ea typeface="JetBrains Mono" pitchFamily="49" charset="-122"/>
                <a:cs typeface="JetBrains Mono" pitchFamily="49" charset="-120"/>
              </a:rPr>
              <a:t>&lt;li&gt;</a:t>
            </a:r>
            <a:r>
              <a:rPr lang="en-US" sz="1300" dirty="0">
                <a:solidFill>
                  <a:srgbClr val="FFFFFF"/>
                </a:solidFill>
                <a:latin typeface="JetBrains Mono" pitchFamily="49" charset="0"/>
                <a:ea typeface="JetBrains Mono" pitchFamily="49" charset="-122"/>
                <a:cs typeface="JetBrains Mono" pitchFamily="49" charset="-120"/>
              </a:rPr>
              <a:t>Груши</a:t>
            </a:r>
            <a:r>
              <a:rPr lang="en-US" sz="1300" dirty="0">
                <a:solidFill>
                  <a:srgbClr val="FF9DE2"/>
                </a:solidFill>
                <a:latin typeface="JetBrains Mono" pitchFamily="49" charset="0"/>
                <a:ea typeface="JetBrains Mono" pitchFamily="49" charset="-122"/>
                <a:cs typeface="JetBrains Mono" pitchFamily="49" charset="-120"/>
              </a:rPr>
              <a:t>&lt;/li&gt;</a:t>
            </a:r>
            <a:endParaRPr lang="en-US" sz="1300" dirty="0"/>
          </a:p>
          <a:p>
            <a:pPr marL="0" indent="0" algn="l">
              <a:lnSpc>
                <a:spcPts val="1950"/>
              </a:lnSpc>
              <a:buNone/>
            </a:pPr>
            <a:r>
              <a:rPr lang="en-US" sz="1300" dirty="0">
                <a:solidFill>
                  <a:srgbClr val="FF9DE2"/>
                </a:solidFill>
                <a:latin typeface="JetBrains Mono" pitchFamily="49" charset="0"/>
                <a:ea typeface="JetBrains Mono" pitchFamily="49" charset="-122"/>
                <a:cs typeface="JetBrains Mono" pitchFamily="49" charset="-120"/>
              </a:rPr>
              <a:t>&lt;/ul&gt;</a:t>
            </a:r>
            <a:endParaRPr lang="en-US" sz="1300" dirty="0"/>
          </a:p>
          <a:p>
            <a:pPr marL="0" indent="0" algn="l">
              <a:lnSpc>
                <a:spcPts val="1950"/>
              </a:lnSpc>
              <a:buNone/>
            </a:pPr>
            <a:r>
              <a:rPr lang="en-US" sz="1300" dirty="0">
                <a:solidFill>
                  <a:srgbClr val="FF9DE2"/>
                </a:solidFill>
                <a:latin typeface="JetBrains Mono" pitchFamily="49" charset="0"/>
                <a:ea typeface="JetBrains Mono" pitchFamily="49" charset="-122"/>
                <a:cs typeface="JetBrains Mono" pitchFamily="49" charset="-120"/>
              </a:rPr>
              <a:t>&lt;ol&gt;</a:t>
            </a:r>
            <a:endParaRPr lang="en-US" sz="1300" dirty="0"/>
          </a:p>
          <a:p>
            <a:pPr marL="0" indent="0" algn="l">
              <a:lnSpc>
                <a:spcPts val="1950"/>
              </a:lnSpc>
              <a:buNone/>
            </a:pPr>
            <a:r>
              <a:rPr lang="en-US" sz="1300" dirty="0">
                <a:solidFill>
                  <a:srgbClr val="FFFFFF"/>
                </a:solidFill>
                <a:latin typeface="JetBrains Mono" pitchFamily="49" charset="0"/>
                <a:ea typeface="JetBrains Mono" pitchFamily="49" charset="-122"/>
                <a:cs typeface="JetBrains Mono" pitchFamily="49" charset="-120"/>
              </a:rPr>
              <a:t>  </a:t>
            </a:r>
            <a:r>
              <a:rPr lang="en-US" sz="1300" dirty="0">
                <a:solidFill>
                  <a:srgbClr val="FF9DE2"/>
                </a:solidFill>
                <a:latin typeface="JetBrains Mono" pitchFamily="49" charset="0"/>
                <a:ea typeface="JetBrains Mono" pitchFamily="49" charset="-122"/>
                <a:cs typeface="JetBrains Mono" pitchFamily="49" charset="-120"/>
              </a:rPr>
              <a:t>&lt;li&gt;</a:t>
            </a:r>
            <a:r>
              <a:rPr lang="en-US" sz="1300" dirty="0">
                <a:solidFill>
                  <a:srgbClr val="FFFFFF"/>
                </a:solidFill>
                <a:latin typeface="JetBrains Mono" pitchFamily="49" charset="0"/>
                <a:ea typeface="JetBrains Mono" pitchFamily="49" charset="-122"/>
                <a:cs typeface="JetBrains Mono" pitchFamily="49" charset="-120"/>
              </a:rPr>
              <a:t>Открыть редактор</a:t>
            </a:r>
            <a:r>
              <a:rPr lang="en-US" sz="1300" dirty="0">
                <a:solidFill>
                  <a:srgbClr val="FF9DE2"/>
                </a:solidFill>
                <a:latin typeface="JetBrains Mono" pitchFamily="49" charset="0"/>
                <a:ea typeface="JetBrains Mono" pitchFamily="49" charset="-122"/>
                <a:cs typeface="JetBrains Mono" pitchFamily="49" charset="-120"/>
              </a:rPr>
              <a:t>&lt;/li&gt;</a:t>
            </a:r>
            <a:endParaRPr lang="en-US" sz="1300" dirty="0"/>
          </a:p>
          <a:p>
            <a:pPr marL="0" indent="0" algn="l">
              <a:lnSpc>
                <a:spcPts val="1950"/>
              </a:lnSpc>
              <a:buNone/>
            </a:pPr>
            <a:r>
              <a:rPr lang="en-US" sz="1300" dirty="0">
                <a:solidFill>
                  <a:srgbClr val="FFFFFF"/>
                </a:solidFill>
                <a:latin typeface="JetBrains Mono" pitchFamily="49" charset="0"/>
                <a:ea typeface="JetBrains Mono" pitchFamily="49" charset="-122"/>
                <a:cs typeface="JetBrains Mono" pitchFamily="49" charset="-120"/>
              </a:rPr>
              <a:t>  </a:t>
            </a:r>
            <a:r>
              <a:rPr lang="en-US" sz="1300" dirty="0">
                <a:solidFill>
                  <a:srgbClr val="FF9DE2"/>
                </a:solidFill>
                <a:latin typeface="JetBrains Mono" pitchFamily="49" charset="0"/>
                <a:ea typeface="JetBrains Mono" pitchFamily="49" charset="-122"/>
                <a:cs typeface="JetBrains Mono" pitchFamily="49" charset="-120"/>
              </a:rPr>
              <a:t>&lt;li&gt;</a:t>
            </a:r>
            <a:r>
              <a:rPr lang="en-US" sz="1300" dirty="0">
                <a:solidFill>
                  <a:srgbClr val="FFFFFF"/>
                </a:solidFill>
                <a:latin typeface="JetBrains Mono" pitchFamily="49" charset="0"/>
                <a:ea typeface="JetBrains Mono" pitchFamily="49" charset="-122"/>
                <a:cs typeface="JetBrains Mono" pitchFamily="49" charset="-120"/>
              </a:rPr>
              <a:t>Написать код</a:t>
            </a:r>
            <a:r>
              <a:rPr lang="en-US" sz="1300" dirty="0">
                <a:solidFill>
                  <a:srgbClr val="FF9DE2"/>
                </a:solidFill>
                <a:latin typeface="JetBrains Mono" pitchFamily="49" charset="0"/>
                <a:ea typeface="JetBrains Mono" pitchFamily="49" charset="-122"/>
                <a:cs typeface="JetBrains Mono" pitchFamily="49" charset="-120"/>
              </a:rPr>
              <a:t>&lt;/li&gt;</a:t>
            </a:r>
            <a:endParaRPr lang="en-US" sz="1300" dirty="0"/>
          </a:p>
          <a:p>
            <a:pPr marL="0" indent="0" algn="l">
              <a:lnSpc>
                <a:spcPts val="1950"/>
              </a:lnSpc>
              <a:buNone/>
            </a:pPr>
            <a:r>
              <a:rPr lang="en-US" sz="1300" dirty="0">
                <a:solidFill>
                  <a:srgbClr val="FFFFFF"/>
                </a:solidFill>
                <a:latin typeface="JetBrains Mono" pitchFamily="49" charset="0"/>
                <a:ea typeface="JetBrains Mono" pitchFamily="49" charset="-122"/>
                <a:cs typeface="JetBrains Mono" pitchFamily="49" charset="-120"/>
              </a:rPr>
              <a:t>  </a:t>
            </a:r>
            <a:r>
              <a:rPr lang="en-US" sz="1300" dirty="0">
                <a:solidFill>
                  <a:srgbClr val="FF9DE2"/>
                </a:solidFill>
                <a:latin typeface="JetBrains Mono" pitchFamily="49" charset="0"/>
                <a:ea typeface="JetBrains Mono" pitchFamily="49" charset="-122"/>
                <a:cs typeface="JetBrains Mono" pitchFamily="49" charset="-120"/>
              </a:rPr>
              <a:t>&lt;li&gt;</a:t>
            </a:r>
            <a:r>
              <a:rPr lang="en-US" sz="1300" dirty="0">
                <a:solidFill>
                  <a:srgbClr val="FFFFFF"/>
                </a:solidFill>
                <a:latin typeface="JetBrains Mono" pitchFamily="49" charset="0"/>
                <a:ea typeface="JetBrains Mono" pitchFamily="49" charset="-122"/>
                <a:cs typeface="JetBrains Mono" pitchFamily="49" charset="-120"/>
              </a:rPr>
              <a:t>Открыть в браузере</a:t>
            </a:r>
            <a:r>
              <a:rPr lang="en-US" sz="1300" dirty="0">
                <a:solidFill>
                  <a:srgbClr val="FF9DE2"/>
                </a:solidFill>
                <a:latin typeface="JetBrains Mono" pitchFamily="49" charset="0"/>
                <a:ea typeface="JetBrains Mono" pitchFamily="49" charset="-122"/>
                <a:cs typeface="JetBrains Mono" pitchFamily="49" charset="-120"/>
              </a:rPr>
              <a:t>&lt;/li&gt;</a:t>
            </a:r>
            <a:endParaRPr lang="en-US" sz="1300" dirty="0"/>
          </a:p>
          <a:p>
            <a:pPr marL="0" indent="0" algn="l">
              <a:lnSpc>
                <a:spcPts val="1950"/>
              </a:lnSpc>
              <a:buNone/>
            </a:pPr>
            <a:r>
              <a:rPr lang="en-US" sz="1300" dirty="0">
                <a:solidFill>
                  <a:srgbClr val="FF9DE2"/>
                </a:solidFill>
                <a:latin typeface="JetBrains Mono" pitchFamily="49" charset="0"/>
                <a:ea typeface="JetBrains Mono" pitchFamily="49" charset="-122"/>
                <a:cs typeface="JetBrains Mono" pitchFamily="49" charset="-120"/>
              </a:rPr>
              <a:t>&lt;/ol&gt;</a:t>
            </a:r>
            <a:endParaRPr lang="en-US" sz="1300" dirty="0"/>
          </a:p>
        </p:txBody>
      </p:sp>
      <p:sp>
        <p:nvSpPr>
          <p:cNvPr id="8" name="Shape 5"/>
          <p:cNvSpPr/>
          <p:nvPr/>
        </p:nvSpPr>
        <p:spPr>
          <a:xfrm>
            <a:off x="6089650" y="1269901"/>
            <a:ext cx="12700" cy="2896791"/>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0" name="Shape 7"/>
          <p:cNvSpPr/>
          <p:nvPr/>
        </p:nvSpPr>
        <p:spPr>
          <a:xfrm>
            <a:off x="6356350" y="1607641"/>
            <a:ext cx="5200650" cy="2194322"/>
          </a:xfrm>
          <a:prstGeom prst="roundRect">
            <a:avLst>
              <a:gd name="adj" fmla="val 3473"/>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6761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lists.html</a:t>
            </a:r>
            <a:endParaRPr lang="en-US" sz="1200" dirty="0"/>
          </a:p>
        </p:txBody>
      </p:sp>
      <p:sp>
        <p:nvSpPr>
          <p:cNvPr id="16" name="Text 13"/>
          <p:cNvSpPr/>
          <p:nvPr/>
        </p:nvSpPr>
        <p:spPr>
          <a:xfrm>
            <a:off x="6648958" y="2176562"/>
            <a:ext cx="4827588" cy="553641"/>
          </a:xfrm>
          <a:prstGeom prst="rect">
            <a:avLst/>
          </a:prstGeom>
          <a:noFill/>
          <a:ln/>
        </p:spPr>
        <p:txBody>
          <a:bodyPr wrap="square" lIns="0" tIns="0" rIns="0" bIns="0" rtlCol="0" anchor="t">
            <a:normAutofit/>
          </a:bodyPr>
          <a:lstStyle/>
          <a:p>
            <a:pPr marL="177292" indent="-177292" algn="l">
              <a:lnSpc>
                <a:spcPts val="2080"/>
              </a:lnSpc>
              <a:buSzPct val="100000"/>
              <a:buChar char="•"/>
            </a:pPr>
            <a:r>
              <a:rPr lang="en-US" sz="1600" dirty="0">
                <a:solidFill>
                  <a:srgbClr val="111111"/>
                </a:solidFill>
                <a:latin typeface="Times New Roman" pitchFamily="18" charset="0"/>
                <a:ea typeface="Times New Roman" pitchFamily="18" charset="-122"/>
                <a:cs typeface="Times New Roman" pitchFamily="18" charset="-120"/>
              </a:rPr>
              <a:t>Яблоки</a:t>
            </a:r>
            <a:endParaRPr lang="en-US" sz="1600" dirty="0"/>
          </a:p>
          <a:p>
            <a:pPr marL="177292" indent="-177292" algn="l">
              <a:lnSpc>
                <a:spcPts val="2080"/>
              </a:lnSpc>
              <a:buSzPct val="100000"/>
              <a:buChar char="•"/>
            </a:pPr>
            <a:r>
              <a:rPr lang="en-US" sz="1600" dirty="0">
                <a:solidFill>
                  <a:srgbClr val="111111"/>
                </a:solidFill>
                <a:latin typeface="Times New Roman" pitchFamily="18" charset="0"/>
                <a:ea typeface="Times New Roman" pitchFamily="18" charset="-122"/>
                <a:cs typeface="Times New Roman" pitchFamily="18" charset="-120"/>
              </a:rPr>
              <a:t>Груши</a:t>
            </a:r>
            <a:endParaRPr lang="en-US" sz="1600" dirty="0"/>
          </a:p>
        </p:txBody>
      </p:sp>
      <p:sp>
        <p:nvSpPr>
          <p:cNvPr id="17" name="Text 14"/>
          <p:cNvSpPr/>
          <p:nvPr/>
        </p:nvSpPr>
        <p:spPr>
          <a:xfrm>
            <a:off x="6623050" y="2831802"/>
            <a:ext cx="4853496" cy="817761"/>
          </a:xfrm>
          <a:prstGeom prst="rect">
            <a:avLst/>
          </a:prstGeom>
          <a:noFill/>
          <a:ln/>
        </p:spPr>
        <p:txBody>
          <a:bodyPr wrap="square" lIns="0" tIns="0" rIns="0" bIns="0" rtlCol="0" anchor="t">
            <a:normAutofit/>
          </a:bodyPr>
          <a:lstStyle/>
          <a:p>
            <a:pPr marL="203200" indent="-203200" algn="l">
              <a:lnSpc>
                <a:spcPts val="2080"/>
              </a:lnSpc>
              <a:buSzPct val="100000"/>
              <a:buFontTx/>
              <a:buAutoNum type="arabicPeriod"/>
            </a:pPr>
            <a:r>
              <a:rPr lang="en-US" sz="1600" dirty="0">
                <a:solidFill>
                  <a:srgbClr val="111111"/>
                </a:solidFill>
                <a:latin typeface="Times New Roman" pitchFamily="18" charset="0"/>
                <a:ea typeface="Times New Roman" pitchFamily="18" charset="-122"/>
                <a:cs typeface="Times New Roman" pitchFamily="18" charset="-120"/>
              </a:rPr>
              <a:t>Открыть редактор</a:t>
            </a:r>
            <a:endParaRPr lang="en-US" sz="1600" dirty="0"/>
          </a:p>
          <a:p>
            <a:pPr marL="203200" indent="-203200" algn="l">
              <a:lnSpc>
                <a:spcPts val="2080"/>
              </a:lnSpc>
              <a:buSzPct val="100000"/>
              <a:buFontTx/>
              <a:buAutoNum type="arabicPeriod"/>
            </a:pPr>
            <a:r>
              <a:rPr lang="en-US" sz="1600" dirty="0">
                <a:solidFill>
                  <a:srgbClr val="111111"/>
                </a:solidFill>
                <a:latin typeface="Times New Roman" pitchFamily="18" charset="0"/>
                <a:ea typeface="Times New Roman" pitchFamily="18" charset="-122"/>
                <a:cs typeface="Times New Roman" pitchFamily="18" charset="-120"/>
              </a:rPr>
              <a:t>Написать код</a:t>
            </a:r>
            <a:endParaRPr lang="en-US" sz="1600" dirty="0"/>
          </a:p>
          <a:p>
            <a:pPr marL="203200" indent="-203200" algn="l">
              <a:lnSpc>
                <a:spcPts val="2080"/>
              </a:lnSpc>
              <a:buSzPct val="100000"/>
              <a:buFontTx/>
              <a:buAutoNum type="arabicPeriod"/>
            </a:pPr>
            <a:r>
              <a:rPr lang="en-US" sz="1600" dirty="0">
                <a:solidFill>
                  <a:srgbClr val="111111"/>
                </a:solidFill>
                <a:latin typeface="Times New Roman" pitchFamily="18" charset="0"/>
                <a:ea typeface="Times New Roman" pitchFamily="18" charset="-122"/>
                <a:cs typeface="Times New Roman" pitchFamily="18" charset="-120"/>
              </a:rPr>
              <a:t>Открыть в браузере</a:t>
            </a:r>
            <a:endParaRPr lang="en-US" sz="1600" dirty="0"/>
          </a:p>
        </p:txBody>
      </p:sp>
      <p:sp>
        <p:nvSpPr>
          <p:cNvPr id="18" name="Text 15"/>
          <p:cNvSpPr/>
          <p:nvPr/>
        </p:nvSpPr>
        <p:spPr>
          <a:xfrm>
            <a:off x="635000" y="4293691"/>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ul — порядок не важен, ol — порядок важен. Внутри списка допустим только li. Нумерацию меняют атрибуты: start="5", reversed, type="A".</a:t>
            </a:r>
            <a:endParaRPr lang="en-US" sz="1500" dirty="0"/>
          </a:p>
        </p:txBody>
      </p:sp>
      <p:pic>
        <p:nvPicPr>
          <p:cNvPr id="19" name="Рисунок 18"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542BB93F-7C0A-63D7-BB07-5A69F1AA4F96}"/>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Вложенные списки и dl</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Список внутри пункта и список определений</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956322"/>
          </a:xfrm>
          <a:prstGeom prst="roundRect">
            <a:avLst>
              <a:gd name="adj" fmla="val 2578"/>
            </a:avLst>
          </a:prstGeom>
          <a:solidFill>
            <a:srgbClr val="2A002A"/>
          </a:solidFill>
          <a:ln/>
        </p:spPr>
        <p:txBody>
          <a:bodyPr wrap="square" lIns="155482" tIns="130082" rIns="10130" bIns="1046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&lt;ul&gt;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&lt;li&gt;</a:t>
            </a:r>
            <a:r>
              <a:rPr lang="en-US" sz="1200" dirty="0">
                <a:solidFill>
                  <a:srgbClr val="FFFFFF"/>
                </a:solidFill>
                <a:latin typeface="JetBrains Mono" pitchFamily="49" charset="0"/>
                <a:ea typeface="JetBrains Mono" pitchFamily="49" charset="-122"/>
                <a:cs typeface="JetBrains Mono" pitchFamily="49" charset="-120"/>
              </a:rPr>
              <a:t>Фрукты</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&lt;ul&gt;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&lt;li&gt;</a:t>
            </a:r>
            <a:r>
              <a:rPr lang="en-US" sz="1200" dirty="0">
                <a:solidFill>
                  <a:srgbClr val="FFFFFF"/>
                </a:solidFill>
                <a:latin typeface="JetBrains Mono" pitchFamily="49" charset="0"/>
                <a:ea typeface="JetBrains Mono" pitchFamily="49" charset="-122"/>
                <a:cs typeface="JetBrains Mono" pitchFamily="49" charset="-120"/>
              </a:rPr>
              <a:t>Яблоки</a:t>
            </a:r>
            <a:r>
              <a:rPr lang="en-US" sz="1200" dirty="0">
                <a:solidFill>
                  <a:srgbClr val="FF9DE2"/>
                </a:solidFill>
                <a:latin typeface="JetBrains Mono" pitchFamily="49" charset="0"/>
                <a:ea typeface="JetBrains Mono" pitchFamily="49" charset="-122"/>
                <a:cs typeface="JetBrains Mono" pitchFamily="49" charset="-120"/>
              </a:rPr>
              <a:t>&lt;/li&gt;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&lt;/ul&gt;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&lt;/li&gt;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&lt;li&gt;</a:t>
            </a:r>
            <a:r>
              <a:rPr lang="en-US" sz="1200" dirty="0">
                <a:solidFill>
                  <a:srgbClr val="FFFFFF"/>
                </a:solidFill>
                <a:latin typeface="JetBrains Mono" pitchFamily="49" charset="0"/>
                <a:ea typeface="JetBrains Mono" pitchFamily="49" charset="-122"/>
                <a:cs typeface="JetBrains Mono" pitchFamily="49" charset="-120"/>
              </a:rPr>
              <a:t>Овощи</a:t>
            </a:r>
            <a:r>
              <a:rPr lang="en-US" sz="1200" dirty="0">
                <a:solidFill>
                  <a:srgbClr val="FF9DE2"/>
                </a:solidFill>
                <a:latin typeface="JetBrains Mono" pitchFamily="49" charset="0"/>
                <a:ea typeface="JetBrains Mono" pitchFamily="49" charset="-122"/>
                <a:cs typeface="JetBrains Mono" pitchFamily="49" charset="-120"/>
              </a:rPr>
              <a:t>&lt;/li&gt;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&lt;/ul&gt;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&lt;dl&gt;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&lt;dt&gt;</a:t>
            </a:r>
            <a:r>
              <a:rPr lang="en-US" sz="1200" dirty="0">
                <a:solidFill>
                  <a:srgbClr val="FFFFFF"/>
                </a:solidFill>
                <a:latin typeface="JetBrains Mono" pitchFamily="49" charset="0"/>
                <a:ea typeface="JetBrains Mono" pitchFamily="49" charset="-122"/>
                <a:cs typeface="JetBrains Mono" pitchFamily="49" charset="-120"/>
              </a:rPr>
              <a:t>HTML</a:t>
            </a:r>
            <a:r>
              <a:rPr lang="en-US" sz="1200" dirty="0">
                <a:solidFill>
                  <a:srgbClr val="FF9DE2"/>
                </a:solidFill>
                <a:latin typeface="JetBrains Mono" pitchFamily="49" charset="0"/>
                <a:ea typeface="JetBrains Mono" pitchFamily="49" charset="-122"/>
                <a:cs typeface="JetBrains Mono" pitchFamily="49" charset="-120"/>
              </a:rPr>
              <a:t>&lt;/dt&gt;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&lt;dd&gt;</a:t>
            </a:r>
            <a:r>
              <a:rPr lang="en-US" sz="1200" dirty="0">
                <a:solidFill>
                  <a:srgbClr val="FFFFFF"/>
                </a:solidFill>
                <a:latin typeface="JetBrains Mono" pitchFamily="49" charset="0"/>
                <a:ea typeface="JetBrains Mono" pitchFamily="49" charset="-122"/>
                <a:cs typeface="JetBrains Mono" pitchFamily="49" charset="-120"/>
              </a:rPr>
              <a:t>Язык разметки</a:t>
            </a:r>
            <a:r>
              <a:rPr lang="en-US" sz="1200" dirty="0">
                <a:solidFill>
                  <a:srgbClr val="FF9DE2"/>
                </a:solidFill>
                <a:latin typeface="JetBrains Mono" pitchFamily="49" charset="0"/>
                <a:ea typeface="JetBrains Mono" pitchFamily="49" charset="-122"/>
                <a:cs typeface="JetBrains Mono" pitchFamily="49" charset="-120"/>
              </a:rPr>
              <a:t>&lt;/dd&gt;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&lt;/dl&gt;</a:t>
            </a:r>
            <a:endParaRPr lang="en-US" sz="1200" dirty="0"/>
          </a:p>
        </p:txBody>
      </p:sp>
      <p:sp>
        <p:nvSpPr>
          <p:cNvPr id="8" name="Shape 5"/>
          <p:cNvSpPr/>
          <p:nvPr/>
        </p:nvSpPr>
        <p:spPr>
          <a:xfrm>
            <a:off x="6089650" y="1269901"/>
            <a:ext cx="12700" cy="3294063"/>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0" name="Shape 7"/>
          <p:cNvSpPr/>
          <p:nvPr/>
        </p:nvSpPr>
        <p:spPr>
          <a:xfrm>
            <a:off x="6356350" y="1607641"/>
            <a:ext cx="5200650" cy="2397522"/>
          </a:xfrm>
          <a:prstGeom prst="roundRect">
            <a:avLst>
              <a:gd name="adj" fmla="val 3178"/>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76878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lists2.html</a:t>
            </a:r>
            <a:endParaRPr lang="en-US" sz="1200" dirty="0"/>
          </a:p>
        </p:txBody>
      </p:sp>
      <p:sp>
        <p:nvSpPr>
          <p:cNvPr id="16" name="Text 13"/>
          <p:cNvSpPr/>
          <p:nvPr/>
        </p:nvSpPr>
        <p:spPr>
          <a:xfrm>
            <a:off x="6572250" y="2176562"/>
            <a:ext cx="491191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Times New Roman" pitchFamily="18" charset="0"/>
                <a:ea typeface="Times New Roman" pitchFamily="18" charset="-122"/>
                <a:cs typeface="Times New Roman" pitchFamily="18" charset="-120"/>
              </a:rPr>
              <a:t>•  Фрукты</a:t>
            </a:r>
            <a:endParaRPr lang="en-US" sz="1600" dirty="0"/>
          </a:p>
        </p:txBody>
      </p:sp>
      <p:sp>
        <p:nvSpPr>
          <p:cNvPr id="17" name="Text 14"/>
          <p:cNvSpPr/>
          <p:nvPr/>
        </p:nvSpPr>
        <p:spPr>
          <a:xfrm>
            <a:off x="6877050" y="2504182"/>
            <a:ext cx="4597972"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Times New Roman" pitchFamily="18" charset="0"/>
                <a:ea typeface="Times New Roman" pitchFamily="18" charset="-122"/>
                <a:cs typeface="Times New Roman" pitchFamily="18" charset="-120"/>
              </a:rPr>
              <a:t>○  Яблоки</a:t>
            </a:r>
            <a:endParaRPr lang="en-US" sz="1600" dirty="0"/>
          </a:p>
        </p:txBody>
      </p:sp>
      <p:sp>
        <p:nvSpPr>
          <p:cNvPr id="18" name="Text 15"/>
          <p:cNvSpPr/>
          <p:nvPr/>
        </p:nvSpPr>
        <p:spPr>
          <a:xfrm>
            <a:off x="6572250" y="2831802"/>
            <a:ext cx="491191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Times New Roman" pitchFamily="18" charset="0"/>
                <a:ea typeface="Times New Roman" pitchFamily="18" charset="-122"/>
                <a:cs typeface="Times New Roman" pitchFamily="18" charset="-120"/>
              </a:rPr>
              <a:t>•  Овощи</a:t>
            </a:r>
            <a:endParaRPr lang="en-US" sz="1600" dirty="0"/>
          </a:p>
        </p:txBody>
      </p:sp>
      <p:sp>
        <p:nvSpPr>
          <p:cNvPr id="19" name="Shape 16"/>
          <p:cNvSpPr/>
          <p:nvPr/>
        </p:nvSpPr>
        <p:spPr>
          <a:xfrm>
            <a:off x="6572250" y="3165773"/>
            <a:ext cx="4768850" cy="0"/>
          </a:xfrm>
          <a:prstGeom prst="line">
            <a:avLst/>
          </a:prstGeom>
          <a:noFill/>
          <a:ln w="12700">
            <a:solidFill>
              <a:srgbClr val="CCCCCC"/>
            </a:solidFill>
            <a:prstDash val="solid"/>
          </a:ln>
        </p:spPr>
      </p:sp>
      <p:sp>
        <p:nvSpPr>
          <p:cNvPr id="20" name="Text 17"/>
          <p:cNvSpPr/>
          <p:nvPr/>
        </p:nvSpPr>
        <p:spPr>
          <a:xfrm>
            <a:off x="6572250" y="3235623"/>
            <a:ext cx="4911916"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11111"/>
                </a:solidFill>
                <a:latin typeface="Times New Roman" pitchFamily="18" charset="0"/>
                <a:ea typeface="Times New Roman" pitchFamily="18" charset="-122"/>
                <a:cs typeface="Times New Roman" pitchFamily="18" charset="-120"/>
              </a:rPr>
              <a:t>HTML</a:t>
            </a:r>
            <a:endParaRPr lang="en-US" sz="1600" dirty="0"/>
          </a:p>
        </p:txBody>
      </p:sp>
      <p:sp>
        <p:nvSpPr>
          <p:cNvPr id="21" name="Text 18"/>
          <p:cNvSpPr/>
          <p:nvPr/>
        </p:nvSpPr>
        <p:spPr>
          <a:xfrm>
            <a:off x="6877050" y="3563243"/>
            <a:ext cx="4597972"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Times New Roman" pitchFamily="18" charset="0"/>
                <a:ea typeface="Times New Roman" pitchFamily="18" charset="-122"/>
                <a:cs typeface="Times New Roman" pitchFamily="18" charset="-120"/>
              </a:rPr>
              <a:t>Язык разметки</a:t>
            </a:r>
            <a:endParaRPr lang="en-US" sz="1600" dirty="0"/>
          </a:p>
        </p:txBody>
      </p:sp>
      <p:sp>
        <p:nvSpPr>
          <p:cNvPr id="22" name="Text 19"/>
          <p:cNvSpPr/>
          <p:nvPr/>
        </p:nvSpPr>
        <p:spPr>
          <a:xfrm>
            <a:off x="635000" y="4690963"/>
            <a:ext cx="10922000" cy="485775"/>
          </a:xfrm>
          <a:prstGeom prst="roundRect">
            <a:avLst>
              <a:gd name="adj" fmla="val 1568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Вложенный список пишут внутри li, а не рядом с ним. В dl пары «термин — описание»: dt (термин) и dd (описание, с отступом).</a:t>
            </a:r>
            <a:endParaRPr lang="en-US" sz="1500" dirty="0"/>
          </a:p>
        </p:txBody>
      </p:sp>
      <p:pic>
        <p:nvPicPr>
          <p:cNvPr id="23" name="Рисунок 22"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55E9BF87-2BD0-F9E7-0F60-E02200A94BB4}"/>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Ссылки: тег a</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Переход на сайт, страницу, место на странице или почту</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1792883"/>
          </a:xfrm>
          <a:prstGeom prst="roundRect">
            <a:avLst>
              <a:gd name="adj" fmla="val 4250"/>
            </a:avLst>
          </a:prstGeom>
          <a:solidFill>
            <a:srgbClr val="2A002A"/>
          </a:solidFill>
          <a:ln/>
        </p:spPr>
        <p:txBody>
          <a:bodyPr wrap="square" lIns="155482" tIns="142782" rIns="10130" bIns="117382" rtlCol="0" anchor="t">
            <a:normAutofit/>
          </a:bodyPr>
          <a:lstStyle/>
          <a:p>
            <a:pPr marL="0" indent="0" algn="l">
              <a:lnSpc>
                <a:spcPts val="1920"/>
              </a:lnSpc>
              <a:buNone/>
            </a:pPr>
            <a:r>
              <a:rPr lang="en-US" sz="1200" dirty="0">
                <a:solidFill>
                  <a:srgbClr val="FF9DE2"/>
                </a:solidFill>
                <a:latin typeface="JetBrains Mono" pitchFamily="49" charset="0"/>
                <a:ea typeface="JetBrains Mono" pitchFamily="49" charset="-122"/>
                <a:cs typeface="JetBrains Mono" pitchFamily="49" charset="-120"/>
              </a:rPr>
              <a:t>&lt;a</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href</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"https://example.com"</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Сайт</a:t>
            </a:r>
            <a:r>
              <a:rPr lang="en-US" sz="1200" dirty="0">
                <a:solidFill>
                  <a:srgbClr val="FF9DE2"/>
                </a:solidFill>
                <a:latin typeface="JetBrains Mono" pitchFamily="49" charset="0"/>
                <a:ea typeface="JetBrains Mono" pitchFamily="49" charset="-122"/>
                <a:cs typeface="JetBrains Mono" pitchFamily="49" charset="-120"/>
              </a:rPr>
              <a:t>&lt;/a&gt;</a:t>
            </a:r>
            <a:endParaRPr lang="en-US" sz="1200" dirty="0"/>
          </a:p>
          <a:p>
            <a:pPr marL="0" indent="0" algn="l">
              <a:lnSpc>
                <a:spcPts val="1920"/>
              </a:lnSpc>
              <a:buNone/>
            </a:pPr>
            <a:r>
              <a:rPr lang="en-US" sz="1200" dirty="0">
                <a:solidFill>
                  <a:srgbClr val="FF9DE2"/>
                </a:solidFill>
                <a:latin typeface="JetBrains Mono" pitchFamily="49" charset="0"/>
                <a:ea typeface="JetBrains Mono" pitchFamily="49" charset="-122"/>
                <a:cs typeface="JetBrains Mono" pitchFamily="49" charset="-120"/>
              </a:rPr>
              <a:t>&lt;a</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href</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"page2.html"</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Другая страница</a:t>
            </a:r>
            <a:r>
              <a:rPr lang="en-US" sz="1200" dirty="0">
                <a:solidFill>
                  <a:srgbClr val="FF9DE2"/>
                </a:solidFill>
                <a:latin typeface="JetBrains Mono" pitchFamily="49" charset="0"/>
                <a:ea typeface="JetBrains Mono" pitchFamily="49" charset="-122"/>
                <a:cs typeface="JetBrains Mono" pitchFamily="49" charset="-120"/>
              </a:rPr>
              <a:t>&lt;/a&gt;</a:t>
            </a:r>
            <a:endParaRPr lang="en-US" sz="1200" dirty="0"/>
          </a:p>
          <a:p>
            <a:pPr marL="0" indent="0" algn="l">
              <a:lnSpc>
                <a:spcPts val="1920"/>
              </a:lnSpc>
              <a:buNone/>
            </a:pPr>
            <a:r>
              <a:rPr lang="en-US" sz="1200" dirty="0">
                <a:solidFill>
                  <a:srgbClr val="FF9DE2"/>
                </a:solidFill>
                <a:latin typeface="JetBrains Mono" pitchFamily="49" charset="0"/>
                <a:ea typeface="JetBrains Mono" pitchFamily="49" charset="-122"/>
                <a:cs typeface="JetBrains Mono" pitchFamily="49" charset="-120"/>
              </a:rPr>
              <a:t>&lt;a</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href</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"#footer"</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К подвалу</a:t>
            </a:r>
            <a:r>
              <a:rPr lang="en-US" sz="1200" dirty="0">
                <a:solidFill>
                  <a:srgbClr val="FF9DE2"/>
                </a:solidFill>
                <a:latin typeface="JetBrains Mono" pitchFamily="49" charset="0"/>
                <a:ea typeface="JetBrains Mono" pitchFamily="49" charset="-122"/>
                <a:cs typeface="JetBrains Mono" pitchFamily="49" charset="-120"/>
              </a:rPr>
              <a:t>&lt;/a&gt;</a:t>
            </a:r>
            <a:endParaRPr lang="en-US" sz="1200" dirty="0"/>
          </a:p>
          <a:p>
            <a:pPr marL="0" indent="0" algn="l">
              <a:lnSpc>
                <a:spcPts val="1920"/>
              </a:lnSpc>
              <a:buNone/>
            </a:pPr>
            <a:r>
              <a:rPr lang="en-US" sz="1200" dirty="0">
                <a:solidFill>
                  <a:srgbClr val="FF9DE2"/>
                </a:solidFill>
                <a:latin typeface="JetBrains Mono" pitchFamily="49" charset="0"/>
                <a:ea typeface="JetBrains Mono" pitchFamily="49" charset="-122"/>
                <a:cs typeface="JetBrains Mono" pitchFamily="49" charset="-120"/>
              </a:rPr>
              <a:t>&lt;a</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href</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"mailto:me@mail.ru"</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Написать</a:t>
            </a:r>
            <a:r>
              <a:rPr lang="en-US" sz="1200" dirty="0">
                <a:solidFill>
                  <a:srgbClr val="FF9DE2"/>
                </a:solidFill>
                <a:latin typeface="JetBrains Mono" pitchFamily="49" charset="0"/>
                <a:ea typeface="JetBrains Mono" pitchFamily="49" charset="-122"/>
                <a:cs typeface="JetBrains Mono" pitchFamily="49" charset="-120"/>
              </a:rPr>
              <a:t>&lt;/a&gt;</a:t>
            </a:r>
            <a:endParaRPr lang="en-US" sz="1200" dirty="0"/>
          </a:p>
          <a:p>
            <a:pPr marL="0" indent="0" algn="l">
              <a:lnSpc>
                <a:spcPts val="1920"/>
              </a:lnSpc>
              <a:buNone/>
            </a:pPr>
            <a:r>
              <a:rPr lang="en-US" sz="1200" dirty="0">
                <a:solidFill>
                  <a:srgbClr val="FF9DE2"/>
                </a:solidFill>
                <a:latin typeface="JetBrains Mono" pitchFamily="49" charset="0"/>
                <a:ea typeface="JetBrains Mono" pitchFamily="49" charset="-122"/>
                <a:cs typeface="JetBrains Mono" pitchFamily="49" charset="-120"/>
              </a:rPr>
              <a:t>&lt;a</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href</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"https://example.com"</a:t>
            </a:r>
            <a:endParaRPr lang="en-US" sz="1200" dirty="0"/>
          </a:p>
          <a:p>
            <a:pPr marL="0" indent="0" algn="l">
              <a:lnSpc>
                <a:spcPts val="192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target</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"_blank"</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В новой вкладке</a:t>
            </a:r>
            <a:r>
              <a:rPr lang="en-US" sz="1200" dirty="0">
                <a:solidFill>
                  <a:srgbClr val="FF9DE2"/>
                </a:solidFill>
                <a:latin typeface="JetBrains Mono" pitchFamily="49" charset="0"/>
                <a:ea typeface="JetBrains Mono" pitchFamily="49" charset="-122"/>
                <a:cs typeface="JetBrains Mono" pitchFamily="49" charset="-120"/>
              </a:rPr>
              <a:t>&lt;/a&gt;</a:t>
            </a:r>
            <a:endParaRPr lang="en-US" sz="1200" dirty="0"/>
          </a:p>
        </p:txBody>
      </p:sp>
      <p:sp>
        <p:nvSpPr>
          <p:cNvPr id="8" name="Shape 5"/>
          <p:cNvSpPr/>
          <p:nvPr/>
        </p:nvSpPr>
        <p:spPr>
          <a:xfrm>
            <a:off x="6089650" y="1269901"/>
            <a:ext cx="12700" cy="2811661"/>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0" name="Shape 7"/>
          <p:cNvSpPr/>
          <p:nvPr/>
        </p:nvSpPr>
        <p:spPr>
          <a:xfrm>
            <a:off x="6356350" y="1607641"/>
            <a:ext cx="5200650" cy="2473920"/>
          </a:xfrm>
          <a:prstGeom prst="roundRect">
            <a:avLst>
              <a:gd name="adj" fmla="val 3080"/>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72294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links.html</a:t>
            </a:r>
            <a:endParaRPr lang="en-US" sz="1200" dirty="0"/>
          </a:p>
        </p:txBody>
      </p:sp>
      <p:sp>
        <p:nvSpPr>
          <p:cNvPr id="16" name="Text 13"/>
          <p:cNvSpPr/>
          <p:nvPr/>
        </p:nvSpPr>
        <p:spPr>
          <a:xfrm>
            <a:off x="6572250" y="2176562"/>
            <a:ext cx="4911916" cy="279400"/>
          </a:xfrm>
          <a:prstGeom prst="rect">
            <a:avLst/>
          </a:prstGeom>
          <a:noFill/>
          <a:ln/>
        </p:spPr>
        <p:txBody>
          <a:bodyPr wrap="square" lIns="0" tIns="0" rIns="0" bIns="0" rtlCol="0" anchor="t">
            <a:normAutofit/>
          </a:bodyPr>
          <a:lstStyle/>
          <a:p>
            <a:pPr marL="0" indent="0" algn="l">
              <a:lnSpc>
                <a:spcPts val="2000"/>
              </a:lnSpc>
              <a:buNone/>
            </a:pPr>
            <a:r>
              <a:rPr lang="en-US" sz="1600" u="sng" dirty="0">
                <a:solidFill>
                  <a:srgbClr val="0000EE"/>
                </a:solidFill>
                <a:latin typeface="Times New Roman" pitchFamily="18" charset="0"/>
                <a:ea typeface="Times New Roman" pitchFamily="18" charset="-122"/>
                <a:cs typeface="Times New Roman" pitchFamily="18" charset="-120"/>
                <a:hlinkClick r:id="rId3">
                  <a:extLst>
                    <a:ext uri="{A12FA001-AC4F-418D-AE19-62706E023703}">
                      <ahyp:hlinkClr xmlns:ahyp="http://schemas.microsoft.com/office/drawing/2018/hyperlinkcolor" val="tx"/>
                    </a:ext>
                  </a:extLst>
                </a:hlinkClick>
              </a:rPr>
              <a:t>Сайт</a:t>
            </a:r>
            <a:endParaRPr lang="en-US" sz="1600" dirty="0"/>
          </a:p>
        </p:txBody>
      </p:sp>
      <p:sp>
        <p:nvSpPr>
          <p:cNvPr id="17" name="Text 14"/>
          <p:cNvSpPr/>
          <p:nvPr/>
        </p:nvSpPr>
        <p:spPr>
          <a:xfrm>
            <a:off x="6572250" y="2544862"/>
            <a:ext cx="4911916" cy="279400"/>
          </a:xfrm>
          <a:prstGeom prst="rect">
            <a:avLst/>
          </a:prstGeom>
          <a:noFill/>
          <a:ln/>
        </p:spPr>
        <p:txBody>
          <a:bodyPr wrap="square" lIns="0" tIns="0" rIns="0" bIns="0" rtlCol="0" anchor="t">
            <a:normAutofit/>
          </a:bodyPr>
          <a:lstStyle/>
          <a:p>
            <a:pPr marL="0" indent="0" algn="l">
              <a:lnSpc>
                <a:spcPts val="2000"/>
              </a:lnSpc>
              <a:buNone/>
            </a:pPr>
            <a:r>
              <a:rPr lang="en-US" sz="1600" u="sng" dirty="0">
                <a:solidFill>
                  <a:srgbClr val="0000EE"/>
                </a:solidFill>
                <a:latin typeface="Times New Roman" pitchFamily="18" charset="0"/>
                <a:ea typeface="Times New Roman" pitchFamily="18" charset="-122"/>
                <a:cs typeface="Times New Roman" pitchFamily="18" charset="-120"/>
              </a:rPr>
              <a:t>Другая страница</a:t>
            </a:r>
            <a:endParaRPr lang="en-US" sz="1600" dirty="0"/>
          </a:p>
        </p:txBody>
      </p:sp>
      <p:sp>
        <p:nvSpPr>
          <p:cNvPr id="18" name="Text 15"/>
          <p:cNvSpPr/>
          <p:nvPr/>
        </p:nvSpPr>
        <p:spPr>
          <a:xfrm>
            <a:off x="6572250" y="2913162"/>
            <a:ext cx="4911916" cy="279400"/>
          </a:xfrm>
          <a:prstGeom prst="rect">
            <a:avLst/>
          </a:prstGeom>
          <a:noFill/>
          <a:ln/>
        </p:spPr>
        <p:txBody>
          <a:bodyPr wrap="square" lIns="0" tIns="0" rIns="0" bIns="0" rtlCol="0" anchor="t">
            <a:normAutofit/>
          </a:bodyPr>
          <a:lstStyle/>
          <a:p>
            <a:pPr marL="0" indent="0" algn="l">
              <a:lnSpc>
                <a:spcPts val="2000"/>
              </a:lnSpc>
              <a:buNone/>
            </a:pPr>
            <a:r>
              <a:rPr lang="en-US" sz="1600" u="sng" dirty="0">
                <a:solidFill>
                  <a:srgbClr val="0000EE"/>
                </a:solidFill>
                <a:latin typeface="Times New Roman" pitchFamily="18" charset="0"/>
                <a:ea typeface="Times New Roman" pitchFamily="18" charset="-122"/>
                <a:cs typeface="Times New Roman" pitchFamily="18" charset="-120"/>
              </a:rPr>
              <a:t>К подвалу</a:t>
            </a:r>
            <a:endParaRPr lang="en-US" sz="1600" dirty="0"/>
          </a:p>
        </p:txBody>
      </p:sp>
      <p:sp>
        <p:nvSpPr>
          <p:cNvPr id="19" name="Text 16"/>
          <p:cNvSpPr/>
          <p:nvPr/>
        </p:nvSpPr>
        <p:spPr>
          <a:xfrm>
            <a:off x="6572250" y="3281462"/>
            <a:ext cx="4911916" cy="279400"/>
          </a:xfrm>
          <a:prstGeom prst="rect">
            <a:avLst/>
          </a:prstGeom>
          <a:noFill/>
          <a:ln/>
        </p:spPr>
        <p:txBody>
          <a:bodyPr wrap="square" lIns="0" tIns="0" rIns="0" bIns="0" rtlCol="0" anchor="t">
            <a:normAutofit/>
          </a:bodyPr>
          <a:lstStyle/>
          <a:p>
            <a:pPr marL="0" indent="0" algn="l">
              <a:lnSpc>
                <a:spcPts val="2000"/>
              </a:lnSpc>
              <a:buNone/>
            </a:pPr>
            <a:r>
              <a:rPr lang="en-US" sz="1600" u="sng" dirty="0">
                <a:solidFill>
                  <a:srgbClr val="0000EE"/>
                </a:solidFill>
                <a:latin typeface="Times New Roman" pitchFamily="18" charset="0"/>
                <a:ea typeface="Times New Roman" pitchFamily="18" charset="-122"/>
                <a:cs typeface="Times New Roman" pitchFamily="18" charset="-120"/>
              </a:rPr>
              <a:t>Написать</a:t>
            </a:r>
            <a:endParaRPr lang="en-US" sz="1600" dirty="0"/>
          </a:p>
        </p:txBody>
      </p:sp>
      <p:sp>
        <p:nvSpPr>
          <p:cNvPr id="20" name="Text 17"/>
          <p:cNvSpPr/>
          <p:nvPr/>
        </p:nvSpPr>
        <p:spPr>
          <a:xfrm>
            <a:off x="6572250" y="3649762"/>
            <a:ext cx="4911916" cy="279400"/>
          </a:xfrm>
          <a:prstGeom prst="rect">
            <a:avLst/>
          </a:prstGeom>
          <a:noFill/>
          <a:ln/>
        </p:spPr>
        <p:txBody>
          <a:bodyPr wrap="square" lIns="0" tIns="0" rIns="0" bIns="0" rtlCol="0" anchor="t">
            <a:normAutofit/>
          </a:bodyPr>
          <a:lstStyle/>
          <a:p>
            <a:pPr marL="0" indent="0" algn="l">
              <a:lnSpc>
                <a:spcPts val="2000"/>
              </a:lnSpc>
              <a:buNone/>
            </a:pPr>
            <a:r>
              <a:rPr lang="en-US" sz="1600" u="sng" dirty="0">
                <a:solidFill>
                  <a:srgbClr val="0000EE"/>
                </a:solidFill>
                <a:latin typeface="Times New Roman" pitchFamily="18" charset="0"/>
                <a:ea typeface="Times New Roman" pitchFamily="18" charset="-122"/>
                <a:cs typeface="Times New Roman" pitchFamily="18" charset="-120"/>
                <a:hlinkClick r:id="rId3">
                  <a:extLst>
                    <a:ext uri="{A12FA001-AC4F-418D-AE19-62706E023703}">
                      <ahyp:hlinkClr xmlns:ahyp="http://schemas.microsoft.com/office/drawing/2018/hyperlinkcolor" val="tx"/>
                    </a:ext>
                  </a:extLst>
                </a:hlinkClick>
              </a:rPr>
              <a:t>В новой вкладке</a:t>
            </a:r>
            <a:endParaRPr lang="en-US" sz="1600" dirty="0"/>
          </a:p>
        </p:txBody>
      </p:sp>
      <p:sp>
        <p:nvSpPr>
          <p:cNvPr id="21" name="Text 18"/>
          <p:cNvSpPr/>
          <p:nvPr/>
        </p:nvSpPr>
        <p:spPr>
          <a:xfrm>
            <a:off x="635000" y="4208562"/>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href — адрес: полный URL, путь к файлу, #якорь на этой же странице или mailto:. target="_blank" открывает ссылку в новой вкладке. Ссылкой может быть и </a:t>
            </a:r>
            <a:r>
              <a:rPr lang="en-US" sz="1500" dirty="0" err="1">
                <a:solidFill>
                  <a:srgbClr val="FFFFFF"/>
                </a:solidFill>
                <a:latin typeface="Carlito" pitchFamily="34" charset="0"/>
                <a:ea typeface="Carlito" pitchFamily="34" charset="-122"/>
                <a:cs typeface="Carlito" pitchFamily="34" charset="-120"/>
              </a:rPr>
              <a:t>картинка</a:t>
            </a:r>
            <a:r>
              <a:rPr lang="en-US" sz="1500" dirty="0">
                <a:solidFill>
                  <a:srgbClr val="FFFFFF"/>
                </a:solidFill>
                <a:latin typeface="Carlito" pitchFamily="34" charset="0"/>
                <a:ea typeface="Carlito" pitchFamily="34" charset="-122"/>
                <a:cs typeface="Carlito" pitchFamily="34" charset="-120"/>
              </a:rPr>
              <a:t>.</a:t>
            </a:r>
            <a:endParaRPr lang="en-US" sz="1500" dirty="0"/>
          </a:p>
        </p:txBody>
      </p:sp>
      <p:pic>
        <p:nvPicPr>
          <p:cNvPr id="22" name="Рисунок 21"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D6F2AA9C-973E-202D-E8FC-0C7349762DFB}"/>
              </a:ext>
            </a:extLst>
          </p:cNvPr>
          <p:cNvPicPr>
            <a:picLocks noChangeAspect="1"/>
          </p:cNvPicPr>
          <p:nvPr/>
        </p:nvPicPr>
        <p:blipFill>
          <a:blip r:embed="rId4"/>
          <a:stretch>
            <a:fillRect/>
          </a:stretch>
        </p:blipFill>
        <p:spPr>
          <a:xfrm>
            <a:off x="10425270" y="127401"/>
            <a:ext cx="737272" cy="72597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Изображения: img и figure</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Картинка вставляется пустым тегом, подпись — через figcaption</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235200"/>
          </a:xfrm>
          <a:prstGeom prst="roundRect">
            <a:avLst>
              <a:gd name="adj" fmla="val 3409"/>
            </a:avLst>
          </a:prstGeom>
          <a:solidFill>
            <a:srgbClr val="2A002A"/>
          </a:solidFill>
          <a:ln/>
        </p:spPr>
        <p:txBody>
          <a:bodyPr wrap="square" lIns="155482" tIns="142782" rIns="10130" bIns="117382" rtlCol="0" anchor="t">
            <a:normAutofit/>
          </a:bodyPr>
          <a:lstStyle/>
          <a:p>
            <a:pPr marL="0" indent="0" algn="l">
              <a:lnSpc>
                <a:spcPts val="1875"/>
              </a:lnSpc>
              <a:buNone/>
            </a:pPr>
            <a:r>
              <a:rPr lang="en-US" sz="1250" dirty="0">
                <a:solidFill>
                  <a:srgbClr val="FF9DE2"/>
                </a:solidFill>
                <a:latin typeface="JetBrains Mono" pitchFamily="49" charset="0"/>
                <a:ea typeface="JetBrains Mono" pitchFamily="49" charset="-122"/>
                <a:cs typeface="JetBrains Mono" pitchFamily="49" charset="-120"/>
              </a:rPr>
              <a:t>&lt;img</a:t>
            </a: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D27F"/>
                </a:solidFill>
                <a:latin typeface="JetBrains Mono" pitchFamily="49" charset="0"/>
                <a:ea typeface="JetBrains Mono" pitchFamily="49" charset="-122"/>
                <a:cs typeface="JetBrains Mono" pitchFamily="49" charset="-120"/>
              </a:rPr>
              <a:t>src</a:t>
            </a:r>
            <a:r>
              <a:rPr lang="en-US" sz="1250" dirty="0">
                <a:solidFill>
                  <a:srgbClr val="FFFFFF"/>
                </a:solidFill>
                <a:latin typeface="JetBrains Mono" pitchFamily="49" charset="0"/>
                <a:ea typeface="JetBrains Mono" pitchFamily="49" charset="-122"/>
                <a:cs typeface="JetBrains Mono" pitchFamily="49" charset="-120"/>
              </a:rPr>
              <a:t>=</a:t>
            </a:r>
            <a:r>
              <a:rPr lang="en-US" sz="1250" dirty="0">
                <a:solidFill>
                  <a:srgbClr val="9EE6A8"/>
                </a:solidFill>
                <a:latin typeface="JetBrains Mono" pitchFamily="49" charset="0"/>
                <a:ea typeface="JetBrains Mono" pitchFamily="49" charset="-122"/>
                <a:cs typeface="JetBrains Mono" pitchFamily="49" charset="-120"/>
              </a:rPr>
              <a:t>"cat.jpg"</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D27F"/>
                </a:solidFill>
                <a:latin typeface="JetBrains Mono" pitchFamily="49" charset="0"/>
                <a:ea typeface="JetBrains Mono" pitchFamily="49" charset="-122"/>
                <a:cs typeface="JetBrains Mono" pitchFamily="49" charset="-120"/>
              </a:rPr>
              <a:t>alt</a:t>
            </a:r>
            <a:r>
              <a:rPr lang="en-US" sz="1250" dirty="0">
                <a:solidFill>
                  <a:srgbClr val="FFFFFF"/>
                </a:solidFill>
                <a:latin typeface="JetBrains Mono" pitchFamily="49" charset="0"/>
                <a:ea typeface="JetBrains Mono" pitchFamily="49" charset="-122"/>
                <a:cs typeface="JetBrains Mono" pitchFamily="49" charset="-120"/>
              </a:rPr>
              <a:t>=</a:t>
            </a:r>
            <a:r>
              <a:rPr lang="en-US" sz="1250" dirty="0">
                <a:solidFill>
                  <a:srgbClr val="9EE6A8"/>
                </a:solidFill>
                <a:latin typeface="JetBrains Mono" pitchFamily="49" charset="0"/>
                <a:ea typeface="JetBrains Mono" pitchFamily="49" charset="-122"/>
                <a:cs typeface="JetBrains Mono" pitchFamily="49" charset="-120"/>
              </a:rPr>
              <a:t>"Рыжий кот"</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D27F"/>
                </a:solidFill>
                <a:latin typeface="JetBrains Mono" pitchFamily="49" charset="0"/>
                <a:ea typeface="JetBrains Mono" pitchFamily="49" charset="-122"/>
                <a:cs typeface="JetBrains Mono" pitchFamily="49" charset="-120"/>
              </a:rPr>
              <a:t>width</a:t>
            </a:r>
            <a:r>
              <a:rPr lang="en-US" sz="1250" dirty="0">
                <a:solidFill>
                  <a:srgbClr val="FFFFFF"/>
                </a:solidFill>
                <a:latin typeface="JetBrains Mono" pitchFamily="49" charset="0"/>
                <a:ea typeface="JetBrains Mono" pitchFamily="49" charset="-122"/>
                <a:cs typeface="JetBrains Mono" pitchFamily="49" charset="-120"/>
              </a:rPr>
              <a:t>=</a:t>
            </a:r>
            <a:r>
              <a:rPr lang="en-US" sz="1250" dirty="0">
                <a:solidFill>
                  <a:srgbClr val="9EE6A8"/>
                </a:solidFill>
                <a:latin typeface="JetBrains Mono" pitchFamily="49" charset="0"/>
                <a:ea typeface="JetBrains Mono" pitchFamily="49" charset="-122"/>
                <a:cs typeface="JetBrains Mono" pitchFamily="49" charset="-120"/>
              </a:rPr>
              <a:t>"300"</a:t>
            </a:r>
            <a:r>
              <a:rPr lang="en-US" sz="1250" dirty="0">
                <a:solidFill>
                  <a:srgbClr val="FF9DE2"/>
                </a:solidFill>
                <a:latin typeface="JetBrains Mono" pitchFamily="49" charset="0"/>
                <a:ea typeface="JetBrains Mono" pitchFamily="49" charset="-122"/>
                <a:cs typeface="JetBrains Mono" pitchFamily="49" charset="-120"/>
              </a:rPr>
              <a:t>&gt;</a:t>
            </a:r>
            <a:endParaRPr lang="en-US" sz="1250" dirty="0"/>
          </a:p>
          <a:p>
            <a:pPr marL="0" indent="0" algn="l">
              <a:lnSpc>
                <a:spcPts val="1875"/>
              </a:lnSpc>
              <a:buNone/>
            </a:pPr>
            <a:endParaRPr lang="en-US" sz="1250" dirty="0"/>
          </a:p>
          <a:p>
            <a:pPr marL="0" indent="0" algn="l">
              <a:lnSpc>
                <a:spcPts val="1875"/>
              </a:lnSpc>
              <a:buNone/>
            </a:pPr>
            <a:r>
              <a:rPr lang="en-US" sz="1250" dirty="0">
                <a:solidFill>
                  <a:srgbClr val="FF9DE2"/>
                </a:solidFill>
                <a:latin typeface="JetBrains Mono" pitchFamily="49" charset="0"/>
                <a:ea typeface="JetBrains Mono" pitchFamily="49" charset="-122"/>
                <a:cs typeface="JetBrains Mono" pitchFamily="49" charset="-120"/>
              </a:rPr>
              <a:t>&lt;figure&gt;</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9DE2"/>
                </a:solidFill>
                <a:latin typeface="JetBrains Mono" pitchFamily="49" charset="0"/>
                <a:ea typeface="JetBrains Mono" pitchFamily="49" charset="-122"/>
                <a:cs typeface="JetBrains Mono" pitchFamily="49" charset="-120"/>
              </a:rPr>
              <a:t>&lt;img</a:t>
            </a: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D27F"/>
                </a:solidFill>
                <a:latin typeface="JetBrains Mono" pitchFamily="49" charset="0"/>
                <a:ea typeface="JetBrains Mono" pitchFamily="49" charset="-122"/>
                <a:cs typeface="JetBrains Mono" pitchFamily="49" charset="-120"/>
              </a:rPr>
              <a:t>src</a:t>
            </a:r>
            <a:r>
              <a:rPr lang="en-US" sz="1250" dirty="0">
                <a:solidFill>
                  <a:srgbClr val="FFFFFF"/>
                </a:solidFill>
                <a:latin typeface="JetBrains Mono" pitchFamily="49" charset="0"/>
                <a:ea typeface="JetBrains Mono" pitchFamily="49" charset="-122"/>
                <a:cs typeface="JetBrains Mono" pitchFamily="49" charset="-120"/>
              </a:rPr>
              <a:t>=</a:t>
            </a:r>
            <a:r>
              <a:rPr lang="en-US" sz="1250" dirty="0">
                <a:solidFill>
                  <a:srgbClr val="9EE6A8"/>
                </a:solidFill>
                <a:latin typeface="JetBrains Mono" pitchFamily="49" charset="0"/>
                <a:ea typeface="JetBrains Mono" pitchFamily="49" charset="-122"/>
                <a:cs typeface="JetBrains Mono" pitchFamily="49" charset="-120"/>
              </a:rPr>
              <a:t>"cat.jpg"</a:t>
            </a: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D27F"/>
                </a:solidFill>
                <a:latin typeface="JetBrains Mono" pitchFamily="49" charset="0"/>
                <a:ea typeface="JetBrains Mono" pitchFamily="49" charset="-122"/>
                <a:cs typeface="JetBrains Mono" pitchFamily="49" charset="-120"/>
              </a:rPr>
              <a:t>alt</a:t>
            </a:r>
            <a:r>
              <a:rPr lang="en-US" sz="1250" dirty="0">
                <a:solidFill>
                  <a:srgbClr val="FFFFFF"/>
                </a:solidFill>
                <a:latin typeface="JetBrains Mono" pitchFamily="49" charset="0"/>
                <a:ea typeface="JetBrains Mono" pitchFamily="49" charset="-122"/>
                <a:cs typeface="JetBrains Mono" pitchFamily="49" charset="-120"/>
              </a:rPr>
              <a:t>=</a:t>
            </a:r>
            <a:r>
              <a:rPr lang="en-US" sz="1250" dirty="0">
                <a:solidFill>
                  <a:srgbClr val="9EE6A8"/>
                </a:solidFill>
                <a:latin typeface="JetBrains Mono" pitchFamily="49" charset="0"/>
                <a:ea typeface="JetBrains Mono" pitchFamily="49" charset="-122"/>
                <a:cs typeface="JetBrains Mono" pitchFamily="49" charset="-120"/>
              </a:rPr>
              <a:t>"Кот"</a:t>
            </a:r>
            <a:r>
              <a:rPr lang="en-US" sz="1250" dirty="0">
                <a:solidFill>
                  <a:srgbClr val="FF9DE2"/>
                </a:solidFill>
                <a:latin typeface="JetBrains Mono" pitchFamily="49" charset="0"/>
                <a:ea typeface="JetBrains Mono" pitchFamily="49" charset="-122"/>
                <a:cs typeface="JetBrains Mono" pitchFamily="49" charset="-120"/>
              </a:rPr>
              <a:t>&gt;</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9DE2"/>
                </a:solidFill>
                <a:latin typeface="JetBrains Mono" pitchFamily="49" charset="0"/>
                <a:ea typeface="JetBrains Mono" pitchFamily="49" charset="-122"/>
                <a:cs typeface="JetBrains Mono" pitchFamily="49" charset="-120"/>
              </a:rPr>
              <a:t>&lt;figcaption&gt;</a:t>
            </a:r>
            <a:r>
              <a:rPr lang="en-US" sz="1250" dirty="0">
                <a:solidFill>
                  <a:srgbClr val="FFFFFF"/>
                </a:solidFill>
                <a:latin typeface="JetBrains Mono" pitchFamily="49" charset="0"/>
                <a:ea typeface="JetBrains Mono" pitchFamily="49" charset="-122"/>
                <a:cs typeface="JetBrains Mono" pitchFamily="49" charset="-120"/>
              </a:rPr>
              <a:t>Рис. 1. Кот</a:t>
            </a:r>
            <a:r>
              <a:rPr lang="en-US" sz="1250" dirty="0">
                <a:solidFill>
                  <a:srgbClr val="FF9DE2"/>
                </a:solidFill>
                <a:latin typeface="JetBrains Mono" pitchFamily="49" charset="0"/>
                <a:ea typeface="JetBrains Mono" pitchFamily="49" charset="-122"/>
                <a:cs typeface="JetBrains Mono" pitchFamily="49" charset="-120"/>
              </a:rPr>
              <a:t>&lt;/figcaption&gt;</a:t>
            </a:r>
            <a:endParaRPr lang="en-US" sz="1250" dirty="0"/>
          </a:p>
          <a:p>
            <a:pPr marL="0" indent="0" algn="l">
              <a:lnSpc>
                <a:spcPts val="1875"/>
              </a:lnSpc>
              <a:buNone/>
            </a:pPr>
            <a:r>
              <a:rPr lang="en-US" sz="1250" dirty="0">
                <a:solidFill>
                  <a:srgbClr val="FF9DE2"/>
                </a:solidFill>
                <a:latin typeface="JetBrains Mono" pitchFamily="49" charset="0"/>
                <a:ea typeface="JetBrains Mono" pitchFamily="49" charset="-122"/>
                <a:cs typeface="JetBrains Mono" pitchFamily="49" charset="-120"/>
              </a:rPr>
              <a:t>&lt;/figure&gt;</a:t>
            </a:r>
            <a:endParaRPr lang="en-US" sz="1250" dirty="0"/>
          </a:p>
        </p:txBody>
      </p:sp>
      <p:sp>
        <p:nvSpPr>
          <p:cNvPr id="8" name="Shape 5"/>
          <p:cNvSpPr/>
          <p:nvPr/>
        </p:nvSpPr>
        <p:spPr>
          <a:xfrm>
            <a:off x="6089650" y="1269901"/>
            <a:ext cx="12700" cy="3380581"/>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0" name="Shape 7"/>
          <p:cNvSpPr/>
          <p:nvPr/>
        </p:nvSpPr>
        <p:spPr>
          <a:xfrm>
            <a:off x="6356350" y="1607641"/>
            <a:ext cx="5200650" cy="3042841"/>
          </a:xfrm>
          <a:prstGeom prst="roundRect">
            <a:avLst>
              <a:gd name="adj" fmla="val 2504"/>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9126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images.html</a:t>
            </a:r>
            <a:endParaRPr lang="en-US" sz="1200" dirty="0"/>
          </a:p>
        </p:txBody>
      </p:sp>
      <p:sp>
        <p:nvSpPr>
          <p:cNvPr id="16" name="Text 13"/>
          <p:cNvSpPr/>
          <p:nvPr/>
        </p:nvSpPr>
        <p:spPr>
          <a:xfrm>
            <a:off x="6572250" y="2163862"/>
            <a:ext cx="1905000" cy="1079500"/>
          </a:xfrm>
          <a:prstGeom prst="roundRect">
            <a:avLst>
              <a:gd name="adj" fmla="val 3529"/>
            </a:avLst>
          </a:prstGeom>
          <a:gradFill rotWithShape="1">
            <a:gsLst>
              <a:gs pos="0">
                <a:srgbClr val="FFCC80"/>
              </a:gs>
              <a:gs pos="100000">
                <a:srgbClr val="FF8A65"/>
              </a:gs>
            </a:gsLst>
            <a:lin ang="5400000" scaled="0"/>
          </a:gradFill>
          <a:ln/>
        </p:spPr>
        <p:txBody>
          <a:bodyPr wrap="square" lIns="0" tIns="0" rIns="0" bIns="0" rtlCol="0" anchor="ctr">
            <a:normAutofit/>
          </a:bodyPr>
          <a:lstStyle/>
          <a:p>
            <a:pPr marL="0" indent="0" algn="ctr">
              <a:lnSpc>
                <a:spcPts val="1820"/>
              </a:lnSpc>
              <a:buNone/>
            </a:pPr>
            <a:r>
              <a:rPr lang="en-US" sz="1300" dirty="0">
                <a:solidFill>
                  <a:srgbClr val="4E2A1E"/>
                </a:solidFill>
                <a:latin typeface="Times New Roman" pitchFamily="18" charset="0"/>
                <a:ea typeface="Times New Roman" pitchFamily="18" charset="-122"/>
                <a:cs typeface="Times New Roman" pitchFamily="18" charset="-120"/>
              </a:rPr>
              <a:t>cat.jpg</a:t>
            </a:r>
            <a:endParaRPr lang="en-US" sz="1300" dirty="0"/>
          </a:p>
        </p:txBody>
      </p:sp>
      <p:sp>
        <p:nvSpPr>
          <p:cNvPr id="17" name="Text 14"/>
          <p:cNvSpPr/>
          <p:nvPr/>
        </p:nvSpPr>
        <p:spPr>
          <a:xfrm>
            <a:off x="6826250" y="3332262"/>
            <a:ext cx="1651000" cy="889000"/>
          </a:xfrm>
          <a:prstGeom prst="roundRect">
            <a:avLst>
              <a:gd name="adj" fmla="val 4286"/>
            </a:avLst>
          </a:prstGeom>
          <a:gradFill rotWithShape="1">
            <a:gsLst>
              <a:gs pos="0">
                <a:srgbClr val="FFCC80"/>
              </a:gs>
              <a:gs pos="100000">
                <a:srgbClr val="FF8A65"/>
              </a:gs>
            </a:gsLst>
            <a:lin ang="5400000" scaled="0"/>
          </a:gradFill>
          <a:ln/>
        </p:spPr>
        <p:txBody>
          <a:bodyPr wrap="square" lIns="0" tIns="0" rIns="0" bIns="0" rtlCol="0" anchor="ctr">
            <a:normAutofit/>
          </a:bodyPr>
          <a:lstStyle/>
          <a:p>
            <a:pPr marL="0" indent="0" algn="ctr">
              <a:lnSpc>
                <a:spcPts val="1820"/>
              </a:lnSpc>
              <a:buNone/>
            </a:pPr>
            <a:r>
              <a:rPr lang="en-US" sz="1300" dirty="0">
                <a:solidFill>
                  <a:srgbClr val="4E2A1E"/>
                </a:solidFill>
                <a:latin typeface="Times New Roman" pitchFamily="18" charset="0"/>
                <a:ea typeface="Times New Roman" pitchFamily="18" charset="-122"/>
                <a:cs typeface="Times New Roman" pitchFamily="18" charset="-120"/>
              </a:rPr>
              <a:t>cat.jpg</a:t>
            </a:r>
            <a:endParaRPr lang="en-US" sz="1300" dirty="0"/>
          </a:p>
        </p:txBody>
      </p:sp>
      <p:sp>
        <p:nvSpPr>
          <p:cNvPr id="18" name="Text 15"/>
          <p:cNvSpPr/>
          <p:nvPr/>
        </p:nvSpPr>
        <p:spPr>
          <a:xfrm>
            <a:off x="6826250" y="4272062"/>
            <a:ext cx="4650296"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111111"/>
                </a:solidFill>
                <a:latin typeface="Times New Roman" pitchFamily="18" charset="0"/>
                <a:ea typeface="Times New Roman" pitchFamily="18" charset="-122"/>
                <a:cs typeface="Times New Roman" pitchFamily="18" charset="-120"/>
              </a:rPr>
              <a:t>Рис. 1. Кот</a:t>
            </a:r>
            <a:endParaRPr lang="en-US" sz="1400" dirty="0"/>
          </a:p>
        </p:txBody>
      </p:sp>
      <p:sp>
        <p:nvSpPr>
          <p:cNvPr id="19" name="Text 16"/>
          <p:cNvSpPr/>
          <p:nvPr/>
        </p:nvSpPr>
        <p:spPr>
          <a:xfrm>
            <a:off x="635000" y="4777482"/>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src — путь к файлу. alt — текст-замена: он виден, если картинка не загрузилась, и нужен программам чтения с экрана. width и height задают размер. Форматы: JPG, PNG, WebP, SVG, GIF.</a:t>
            </a:r>
            <a:endParaRPr lang="en-US" sz="1500" dirty="0"/>
          </a:p>
        </p:txBody>
      </p:sp>
      <p:pic>
        <p:nvPicPr>
          <p:cNvPr id="20" name="Рисунок 19"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E03CC59-9F18-5C90-5E37-DBD7708861DC}"/>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Таблицы: table, tr, th, td</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Данные в строках и столбцах</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711450"/>
          </a:xfrm>
          <a:prstGeom prst="roundRect">
            <a:avLst>
              <a:gd name="adj" fmla="val 2810"/>
            </a:avLst>
          </a:prstGeom>
          <a:solidFill>
            <a:srgbClr val="2A002A"/>
          </a:solidFill>
          <a:ln/>
        </p:spPr>
        <p:txBody>
          <a:bodyPr wrap="square" lIns="155482" tIns="142782" rIns="10130" bIns="117382" rtlCol="0" anchor="t">
            <a:normAutofit/>
          </a:bodyPr>
          <a:lstStyle/>
          <a:p>
            <a:pPr marL="0" indent="0" algn="l">
              <a:lnSpc>
                <a:spcPts val="1875"/>
              </a:lnSpc>
              <a:buNone/>
            </a:pPr>
            <a:r>
              <a:rPr lang="en-US" sz="1250" dirty="0">
                <a:solidFill>
                  <a:srgbClr val="FF9DE2"/>
                </a:solidFill>
                <a:latin typeface="JetBrains Mono" pitchFamily="49" charset="0"/>
                <a:ea typeface="JetBrains Mono" pitchFamily="49" charset="-122"/>
                <a:cs typeface="JetBrains Mono" pitchFamily="49" charset="-120"/>
              </a:rPr>
              <a:t>&lt;table</a:t>
            </a: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D27F"/>
                </a:solidFill>
                <a:latin typeface="JetBrains Mono" pitchFamily="49" charset="0"/>
                <a:ea typeface="JetBrains Mono" pitchFamily="49" charset="-122"/>
                <a:cs typeface="JetBrains Mono" pitchFamily="49" charset="-120"/>
              </a:rPr>
              <a:t>border</a:t>
            </a:r>
            <a:r>
              <a:rPr lang="en-US" sz="1250" dirty="0">
                <a:solidFill>
                  <a:srgbClr val="FFFFFF"/>
                </a:solidFill>
                <a:latin typeface="JetBrains Mono" pitchFamily="49" charset="0"/>
                <a:ea typeface="JetBrains Mono" pitchFamily="49" charset="-122"/>
                <a:cs typeface="JetBrains Mono" pitchFamily="49" charset="-120"/>
              </a:rPr>
              <a:t>=</a:t>
            </a:r>
            <a:r>
              <a:rPr lang="en-US" sz="1250" dirty="0">
                <a:solidFill>
                  <a:srgbClr val="9EE6A8"/>
                </a:solidFill>
                <a:latin typeface="JetBrains Mono" pitchFamily="49" charset="0"/>
                <a:ea typeface="JetBrains Mono" pitchFamily="49" charset="-122"/>
                <a:cs typeface="JetBrains Mono" pitchFamily="49" charset="-120"/>
              </a:rPr>
              <a:t>"1"</a:t>
            </a:r>
            <a:r>
              <a:rPr lang="en-US" sz="1250" dirty="0">
                <a:solidFill>
                  <a:srgbClr val="FF9DE2"/>
                </a:solidFill>
                <a:latin typeface="JetBrains Mono" pitchFamily="49" charset="0"/>
                <a:ea typeface="JetBrains Mono" pitchFamily="49" charset="-122"/>
                <a:cs typeface="JetBrains Mono" pitchFamily="49" charset="-120"/>
              </a:rPr>
              <a:t>&gt;</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9DE2"/>
                </a:solidFill>
                <a:latin typeface="JetBrains Mono" pitchFamily="49" charset="0"/>
                <a:ea typeface="JetBrains Mono" pitchFamily="49" charset="-122"/>
                <a:cs typeface="JetBrains Mono" pitchFamily="49" charset="-120"/>
              </a:rPr>
              <a:t>&lt;tr&gt;</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9DE2"/>
                </a:solidFill>
                <a:latin typeface="JetBrains Mono" pitchFamily="49" charset="0"/>
                <a:ea typeface="JetBrains Mono" pitchFamily="49" charset="-122"/>
                <a:cs typeface="JetBrains Mono" pitchFamily="49" charset="-120"/>
              </a:rPr>
              <a:t>&lt;th&gt;</a:t>
            </a:r>
            <a:r>
              <a:rPr lang="en-US" sz="1250" dirty="0">
                <a:solidFill>
                  <a:srgbClr val="FFFFFF"/>
                </a:solidFill>
                <a:latin typeface="JetBrains Mono" pitchFamily="49" charset="0"/>
                <a:ea typeface="JetBrains Mono" pitchFamily="49" charset="-122"/>
                <a:cs typeface="JetBrains Mono" pitchFamily="49" charset="-120"/>
              </a:rPr>
              <a:t>Имя</a:t>
            </a:r>
            <a:r>
              <a:rPr lang="en-US" sz="1250" dirty="0">
                <a:solidFill>
                  <a:srgbClr val="FF9DE2"/>
                </a:solidFill>
                <a:latin typeface="JetBrains Mono" pitchFamily="49" charset="0"/>
                <a:ea typeface="JetBrains Mono" pitchFamily="49" charset="-122"/>
                <a:cs typeface="JetBrains Mono" pitchFamily="49" charset="-120"/>
              </a:rPr>
              <a:t>&lt;/th&gt;</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9DE2"/>
                </a:solidFill>
                <a:latin typeface="JetBrains Mono" pitchFamily="49" charset="0"/>
                <a:ea typeface="JetBrains Mono" pitchFamily="49" charset="-122"/>
                <a:cs typeface="JetBrains Mono" pitchFamily="49" charset="-120"/>
              </a:rPr>
              <a:t>&lt;th&gt;</a:t>
            </a:r>
            <a:r>
              <a:rPr lang="en-US" sz="1250" dirty="0">
                <a:solidFill>
                  <a:srgbClr val="FFFFFF"/>
                </a:solidFill>
                <a:latin typeface="JetBrains Mono" pitchFamily="49" charset="0"/>
                <a:ea typeface="JetBrains Mono" pitchFamily="49" charset="-122"/>
                <a:cs typeface="JetBrains Mono" pitchFamily="49" charset="-120"/>
              </a:rPr>
              <a:t>Возраст</a:t>
            </a:r>
            <a:r>
              <a:rPr lang="en-US" sz="1250" dirty="0">
                <a:solidFill>
                  <a:srgbClr val="FF9DE2"/>
                </a:solidFill>
                <a:latin typeface="JetBrains Mono" pitchFamily="49" charset="0"/>
                <a:ea typeface="JetBrains Mono" pitchFamily="49" charset="-122"/>
                <a:cs typeface="JetBrains Mono" pitchFamily="49" charset="-120"/>
              </a:rPr>
              <a:t>&lt;/th&gt;</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9DE2"/>
                </a:solidFill>
                <a:latin typeface="JetBrains Mono" pitchFamily="49" charset="0"/>
                <a:ea typeface="JetBrains Mono" pitchFamily="49" charset="-122"/>
                <a:cs typeface="JetBrains Mono" pitchFamily="49" charset="-120"/>
              </a:rPr>
              <a:t>&lt;/tr&gt;</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9DE2"/>
                </a:solidFill>
                <a:latin typeface="JetBrains Mono" pitchFamily="49" charset="0"/>
                <a:ea typeface="JetBrains Mono" pitchFamily="49" charset="-122"/>
                <a:cs typeface="JetBrains Mono" pitchFamily="49" charset="-120"/>
              </a:rPr>
              <a:t>&lt;tr&gt;</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9DE2"/>
                </a:solidFill>
                <a:latin typeface="JetBrains Mono" pitchFamily="49" charset="0"/>
                <a:ea typeface="JetBrains Mono" pitchFamily="49" charset="-122"/>
                <a:cs typeface="JetBrains Mono" pitchFamily="49" charset="-120"/>
              </a:rPr>
              <a:t>&lt;td&gt;</a:t>
            </a:r>
            <a:r>
              <a:rPr lang="en-US" sz="1250" dirty="0">
                <a:solidFill>
                  <a:srgbClr val="FFFFFF"/>
                </a:solidFill>
                <a:latin typeface="JetBrains Mono" pitchFamily="49" charset="0"/>
                <a:ea typeface="JetBrains Mono" pitchFamily="49" charset="-122"/>
                <a:cs typeface="JetBrains Mono" pitchFamily="49" charset="-120"/>
              </a:rPr>
              <a:t>Анна</a:t>
            </a:r>
            <a:r>
              <a:rPr lang="en-US" sz="1250" dirty="0">
                <a:solidFill>
                  <a:srgbClr val="FF9DE2"/>
                </a:solidFill>
                <a:latin typeface="JetBrains Mono" pitchFamily="49" charset="0"/>
                <a:ea typeface="JetBrains Mono" pitchFamily="49" charset="-122"/>
                <a:cs typeface="JetBrains Mono" pitchFamily="49" charset="-120"/>
              </a:rPr>
              <a:t>&lt;/td&gt;</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9DE2"/>
                </a:solidFill>
                <a:latin typeface="JetBrains Mono" pitchFamily="49" charset="0"/>
                <a:ea typeface="JetBrains Mono" pitchFamily="49" charset="-122"/>
                <a:cs typeface="JetBrains Mono" pitchFamily="49" charset="-120"/>
              </a:rPr>
              <a:t>&lt;td&gt;</a:t>
            </a:r>
            <a:r>
              <a:rPr lang="en-US" sz="1250" dirty="0">
                <a:solidFill>
                  <a:srgbClr val="FFFFFF"/>
                </a:solidFill>
                <a:latin typeface="JetBrains Mono" pitchFamily="49" charset="0"/>
                <a:ea typeface="JetBrains Mono" pitchFamily="49" charset="-122"/>
                <a:cs typeface="JetBrains Mono" pitchFamily="49" charset="-120"/>
              </a:rPr>
              <a:t>21</a:t>
            </a:r>
            <a:r>
              <a:rPr lang="en-US" sz="1250" dirty="0">
                <a:solidFill>
                  <a:srgbClr val="FF9DE2"/>
                </a:solidFill>
                <a:latin typeface="JetBrains Mono" pitchFamily="49" charset="0"/>
                <a:ea typeface="JetBrains Mono" pitchFamily="49" charset="-122"/>
                <a:cs typeface="JetBrains Mono" pitchFamily="49" charset="-120"/>
              </a:rPr>
              <a:t>&lt;/td&gt;</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9DE2"/>
                </a:solidFill>
                <a:latin typeface="JetBrains Mono" pitchFamily="49" charset="0"/>
                <a:ea typeface="JetBrains Mono" pitchFamily="49" charset="-122"/>
                <a:cs typeface="JetBrains Mono" pitchFamily="49" charset="-120"/>
              </a:rPr>
              <a:t>&lt;/tr&gt;</a:t>
            </a:r>
            <a:endParaRPr lang="en-US" sz="1250" dirty="0"/>
          </a:p>
          <a:p>
            <a:pPr marL="0" indent="0" algn="l">
              <a:lnSpc>
                <a:spcPts val="1875"/>
              </a:lnSpc>
              <a:buNone/>
            </a:pPr>
            <a:r>
              <a:rPr lang="en-US" sz="1250" dirty="0">
                <a:solidFill>
                  <a:srgbClr val="FF9DE2"/>
                </a:solidFill>
                <a:latin typeface="JetBrains Mono" pitchFamily="49" charset="0"/>
                <a:ea typeface="JetBrains Mono" pitchFamily="49" charset="-122"/>
                <a:cs typeface="JetBrains Mono" pitchFamily="49" charset="-120"/>
              </a:rPr>
              <a:t>&lt;/table&gt;</a:t>
            </a:r>
            <a:endParaRPr lang="en-US" sz="1250" dirty="0"/>
          </a:p>
        </p:txBody>
      </p:sp>
      <p:sp>
        <p:nvSpPr>
          <p:cNvPr id="8" name="Shape 5"/>
          <p:cNvSpPr/>
          <p:nvPr/>
        </p:nvSpPr>
        <p:spPr>
          <a:xfrm>
            <a:off x="6089650" y="1269901"/>
            <a:ext cx="12700" cy="3049191"/>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0" name="Shape 7"/>
          <p:cNvSpPr/>
          <p:nvPr/>
        </p:nvSpPr>
        <p:spPr>
          <a:xfrm>
            <a:off x="6356350" y="1607641"/>
            <a:ext cx="5200650" cy="2125563"/>
          </a:xfrm>
          <a:prstGeom prst="roundRect">
            <a:avLst>
              <a:gd name="adj" fmla="val 3585"/>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8371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tables.html</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84950" y="2227362"/>
          <a:ext cx="3543300" cy="931862"/>
        </p:xfrm>
        <a:graphic>
          <a:graphicData uri="http://schemas.openxmlformats.org/drawingml/2006/table">
            <a:tbl>
              <a:tblPr/>
              <a:tblGrid>
                <a:gridCol w="1771650">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tblGrid>
              <a:tr h="465931">
                <a:tc>
                  <a:txBody>
                    <a:bodyPr/>
                    <a:lstStyle/>
                    <a:p>
                      <a:pPr marL="0" indent="0">
                        <a:lnSpc>
                          <a:spcPts val="2380"/>
                        </a:lnSpc>
                        <a:buNone/>
                      </a:pPr>
                      <a:r>
                        <a:rPr lang="en-US" sz="1700" b="1" dirty="0">
                          <a:solidFill>
                            <a:srgbClr val="111111"/>
                          </a:solidFill>
                          <a:latin typeface="Times New Roman" pitchFamily="18" charset="0"/>
                          <a:ea typeface="Times New Roman" pitchFamily="18" charset="-122"/>
                          <a:cs typeface="Times New Roman" pitchFamily="18" charset="-120"/>
                        </a:rPr>
                        <a:t>Имя</a:t>
                      </a:r>
                      <a:endParaRPr lang="en-US" sz="1700" dirty="0">
                        <a:latin typeface="Times New Roman" charset="0"/>
                        <a:ea typeface="Times New Roman" charset="0"/>
                        <a:cs typeface="Times New Roman" charset="0"/>
                      </a:endParaRPr>
                    </a:p>
                  </a:txBody>
                  <a:tcPr marL="75565" marR="75565" marT="75565" marB="75565">
                    <a:lnL w="12700" cap="flat" cmpd="sng" algn="ctr">
                      <a:solidFill>
                        <a:srgbClr val="FEFEFD"/>
                      </a:solidFill>
                      <a:prstDash val="solid"/>
                      <a:round/>
                      <a:headEnd type="none" w="med" len="med"/>
                      <a:tailEnd type="none" w="med" len="med"/>
                    </a:lnL>
                    <a:lnR w="12700" cap="flat" cmpd="sng" algn="ctr">
                      <a:solidFill>
                        <a:srgbClr val="FEFEFC"/>
                      </a:solidFill>
                      <a:prstDash val="solid"/>
                      <a:round/>
                      <a:headEnd type="none" w="med" len="med"/>
                      <a:tailEnd type="none" w="med" len="med"/>
                    </a:lnR>
                    <a:lnT w="12700" cap="flat" cmpd="sng" algn="ctr">
                      <a:solidFill>
                        <a:srgbClr val="FEFEFD"/>
                      </a:solidFill>
                      <a:prstDash val="solid"/>
                      <a:round/>
                      <a:headEnd type="none" w="med" len="med"/>
                      <a:tailEnd type="none" w="med" len="med"/>
                    </a:lnT>
                    <a:lnB w="12700" cap="flat" cmpd="sng" algn="ctr">
                      <a:solidFill>
                        <a:srgbClr val="FEFEFC"/>
                      </a:solidFill>
                      <a:prstDash val="solid"/>
                      <a:round/>
                      <a:headEnd type="none" w="med" len="med"/>
                      <a:tailEnd type="none" w="med" len="med"/>
                    </a:lnB>
                    <a:solidFill>
                      <a:srgbClr val="FFFFFE"/>
                    </a:solidFill>
                  </a:tcPr>
                </a:tc>
                <a:tc>
                  <a:txBody>
                    <a:bodyPr/>
                    <a:lstStyle/>
                    <a:p>
                      <a:pPr marL="0" indent="0">
                        <a:lnSpc>
                          <a:spcPts val="2380"/>
                        </a:lnSpc>
                        <a:buNone/>
                      </a:pPr>
                      <a:r>
                        <a:rPr lang="en-US" sz="1700" b="1" dirty="0">
                          <a:solidFill>
                            <a:srgbClr val="111111"/>
                          </a:solidFill>
                          <a:latin typeface="Times New Roman" pitchFamily="18" charset="0"/>
                          <a:ea typeface="Times New Roman" pitchFamily="18" charset="-122"/>
                          <a:cs typeface="Times New Roman" pitchFamily="18" charset="-120"/>
                        </a:rPr>
                        <a:t>Возраст</a:t>
                      </a:r>
                      <a:endParaRPr lang="en-US" sz="1700" dirty="0">
                        <a:latin typeface="Times New Roman" charset="0"/>
                        <a:ea typeface="Times New Roman" charset="0"/>
                        <a:cs typeface="Times New Roman" charset="0"/>
                      </a:endParaRPr>
                    </a:p>
                  </a:txBody>
                  <a:tcPr marL="75565" marR="75565" marT="75565" marB="75565">
                    <a:lnL w="12700" cap="flat" cmpd="sng" algn="ctr">
                      <a:solidFill>
                        <a:srgbClr val="FEFEFC"/>
                      </a:solidFill>
                      <a:prstDash val="solid"/>
                      <a:round/>
                      <a:headEnd type="none" w="med" len="med"/>
                      <a:tailEnd type="none" w="med" len="med"/>
                    </a:lnL>
                    <a:lnR w="12700" cap="flat" cmpd="sng" algn="ctr">
                      <a:solidFill>
                        <a:srgbClr val="FEFEFC"/>
                      </a:solidFill>
                      <a:prstDash val="solid"/>
                      <a:round/>
                      <a:headEnd type="none" w="med" len="med"/>
                      <a:tailEnd type="none" w="med" len="med"/>
                    </a:lnR>
                    <a:lnT w="12700" cap="flat" cmpd="sng" algn="ctr">
                      <a:solidFill>
                        <a:srgbClr val="FEFEFD"/>
                      </a:solidFill>
                      <a:prstDash val="solid"/>
                      <a:round/>
                      <a:headEnd type="none" w="med" len="med"/>
                      <a:tailEnd type="none" w="med" len="med"/>
                    </a:lnT>
                    <a:lnB w="12700" cap="flat" cmpd="sng" algn="ctr">
                      <a:solidFill>
                        <a:srgbClr val="FEFEFC"/>
                      </a:solidFill>
                      <a:prstDash val="solid"/>
                      <a:round/>
                      <a:headEnd type="none" w="med" len="med"/>
                      <a:tailEnd type="none" w="med" len="med"/>
                    </a:lnB>
                    <a:solidFill>
                      <a:srgbClr val="FFFFFE"/>
                    </a:solidFill>
                  </a:tcPr>
                </a:tc>
                <a:extLst>
                  <a:ext uri="{0D108BD9-81ED-4DB2-BD59-A6C34878D82A}">
                    <a16:rowId xmlns:a16="http://schemas.microsoft.com/office/drawing/2014/main" val="10000"/>
                  </a:ext>
                </a:extLst>
              </a:tr>
              <a:tr h="465931">
                <a:tc>
                  <a:txBody>
                    <a:bodyPr/>
                    <a:lstStyle/>
                    <a:p>
                      <a:pPr marL="0" indent="0">
                        <a:lnSpc>
                          <a:spcPts val="2380"/>
                        </a:lnSpc>
                        <a:buNone/>
                      </a:pPr>
                      <a:r>
                        <a:rPr lang="en-US" sz="1700" dirty="0">
                          <a:solidFill>
                            <a:srgbClr val="111111"/>
                          </a:solidFill>
                          <a:latin typeface="Times New Roman" pitchFamily="18" charset="0"/>
                          <a:ea typeface="Times New Roman" pitchFamily="18" charset="-122"/>
                          <a:cs typeface="Times New Roman" pitchFamily="18" charset="-120"/>
                        </a:rPr>
                        <a:t>Анна</a:t>
                      </a:r>
                      <a:endParaRPr lang="en-US" sz="1700" dirty="0">
                        <a:latin typeface="Times New Roman" charset="0"/>
                        <a:ea typeface="Times New Roman" charset="0"/>
                        <a:cs typeface="Times New Roman" charset="0"/>
                      </a:endParaRPr>
                    </a:p>
                  </a:txBody>
                  <a:tcPr marL="75565" marR="75565" marT="75565" marB="75565">
                    <a:lnL w="12700" cap="flat" cmpd="sng" algn="ctr">
                      <a:solidFill>
                        <a:srgbClr val="FEFEFD"/>
                      </a:solidFill>
                      <a:prstDash val="solid"/>
                      <a:round/>
                      <a:headEnd type="none" w="med" len="med"/>
                      <a:tailEnd type="none" w="med" len="med"/>
                    </a:lnL>
                    <a:lnR w="12700" cap="flat" cmpd="sng" algn="ctr">
                      <a:solidFill>
                        <a:srgbClr val="FEFEFD"/>
                      </a:solidFill>
                      <a:prstDash val="solid"/>
                      <a:round/>
                      <a:headEnd type="none" w="med" len="med"/>
                      <a:tailEnd type="none" w="med" len="med"/>
                    </a:lnR>
                    <a:lnT w="12700" cap="flat" cmpd="sng" algn="ctr">
                      <a:solidFill>
                        <a:srgbClr val="FEFEFC"/>
                      </a:solidFill>
                      <a:prstDash val="solid"/>
                      <a:round/>
                      <a:headEnd type="none" w="med" len="med"/>
                      <a:tailEnd type="none" w="med" len="med"/>
                    </a:lnT>
                    <a:lnB w="12700" cap="flat" cmpd="sng" algn="ctr">
                      <a:solidFill>
                        <a:srgbClr val="FEFEFD"/>
                      </a:solidFill>
                      <a:prstDash val="solid"/>
                      <a:round/>
                      <a:headEnd type="none" w="med" len="med"/>
                      <a:tailEnd type="none" w="med" len="med"/>
                    </a:lnB>
                  </a:tcPr>
                </a:tc>
                <a:tc>
                  <a:txBody>
                    <a:bodyPr/>
                    <a:lstStyle/>
                    <a:p>
                      <a:pPr marL="0" indent="0">
                        <a:lnSpc>
                          <a:spcPts val="2380"/>
                        </a:lnSpc>
                        <a:buNone/>
                      </a:pPr>
                      <a:r>
                        <a:rPr lang="en-US" sz="1700" dirty="0">
                          <a:solidFill>
                            <a:srgbClr val="111111"/>
                          </a:solidFill>
                          <a:latin typeface="Times New Roman" pitchFamily="18" charset="0"/>
                          <a:ea typeface="Times New Roman" pitchFamily="18" charset="-122"/>
                          <a:cs typeface="Times New Roman" pitchFamily="18" charset="-120"/>
                        </a:rPr>
                        <a:t>21</a:t>
                      </a:r>
                      <a:endParaRPr lang="en-US" sz="1700" dirty="0">
                        <a:latin typeface="Times New Roman" charset="0"/>
                        <a:ea typeface="Times New Roman" charset="0"/>
                        <a:cs typeface="Times New Roman" charset="0"/>
                      </a:endParaRPr>
                    </a:p>
                  </a:txBody>
                  <a:tcPr marL="75565" marR="75565" marT="75565" marB="75565">
                    <a:lnL w="12700" cap="flat" cmpd="sng" algn="ctr">
                      <a:solidFill>
                        <a:srgbClr val="FEFEFD"/>
                      </a:solidFill>
                      <a:prstDash val="solid"/>
                      <a:round/>
                      <a:headEnd type="none" w="med" len="med"/>
                      <a:tailEnd type="none" w="med" len="med"/>
                    </a:lnL>
                    <a:lnR w="12700" cap="flat" cmpd="sng" algn="ctr">
                      <a:solidFill>
                        <a:srgbClr val="FEFEFD"/>
                      </a:solidFill>
                      <a:prstDash val="solid"/>
                      <a:round/>
                      <a:headEnd type="none" w="med" len="med"/>
                      <a:tailEnd type="none" w="med" len="med"/>
                    </a:lnR>
                    <a:lnT w="12700" cap="flat" cmpd="sng" algn="ctr">
                      <a:solidFill>
                        <a:srgbClr val="FEFEFC"/>
                      </a:solidFill>
                      <a:prstDash val="solid"/>
                      <a:round/>
                      <a:headEnd type="none" w="med" len="med"/>
                      <a:tailEnd type="none" w="med" len="med"/>
                    </a:lnT>
                    <a:lnB w="12700" cap="flat" cmpd="sng" algn="ctr">
                      <a:solidFill>
                        <a:srgbClr val="FEFEFD"/>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7" name="Text 13"/>
          <p:cNvSpPr/>
          <p:nvPr/>
        </p:nvSpPr>
        <p:spPr>
          <a:xfrm>
            <a:off x="6572250" y="3286224"/>
            <a:ext cx="4911916"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5555"/>
                </a:solidFill>
                <a:latin typeface="Times New Roman" pitchFamily="18" charset="0"/>
                <a:ea typeface="Times New Roman" pitchFamily="18" charset="-122"/>
                <a:cs typeface="Times New Roman" pitchFamily="18" charset="-120"/>
              </a:rPr>
              <a:t>th — жирный и по центру, td — обычный текст.</a:t>
            </a:r>
            <a:endParaRPr lang="en-US" sz="1400" dirty="0"/>
          </a:p>
        </p:txBody>
      </p:sp>
      <p:sp>
        <p:nvSpPr>
          <p:cNvPr id="18" name="Text 14"/>
          <p:cNvSpPr/>
          <p:nvPr/>
        </p:nvSpPr>
        <p:spPr>
          <a:xfrm>
            <a:off x="635000" y="4446091"/>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tr — строка, th — ячейка-заголовок, td — обычная ячейка. Объединение ячеек: colspan="2" (по столбцам), rowspan="2" (по строкам). Крупные таблицы делят на thead, tbody и tfoot.</a:t>
            </a:r>
            <a:endParaRPr lang="en-US" sz="1500" dirty="0"/>
          </a:p>
        </p:txBody>
      </p:sp>
      <p:pic>
        <p:nvPicPr>
          <p:cNvPr id="19" name="Рисунок 18"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A3FA20C-0B5D-69B1-18BF-ABCD49EC9F98}"/>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Формы: form, input, button</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Поля для ввода данных и кнопка отправки</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3302000"/>
          </a:xfrm>
          <a:prstGeom prst="roundRect">
            <a:avLst>
              <a:gd name="adj" fmla="val 2308"/>
            </a:avLst>
          </a:prstGeom>
          <a:solidFill>
            <a:srgbClr val="2A002A"/>
          </a:solidFill>
          <a:ln/>
        </p:spPr>
        <p:txBody>
          <a:bodyPr wrap="square" lIns="142782" tIns="142782" rIns="0" bIns="1173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&lt;form</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action</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"/send"</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method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"post"</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&lt;label</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for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"n"</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Имя:</a:t>
            </a:r>
            <a:r>
              <a:rPr lang="en-US" sz="1200" dirty="0">
                <a:solidFill>
                  <a:srgbClr val="FF9DE2"/>
                </a:solidFill>
                <a:latin typeface="JetBrains Mono" pitchFamily="49" charset="0"/>
                <a:ea typeface="JetBrains Mono" pitchFamily="49" charset="-122"/>
                <a:cs typeface="JetBrains Mono" pitchFamily="49" charset="-120"/>
              </a:rPr>
              <a:t>&lt;/label&gt;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&lt;input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type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"text"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"n"</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name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"name"</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&lt;textarea</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name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"msg"</a:t>
            </a:r>
            <a:r>
              <a:rPr lang="en-US" sz="1200" dirty="0">
                <a:solidFill>
                  <a:srgbClr val="FF9DE2"/>
                </a:solidFill>
                <a:latin typeface="JetBrains Mono" pitchFamily="49" charset="0"/>
                <a:ea typeface="JetBrains Mono" pitchFamily="49" charset="-122"/>
                <a:cs typeface="JetBrains Mono" pitchFamily="49" charset="-120"/>
              </a:rPr>
              <a:t>&gt;&lt;/textarea&gt;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&lt;select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name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"city"</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&lt;option&gt;</a:t>
            </a:r>
            <a:r>
              <a:rPr lang="en-US" sz="1200" dirty="0">
                <a:solidFill>
                  <a:srgbClr val="FFFFFF"/>
                </a:solidFill>
                <a:latin typeface="JetBrains Mono" pitchFamily="49" charset="0"/>
                <a:ea typeface="JetBrains Mono" pitchFamily="49" charset="-122"/>
                <a:cs typeface="JetBrains Mono" pitchFamily="49" charset="-120"/>
              </a:rPr>
              <a:t>Москва</a:t>
            </a:r>
            <a:r>
              <a:rPr lang="en-US" sz="1200" dirty="0">
                <a:solidFill>
                  <a:srgbClr val="FF9DE2"/>
                </a:solidFill>
                <a:latin typeface="JetBrains Mono" pitchFamily="49" charset="0"/>
                <a:ea typeface="JetBrains Mono" pitchFamily="49" charset="-122"/>
                <a:cs typeface="JetBrains Mono" pitchFamily="49" charset="-120"/>
              </a:rPr>
              <a:t>&lt;/option&gt;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&lt;option&gt;</a:t>
            </a:r>
            <a:r>
              <a:rPr lang="en-US" sz="1200" dirty="0">
                <a:solidFill>
                  <a:srgbClr val="FFFFFF"/>
                </a:solidFill>
                <a:latin typeface="JetBrains Mono" pitchFamily="49" charset="0"/>
                <a:ea typeface="JetBrains Mono" pitchFamily="49" charset="-122"/>
                <a:cs typeface="JetBrains Mono" pitchFamily="49" charset="-120"/>
              </a:rPr>
              <a:t>Казань</a:t>
            </a:r>
            <a:r>
              <a:rPr lang="en-US" sz="1200" dirty="0">
                <a:solidFill>
                  <a:srgbClr val="FF9DE2"/>
                </a:solidFill>
                <a:latin typeface="JetBrains Mono" pitchFamily="49" charset="0"/>
                <a:ea typeface="JetBrains Mono" pitchFamily="49" charset="-122"/>
                <a:cs typeface="JetBrains Mono" pitchFamily="49" charset="-120"/>
              </a:rPr>
              <a:t>&lt;/option&gt;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&lt;/select&gt;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&lt;button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type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"submit"</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Отправить</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&lt;/button&gt;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&lt;/form&gt;</a:t>
            </a:r>
            <a:endParaRPr lang="en-US" sz="1200" dirty="0"/>
          </a:p>
        </p:txBody>
      </p:sp>
      <p:sp>
        <p:nvSpPr>
          <p:cNvPr id="8" name="Shape 5"/>
          <p:cNvSpPr/>
          <p:nvPr/>
        </p:nvSpPr>
        <p:spPr>
          <a:xfrm>
            <a:off x="6089650" y="1269901"/>
            <a:ext cx="12700" cy="3639741"/>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0" name="Shape 7"/>
          <p:cNvSpPr/>
          <p:nvPr/>
        </p:nvSpPr>
        <p:spPr>
          <a:xfrm>
            <a:off x="6356350" y="1607641"/>
            <a:ext cx="5200650" cy="2788642"/>
          </a:xfrm>
          <a:prstGeom prst="roundRect">
            <a:avLst>
              <a:gd name="adj" fmla="val 2733"/>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8197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forms.html</a:t>
            </a:r>
            <a:endParaRPr lang="en-US" sz="1200" dirty="0"/>
          </a:p>
        </p:txBody>
      </p:sp>
      <p:sp>
        <p:nvSpPr>
          <p:cNvPr id="16" name="Text 13"/>
          <p:cNvSpPr/>
          <p:nvPr/>
        </p:nvSpPr>
        <p:spPr>
          <a:xfrm>
            <a:off x="6572250" y="2227362"/>
            <a:ext cx="47494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11111"/>
                </a:solidFill>
                <a:latin typeface="Arial" pitchFamily="34" charset="0"/>
                <a:ea typeface="Arial" pitchFamily="34" charset="-122"/>
                <a:cs typeface="Arial" pitchFamily="34" charset="-120"/>
              </a:rPr>
              <a:t>Имя:</a:t>
            </a:r>
            <a:endParaRPr lang="en-US" sz="1400" dirty="0"/>
          </a:p>
        </p:txBody>
      </p:sp>
      <p:sp>
        <p:nvSpPr>
          <p:cNvPr id="17" name="Text 14"/>
          <p:cNvSpPr/>
          <p:nvPr/>
        </p:nvSpPr>
        <p:spPr>
          <a:xfrm>
            <a:off x="7063284" y="2170212"/>
            <a:ext cx="2019300" cy="363141"/>
          </a:xfrm>
          <a:prstGeom prst="roundRect">
            <a:avLst>
              <a:gd name="adj" fmla="val 5246"/>
            </a:avLst>
          </a:prstGeom>
          <a:noFill/>
          <a:ln w="12700">
            <a:solidFill>
              <a:srgbClr val="767676"/>
            </a:solidFill>
            <a:prstDash val="solid"/>
          </a:ln>
        </p:spPr>
        <p:txBody>
          <a:bodyPr wrap="square" lIns="76970" tIns="51570" rIns="21344" bIns="26170" rtlCol="0" anchor="t">
            <a:normAutofit/>
          </a:bodyPr>
          <a:lstStyle/>
          <a:p>
            <a:pPr marL="0" indent="0" algn="l">
              <a:lnSpc>
                <a:spcPts val="1960"/>
              </a:lnSpc>
              <a:buNone/>
            </a:pPr>
            <a:r>
              <a:rPr lang="en-US" sz="1400" dirty="0">
                <a:solidFill>
                  <a:srgbClr val="111111"/>
                </a:solidFill>
                <a:latin typeface="Arial" pitchFamily="34" charset="0"/>
                <a:ea typeface="Arial" pitchFamily="34" charset="-122"/>
                <a:cs typeface="Arial" pitchFamily="34" charset="-120"/>
              </a:rPr>
              <a:t>Анна</a:t>
            </a:r>
            <a:endParaRPr lang="en-US" sz="1400" dirty="0"/>
          </a:p>
        </p:txBody>
      </p:sp>
      <p:sp>
        <p:nvSpPr>
          <p:cNvPr id="18" name="Text 15"/>
          <p:cNvSpPr/>
          <p:nvPr/>
        </p:nvSpPr>
        <p:spPr>
          <a:xfrm>
            <a:off x="6578600" y="2647652"/>
            <a:ext cx="2781300" cy="596900"/>
          </a:xfrm>
          <a:prstGeom prst="roundRect">
            <a:avLst>
              <a:gd name="adj" fmla="val 3191"/>
            </a:avLst>
          </a:prstGeom>
          <a:noFill/>
          <a:ln w="12700">
            <a:solidFill>
              <a:srgbClr val="767676"/>
            </a:solidFill>
            <a:prstDash val="solid"/>
          </a:ln>
        </p:spPr>
        <p:txBody>
          <a:bodyPr wrap="square" lIns="76970" tIns="51570" rIns="0" bIns="51570" rtlCol="0" anchor="t">
            <a:normAutofit/>
          </a:bodyPr>
          <a:lstStyle/>
          <a:p>
            <a:pPr marL="0" indent="0" algn="l">
              <a:lnSpc>
                <a:spcPts val="1820"/>
              </a:lnSpc>
              <a:buNone/>
            </a:pPr>
            <a:r>
              <a:rPr lang="en-US" sz="1300" dirty="0">
                <a:solidFill>
                  <a:srgbClr val="767676"/>
                </a:solidFill>
                <a:latin typeface="Arial" pitchFamily="34" charset="0"/>
                <a:ea typeface="Arial" pitchFamily="34" charset="-122"/>
                <a:cs typeface="Arial" pitchFamily="34" charset="-120"/>
              </a:rPr>
              <a:t>Сообщение…</a:t>
            </a:r>
            <a:endParaRPr lang="en-US" sz="1300" dirty="0"/>
          </a:p>
        </p:txBody>
      </p:sp>
      <p:sp>
        <p:nvSpPr>
          <p:cNvPr id="19" name="Shape 16"/>
          <p:cNvSpPr/>
          <p:nvPr/>
        </p:nvSpPr>
        <p:spPr>
          <a:xfrm>
            <a:off x="6578600" y="3358852"/>
            <a:ext cx="1765300" cy="363141"/>
          </a:xfrm>
          <a:prstGeom prst="roundRect">
            <a:avLst>
              <a:gd name="adj" fmla="val 5246"/>
            </a:avLst>
          </a:prstGeom>
          <a:solidFill>
            <a:srgbClr val="EFEFEF"/>
          </a:solidFill>
          <a:ln w="12700">
            <a:solidFill>
              <a:srgbClr val="767676"/>
            </a:solidFill>
            <a:prstDash val="solid"/>
          </a:ln>
        </p:spPr>
      </p:sp>
      <p:sp>
        <p:nvSpPr>
          <p:cNvPr id="20" name="Text 17"/>
          <p:cNvSpPr/>
          <p:nvPr/>
        </p:nvSpPr>
        <p:spPr>
          <a:xfrm>
            <a:off x="6661150" y="3416002"/>
            <a:ext cx="72842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11111"/>
                </a:solidFill>
                <a:latin typeface="Arial" pitchFamily="34" charset="0"/>
                <a:ea typeface="Arial" pitchFamily="34" charset="-122"/>
                <a:cs typeface="Arial" pitchFamily="34" charset="-120"/>
              </a:rPr>
              <a:t>Москва</a:t>
            </a:r>
            <a:endParaRPr lang="en-US" sz="1400" dirty="0"/>
          </a:p>
        </p:txBody>
      </p:sp>
      <p:sp>
        <p:nvSpPr>
          <p:cNvPr id="21" name="Text 18"/>
          <p:cNvSpPr/>
          <p:nvPr/>
        </p:nvSpPr>
        <p:spPr>
          <a:xfrm>
            <a:off x="8061920" y="3416002"/>
            <a:ext cx="19943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111111"/>
                </a:solidFill>
                <a:latin typeface="Arial" pitchFamily="34" charset="0"/>
                <a:ea typeface="Arial" pitchFamily="34" charset="-122"/>
                <a:cs typeface="Arial" pitchFamily="34" charset="-120"/>
              </a:rPr>
              <a:t>▾</a:t>
            </a:r>
            <a:endParaRPr lang="en-US" sz="1400" dirty="0"/>
          </a:p>
        </p:txBody>
      </p:sp>
      <p:sp>
        <p:nvSpPr>
          <p:cNvPr id="22" name="Text 19"/>
          <p:cNvSpPr/>
          <p:nvPr/>
        </p:nvSpPr>
        <p:spPr>
          <a:xfrm>
            <a:off x="6578600" y="3836293"/>
            <a:ext cx="1224558" cy="388541"/>
          </a:xfrm>
          <a:prstGeom prst="roundRect">
            <a:avLst>
              <a:gd name="adj" fmla="val 8172"/>
            </a:avLst>
          </a:prstGeom>
          <a:solidFill>
            <a:srgbClr val="EFEFEF"/>
          </a:solidFill>
          <a:ln w="12700">
            <a:solidFill>
              <a:srgbClr val="767676"/>
            </a:solidFill>
            <a:prstDash val="solid"/>
          </a:ln>
        </p:spPr>
        <p:txBody>
          <a:bodyPr wrap="none" lIns="0" tIns="0" rIns="0" bIns="0" rtlCol="0" anchor="ctr">
            <a:normAutofit/>
          </a:bodyPr>
          <a:lstStyle/>
          <a:p>
            <a:pPr marL="0" indent="0" algn="ctr">
              <a:lnSpc>
                <a:spcPts val="1960"/>
              </a:lnSpc>
              <a:buNone/>
            </a:pPr>
            <a:r>
              <a:rPr lang="en-US" sz="1400" dirty="0">
                <a:solidFill>
                  <a:srgbClr val="111111"/>
                </a:solidFill>
                <a:latin typeface="Arial" pitchFamily="34" charset="0"/>
                <a:ea typeface="Arial" pitchFamily="34" charset="-122"/>
                <a:cs typeface="Arial" pitchFamily="34" charset="-120"/>
              </a:rPr>
              <a:t>Отправить</a:t>
            </a:r>
            <a:endParaRPr lang="en-US" sz="1400" dirty="0"/>
          </a:p>
        </p:txBody>
      </p:sp>
      <p:sp>
        <p:nvSpPr>
          <p:cNvPr id="23" name="Text 20"/>
          <p:cNvSpPr/>
          <p:nvPr/>
        </p:nvSpPr>
        <p:spPr>
          <a:xfrm>
            <a:off x="635000" y="5036641"/>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form: action — куда отправить данные, method — как (get или post). label связывают с полем через for и id. name — имя, под которым значение уйдёт на сервер.</a:t>
            </a:r>
            <a:endParaRPr lang="en-US" sz="1500" dirty="0"/>
          </a:p>
        </p:txBody>
      </p:sp>
      <p:pic>
        <p:nvPicPr>
          <p:cNvPr id="24" name="Рисунок 23"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CEFCEAC4-D201-83F2-226B-278A75E832D9}"/>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Типы поля input</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Один тег &lt;input&gt; превращается в разные элементы формы — всё решает атрибут type</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7700" y="1282601"/>
          <a:ext cx="10782300" cy="3859610"/>
        </p:xfrm>
        <a:graphic>
          <a:graphicData uri="http://schemas.openxmlformats.org/drawingml/2006/table">
            <a:tbl>
              <a:tblPr/>
              <a:tblGrid>
                <a:gridCol w="2156460">
                  <a:extLst>
                    <a:ext uri="{9D8B030D-6E8A-4147-A177-3AD203B41FA5}">
                      <a16:colId xmlns:a16="http://schemas.microsoft.com/office/drawing/2014/main" val="20000"/>
                    </a:ext>
                  </a:extLst>
                </a:gridCol>
                <a:gridCol w="4097274">
                  <a:extLst>
                    <a:ext uri="{9D8B030D-6E8A-4147-A177-3AD203B41FA5}">
                      <a16:colId xmlns:a16="http://schemas.microsoft.com/office/drawing/2014/main" val="20001"/>
                    </a:ext>
                  </a:extLst>
                </a:gridCol>
                <a:gridCol w="4528566">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type</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Как выглядит</a:t>
                      </a:r>
                      <a:endParaRPr lang="en-US" sz="1400" dirty="0">
                        <a:latin typeface="Carlito" charset="0"/>
                        <a:ea typeface="Carlito" charset="0"/>
                        <a:cs typeface="Carlito" charset="0"/>
                      </a:endParaRPr>
                    </a:p>
                  </a:txBody>
                  <a:tcPr marL="62230" marR="62230" marT="62230" marB="62230">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Для чего нужен</a:t>
                      </a:r>
                      <a:endParaRPr lang="en-US" sz="1400" dirty="0">
                        <a:latin typeface="Carlito" charset="0"/>
                        <a:ea typeface="Carlito" charset="0"/>
                        <a:cs typeface="Carlito" charset="0"/>
                      </a:endParaRPr>
                    </a:p>
                  </a:txBody>
                  <a:tcPr marL="62230" marR="62230" marT="62230" marB="62230">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text</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Однострочное поле</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Имя, поисковый запрос</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password</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Вместо символов — точки ●●●●</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Пароль</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email</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Поле с проверкой формата адреса</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Электронная почта</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number</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Число со стрелками ▲▼</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Количество, возраст</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checkbox</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 Флажок, можно выбрать несколько</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Согласие, дополнительные опции</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radio</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 Да  ○ Нет — один из группы</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Выбор одного варианта</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date</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Поле с выпадающим календарём</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Дата рождения, бронирование</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7"/>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file</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Кнопка «Выберите файл»</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Загрузка документа или фото</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8"/>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submit</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Кнопка отправки формы</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Отправить данные на сервер</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9"/>
                  </a:ext>
                </a:extLst>
              </a:tr>
            </a:tbl>
          </a:graphicData>
        </a:graphic>
      </p:graphicFrame>
      <p:pic>
        <p:nvPicPr>
          <p:cNvPr id="7" name="Рисунок 6"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B5478AFD-87BA-62E8-70E7-DAB414A16AF1}"/>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Семантические теги</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Они выглядят так же, как обычные блоки, но называют роль каждой части страницы</a:t>
            </a:r>
            <a:endParaRPr lang="en-US" sz="1600" dirty="0"/>
          </a:p>
        </p:txBody>
      </p:sp>
      <p:sp>
        <p:nvSpPr>
          <p:cNvPr id="6" name="Text 3"/>
          <p:cNvSpPr/>
          <p:nvPr/>
        </p:nvSpPr>
        <p:spPr>
          <a:xfrm>
            <a:off x="635000" y="1269901"/>
            <a:ext cx="4826000" cy="469900"/>
          </a:xfrm>
          <a:prstGeom prst="roundRect">
            <a:avLst>
              <a:gd name="adj" fmla="val 13514"/>
            </a:avLst>
          </a:prstGeom>
          <a:solidFill>
            <a:srgbClr val="972996"/>
          </a:solidFill>
          <a:ln/>
        </p:spPr>
        <p:txBody>
          <a:bodyPr wrap="square" lIns="83001" tIns="83001" rIns="83001" bIns="57601" rtlCol="0" anchor="t">
            <a:normAutofit/>
          </a:bodyPr>
          <a:lstStyle/>
          <a:p>
            <a:pPr marL="0" indent="0" algn="ctr">
              <a:lnSpc>
                <a:spcPts val="2100"/>
              </a:lnSpc>
              <a:buNone/>
            </a:pPr>
            <a:r>
              <a:rPr lang="en-US" sz="1500" b="1" dirty="0">
                <a:solidFill>
                  <a:srgbClr val="FFFFFF"/>
                </a:solidFill>
                <a:latin typeface="Carlito" pitchFamily="34" charset="0"/>
                <a:ea typeface="Carlito" pitchFamily="34" charset="-122"/>
                <a:cs typeface="Carlito" pitchFamily="34" charset="-120"/>
              </a:rPr>
              <a:t>&lt;header&gt;</a:t>
            </a:r>
            <a:endParaRPr lang="en-US" sz="1500" dirty="0"/>
          </a:p>
        </p:txBody>
      </p:sp>
      <p:sp>
        <p:nvSpPr>
          <p:cNvPr id="7" name="Text 4"/>
          <p:cNvSpPr/>
          <p:nvPr/>
        </p:nvSpPr>
        <p:spPr>
          <a:xfrm>
            <a:off x="635000" y="1803301"/>
            <a:ext cx="952500" cy="1460302"/>
          </a:xfrm>
          <a:prstGeom prst="roundRect">
            <a:avLst>
              <a:gd name="adj" fmla="val 6667"/>
            </a:avLst>
          </a:prstGeom>
          <a:solidFill>
            <a:srgbClr val="C77BC6"/>
          </a:solidFill>
          <a:ln/>
        </p:spPr>
        <p:txBody>
          <a:bodyPr wrap="square" lIns="70301" tIns="70301" rIns="70301" bIns="70301" rtlCol="0" anchor="ctr">
            <a:normAutofit/>
          </a:bodyPr>
          <a:lstStyle/>
          <a:p>
            <a:pPr marL="0" indent="0" algn="ctr">
              <a:lnSpc>
                <a:spcPts val="1960"/>
              </a:lnSpc>
              <a:buNone/>
            </a:pPr>
            <a:r>
              <a:rPr lang="en-US" sz="1400" b="1" dirty="0">
                <a:solidFill>
                  <a:srgbClr val="1A0019"/>
                </a:solidFill>
                <a:latin typeface="Carlito" pitchFamily="34" charset="0"/>
                <a:ea typeface="Carlito" pitchFamily="34" charset="-122"/>
                <a:cs typeface="Carlito" pitchFamily="34" charset="-120"/>
              </a:rPr>
              <a:t>&lt;nav&gt;</a:t>
            </a:r>
            <a:endParaRPr lang="en-US" sz="1400" dirty="0"/>
          </a:p>
        </p:txBody>
      </p:sp>
      <p:sp>
        <p:nvSpPr>
          <p:cNvPr id="8" name="Shape 5"/>
          <p:cNvSpPr/>
          <p:nvPr/>
        </p:nvSpPr>
        <p:spPr>
          <a:xfrm>
            <a:off x="1660525" y="1812826"/>
            <a:ext cx="2774950" cy="1441252"/>
          </a:xfrm>
          <a:prstGeom prst="roundRect">
            <a:avLst>
              <a:gd name="adj" fmla="val 3745"/>
            </a:avLst>
          </a:prstGeom>
          <a:solidFill>
            <a:srgbClr val="F3D9F3"/>
          </a:solidFill>
          <a:ln w="19050">
            <a:solidFill>
              <a:srgbClr val="972996"/>
            </a:solidFill>
            <a:prstDash val="solid"/>
          </a:ln>
        </p:spPr>
      </p:sp>
      <p:sp>
        <p:nvSpPr>
          <p:cNvPr id="9" name="Text 6"/>
          <p:cNvSpPr/>
          <p:nvPr/>
        </p:nvSpPr>
        <p:spPr>
          <a:xfrm>
            <a:off x="1758950" y="1911251"/>
            <a:ext cx="265544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640064"/>
                </a:solidFill>
                <a:latin typeface="Carlito" pitchFamily="34" charset="0"/>
                <a:ea typeface="Carlito" pitchFamily="34" charset="-122"/>
                <a:cs typeface="Carlito" pitchFamily="34" charset="-120"/>
              </a:rPr>
              <a:t>&lt;main&gt;</a:t>
            </a:r>
            <a:endParaRPr lang="en-US" sz="1400" dirty="0"/>
          </a:p>
        </p:txBody>
      </p:sp>
      <p:sp>
        <p:nvSpPr>
          <p:cNvPr id="10" name="Text 7"/>
          <p:cNvSpPr/>
          <p:nvPr/>
        </p:nvSpPr>
        <p:spPr>
          <a:xfrm>
            <a:off x="1765300" y="2229941"/>
            <a:ext cx="2565400" cy="421580"/>
          </a:xfrm>
          <a:prstGeom prst="roundRect">
            <a:avLst>
              <a:gd name="adj" fmla="val 10544"/>
            </a:avLst>
          </a:prstGeom>
          <a:solidFill>
            <a:srgbClr val="FFFFFF"/>
          </a:solidFill>
          <a:ln w="12700">
            <a:solidFill>
              <a:srgbClr val="972996"/>
            </a:solidFill>
            <a:prstDash val="solid"/>
          </a:ln>
        </p:spPr>
        <p:txBody>
          <a:bodyPr wrap="square" lIns="82231" tIns="82231" rIns="10984" bIns="56831" rtlCol="0" anchor="t">
            <a:normAutofit/>
          </a:bodyPr>
          <a:lstStyle/>
          <a:p>
            <a:pPr marL="0" indent="0" algn="l">
              <a:lnSpc>
                <a:spcPts val="1820"/>
              </a:lnSpc>
              <a:buNone/>
            </a:pPr>
            <a:r>
              <a:rPr lang="en-US" sz="1300" dirty="0">
                <a:solidFill>
                  <a:srgbClr val="111111"/>
                </a:solidFill>
                <a:latin typeface="Carlito" pitchFamily="34" charset="0"/>
                <a:ea typeface="Carlito" pitchFamily="34" charset="-122"/>
                <a:cs typeface="Carlito" pitchFamily="34" charset="-120"/>
              </a:rPr>
              <a:t>&lt;article&gt;</a:t>
            </a:r>
            <a:endParaRPr lang="en-US" sz="1300" dirty="0"/>
          </a:p>
        </p:txBody>
      </p:sp>
      <p:sp>
        <p:nvSpPr>
          <p:cNvPr id="11" name="Text 8"/>
          <p:cNvSpPr/>
          <p:nvPr/>
        </p:nvSpPr>
        <p:spPr>
          <a:xfrm>
            <a:off x="1765300" y="2727722"/>
            <a:ext cx="2565400" cy="421580"/>
          </a:xfrm>
          <a:prstGeom prst="roundRect">
            <a:avLst>
              <a:gd name="adj" fmla="val 10544"/>
            </a:avLst>
          </a:prstGeom>
          <a:solidFill>
            <a:srgbClr val="FFFFFF"/>
          </a:solidFill>
          <a:ln w="12700">
            <a:solidFill>
              <a:srgbClr val="972996"/>
            </a:solidFill>
            <a:prstDash val="solid"/>
          </a:ln>
        </p:spPr>
        <p:txBody>
          <a:bodyPr wrap="square" lIns="82231" tIns="82231" rIns="10984" bIns="56831" rtlCol="0" anchor="t">
            <a:normAutofit/>
          </a:bodyPr>
          <a:lstStyle/>
          <a:p>
            <a:pPr marL="0" indent="0" algn="l">
              <a:lnSpc>
                <a:spcPts val="1820"/>
              </a:lnSpc>
              <a:buNone/>
            </a:pPr>
            <a:r>
              <a:rPr lang="en-US" sz="1300" dirty="0">
                <a:solidFill>
                  <a:srgbClr val="111111"/>
                </a:solidFill>
                <a:latin typeface="Carlito" pitchFamily="34" charset="0"/>
                <a:ea typeface="Carlito" pitchFamily="34" charset="-122"/>
                <a:cs typeface="Carlito" pitchFamily="34" charset="-120"/>
              </a:rPr>
              <a:t>&lt;section&gt;</a:t>
            </a:r>
            <a:endParaRPr lang="en-US" sz="1300" dirty="0"/>
          </a:p>
        </p:txBody>
      </p:sp>
      <p:sp>
        <p:nvSpPr>
          <p:cNvPr id="12" name="Text 9"/>
          <p:cNvSpPr/>
          <p:nvPr/>
        </p:nvSpPr>
        <p:spPr>
          <a:xfrm>
            <a:off x="4508500" y="1803301"/>
            <a:ext cx="952500" cy="1460302"/>
          </a:xfrm>
          <a:prstGeom prst="roundRect">
            <a:avLst>
              <a:gd name="adj" fmla="val 6667"/>
            </a:avLst>
          </a:prstGeom>
          <a:solidFill>
            <a:srgbClr val="C77BC6"/>
          </a:solidFill>
          <a:ln/>
        </p:spPr>
        <p:txBody>
          <a:bodyPr wrap="square" lIns="70301" tIns="70301" rIns="70301" bIns="70301" rtlCol="0" anchor="ctr">
            <a:normAutofit/>
          </a:bodyPr>
          <a:lstStyle/>
          <a:p>
            <a:pPr marL="0" indent="0" algn="ctr">
              <a:lnSpc>
                <a:spcPts val="1960"/>
              </a:lnSpc>
              <a:buNone/>
            </a:pPr>
            <a:r>
              <a:rPr lang="en-US" sz="1400" b="1" dirty="0">
                <a:solidFill>
                  <a:srgbClr val="1A0019"/>
                </a:solidFill>
                <a:latin typeface="Carlito" pitchFamily="34" charset="0"/>
                <a:ea typeface="Carlito" pitchFamily="34" charset="-122"/>
                <a:cs typeface="Carlito" pitchFamily="34" charset="-120"/>
              </a:rPr>
              <a:t>&lt;aside&gt;</a:t>
            </a:r>
            <a:endParaRPr lang="en-US" sz="1400" dirty="0"/>
          </a:p>
        </p:txBody>
      </p:sp>
      <p:sp>
        <p:nvSpPr>
          <p:cNvPr id="13" name="Text 10"/>
          <p:cNvSpPr/>
          <p:nvPr/>
        </p:nvSpPr>
        <p:spPr>
          <a:xfrm>
            <a:off x="635000" y="3327102"/>
            <a:ext cx="4826000" cy="469900"/>
          </a:xfrm>
          <a:prstGeom prst="roundRect">
            <a:avLst>
              <a:gd name="adj" fmla="val 13514"/>
            </a:avLst>
          </a:prstGeom>
          <a:solidFill>
            <a:srgbClr val="640064"/>
          </a:solidFill>
          <a:ln/>
        </p:spPr>
        <p:txBody>
          <a:bodyPr wrap="square" lIns="83001" tIns="83001" rIns="83001" bIns="57601" rtlCol="0" anchor="t">
            <a:normAutofit/>
          </a:bodyPr>
          <a:lstStyle/>
          <a:p>
            <a:pPr marL="0" indent="0" algn="ctr">
              <a:lnSpc>
                <a:spcPts val="2100"/>
              </a:lnSpc>
              <a:buNone/>
            </a:pPr>
            <a:r>
              <a:rPr lang="en-US" sz="1500" b="1" dirty="0">
                <a:solidFill>
                  <a:srgbClr val="FFFFFF"/>
                </a:solidFill>
                <a:latin typeface="Carlito" pitchFamily="34" charset="0"/>
                <a:ea typeface="Carlito" pitchFamily="34" charset="-122"/>
                <a:cs typeface="Carlito" pitchFamily="34" charset="-120"/>
              </a:rPr>
              <a:t>&lt;footer&gt;</a:t>
            </a:r>
            <a:endParaRPr lang="en-US" sz="1500" dirty="0"/>
          </a:p>
        </p:txBody>
      </p:sp>
      <p:sp>
        <p:nvSpPr>
          <p:cNvPr id="14" name="Text 11"/>
          <p:cNvSpPr/>
          <p:nvPr/>
        </p:nvSpPr>
        <p:spPr>
          <a:xfrm>
            <a:off x="5778500" y="1269901"/>
            <a:ext cx="595185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11111"/>
                </a:solidFill>
                <a:latin typeface="Carlito" pitchFamily="34" charset="0"/>
                <a:ea typeface="Carlito" pitchFamily="34" charset="-122"/>
                <a:cs typeface="Carlito" pitchFamily="34" charset="-120"/>
              </a:rPr>
              <a:t>&lt;header&gt;</a:t>
            </a:r>
            <a:r>
              <a:rPr lang="en-US" sz="1500" dirty="0">
                <a:solidFill>
                  <a:srgbClr val="111111"/>
                </a:solidFill>
                <a:latin typeface="Carlito" pitchFamily="34" charset="0"/>
                <a:ea typeface="Carlito" pitchFamily="34" charset="-122"/>
                <a:cs typeface="Carlito" pitchFamily="34" charset="-120"/>
              </a:rPr>
              <a:t> — шапка: логотип, название сайта</a:t>
            </a:r>
            <a:endParaRPr lang="en-US" sz="1500" dirty="0"/>
          </a:p>
        </p:txBody>
      </p:sp>
      <p:sp>
        <p:nvSpPr>
          <p:cNvPr id="15" name="Text 12"/>
          <p:cNvSpPr/>
          <p:nvPr/>
        </p:nvSpPr>
        <p:spPr>
          <a:xfrm>
            <a:off x="5778500" y="1606451"/>
            <a:ext cx="595185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11111"/>
                </a:solidFill>
                <a:latin typeface="Carlito" pitchFamily="34" charset="0"/>
                <a:ea typeface="Carlito" pitchFamily="34" charset="-122"/>
                <a:cs typeface="Carlito" pitchFamily="34" charset="-120"/>
              </a:rPr>
              <a:t>&lt;nav&gt;</a:t>
            </a:r>
            <a:r>
              <a:rPr lang="en-US" sz="1500" dirty="0">
                <a:solidFill>
                  <a:srgbClr val="111111"/>
                </a:solidFill>
                <a:latin typeface="Carlito" pitchFamily="34" charset="0"/>
                <a:ea typeface="Carlito" pitchFamily="34" charset="-122"/>
                <a:cs typeface="Carlito" pitchFamily="34" charset="-120"/>
              </a:rPr>
              <a:t> — меню навигации со ссылками</a:t>
            </a:r>
            <a:endParaRPr lang="en-US" sz="1500" dirty="0"/>
          </a:p>
        </p:txBody>
      </p:sp>
      <p:sp>
        <p:nvSpPr>
          <p:cNvPr id="16" name="Text 13"/>
          <p:cNvSpPr/>
          <p:nvPr/>
        </p:nvSpPr>
        <p:spPr>
          <a:xfrm>
            <a:off x="5778500" y="1943001"/>
            <a:ext cx="595185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11111"/>
                </a:solidFill>
                <a:latin typeface="Carlito" pitchFamily="34" charset="0"/>
                <a:ea typeface="Carlito" pitchFamily="34" charset="-122"/>
                <a:cs typeface="Carlito" pitchFamily="34" charset="-120"/>
              </a:rPr>
              <a:t>&lt;main&gt;</a:t>
            </a:r>
            <a:r>
              <a:rPr lang="en-US" sz="1500" dirty="0">
                <a:solidFill>
                  <a:srgbClr val="111111"/>
                </a:solidFill>
                <a:latin typeface="Carlito" pitchFamily="34" charset="0"/>
                <a:ea typeface="Carlito" pitchFamily="34" charset="-122"/>
                <a:cs typeface="Carlito" pitchFamily="34" charset="-120"/>
              </a:rPr>
              <a:t> — основное содержимое, одно на страницу</a:t>
            </a:r>
            <a:endParaRPr lang="en-US" sz="1500" dirty="0"/>
          </a:p>
        </p:txBody>
      </p:sp>
      <p:sp>
        <p:nvSpPr>
          <p:cNvPr id="17" name="Text 14"/>
          <p:cNvSpPr/>
          <p:nvPr/>
        </p:nvSpPr>
        <p:spPr>
          <a:xfrm>
            <a:off x="5778500" y="2279551"/>
            <a:ext cx="595185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11111"/>
                </a:solidFill>
                <a:latin typeface="Carlito" pitchFamily="34" charset="0"/>
                <a:ea typeface="Carlito" pitchFamily="34" charset="-122"/>
                <a:cs typeface="Carlito" pitchFamily="34" charset="-120"/>
              </a:rPr>
              <a:t>&lt;section&gt;</a:t>
            </a:r>
            <a:r>
              <a:rPr lang="en-US" sz="1500" dirty="0">
                <a:solidFill>
                  <a:srgbClr val="111111"/>
                </a:solidFill>
                <a:latin typeface="Carlito" pitchFamily="34" charset="0"/>
                <a:ea typeface="Carlito" pitchFamily="34" charset="-122"/>
                <a:cs typeface="Carlito" pitchFamily="34" charset="-120"/>
              </a:rPr>
              <a:t> — тематический раздел с заголовком</a:t>
            </a:r>
            <a:endParaRPr lang="en-US" sz="1500" dirty="0"/>
          </a:p>
        </p:txBody>
      </p:sp>
      <p:sp>
        <p:nvSpPr>
          <p:cNvPr id="18" name="Text 15"/>
          <p:cNvSpPr/>
          <p:nvPr/>
        </p:nvSpPr>
        <p:spPr>
          <a:xfrm>
            <a:off x="5778500" y="2616101"/>
            <a:ext cx="595185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11111"/>
                </a:solidFill>
                <a:latin typeface="Carlito" pitchFamily="34" charset="0"/>
                <a:ea typeface="Carlito" pitchFamily="34" charset="-122"/>
                <a:cs typeface="Carlito" pitchFamily="34" charset="-120"/>
              </a:rPr>
              <a:t>&lt;article&gt;</a:t>
            </a:r>
            <a:r>
              <a:rPr lang="en-US" sz="1500" dirty="0">
                <a:solidFill>
                  <a:srgbClr val="111111"/>
                </a:solidFill>
                <a:latin typeface="Carlito" pitchFamily="34" charset="0"/>
                <a:ea typeface="Carlito" pitchFamily="34" charset="-122"/>
                <a:cs typeface="Carlito" pitchFamily="34" charset="-120"/>
              </a:rPr>
              <a:t> — самостоятельная запись: новость, пост</a:t>
            </a:r>
            <a:endParaRPr lang="en-US" sz="1500" dirty="0"/>
          </a:p>
        </p:txBody>
      </p:sp>
      <p:sp>
        <p:nvSpPr>
          <p:cNvPr id="19" name="Text 16"/>
          <p:cNvSpPr/>
          <p:nvPr/>
        </p:nvSpPr>
        <p:spPr>
          <a:xfrm>
            <a:off x="5778500" y="2952651"/>
            <a:ext cx="595185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11111"/>
                </a:solidFill>
                <a:latin typeface="Carlito" pitchFamily="34" charset="0"/>
                <a:ea typeface="Carlito" pitchFamily="34" charset="-122"/>
                <a:cs typeface="Carlito" pitchFamily="34" charset="-120"/>
              </a:rPr>
              <a:t>&lt;aside&gt;</a:t>
            </a:r>
            <a:r>
              <a:rPr lang="en-US" sz="1500" dirty="0">
                <a:solidFill>
                  <a:srgbClr val="111111"/>
                </a:solidFill>
                <a:latin typeface="Carlito" pitchFamily="34" charset="0"/>
                <a:ea typeface="Carlito" pitchFamily="34" charset="-122"/>
                <a:cs typeface="Carlito" pitchFamily="34" charset="-120"/>
              </a:rPr>
              <a:t> — побочный блок: реклама, ссылки сбоку</a:t>
            </a:r>
            <a:endParaRPr lang="en-US" sz="1500" dirty="0"/>
          </a:p>
        </p:txBody>
      </p:sp>
      <p:sp>
        <p:nvSpPr>
          <p:cNvPr id="20" name="Text 17"/>
          <p:cNvSpPr/>
          <p:nvPr/>
        </p:nvSpPr>
        <p:spPr>
          <a:xfrm>
            <a:off x="5778500" y="3289201"/>
            <a:ext cx="595185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11111"/>
                </a:solidFill>
                <a:latin typeface="Carlito" pitchFamily="34" charset="0"/>
                <a:ea typeface="Carlito" pitchFamily="34" charset="-122"/>
                <a:cs typeface="Carlito" pitchFamily="34" charset="-120"/>
              </a:rPr>
              <a:t>&lt;footer&gt;</a:t>
            </a:r>
            <a:r>
              <a:rPr lang="en-US" sz="1500" dirty="0">
                <a:solidFill>
                  <a:srgbClr val="111111"/>
                </a:solidFill>
                <a:latin typeface="Carlito" pitchFamily="34" charset="0"/>
                <a:ea typeface="Carlito" pitchFamily="34" charset="-122"/>
                <a:cs typeface="Carlito" pitchFamily="34" charset="-120"/>
              </a:rPr>
              <a:t> — подвал: контакты, авторские права</a:t>
            </a:r>
            <a:endParaRPr lang="en-US" sz="1500" dirty="0"/>
          </a:p>
        </p:txBody>
      </p:sp>
      <p:sp>
        <p:nvSpPr>
          <p:cNvPr id="21" name="Text 18"/>
          <p:cNvSpPr/>
          <p:nvPr/>
        </p:nvSpPr>
        <p:spPr>
          <a:xfrm>
            <a:off x="635000" y="3924002"/>
            <a:ext cx="10795000" cy="460375"/>
          </a:xfrm>
          <a:prstGeom prst="roundRect">
            <a:avLst>
              <a:gd name="adj" fmla="val 16552"/>
            </a:avLst>
          </a:prstGeom>
          <a:solidFill>
            <a:srgbClr val="972996"/>
          </a:solidFill>
          <a:ln/>
        </p:spPr>
        <p:txBody>
          <a:bodyPr wrap="square" lIns="155482" tIns="79282" rIns="0" bIns="538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Поисковики и программы чтения с экрана понимают такую структуру лучше, чем набор одинаковых div.</a:t>
            </a:r>
            <a:endParaRPr lang="en-US" sz="1500" dirty="0"/>
          </a:p>
        </p:txBody>
      </p:sp>
      <p:pic>
        <p:nvPicPr>
          <p:cNvPr id="22" name="Рисунок 21"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17B8E11B-F344-03DE-AE85-FB7E60DB4ADB}"/>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Страница из семантических тегов</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Типичная структура страницы блога</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3177282"/>
          </a:xfrm>
          <a:prstGeom prst="roundRect">
            <a:avLst>
              <a:gd name="adj" fmla="val 2398"/>
            </a:avLst>
          </a:prstGeom>
          <a:solidFill>
            <a:srgbClr val="2A002A"/>
          </a:solidFill>
          <a:ln/>
        </p:spPr>
        <p:txBody>
          <a:bodyPr wrap="square" lIns="142782" tIns="130082" rIns="0" bIns="1046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&lt;body&gt;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&lt;header&gt;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&lt;h1&gt;</a:t>
            </a:r>
            <a:r>
              <a:rPr lang="en-US" sz="1200" dirty="0">
                <a:solidFill>
                  <a:srgbClr val="FFFFFF"/>
                </a:solidFill>
                <a:latin typeface="JetBrains Mono" pitchFamily="49" charset="0"/>
                <a:ea typeface="JetBrains Mono" pitchFamily="49" charset="-122"/>
                <a:cs typeface="JetBrains Mono" pitchFamily="49" charset="-120"/>
              </a:rPr>
              <a:t>Мой блог</a:t>
            </a:r>
            <a:r>
              <a:rPr lang="en-US" sz="1200" dirty="0">
                <a:solidFill>
                  <a:srgbClr val="FF9DE2"/>
                </a:solidFill>
                <a:latin typeface="JetBrains Mono" pitchFamily="49" charset="0"/>
                <a:ea typeface="JetBrains Mono" pitchFamily="49" charset="-122"/>
                <a:cs typeface="JetBrains Mono" pitchFamily="49" charset="-120"/>
              </a:rPr>
              <a:t>&lt;/h1&gt;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&lt;nav&gt;&lt;a</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href</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Главная</a:t>
            </a:r>
            <a:r>
              <a:rPr lang="en-US" sz="1200" dirty="0">
                <a:solidFill>
                  <a:srgbClr val="FF9DE2"/>
                </a:solidFill>
                <a:latin typeface="JetBrains Mono" pitchFamily="49" charset="0"/>
                <a:ea typeface="JetBrains Mono" pitchFamily="49" charset="-122"/>
                <a:cs typeface="JetBrains Mono" pitchFamily="49" charset="-120"/>
              </a:rPr>
              <a:t>&lt;/a&gt;&lt;/nav&gt;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&lt;/header&gt;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&lt;main&gt;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&lt;article&gt;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&lt;h2&gt;</a:t>
            </a:r>
            <a:r>
              <a:rPr lang="en-US" sz="1200" dirty="0">
                <a:solidFill>
                  <a:srgbClr val="FFFFFF"/>
                </a:solidFill>
                <a:latin typeface="JetBrains Mono" pitchFamily="49" charset="0"/>
                <a:ea typeface="JetBrains Mono" pitchFamily="49" charset="-122"/>
                <a:cs typeface="JetBrains Mono" pitchFamily="49" charset="-120"/>
              </a:rPr>
              <a:t>Первая запись</a:t>
            </a:r>
            <a:r>
              <a:rPr lang="en-US" sz="1200" dirty="0">
                <a:solidFill>
                  <a:srgbClr val="FF9DE2"/>
                </a:solidFill>
                <a:latin typeface="JetBrains Mono" pitchFamily="49" charset="0"/>
                <a:ea typeface="JetBrains Mono" pitchFamily="49" charset="-122"/>
                <a:cs typeface="JetBrains Mono" pitchFamily="49" charset="-120"/>
              </a:rPr>
              <a:t>&lt;/h2&gt;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&lt;p&gt;</a:t>
            </a:r>
            <a:r>
              <a:rPr lang="en-US" sz="1200" dirty="0">
                <a:solidFill>
                  <a:srgbClr val="FFFFFF"/>
                </a:solidFill>
                <a:latin typeface="JetBrains Mono" pitchFamily="49" charset="0"/>
                <a:ea typeface="JetBrains Mono" pitchFamily="49" charset="-122"/>
                <a:cs typeface="JetBrains Mono" pitchFamily="49" charset="-120"/>
              </a:rPr>
              <a:t>Текст записи.</a:t>
            </a:r>
            <a:r>
              <a:rPr lang="en-US" sz="1200" dirty="0">
                <a:solidFill>
                  <a:srgbClr val="FF9DE2"/>
                </a:solidFill>
                <a:latin typeface="JetBrains Mono" pitchFamily="49" charset="0"/>
                <a:ea typeface="JetBrains Mono" pitchFamily="49" charset="-122"/>
                <a:cs typeface="JetBrains Mono" pitchFamily="49" charset="-120"/>
              </a:rPr>
              <a:t>&lt;/p&gt;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&lt;/article&gt;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&lt;/main&gt;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&lt;footer&gt;</a:t>
            </a:r>
            <a:r>
              <a:rPr lang="en-US" sz="1200" dirty="0">
                <a:solidFill>
                  <a:srgbClr val="FFFFFF"/>
                </a:solidFill>
                <a:latin typeface="JetBrains Mono" pitchFamily="49" charset="0"/>
                <a:ea typeface="JetBrains Mono" pitchFamily="49" charset="-122"/>
                <a:cs typeface="JetBrains Mono" pitchFamily="49" charset="-120"/>
              </a:rPr>
              <a:t>© 2026</a:t>
            </a:r>
            <a:r>
              <a:rPr lang="en-US" sz="1200" dirty="0">
                <a:solidFill>
                  <a:srgbClr val="FF9DE2"/>
                </a:solidFill>
                <a:latin typeface="JetBrains Mono" pitchFamily="49" charset="0"/>
                <a:ea typeface="JetBrains Mono" pitchFamily="49" charset="-122"/>
                <a:cs typeface="JetBrains Mono" pitchFamily="49" charset="-120"/>
              </a:rPr>
              <a:t>&lt;/footer&gt;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&lt;/body&gt;</a:t>
            </a:r>
            <a:endParaRPr lang="en-US" sz="1200" dirty="0"/>
          </a:p>
        </p:txBody>
      </p:sp>
      <p:sp>
        <p:nvSpPr>
          <p:cNvPr id="8" name="Shape 5"/>
          <p:cNvSpPr/>
          <p:nvPr/>
        </p:nvSpPr>
        <p:spPr>
          <a:xfrm>
            <a:off x="6089650" y="1269901"/>
            <a:ext cx="12700" cy="3515023"/>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 (без CSS)</a:t>
            </a:r>
            <a:endParaRPr lang="en-US" sz="1400" dirty="0"/>
          </a:p>
        </p:txBody>
      </p:sp>
      <p:sp>
        <p:nvSpPr>
          <p:cNvPr id="10" name="Shape 7"/>
          <p:cNvSpPr/>
          <p:nvPr/>
        </p:nvSpPr>
        <p:spPr>
          <a:xfrm>
            <a:off x="6356350" y="1607641"/>
            <a:ext cx="5200650" cy="2641302"/>
          </a:xfrm>
          <a:prstGeom prst="roundRect">
            <a:avLst>
              <a:gd name="adj" fmla="val 2885"/>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710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blog.html</a:t>
            </a:r>
            <a:endParaRPr lang="en-US" sz="1200" dirty="0"/>
          </a:p>
        </p:txBody>
      </p:sp>
      <p:sp>
        <p:nvSpPr>
          <p:cNvPr id="16" name="Text 13"/>
          <p:cNvSpPr/>
          <p:nvPr/>
        </p:nvSpPr>
        <p:spPr>
          <a:xfrm>
            <a:off x="6572250" y="2163862"/>
            <a:ext cx="4911916"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11111"/>
                </a:solidFill>
                <a:latin typeface="Times New Roman" pitchFamily="18" charset="0"/>
                <a:ea typeface="Times New Roman" pitchFamily="18" charset="-122"/>
                <a:cs typeface="Times New Roman" pitchFamily="18" charset="-120"/>
              </a:rPr>
              <a:t>Мой блог</a:t>
            </a:r>
            <a:endParaRPr lang="en-US" sz="3200" dirty="0"/>
          </a:p>
        </p:txBody>
      </p:sp>
      <p:sp>
        <p:nvSpPr>
          <p:cNvPr id="17" name="Text 14"/>
          <p:cNvSpPr/>
          <p:nvPr/>
        </p:nvSpPr>
        <p:spPr>
          <a:xfrm>
            <a:off x="6572250" y="2712442"/>
            <a:ext cx="4911916" cy="269180"/>
          </a:xfrm>
          <a:prstGeom prst="rect">
            <a:avLst/>
          </a:prstGeom>
          <a:noFill/>
          <a:ln/>
        </p:spPr>
        <p:txBody>
          <a:bodyPr wrap="square" lIns="0" tIns="0" rIns="0" bIns="0" rtlCol="0" anchor="t">
            <a:normAutofit/>
          </a:bodyPr>
          <a:lstStyle/>
          <a:p>
            <a:pPr marL="0" indent="0" algn="l">
              <a:lnSpc>
                <a:spcPts val="1920"/>
              </a:lnSpc>
              <a:buNone/>
            </a:pPr>
            <a:r>
              <a:rPr lang="en-US" sz="1600" u="sng" dirty="0">
                <a:solidFill>
                  <a:srgbClr val="0000EE"/>
                </a:solidFill>
                <a:latin typeface="Times New Roman" pitchFamily="18" charset="0"/>
                <a:ea typeface="Times New Roman" pitchFamily="18" charset="-122"/>
                <a:cs typeface="Times New Roman" pitchFamily="18" charset="-120"/>
              </a:rPr>
              <a:t>Главная</a:t>
            </a:r>
            <a:endParaRPr lang="en-US" sz="1600" dirty="0"/>
          </a:p>
        </p:txBody>
      </p:sp>
      <p:sp>
        <p:nvSpPr>
          <p:cNvPr id="18" name="Text 15"/>
          <p:cNvSpPr/>
          <p:nvPr/>
        </p:nvSpPr>
        <p:spPr>
          <a:xfrm>
            <a:off x="6572250" y="3057823"/>
            <a:ext cx="4911916" cy="36066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11111"/>
                </a:solidFill>
                <a:latin typeface="Times New Roman" pitchFamily="18" charset="0"/>
                <a:ea typeface="Times New Roman" pitchFamily="18" charset="-122"/>
                <a:cs typeface="Times New Roman" pitchFamily="18" charset="-120"/>
              </a:rPr>
              <a:t>Первая запись</a:t>
            </a:r>
            <a:endParaRPr lang="en-US" sz="2400" dirty="0"/>
          </a:p>
        </p:txBody>
      </p:sp>
      <p:sp>
        <p:nvSpPr>
          <p:cNvPr id="19" name="Text 16"/>
          <p:cNvSpPr/>
          <p:nvPr/>
        </p:nvSpPr>
        <p:spPr>
          <a:xfrm>
            <a:off x="6572250" y="3494683"/>
            <a:ext cx="4911916" cy="26918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11111"/>
                </a:solidFill>
                <a:latin typeface="Times New Roman" pitchFamily="18" charset="0"/>
                <a:ea typeface="Times New Roman" pitchFamily="18" charset="-122"/>
                <a:cs typeface="Times New Roman" pitchFamily="18" charset="-120"/>
              </a:rPr>
              <a:t>Текст записи.</a:t>
            </a:r>
            <a:endParaRPr lang="en-US" sz="1600" dirty="0"/>
          </a:p>
        </p:txBody>
      </p:sp>
      <p:sp>
        <p:nvSpPr>
          <p:cNvPr id="20" name="Text 17"/>
          <p:cNvSpPr/>
          <p:nvPr/>
        </p:nvSpPr>
        <p:spPr>
          <a:xfrm>
            <a:off x="6572250" y="3840063"/>
            <a:ext cx="4911916" cy="26918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11111"/>
                </a:solidFill>
                <a:latin typeface="Times New Roman" pitchFamily="18" charset="0"/>
                <a:ea typeface="Times New Roman" pitchFamily="18" charset="-122"/>
                <a:cs typeface="Times New Roman" pitchFamily="18" charset="-120"/>
              </a:rPr>
              <a:t>© 2026</a:t>
            </a:r>
            <a:endParaRPr lang="en-US" sz="1600" dirty="0"/>
          </a:p>
        </p:txBody>
      </p:sp>
      <p:sp>
        <p:nvSpPr>
          <p:cNvPr id="21" name="Text 18"/>
          <p:cNvSpPr/>
          <p:nvPr/>
        </p:nvSpPr>
        <p:spPr>
          <a:xfrm>
            <a:off x="635000" y="4911923"/>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Внешне это обычный текст: семантические теги ничего не рисуют. Оформление и расположение блоков добавит CSS, а роли частей уже понятны.</a:t>
            </a:r>
            <a:endParaRPr lang="en-US" sz="1500" dirty="0"/>
          </a:p>
        </p:txBody>
      </p:sp>
      <p:pic>
        <p:nvPicPr>
          <p:cNvPr id="22" name="Рисунок 21"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54F94D51-B996-4C03-E107-21B2B9BABE4B}"/>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Контейнеры div и span</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Блочный и строчный универсальные элементы</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235200"/>
          </a:xfrm>
          <a:prstGeom prst="roundRect">
            <a:avLst>
              <a:gd name="adj" fmla="val 3409"/>
            </a:avLst>
          </a:prstGeom>
          <a:solidFill>
            <a:srgbClr val="2A002A"/>
          </a:solidFill>
          <a:ln/>
        </p:spPr>
        <p:txBody>
          <a:bodyPr wrap="square" lIns="155482" tIns="142782" rIns="10130" bIns="117382" rtlCol="0" anchor="t">
            <a:normAutofit/>
          </a:bodyPr>
          <a:lstStyle/>
          <a:p>
            <a:pPr marL="0" indent="0" algn="l">
              <a:lnSpc>
                <a:spcPts val="1875"/>
              </a:lnSpc>
              <a:buNone/>
            </a:pPr>
            <a:r>
              <a:rPr lang="en-US" sz="1250" dirty="0">
                <a:solidFill>
                  <a:srgbClr val="FF9DE2"/>
                </a:solidFill>
                <a:latin typeface="JetBrains Mono" pitchFamily="49" charset="0"/>
                <a:ea typeface="JetBrains Mono" pitchFamily="49" charset="-122"/>
                <a:cs typeface="JetBrains Mono" pitchFamily="49" charset="-120"/>
              </a:rPr>
              <a:t>&lt;div</a:t>
            </a: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D27F"/>
                </a:solidFill>
                <a:latin typeface="JetBrains Mono" pitchFamily="49" charset="0"/>
                <a:ea typeface="JetBrains Mono" pitchFamily="49" charset="-122"/>
                <a:cs typeface="JetBrains Mono" pitchFamily="49" charset="-120"/>
              </a:rPr>
              <a:t>class</a:t>
            </a:r>
            <a:r>
              <a:rPr lang="en-US" sz="1250" dirty="0">
                <a:solidFill>
                  <a:srgbClr val="FFFFFF"/>
                </a:solidFill>
                <a:latin typeface="JetBrains Mono" pitchFamily="49" charset="0"/>
                <a:ea typeface="JetBrains Mono" pitchFamily="49" charset="-122"/>
                <a:cs typeface="JetBrains Mono" pitchFamily="49" charset="-120"/>
              </a:rPr>
              <a:t>=</a:t>
            </a:r>
            <a:r>
              <a:rPr lang="en-US" sz="1250" dirty="0">
                <a:solidFill>
                  <a:srgbClr val="9EE6A8"/>
                </a:solidFill>
                <a:latin typeface="JetBrains Mono" pitchFamily="49" charset="0"/>
                <a:ea typeface="JetBrains Mono" pitchFamily="49" charset="-122"/>
                <a:cs typeface="JetBrains Mono" pitchFamily="49" charset="-120"/>
              </a:rPr>
              <a:t>"card"</a:t>
            </a:r>
            <a:r>
              <a:rPr lang="en-US" sz="1250" dirty="0">
                <a:solidFill>
                  <a:srgbClr val="FF9DE2"/>
                </a:solidFill>
                <a:latin typeface="JetBrains Mono" pitchFamily="49" charset="0"/>
                <a:ea typeface="JetBrains Mono" pitchFamily="49" charset="-122"/>
                <a:cs typeface="JetBrains Mono" pitchFamily="49" charset="-120"/>
              </a:rPr>
              <a:t>&gt;</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9DE2"/>
                </a:solidFill>
                <a:latin typeface="JetBrains Mono" pitchFamily="49" charset="0"/>
                <a:ea typeface="JetBrains Mono" pitchFamily="49" charset="-122"/>
                <a:cs typeface="JetBrains Mono" pitchFamily="49" charset="-120"/>
              </a:rPr>
              <a:t>&lt;p&gt;</a:t>
            </a:r>
            <a:r>
              <a:rPr lang="en-US" sz="1250" dirty="0">
                <a:solidFill>
                  <a:srgbClr val="FFFFFF"/>
                </a:solidFill>
                <a:latin typeface="JetBrains Mono" pitchFamily="49" charset="0"/>
                <a:ea typeface="JetBrains Mono" pitchFamily="49" charset="-122"/>
                <a:cs typeface="JetBrains Mono" pitchFamily="49" charset="-120"/>
              </a:rPr>
              <a:t>Блок: во всю ширину.</a:t>
            </a:r>
            <a:r>
              <a:rPr lang="en-US" sz="1250" dirty="0">
                <a:solidFill>
                  <a:srgbClr val="FF9DE2"/>
                </a:solidFill>
                <a:latin typeface="JetBrains Mono" pitchFamily="49" charset="0"/>
                <a:ea typeface="JetBrains Mono" pitchFamily="49" charset="-122"/>
                <a:cs typeface="JetBrains Mono" pitchFamily="49" charset="-120"/>
              </a:rPr>
              <a:t>&lt;/p&gt;</a:t>
            </a:r>
            <a:endParaRPr lang="en-US" sz="1250" dirty="0"/>
          </a:p>
          <a:p>
            <a:pPr marL="0" indent="0" algn="l">
              <a:lnSpc>
                <a:spcPts val="1875"/>
              </a:lnSpc>
              <a:buNone/>
            </a:pPr>
            <a:r>
              <a:rPr lang="en-US" sz="1250" dirty="0">
                <a:solidFill>
                  <a:srgbClr val="FF9DE2"/>
                </a:solidFill>
                <a:latin typeface="JetBrains Mono" pitchFamily="49" charset="0"/>
                <a:ea typeface="JetBrains Mono" pitchFamily="49" charset="-122"/>
                <a:cs typeface="JetBrains Mono" pitchFamily="49" charset="-120"/>
              </a:rPr>
              <a:t>&lt;/div&gt;</a:t>
            </a:r>
            <a:endParaRPr lang="en-US" sz="1250" dirty="0"/>
          </a:p>
          <a:p>
            <a:pPr marL="0" indent="0" algn="l">
              <a:lnSpc>
                <a:spcPts val="1875"/>
              </a:lnSpc>
              <a:buNone/>
            </a:pPr>
            <a:endParaRPr lang="en-US" sz="1250" dirty="0"/>
          </a:p>
          <a:p>
            <a:pPr marL="0" indent="0" algn="l">
              <a:lnSpc>
                <a:spcPts val="1875"/>
              </a:lnSpc>
              <a:buNone/>
            </a:pPr>
            <a:r>
              <a:rPr lang="en-US" sz="1250" dirty="0">
                <a:solidFill>
                  <a:srgbClr val="FF9DE2"/>
                </a:solidFill>
                <a:latin typeface="JetBrains Mono" pitchFamily="49" charset="0"/>
                <a:ea typeface="JetBrains Mono" pitchFamily="49" charset="-122"/>
                <a:cs typeface="JetBrains Mono" pitchFamily="49" charset="-120"/>
              </a:rPr>
              <a:t>&lt;p&gt;</a:t>
            </a:r>
            <a:r>
              <a:rPr lang="en-US" sz="1250" dirty="0">
                <a:solidFill>
                  <a:srgbClr val="FFFFFF"/>
                </a:solidFill>
                <a:latin typeface="JetBrains Mono" pitchFamily="49" charset="0"/>
                <a:ea typeface="JetBrains Mono" pitchFamily="49" charset="-122"/>
                <a:cs typeface="JetBrains Mono" pitchFamily="49" charset="-120"/>
              </a:rPr>
              <a:t>Слово</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9DE2"/>
                </a:solidFill>
                <a:latin typeface="JetBrains Mono" pitchFamily="49" charset="0"/>
                <a:ea typeface="JetBrains Mono" pitchFamily="49" charset="-122"/>
                <a:cs typeface="JetBrains Mono" pitchFamily="49" charset="-120"/>
              </a:rPr>
              <a:t>&lt;span</a:t>
            </a:r>
            <a:r>
              <a:rPr lang="en-US" sz="1250" dirty="0">
                <a:solidFill>
                  <a:srgbClr val="FFFFFF"/>
                </a:solidFill>
                <a:latin typeface="JetBrains Mono" pitchFamily="49" charset="0"/>
                <a:ea typeface="JetBrains Mono" pitchFamily="49" charset="-122"/>
                <a:cs typeface="JetBrains Mono" pitchFamily="49" charset="-120"/>
              </a:rPr>
              <a:t> </a:t>
            </a:r>
            <a:r>
              <a:rPr lang="en-US" sz="1250" dirty="0">
                <a:solidFill>
                  <a:srgbClr val="FFD27F"/>
                </a:solidFill>
                <a:latin typeface="JetBrains Mono" pitchFamily="49" charset="0"/>
                <a:ea typeface="JetBrains Mono" pitchFamily="49" charset="-122"/>
                <a:cs typeface="JetBrains Mono" pitchFamily="49" charset="-120"/>
              </a:rPr>
              <a:t>class</a:t>
            </a:r>
            <a:r>
              <a:rPr lang="en-US" sz="1250" dirty="0">
                <a:solidFill>
                  <a:srgbClr val="FFFFFF"/>
                </a:solidFill>
                <a:latin typeface="JetBrains Mono" pitchFamily="49" charset="0"/>
                <a:ea typeface="JetBrains Mono" pitchFamily="49" charset="-122"/>
                <a:cs typeface="JetBrains Mono" pitchFamily="49" charset="-120"/>
              </a:rPr>
              <a:t>=</a:t>
            </a:r>
            <a:r>
              <a:rPr lang="en-US" sz="1250" dirty="0">
                <a:solidFill>
                  <a:srgbClr val="9EE6A8"/>
                </a:solidFill>
                <a:latin typeface="JetBrains Mono" pitchFamily="49" charset="0"/>
                <a:ea typeface="JetBrains Mono" pitchFamily="49" charset="-122"/>
                <a:cs typeface="JetBrains Mono" pitchFamily="49" charset="-120"/>
              </a:rPr>
              <a:t>"red"</a:t>
            </a:r>
            <a:r>
              <a:rPr lang="en-US" sz="1250" dirty="0">
                <a:solidFill>
                  <a:srgbClr val="FF9DE2"/>
                </a:solidFill>
                <a:latin typeface="JetBrains Mono" pitchFamily="49" charset="0"/>
                <a:ea typeface="JetBrains Mono" pitchFamily="49" charset="-122"/>
                <a:cs typeface="JetBrains Mono" pitchFamily="49" charset="-120"/>
              </a:rPr>
              <a:t>&gt;</a:t>
            </a:r>
            <a:r>
              <a:rPr lang="en-US" sz="1250" dirty="0">
                <a:solidFill>
                  <a:srgbClr val="FFFFFF"/>
                </a:solidFill>
                <a:latin typeface="JetBrains Mono" pitchFamily="49" charset="0"/>
                <a:ea typeface="JetBrains Mono" pitchFamily="49" charset="-122"/>
                <a:cs typeface="JetBrains Mono" pitchFamily="49" charset="-120"/>
              </a:rPr>
              <a:t>красное</a:t>
            </a:r>
            <a:r>
              <a:rPr lang="en-US" sz="1250" dirty="0">
                <a:solidFill>
                  <a:srgbClr val="FF9DE2"/>
                </a:solidFill>
                <a:latin typeface="JetBrains Mono" pitchFamily="49" charset="0"/>
                <a:ea typeface="JetBrains Mono" pitchFamily="49" charset="-122"/>
                <a:cs typeface="JetBrains Mono" pitchFamily="49" charset="-120"/>
              </a:rPr>
              <a:t>&lt;/span&gt;</a:t>
            </a:r>
            <a:endParaRPr lang="en-US" sz="1250" dirty="0"/>
          </a:p>
          <a:p>
            <a:pPr marL="0" indent="0" algn="l">
              <a:lnSpc>
                <a:spcPts val="1875"/>
              </a:lnSpc>
              <a:buNone/>
            </a:pPr>
            <a:r>
              <a:rPr lang="en-US" sz="1250" dirty="0">
                <a:solidFill>
                  <a:srgbClr val="FFFFFF"/>
                </a:solidFill>
                <a:latin typeface="JetBrains Mono" pitchFamily="49" charset="0"/>
                <a:ea typeface="JetBrains Mono" pitchFamily="49" charset="-122"/>
                <a:cs typeface="JetBrains Mono" pitchFamily="49" charset="-120"/>
              </a:rPr>
              <a:t>  внутри строки.</a:t>
            </a:r>
            <a:endParaRPr lang="en-US" sz="1250" dirty="0"/>
          </a:p>
          <a:p>
            <a:pPr marL="0" indent="0" algn="l">
              <a:lnSpc>
                <a:spcPts val="1875"/>
              </a:lnSpc>
              <a:buNone/>
            </a:pPr>
            <a:r>
              <a:rPr lang="en-US" sz="1250" dirty="0">
                <a:solidFill>
                  <a:srgbClr val="FF9DE2"/>
                </a:solidFill>
                <a:latin typeface="JetBrains Mono" pitchFamily="49" charset="0"/>
                <a:ea typeface="JetBrains Mono" pitchFamily="49" charset="-122"/>
                <a:cs typeface="JetBrains Mono" pitchFamily="49" charset="-120"/>
              </a:rPr>
              <a:t>&lt;/p&gt;</a:t>
            </a:r>
            <a:endParaRPr lang="en-US" sz="1250" dirty="0"/>
          </a:p>
        </p:txBody>
      </p:sp>
      <p:sp>
        <p:nvSpPr>
          <p:cNvPr id="8" name="Shape 5"/>
          <p:cNvSpPr/>
          <p:nvPr/>
        </p:nvSpPr>
        <p:spPr>
          <a:xfrm>
            <a:off x="6089650" y="1269901"/>
            <a:ext cx="12700" cy="2572941"/>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(границы добавлены для наглядности)</a:t>
            </a:r>
            <a:endParaRPr lang="en-US" sz="1400" dirty="0"/>
          </a:p>
        </p:txBody>
      </p:sp>
      <p:sp>
        <p:nvSpPr>
          <p:cNvPr id="10" name="Shape 7"/>
          <p:cNvSpPr/>
          <p:nvPr/>
        </p:nvSpPr>
        <p:spPr>
          <a:xfrm>
            <a:off x="6356350" y="1607641"/>
            <a:ext cx="5200650" cy="1673820"/>
          </a:xfrm>
          <a:prstGeom prst="roundRect">
            <a:avLst>
              <a:gd name="adj" fmla="val 4552"/>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10136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div-span.html</a:t>
            </a:r>
            <a:endParaRPr lang="en-US" sz="1200" dirty="0"/>
          </a:p>
        </p:txBody>
      </p:sp>
      <p:sp>
        <p:nvSpPr>
          <p:cNvPr id="16" name="Text 13"/>
          <p:cNvSpPr/>
          <p:nvPr/>
        </p:nvSpPr>
        <p:spPr>
          <a:xfrm>
            <a:off x="6581775" y="2198787"/>
            <a:ext cx="4749800" cy="425450"/>
          </a:xfrm>
          <a:prstGeom prst="rect">
            <a:avLst/>
          </a:prstGeom>
          <a:noFill/>
          <a:ln w="19050">
            <a:solidFill>
              <a:srgbClr val="972996"/>
            </a:solidFill>
            <a:prstDash val="dash"/>
          </a:ln>
        </p:spPr>
        <p:txBody>
          <a:bodyPr wrap="square" lIns="111125" tIns="85725" rIns="0" bIns="60325" rtlCol="0" anchor="t">
            <a:normAutofit/>
          </a:bodyPr>
          <a:lstStyle/>
          <a:p>
            <a:pPr marL="0" indent="0" algn="l">
              <a:lnSpc>
                <a:spcPts val="2000"/>
              </a:lnSpc>
              <a:buNone/>
            </a:pPr>
            <a:r>
              <a:rPr lang="en-US" sz="1600" dirty="0">
                <a:solidFill>
                  <a:srgbClr val="111111"/>
                </a:solidFill>
                <a:latin typeface="Times New Roman" pitchFamily="18" charset="0"/>
                <a:ea typeface="Times New Roman" pitchFamily="18" charset="-122"/>
                <a:cs typeface="Times New Roman" pitchFamily="18" charset="-120"/>
              </a:rPr>
              <a:t>Блок: во всю ширину.</a:t>
            </a:r>
            <a:endParaRPr lang="en-US" sz="1600" dirty="0"/>
          </a:p>
        </p:txBody>
      </p:sp>
      <p:sp>
        <p:nvSpPr>
          <p:cNvPr id="17" name="Text 14"/>
          <p:cNvSpPr/>
          <p:nvPr/>
        </p:nvSpPr>
        <p:spPr>
          <a:xfrm>
            <a:off x="6572250" y="2817912"/>
            <a:ext cx="59819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11111"/>
                </a:solidFill>
                <a:latin typeface="Times New Roman" pitchFamily="18" charset="0"/>
                <a:ea typeface="Times New Roman" pitchFamily="18" charset="-122"/>
                <a:cs typeface="Times New Roman" pitchFamily="18" charset="-120"/>
              </a:rPr>
              <a:t>Слово</a:t>
            </a:r>
            <a:endParaRPr lang="en-US" sz="1600" dirty="0"/>
          </a:p>
        </p:txBody>
      </p:sp>
      <p:sp>
        <p:nvSpPr>
          <p:cNvPr id="18" name="Text 15"/>
          <p:cNvSpPr/>
          <p:nvPr/>
        </p:nvSpPr>
        <p:spPr>
          <a:xfrm>
            <a:off x="7179965" y="2808387"/>
            <a:ext cx="804366" cy="273050"/>
          </a:xfrm>
          <a:prstGeom prst="rect">
            <a:avLst/>
          </a:prstGeom>
          <a:noFill/>
          <a:ln w="19050">
            <a:solidFill>
              <a:srgbClr val="972996"/>
            </a:solidFill>
            <a:prstDash val="dash"/>
          </a:ln>
        </p:spPr>
        <p:txBody>
          <a:bodyPr wrap="none" lIns="0" tIns="0" rIns="0" bIns="0" rtlCol="0" anchor="ctr">
            <a:normAutofit/>
          </a:bodyPr>
          <a:lstStyle/>
          <a:p>
            <a:pPr marL="0" indent="0" algn="ctr">
              <a:lnSpc>
                <a:spcPts val="2000"/>
              </a:lnSpc>
              <a:buNone/>
            </a:pPr>
            <a:r>
              <a:rPr lang="en-US" sz="1600" dirty="0">
                <a:solidFill>
                  <a:srgbClr val="C62828"/>
                </a:solidFill>
                <a:latin typeface="Times New Roman" pitchFamily="18" charset="0"/>
                <a:ea typeface="Times New Roman" pitchFamily="18" charset="-122"/>
                <a:cs typeface="Times New Roman" pitchFamily="18" charset="-120"/>
              </a:rPr>
              <a:t>красное</a:t>
            </a:r>
            <a:endParaRPr lang="en-US" sz="1600" dirty="0"/>
          </a:p>
        </p:txBody>
      </p:sp>
      <p:sp>
        <p:nvSpPr>
          <p:cNvPr id="19" name="Text 16"/>
          <p:cNvSpPr/>
          <p:nvPr/>
        </p:nvSpPr>
        <p:spPr>
          <a:xfrm>
            <a:off x="8057356" y="2817912"/>
            <a:ext cx="1561981"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11111"/>
                </a:solidFill>
                <a:latin typeface="Times New Roman" pitchFamily="18" charset="0"/>
                <a:ea typeface="Times New Roman" pitchFamily="18" charset="-122"/>
                <a:cs typeface="Times New Roman" pitchFamily="18" charset="-120"/>
              </a:rPr>
              <a:t>внутри строки.</a:t>
            </a:r>
            <a:endParaRPr lang="en-US" sz="1600" dirty="0"/>
          </a:p>
        </p:txBody>
      </p:sp>
      <p:sp>
        <p:nvSpPr>
          <p:cNvPr id="20" name="Text 17"/>
          <p:cNvSpPr/>
          <p:nvPr/>
        </p:nvSpPr>
        <p:spPr>
          <a:xfrm>
            <a:off x="635000" y="3969841"/>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div всегда начинается с новой строки и занимает всю ширину. span остаётся в строке и занимает ровно столько места, сколько нужно тексту. Сами по себе они ничего не меняют — их находят в CSS по class и id.</a:t>
            </a:r>
            <a:endParaRPr lang="en-US" sz="1500" dirty="0"/>
          </a:p>
        </p:txBody>
      </p:sp>
      <p:pic>
        <p:nvPicPr>
          <p:cNvPr id="21" name="Рисунок 20"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5FCF935A-F76C-F573-6237-2E760944163D}"/>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Общие атрибуты</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Атрибуты можно добавить почти к любому тегу: они уточняют его поведение или связывают его с CSS и JavaScript</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7700" y="1282601"/>
          <a:ext cx="10782300" cy="3087688"/>
        </p:xfrm>
        <a:graphic>
          <a:graphicData uri="http://schemas.openxmlformats.org/drawingml/2006/table">
            <a:tbl>
              <a:tblPr/>
              <a:tblGrid>
                <a:gridCol w="1725168">
                  <a:extLst>
                    <a:ext uri="{9D8B030D-6E8A-4147-A177-3AD203B41FA5}">
                      <a16:colId xmlns:a16="http://schemas.microsoft.com/office/drawing/2014/main" val="20000"/>
                    </a:ext>
                  </a:extLst>
                </a:gridCol>
                <a:gridCol w="4744212">
                  <a:extLst>
                    <a:ext uri="{9D8B030D-6E8A-4147-A177-3AD203B41FA5}">
                      <a16:colId xmlns:a16="http://schemas.microsoft.com/office/drawing/2014/main" val="20001"/>
                    </a:ext>
                  </a:extLst>
                </a:gridCol>
                <a:gridCol w="4312920">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Атрибут</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Что делает</a:t>
                      </a:r>
                      <a:endParaRPr lang="en-US" sz="1400" dirty="0">
                        <a:latin typeface="Carlito" charset="0"/>
                        <a:ea typeface="Carlito" charset="0"/>
                        <a:cs typeface="Carlito" charset="0"/>
                      </a:endParaRPr>
                    </a:p>
                  </a:txBody>
                  <a:tcPr marL="62230" marR="62230" marT="62230" marB="62230">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Пример</a:t>
                      </a:r>
                      <a:endParaRPr lang="en-US" sz="1400" dirty="0">
                        <a:latin typeface="Carlito" charset="0"/>
                        <a:ea typeface="Carlito" charset="0"/>
                        <a:cs typeface="Carlito" charset="0"/>
                      </a:endParaRPr>
                    </a:p>
                  </a:txBody>
                  <a:tcPr marL="62230" marR="62230" marT="62230" marB="62230">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id</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Уникальное имя элемента на странице</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&lt;div id="menu"&gt;</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class</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Группа для общего стиля, имён может быть несколько</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&lt;p class="card big"&gt;</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style</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CSS прямо в теге</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&lt;p style="color:red"&gt;</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title</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Подсказка при наведении курсора</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&lt;a title="Открыть"&gt;</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lang</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Язык содержимого</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&lt;html lang="ru"&gt;</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hidden</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Скрывает элемент со страницы</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&lt;p hidden&gt;</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data-*</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Свои данные для JavaScript</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&lt;li data-id="15"&gt;</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7"/>
                  </a:ext>
                </a:extLst>
              </a:tr>
            </a:tbl>
          </a:graphicData>
        </a:graphic>
      </p:graphicFrame>
      <p:sp>
        <p:nvSpPr>
          <p:cNvPr id="7" name="Text 3"/>
          <p:cNvSpPr/>
          <p:nvPr/>
        </p:nvSpPr>
        <p:spPr>
          <a:xfrm>
            <a:off x="635000" y="4497288"/>
            <a:ext cx="10795000" cy="460375"/>
          </a:xfrm>
          <a:prstGeom prst="roundRect">
            <a:avLst>
              <a:gd name="adj" fmla="val 16552"/>
            </a:avLst>
          </a:prstGeom>
          <a:solidFill>
            <a:srgbClr val="972996"/>
          </a:solidFill>
          <a:ln/>
        </p:spPr>
        <p:txBody>
          <a:bodyPr wrap="square" lIns="155482" tIns="79282" rIns="0" bIns="538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Значения пишут в кавычках. id не должен повторяться на странице, а class — может.</a:t>
            </a:r>
            <a:endParaRPr lang="en-US" sz="1500" dirty="0"/>
          </a:p>
        </p:txBody>
      </p:sp>
      <p:pic>
        <p:nvPicPr>
          <p:cNvPr id="8" name="Рисунок 7"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FF0C0CFD-EDB6-B0CC-2250-2DCFCFA48A82}"/>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Видео, аудио и iframe</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Мультимедиа и встраивание чужих страниц</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387600"/>
          </a:xfrm>
          <a:prstGeom prst="roundRect">
            <a:avLst>
              <a:gd name="adj" fmla="val 3191"/>
            </a:avLst>
          </a:prstGeom>
          <a:solidFill>
            <a:srgbClr val="2A002A"/>
          </a:solidFill>
          <a:ln/>
        </p:spPr>
        <p:txBody>
          <a:bodyPr wrap="square" lIns="142782" tIns="142782" rIns="0" bIns="1173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&lt;video</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src</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"clip.mp4"</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controls</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width</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"400"</a:t>
            </a:r>
            <a:r>
              <a:rPr lang="en-US" sz="1200" dirty="0">
                <a:solidFill>
                  <a:srgbClr val="FF9DE2"/>
                </a:solidFill>
                <a:latin typeface="JetBrains Mono" pitchFamily="49" charset="0"/>
                <a:ea typeface="JetBrains Mono" pitchFamily="49" charset="-122"/>
                <a:cs typeface="JetBrains Mono" pitchFamily="49" charset="-120"/>
              </a:rPr>
              <a:t>&gt;&lt;/video&gt;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&lt;audio</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src</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"song.mp3"</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controls</a:t>
            </a:r>
            <a:r>
              <a:rPr lang="en-US" sz="1200" dirty="0">
                <a:solidFill>
                  <a:srgbClr val="FF9DE2"/>
                </a:solidFill>
                <a:latin typeface="JetBrains Mono" pitchFamily="49" charset="0"/>
                <a:ea typeface="JetBrains Mono" pitchFamily="49" charset="-122"/>
                <a:cs typeface="JetBrains Mono" pitchFamily="49" charset="-120"/>
              </a:rPr>
              <a:t>&gt;&lt;/audio&gt;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&lt;iframe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src</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"https://example.com"</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width</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"400"</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height</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"150"</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&lt;/iframe&gt;</a:t>
            </a:r>
            <a:endParaRPr lang="en-US" sz="1200" dirty="0"/>
          </a:p>
        </p:txBody>
      </p:sp>
      <p:sp>
        <p:nvSpPr>
          <p:cNvPr id="8" name="Shape 5"/>
          <p:cNvSpPr/>
          <p:nvPr/>
        </p:nvSpPr>
        <p:spPr>
          <a:xfrm>
            <a:off x="6089650" y="1269901"/>
            <a:ext cx="12700" cy="3611662"/>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0" name="Shape 7"/>
          <p:cNvSpPr/>
          <p:nvPr/>
        </p:nvSpPr>
        <p:spPr>
          <a:xfrm>
            <a:off x="6356350" y="1607641"/>
            <a:ext cx="5200650" cy="3273921"/>
          </a:xfrm>
          <a:prstGeom prst="roundRect">
            <a:avLst>
              <a:gd name="adj" fmla="val 2327"/>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8526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media.html</a:t>
            </a:r>
            <a:endParaRPr lang="en-US" sz="1200" dirty="0"/>
          </a:p>
        </p:txBody>
      </p:sp>
      <p:sp>
        <p:nvSpPr>
          <p:cNvPr id="16" name="Text 13"/>
          <p:cNvSpPr/>
          <p:nvPr/>
        </p:nvSpPr>
        <p:spPr>
          <a:xfrm>
            <a:off x="6572250" y="2163862"/>
            <a:ext cx="2667000" cy="952500"/>
          </a:xfrm>
          <a:custGeom>
            <a:avLst/>
            <a:gdLst/>
            <a:ahLst/>
            <a:cxnLst/>
            <a:rect l="l" t="t" r="r" b="b"/>
            <a:pathLst>
              <a:path w="2667000" h="952500">
                <a:moveTo>
                  <a:pt x="0" y="38100"/>
                </a:moveTo>
                <a:arcTo wR="38100" hR="38100" stAng="10800000" swAng="5400000"/>
                <a:lnTo>
                  <a:pt x="2628900" y="0"/>
                </a:lnTo>
                <a:arcTo wR="38100" hR="38100" stAng="16200000" swAng="5400000"/>
                <a:lnTo>
                  <a:pt x="2667000" y="952500"/>
                </a:lnTo>
                <a:lnTo>
                  <a:pt x="0" y="952500"/>
                </a:lnTo>
                <a:close/>
              </a:path>
            </a:pathLst>
          </a:custGeom>
          <a:solidFill>
            <a:srgbClr val="222222"/>
          </a:solidFill>
          <a:ln/>
        </p:spPr>
        <p:txBody>
          <a:bodyPr wrap="square" lIns="0" tIns="0" rIns="0" bIns="0" rtlCol="0" anchor="ctr">
            <a:normAutofit/>
          </a:bodyPr>
          <a:lstStyle/>
          <a:p>
            <a:pPr marL="0" indent="0" algn="ctr">
              <a:lnSpc>
                <a:spcPts val="4480"/>
              </a:lnSpc>
              <a:buNone/>
            </a:pPr>
            <a:r>
              <a:rPr lang="en-US" sz="3200" dirty="0">
                <a:solidFill>
                  <a:srgbClr val="FFFFFF"/>
                </a:solidFill>
                <a:latin typeface="Arial" pitchFamily="34" charset="0"/>
                <a:ea typeface="Arial" pitchFamily="34" charset="-122"/>
                <a:cs typeface="Arial" pitchFamily="34" charset="-120"/>
              </a:rPr>
              <a:t>▶</a:t>
            </a:r>
            <a:endParaRPr lang="en-US" sz="3200" dirty="0"/>
          </a:p>
        </p:txBody>
      </p:sp>
      <p:sp>
        <p:nvSpPr>
          <p:cNvPr id="17" name="Shape 14"/>
          <p:cNvSpPr/>
          <p:nvPr/>
        </p:nvSpPr>
        <p:spPr>
          <a:xfrm>
            <a:off x="6572250" y="3116362"/>
            <a:ext cx="2667000" cy="314920"/>
          </a:xfrm>
          <a:custGeom>
            <a:avLst/>
            <a:gdLst/>
            <a:ahLst/>
            <a:cxnLst/>
            <a:rect l="l" t="t" r="r" b="b"/>
            <a:pathLst>
              <a:path w="2667000" h="314920">
                <a:moveTo>
                  <a:pt x="2667000" y="276820"/>
                </a:moveTo>
                <a:arcTo wR="38100" hR="38100" stAng="0" swAng="5400000"/>
                <a:lnTo>
                  <a:pt x="38100" y="314920"/>
                </a:lnTo>
                <a:arcTo wR="38100" hR="38100" stAng="5400000" swAng="5400000"/>
                <a:lnTo>
                  <a:pt x="0" y="0"/>
                </a:lnTo>
                <a:lnTo>
                  <a:pt x="2667000" y="0"/>
                </a:lnTo>
                <a:close/>
              </a:path>
            </a:pathLst>
          </a:custGeom>
          <a:solidFill>
            <a:srgbClr val="444444"/>
          </a:solidFill>
          <a:ln/>
        </p:spPr>
      </p:sp>
      <p:sp>
        <p:nvSpPr>
          <p:cNvPr id="18" name="Text 15"/>
          <p:cNvSpPr/>
          <p:nvPr/>
        </p:nvSpPr>
        <p:spPr>
          <a:xfrm>
            <a:off x="6673850" y="3167162"/>
            <a:ext cx="1820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19" name="Shape 16"/>
          <p:cNvSpPr/>
          <p:nvPr/>
        </p:nvSpPr>
        <p:spPr>
          <a:xfrm>
            <a:off x="6894016" y="3254772"/>
            <a:ext cx="1858070" cy="38100"/>
          </a:xfrm>
          <a:prstGeom prst="rect">
            <a:avLst/>
          </a:prstGeom>
          <a:solidFill>
            <a:srgbClr val="888888"/>
          </a:solidFill>
          <a:ln/>
        </p:spPr>
      </p:sp>
      <p:sp>
        <p:nvSpPr>
          <p:cNvPr id="20" name="Text 17"/>
          <p:cNvSpPr/>
          <p:nvPr/>
        </p:nvSpPr>
        <p:spPr>
          <a:xfrm>
            <a:off x="8840986" y="3167162"/>
            <a:ext cx="3559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Arial" pitchFamily="34" charset="0"/>
                <a:ea typeface="Arial" pitchFamily="34" charset="-122"/>
                <a:cs typeface="Arial" pitchFamily="34" charset="-120"/>
              </a:rPr>
              <a:t>0:00</a:t>
            </a:r>
            <a:endParaRPr lang="en-US" sz="1200" dirty="0"/>
          </a:p>
        </p:txBody>
      </p:sp>
      <p:sp>
        <p:nvSpPr>
          <p:cNvPr id="21" name="Shape 18"/>
          <p:cNvSpPr/>
          <p:nvPr/>
        </p:nvSpPr>
        <p:spPr>
          <a:xfrm>
            <a:off x="6572250" y="3545582"/>
            <a:ext cx="2667000" cy="358080"/>
          </a:xfrm>
          <a:prstGeom prst="roundRect">
            <a:avLst>
              <a:gd name="adj" fmla="val 50000"/>
            </a:avLst>
          </a:prstGeom>
          <a:solidFill>
            <a:srgbClr val="F1F3F4"/>
          </a:solidFill>
          <a:ln/>
        </p:spPr>
      </p:sp>
      <p:sp>
        <p:nvSpPr>
          <p:cNvPr id="22" name="Text 19"/>
          <p:cNvSpPr/>
          <p:nvPr/>
        </p:nvSpPr>
        <p:spPr>
          <a:xfrm>
            <a:off x="6699250" y="3609082"/>
            <a:ext cx="19308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33333"/>
                </a:solidFill>
                <a:latin typeface="Arial" pitchFamily="34" charset="0"/>
                <a:ea typeface="Arial" pitchFamily="34" charset="-122"/>
                <a:cs typeface="Arial" pitchFamily="34" charset="-120"/>
              </a:rPr>
              <a:t>▶</a:t>
            </a:r>
            <a:endParaRPr lang="en-US" sz="1300" dirty="0"/>
          </a:p>
        </p:txBody>
      </p:sp>
      <p:sp>
        <p:nvSpPr>
          <p:cNvPr id="23" name="Shape 20"/>
          <p:cNvSpPr/>
          <p:nvPr/>
        </p:nvSpPr>
        <p:spPr>
          <a:xfrm>
            <a:off x="6930430" y="3705523"/>
            <a:ext cx="1796256" cy="38100"/>
          </a:xfrm>
          <a:prstGeom prst="rect">
            <a:avLst/>
          </a:prstGeom>
          <a:solidFill>
            <a:srgbClr val="BBBBBB"/>
          </a:solidFill>
          <a:ln/>
        </p:spPr>
      </p:sp>
      <p:sp>
        <p:nvSpPr>
          <p:cNvPr id="24" name="Text 21"/>
          <p:cNvSpPr/>
          <p:nvPr/>
        </p:nvSpPr>
        <p:spPr>
          <a:xfrm>
            <a:off x="8815586" y="3617913"/>
            <a:ext cx="3559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0:00</a:t>
            </a:r>
            <a:endParaRPr lang="en-US" sz="1200" dirty="0"/>
          </a:p>
        </p:txBody>
      </p:sp>
      <p:sp>
        <p:nvSpPr>
          <p:cNvPr id="25" name="Text 22"/>
          <p:cNvSpPr/>
          <p:nvPr/>
        </p:nvSpPr>
        <p:spPr>
          <a:xfrm>
            <a:off x="6578600" y="4024313"/>
            <a:ext cx="2654300" cy="685800"/>
          </a:xfrm>
          <a:prstGeom prst="rect">
            <a:avLst/>
          </a:prstGeom>
          <a:noFill/>
          <a:ln w="12700">
            <a:solidFill>
              <a:srgbClr val="999999"/>
            </a:solidFill>
            <a:prstDash val="solid"/>
          </a:ln>
        </p:spPr>
        <p:txBody>
          <a:bodyPr wrap="square" lIns="6350" tIns="6350" rIns="6350" bIns="6350" rtlCol="0" anchor="ctr">
            <a:normAutofit/>
          </a:bodyPr>
          <a:lstStyle/>
          <a:p>
            <a:pPr marL="0" indent="0" algn="ctr">
              <a:lnSpc>
                <a:spcPts val="1820"/>
              </a:lnSpc>
              <a:buNone/>
            </a:pPr>
            <a:r>
              <a:rPr lang="en-US" sz="1300" dirty="0">
                <a:solidFill>
                  <a:srgbClr val="555555"/>
                </a:solidFill>
                <a:latin typeface="Arial" pitchFamily="34" charset="0"/>
                <a:ea typeface="Arial" pitchFamily="34" charset="-122"/>
                <a:cs typeface="Arial" pitchFamily="34" charset="-120"/>
              </a:rPr>
              <a:t>Встроенная страница</a:t>
            </a:r>
            <a:endParaRPr lang="en-US" sz="1300" dirty="0"/>
          </a:p>
        </p:txBody>
      </p:sp>
      <p:sp>
        <p:nvSpPr>
          <p:cNvPr id="26" name="Text 23"/>
          <p:cNvSpPr/>
          <p:nvPr/>
        </p:nvSpPr>
        <p:spPr>
          <a:xfrm>
            <a:off x="635000" y="5008563"/>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controls показывает кнопки управления; autoplay, loop и muted включают автозапуск, повтор и отключение звука. iframe встраивает чужую страницу: карту, ролик с видеохостинга.</a:t>
            </a:r>
            <a:endParaRPr lang="en-US" sz="1500" dirty="0"/>
          </a:p>
        </p:txBody>
      </p:sp>
      <p:pic>
        <p:nvPicPr>
          <p:cNvPr id="27" name="Рисунок 26"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DBDE5CCF-E664-E909-D85B-65787D4881D2}"/>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Как подключить CSS</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Три способа добавить стили на страницу</a:t>
            </a:r>
            <a:endParaRPr lang="en-US" sz="1600" dirty="0"/>
          </a:p>
        </p:txBody>
      </p:sp>
      <p:sp>
        <p:nvSpPr>
          <p:cNvPr id="6" name="Shape 3"/>
          <p:cNvSpPr/>
          <p:nvPr/>
        </p:nvSpPr>
        <p:spPr>
          <a:xfrm>
            <a:off x="647700" y="1282601"/>
            <a:ext cx="3496667" cy="2696666"/>
          </a:xfrm>
          <a:prstGeom prst="roundRect">
            <a:avLst>
              <a:gd name="adj" fmla="val 3768"/>
            </a:avLst>
          </a:prstGeom>
          <a:noFill/>
          <a:ln w="25400">
            <a:solidFill>
              <a:srgbClr val="972996"/>
            </a:solidFill>
            <a:prstDash val="solid"/>
          </a:ln>
        </p:spPr>
      </p:sp>
      <p:sp>
        <p:nvSpPr>
          <p:cNvPr id="7" name="Text 4"/>
          <p:cNvSpPr/>
          <p:nvPr/>
        </p:nvSpPr>
        <p:spPr>
          <a:xfrm>
            <a:off x="825500" y="1447701"/>
            <a:ext cx="3235299"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972996"/>
                </a:solidFill>
                <a:latin typeface="Carlito" pitchFamily="34" charset="0"/>
                <a:ea typeface="Carlito" pitchFamily="34" charset="-122"/>
                <a:cs typeface="Carlito" pitchFamily="34" charset="-120"/>
              </a:rPr>
              <a:t>1. В самом теге</a:t>
            </a:r>
            <a:endParaRPr lang="en-US" sz="1800" dirty="0"/>
          </a:p>
        </p:txBody>
      </p:sp>
      <p:sp>
        <p:nvSpPr>
          <p:cNvPr id="8" name="Text 5"/>
          <p:cNvSpPr/>
          <p:nvPr/>
        </p:nvSpPr>
        <p:spPr>
          <a:xfrm>
            <a:off x="825500" y="1856581"/>
            <a:ext cx="3141067" cy="914400"/>
          </a:xfrm>
          <a:prstGeom prst="roundRect">
            <a:avLst>
              <a:gd name="adj" fmla="val 6944"/>
            </a:avLst>
          </a:prstGeom>
          <a:solidFill>
            <a:srgbClr val="F6ECF6"/>
          </a:solidFill>
          <a:ln/>
        </p:spPr>
        <p:txBody>
          <a:bodyPr wrap="square" lIns="95701" tIns="95701" rIns="8327" bIns="70301" rtlCol="0" anchor="t">
            <a:normAutofit/>
          </a:bodyPr>
          <a:lstStyle/>
          <a:p>
            <a:pPr marL="0" indent="0" algn="l">
              <a:lnSpc>
                <a:spcPts val="1800"/>
              </a:lnSpc>
              <a:buNone/>
            </a:pPr>
            <a:r>
              <a:rPr lang="en-US" sz="1200" dirty="0">
                <a:solidFill>
                  <a:srgbClr val="A3005F"/>
                </a:solidFill>
                <a:latin typeface="JetBrains Mono" pitchFamily="49" charset="0"/>
                <a:ea typeface="JetBrains Mono" pitchFamily="49" charset="-122"/>
                <a:cs typeface="JetBrains Mono" pitchFamily="49" charset="-120"/>
              </a:rPr>
              <a:t>&lt;p</a:t>
            </a: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7A4A00"/>
                </a:solidFill>
                <a:latin typeface="JetBrains Mono" pitchFamily="49" charset="0"/>
                <a:ea typeface="JetBrains Mono" pitchFamily="49" charset="-122"/>
                <a:cs typeface="JetBrains Mono" pitchFamily="49" charset="-120"/>
              </a:rPr>
              <a:t>style</a:t>
            </a:r>
            <a:r>
              <a:rPr lang="en-US" sz="1200" dirty="0">
                <a:solidFill>
                  <a:srgbClr val="111111"/>
                </a:solidFill>
                <a:latin typeface="JetBrains Mono" pitchFamily="49" charset="0"/>
                <a:ea typeface="JetBrains Mono" pitchFamily="49" charset="-122"/>
                <a:cs typeface="JetBrains Mono" pitchFamily="49" charset="-120"/>
              </a:rPr>
              <a:t>=</a:t>
            </a:r>
            <a:r>
              <a:rPr lang="en-US" sz="1200" dirty="0">
                <a:solidFill>
                  <a:srgbClr val="1B6B2F"/>
                </a:solidFill>
                <a:latin typeface="JetBrains Mono" pitchFamily="49" charset="0"/>
                <a:ea typeface="JetBrains Mono" pitchFamily="49" charset="-122"/>
                <a:cs typeface="JetBrains Mono" pitchFamily="49" charset="-120"/>
              </a:rPr>
              <a:t>"color:red"</a:t>
            </a:r>
            <a:r>
              <a:rPr lang="en-US" sz="1200" dirty="0">
                <a:solidFill>
                  <a:srgbClr val="A3005F"/>
                </a:solidFill>
                <a:latin typeface="JetBrains Mono" pitchFamily="49" charset="0"/>
                <a:ea typeface="JetBrains Mono" pitchFamily="49" charset="-122"/>
                <a:cs typeface="JetBrains Mono" pitchFamily="49" charset="-120"/>
              </a:rPr>
              <a:t>&gt;</a:t>
            </a:r>
            <a:endParaRPr lang="en-US" sz="1200" dirty="0"/>
          </a:p>
          <a:p>
            <a:pPr marL="0" indent="0" algn="l">
              <a:lnSpc>
                <a:spcPts val="1800"/>
              </a:lnSpc>
              <a:buNone/>
            </a:pPr>
            <a:r>
              <a:rPr lang="en-US" sz="1200" dirty="0">
                <a:solidFill>
                  <a:srgbClr val="111111"/>
                </a:solidFill>
                <a:latin typeface="JetBrains Mono" pitchFamily="49" charset="0"/>
                <a:ea typeface="JetBrains Mono" pitchFamily="49" charset="-122"/>
                <a:cs typeface="JetBrains Mono" pitchFamily="49" charset="-120"/>
              </a:rPr>
              <a:t>  Текст</a:t>
            </a:r>
            <a:endParaRPr lang="en-US" sz="1200" dirty="0"/>
          </a:p>
          <a:p>
            <a:pPr marL="0" indent="0" algn="l">
              <a:lnSpc>
                <a:spcPts val="1800"/>
              </a:lnSpc>
              <a:buNone/>
            </a:pPr>
            <a:r>
              <a:rPr lang="en-US" sz="1200" dirty="0">
                <a:solidFill>
                  <a:srgbClr val="A3005F"/>
                </a:solidFill>
                <a:latin typeface="JetBrains Mono" pitchFamily="49" charset="0"/>
                <a:ea typeface="JetBrains Mono" pitchFamily="49" charset="-122"/>
                <a:cs typeface="JetBrains Mono" pitchFamily="49" charset="-120"/>
              </a:rPr>
              <a:t>&lt;/p&gt;</a:t>
            </a:r>
            <a:endParaRPr lang="en-US" sz="1200" dirty="0"/>
          </a:p>
        </p:txBody>
      </p:sp>
      <p:sp>
        <p:nvSpPr>
          <p:cNvPr id="9" name="Text 6"/>
          <p:cNvSpPr/>
          <p:nvPr/>
        </p:nvSpPr>
        <p:spPr>
          <a:xfrm>
            <a:off x="825500" y="2859881"/>
            <a:ext cx="3235299" cy="771029"/>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111111"/>
                </a:solidFill>
                <a:latin typeface="Carlito" pitchFamily="34" charset="0"/>
                <a:ea typeface="Carlito" pitchFamily="34" charset="-122"/>
                <a:cs typeface="Carlito" pitchFamily="34" charset="-120"/>
              </a:rPr>
              <a:t>Атрибут style. Годится для разовой правки, но смешивает код и оформление.</a:t>
            </a:r>
            <a:endParaRPr lang="en-US" sz="1450" dirty="0"/>
          </a:p>
        </p:txBody>
      </p:sp>
      <p:sp>
        <p:nvSpPr>
          <p:cNvPr id="10" name="Shape 7"/>
          <p:cNvSpPr/>
          <p:nvPr/>
        </p:nvSpPr>
        <p:spPr>
          <a:xfrm>
            <a:off x="4347567" y="1282601"/>
            <a:ext cx="3496766" cy="2696666"/>
          </a:xfrm>
          <a:prstGeom prst="roundRect">
            <a:avLst>
              <a:gd name="adj" fmla="val 3768"/>
            </a:avLst>
          </a:prstGeom>
          <a:noFill/>
          <a:ln w="25400">
            <a:solidFill>
              <a:srgbClr val="972996"/>
            </a:solidFill>
            <a:prstDash val="solid"/>
          </a:ln>
        </p:spPr>
      </p:sp>
      <p:sp>
        <p:nvSpPr>
          <p:cNvPr id="11" name="Text 8"/>
          <p:cNvSpPr/>
          <p:nvPr/>
        </p:nvSpPr>
        <p:spPr>
          <a:xfrm>
            <a:off x="4525367" y="1447701"/>
            <a:ext cx="3235401"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972996"/>
                </a:solidFill>
                <a:latin typeface="Carlito" pitchFamily="34" charset="0"/>
                <a:ea typeface="Carlito" pitchFamily="34" charset="-122"/>
                <a:cs typeface="Carlito" pitchFamily="34" charset="-120"/>
              </a:rPr>
              <a:t>2. В теге style</a:t>
            </a:r>
            <a:endParaRPr lang="en-US" sz="1800" dirty="0"/>
          </a:p>
        </p:txBody>
      </p:sp>
      <p:sp>
        <p:nvSpPr>
          <p:cNvPr id="12" name="Text 9"/>
          <p:cNvSpPr/>
          <p:nvPr/>
        </p:nvSpPr>
        <p:spPr>
          <a:xfrm>
            <a:off x="4525367" y="1856581"/>
            <a:ext cx="3141166" cy="1371600"/>
          </a:xfrm>
          <a:prstGeom prst="roundRect">
            <a:avLst>
              <a:gd name="adj" fmla="val 4630"/>
            </a:avLst>
          </a:prstGeom>
          <a:solidFill>
            <a:srgbClr val="F6ECF6"/>
          </a:solidFill>
          <a:ln/>
        </p:spPr>
        <p:txBody>
          <a:bodyPr wrap="square" lIns="95701" tIns="95701" rIns="8324" bIns="70301" rtlCol="0" anchor="t">
            <a:normAutofit/>
          </a:bodyPr>
          <a:lstStyle/>
          <a:p>
            <a:pPr marL="0" indent="0" algn="l">
              <a:lnSpc>
                <a:spcPts val="1800"/>
              </a:lnSpc>
              <a:buNone/>
            </a:pPr>
            <a:r>
              <a:rPr lang="en-US" sz="1200" dirty="0">
                <a:solidFill>
                  <a:srgbClr val="A3005F"/>
                </a:solidFill>
                <a:latin typeface="JetBrains Mono" pitchFamily="49" charset="0"/>
                <a:ea typeface="JetBrains Mono" pitchFamily="49" charset="-122"/>
                <a:cs typeface="JetBrains Mono" pitchFamily="49" charset="-120"/>
              </a:rPr>
              <a:t>&lt;head&gt;</a:t>
            </a:r>
            <a:endParaRPr lang="en-US" sz="1200" dirty="0"/>
          </a:p>
          <a:p>
            <a:pPr marL="0" indent="0" algn="l">
              <a:lnSpc>
                <a:spcPts val="1800"/>
              </a:lnSpc>
              <a:buNone/>
            </a:pP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A3005F"/>
                </a:solidFill>
                <a:latin typeface="JetBrains Mono" pitchFamily="49" charset="0"/>
                <a:ea typeface="JetBrains Mono" pitchFamily="49" charset="-122"/>
                <a:cs typeface="JetBrains Mono" pitchFamily="49" charset="-120"/>
              </a:rPr>
              <a:t>&lt;style&gt;</a:t>
            </a:r>
            <a:endParaRPr lang="en-US" sz="1200" dirty="0"/>
          </a:p>
          <a:p>
            <a:pPr marL="0" indent="0" algn="l">
              <a:lnSpc>
                <a:spcPts val="1800"/>
              </a:lnSpc>
              <a:buNone/>
            </a:pP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A3005F"/>
                </a:solidFill>
                <a:latin typeface="JetBrains Mono" pitchFamily="49" charset="0"/>
                <a:ea typeface="JetBrains Mono" pitchFamily="49" charset="-122"/>
                <a:cs typeface="JetBrains Mono" pitchFamily="49" charset="-120"/>
              </a:rPr>
              <a:t>p</a:t>
            </a:r>
            <a:r>
              <a:rPr lang="en-US" sz="1200" dirty="0">
                <a:solidFill>
                  <a:srgbClr val="111111"/>
                </a:solidFill>
                <a:latin typeface="JetBrains Mono" pitchFamily="49" charset="0"/>
                <a:ea typeface="JetBrains Mono" pitchFamily="49" charset="-122"/>
                <a:cs typeface="JetBrains Mono" pitchFamily="49" charset="-120"/>
              </a:rPr>
              <a:t> { </a:t>
            </a:r>
            <a:r>
              <a:rPr lang="en-US" sz="1200" dirty="0">
                <a:solidFill>
                  <a:srgbClr val="7A4A00"/>
                </a:solidFill>
                <a:latin typeface="JetBrains Mono" pitchFamily="49" charset="0"/>
                <a:ea typeface="JetBrains Mono" pitchFamily="49" charset="-122"/>
                <a:cs typeface="JetBrains Mono" pitchFamily="49" charset="-120"/>
              </a:rPr>
              <a:t>color</a:t>
            </a: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1B6B2F"/>
                </a:solidFill>
                <a:latin typeface="JetBrains Mono" pitchFamily="49" charset="0"/>
                <a:ea typeface="JetBrains Mono" pitchFamily="49" charset="-122"/>
                <a:cs typeface="JetBrains Mono" pitchFamily="49" charset="-120"/>
              </a:rPr>
              <a:t>red</a:t>
            </a:r>
            <a:r>
              <a:rPr lang="en-US" sz="1200" dirty="0">
                <a:solidFill>
                  <a:srgbClr val="111111"/>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A3005F"/>
                </a:solidFill>
                <a:latin typeface="JetBrains Mono" pitchFamily="49" charset="0"/>
                <a:ea typeface="JetBrains Mono" pitchFamily="49" charset="-122"/>
                <a:cs typeface="JetBrains Mono" pitchFamily="49" charset="-120"/>
              </a:rPr>
              <a:t>&lt;/style&gt;</a:t>
            </a:r>
            <a:endParaRPr lang="en-US" sz="1200" dirty="0"/>
          </a:p>
          <a:p>
            <a:pPr marL="0" indent="0" algn="l">
              <a:lnSpc>
                <a:spcPts val="1800"/>
              </a:lnSpc>
              <a:buNone/>
            </a:pPr>
            <a:r>
              <a:rPr lang="en-US" sz="1200" dirty="0">
                <a:solidFill>
                  <a:srgbClr val="A3005F"/>
                </a:solidFill>
                <a:latin typeface="JetBrains Mono" pitchFamily="49" charset="0"/>
                <a:ea typeface="JetBrains Mono" pitchFamily="49" charset="-122"/>
                <a:cs typeface="JetBrains Mono" pitchFamily="49" charset="-120"/>
              </a:rPr>
              <a:t>&lt;/head&gt;</a:t>
            </a:r>
            <a:endParaRPr lang="en-US" sz="1200" dirty="0"/>
          </a:p>
        </p:txBody>
      </p:sp>
      <p:sp>
        <p:nvSpPr>
          <p:cNvPr id="13" name="Text 10"/>
          <p:cNvSpPr/>
          <p:nvPr/>
        </p:nvSpPr>
        <p:spPr>
          <a:xfrm>
            <a:off x="4525367" y="3317081"/>
            <a:ext cx="3235401" cy="522486"/>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111111"/>
                </a:solidFill>
                <a:latin typeface="Carlito" pitchFamily="34" charset="0"/>
                <a:ea typeface="Carlito" pitchFamily="34" charset="-122"/>
                <a:cs typeface="Carlito" pitchFamily="34" charset="-120"/>
              </a:rPr>
              <a:t>Стили в начале страницы. Удобно, когда страница одна.</a:t>
            </a:r>
            <a:endParaRPr lang="en-US" sz="1450" dirty="0"/>
          </a:p>
        </p:txBody>
      </p:sp>
      <p:sp>
        <p:nvSpPr>
          <p:cNvPr id="14" name="Shape 11"/>
          <p:cNvSpPr/>
          <p:nvPr/>
        </p:nvSpPr>
        <p:spPr>
          <a:xfrm>
            <a:off x="8047534" y="1282601"/>
            <a:ext cx="3496766" cy="2696666"/>
          </a:xfrm>
          <a:prstGeom prst="roundRect">
            <a:avLst>
              <a:gd name="adj" fmla="val 3768"/>
            </a:avLst>
          </a:prstGeom>
          <a:noFill/>
          <a:ln w="25400">
            <a:solidFill>
              <a:srgbClr val="972996"/>
            </a:solidFill>
            <a:prstDash val="solid"/>
          </a:ln>
        </p:spPr>
      </p:sp>
      <p:sp>
        <p:nvSpPr>
          <p:cNvPr id="15" name="Text 12"/>
          <p:cNvSpPr/>
          <p:nvPr/>
        </p:nvSpPr>
        <p:spPr>
          <a:xfrm>
            <a:off x="8225334" y="1447701"/>
            <a:ext cx="3235401"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972996"/>
                </a:solidFill>
                <a:latin typeface="Carlito" pitchFamily="34" charset="0"/>
                <a:ea typeface="Carlito" pitchFamily="34" charset="-122"/>
                <a:cs typeface="Carlito" pitchFamily="34" charset="-120"/>
              </a:rPr>
              <a:t>3. Внешний файл</a:t>
            </a:r>
            <a:endParaRPr lang="en-US" sz="1800" dirty="0"/>
          </a:p>
        </p:txBody>
      </p:sp>
      <p:sp>
        <p:nvSpPr>
          <p:cNvPr id="16" name="Text 13"/>
          <p:cNvSpPr/>
          <p:nvPr/>
        </p:nvSpPr>
        <p:spPr>
          <a:xfrm>
            <a:off x="8225334" y="1856581"/>
            <a:ext cx="3141166" cy="1143000"/>
          </a:xfrm>
          <a:prstGeom prst="roundRect">
            <a:avLst>
              <a:gd name="adj" fmla="val 5556"/>
            </a:avLst>
          </a:prstGeom>
          <a:solidFill>
            <a:srgbClr val="F6ECF6"/>
          </a:solidFill>
          <a:ln/>
        </p:spPr>
        <p:txBody>
          <a:bodyPr wrap="square" lIns="95701" tIns="95701" rIns="8324" bIns="70301" rtlCol="0" anchor="t">
            <a:normAutofit/>
          </a:bodyPr>
          <a:lstStyle/>
          <a:p>
            <a:pPr marL="0" indent="0" algn="l">
              <a:lnSpc>
                <a:spcPts val="1800"/>
              </a:lnSpc>
              <a:buNone/>
            </a:pPr>
            <a:r>
              <a:rPr lang="en-US" sz="1200" dirty="0">
                <a:solidFill>
                  <a:srgbClr val="A3005F"/>
                </a:solidFill>
                <a:latin typeface="JetBrains Mono" pitchFamily="49" charset="0"/>
                <a:ea typeface="JetBrains Mono" pitchFamily="49" charset="-122"/>
                <a:cs typeface="JetBrains Mono" pitchFamily="49" charset="-120"/>
              </a:rPr>
              <a:t>&lt;link</a:t>
            </a: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7A4A00"/>
                </a:solidFill>
                <a:latin typeface="JetBrains Mono" pitchFamily="49" charset="0"/>
                <a:ea typeface="JetBrains Mono" pitchFamily="49" charset="-122"/>
                <a:cs typeface="JetBrains Mono" pitchFamily="49" charset="-120"/>
              </a:rPr>
              <a:t>rel</a:t>
            </a:r>
            <a:r>
              <a:rPr lang="en-US" sz="1200" dirty="0">
                <a:solidFill>
                  <a:srgbClr val="111111"/>
                </a:solidFill>
                <a:latin typeface="JetBrains Mono" pitchFamily="49" charset="0"/>
                <a:ea typeface="JetBrains Mono" pitchFamily="49" charset="-122"/>
                <a:cs typeface="JetBrains Mono" pitchFamily="49" charset="-120"/>
              </a:rPr>
              <a:t>=</a:t>
            </a:r>
            <a:r>
              <a:rPr lang="en-US" sz="1200" dirty="0">
                <a:solidFill>
                  <a:srgbClr val="1B6B2F"/>
                </a:solidFill>
                <a:latin typeface="JetBrains Mono" pitchFamily="49" charset="0"/>
                <a:ea typeface="JetBrains Mono" pitchFamily="49" charset="-122"/>
                <a:cs typeface="JetBrains Mono" pitchFamily="49" charset="-120"/>
              </a:rPr>
              <a:t>"stylesheet"</a:t>
            </a:r>
            <a:endParaRPr lang="en-US" sz="1200" dirty="0"/>
          </a:p>
          <a:p>
            <a:pPr marL="0" indent="0" algn="l">
              <a:lnSpc>
                <a:spcPts val="1800"/>
              </a:lnSpc>
              <a:buNone/>
            </a:pP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7A4A00"/>
                </a:solidFill>
                <a:latin typeface="JetBrains Mono" pitchFamily="49" charset="0"/>
                <a:ea typeface="JetBrains Mono" pitchFamily="49" charset="-122"/>
                <a:cs typeface="JetBrains Mono" pitchFamily="49" charset="-120"/>
              </a:rPr>
              <a:t>href</a:t>
            </a:r>
            <a:r>
              <a:rPr lang="en-US" sz="1200" dirty="0">
                <a:solidFill>
                  <a:srgbClr val="111111"/>
                </a:solidFill>
                <a:latin typeface="JetBrains Mono" pitchFamily="49" charset="0"/>
                <a:ea typeface="JetBrains Mono" pitchFamily="49" charset="-122"/>
                <a:cs typeface="JetBrains Mono" pitchFamily="49" charset="-120"/>
              </a:rPr>
              <a:t>=</a:t>
            </a:r>
            <a:r>
              <a:rPr lang="en-US" sz="1200" dirty="0">
                <a:solidFill>
                  <a:srgbClr val="1B6B2F"/>
                </a:solidFill>
                <a:latin typeface="JetBrains Mono" pitchFamily="49" charset="0"/>
                <a:ea typeface="JetBrains Mono" pitchFamily="49" charset="-122"/>
                <a:cs typeface="JetBrains Mono" pitchFamily="49" charset="-120"/>
              </a:rPr>
              <a:t>"style.css"</a:t>
            </a:r>
            <a:r>
              <a:rPr lang="en-US" sz="1200" dirty="0">
                <a:solidFill>
                  <a:srgbClr val="A3005F"/>
                </a:solidFill>
                <a:latin typeface="JetBrains Mono" pitchFamily="49" charset="0"/>
                <a:ea typeface="JetBrains Mono" pitchFamily="49" charset="-122"/>
                <a:cs typeface="JetBrains Mono" pitchFamily="49" charset="-120"/>
              </a:rPr>
              <a:t>&gt;</a:t>
            </a:r>
            <a:endParaRPr lang="en-US" sz="1200" dirty="0"/>
          </a:p>
          <a:p>
            <a:pPr marL="0" indent="0" algn="l">
              <a:lnSpc>
                <a:spcPts val="1800"/>
              </a:lnSpc>
              <a:buNone/>
            </a:pPr>
            <a:r>
              <a:rPr lang="en-US" sz="1200" dirty="0">
                <a:solidFill>
                  <a:srgbClr val="777777"/>
                </a:solidFill>
                <a:latin typeface="JetBrains Mono" pitchFamily="49" charset="0"/>
                <a:ea typeface="JetBrains Mono" pitchFamily="49" charset="-122"/>
                <a:cs typeface="JetBrains Mono" pitchFamily="49" charset="-120"/>
              </a:rPr>
              <a:t>/* style.css */</a:t>
            </a:r>
            <a:endParaRPr lang="en-US" sz="1200" dirty="0"/>
          </a:p>
          <a:p>
            <a:pPr marL="0" indent="0" algn="l">
              <a:lnSpc>
                <a:spcPts val="1800"/>
              </a:lnSpc>
              <a:buNone/>
            </a:pPr>
            <a:r>
              <a:rPr lang="en-US" sz="1200" dirty="0">
                <a:solidFill>
                  <a:srgbClr val="A3005F"/>
                </a:solidFill>
                <a:latin typeface="JetBrains Mono" pitchFamily="49" charset="0"/>
                <a:ea typeface="JetBrains Mono" pitchFamily="49" charset="-122"/>
                <a:cs typeface="JetBrains Mono" pitchFamily="49" charset="-120"/>
              </a:rPr>
              <a:t>p</a:t>
            </a:r>
            <a:r>
              <a:rPr lang="en-US" sz="1200" dirty="0">
                <a:solidFill>
                  <a:srgbClr val="111111"/>
                </a:solidFill>
                <a:latin typeface="JetBrains Mono" pitchFamily="49" charset="0"/>
                <a:ea typeface="JetBrains Mono" pitchFamily="49" charset="-122"/>
                <a:cs typeface="JetBrains Mono" pitchFamily="49" charset="-120"/>
              </a:rPr>
              <a:t> { </a:t>
            </a:r>
            <a:r>
              <a:rPr lang="en-US" sz="1200" dirty="0">
                <a:solidFill>
                  <a:srgbClr val="7A4A00"/>
                </a:solidFill>
                <a:latin typeface="JetBrains Mono" pitchFamily="49" charset="0"/>
                <a:ea typeface="JetBrains Mono" pitchFamily="49" charset="-122"/>
                <a:cs typeface="JetBrains Mono" pitchFamily="49" charset="-120"/>
              </a:rPr>
              <a:t>color</a:t>
            </a: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1B6B2F"/>
                </a:solidFill>
                <a:latin typeface="JetBrains Mono" pitchFamily="49" charset="0"/>
                <a:ea typeface="JetBrains Mono" pitchFamily="49" charset="-122"/>
                <a:cs typeface="JetBrains Mono" pitchFamily="49" charset="-120"/>
              </a:rPr>
              <a:t>red</a:t>
            </a:r>
            <a:r>
              <a:rPr lang="en-US" sz="1200" dirty="0">
                <a:solidFill>
                  <a:srgbClr val="111111"/>
                </a:solidFill>
                <a:latin typeface="JetBrains Mono" pitchFamily="49" charset="0"/>
                <a:ea typeface="JetBrains Mono" pitchFamily="49" charset="-122"/>
                <a:cs typeface="JetBrains Mono" pitchFamily="49" charset="-120"/>
              </a:rPr>
              <a:t>; }</a:t>
            </a:r>
            <a:endParaRPr lang="en-US" sz="1200" dirty="0"/>
          </a:p>
        </p:txBody>
      </p:sp>
      <p:sp>
        <p:nvSpPr>
          <p:cNvPr id="17" name="Text 14"/>
          <p:cNvSpPr/>
          <p:nvPr/>
        </p:nvSpPr>
        <p:spPr>
          <a:xfrm>
            <a:off x="8225334" y="3088481"/>
            <a:ext cx="3235401" cy="522486"/>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111111"/>
                </a:solidFill>
                <a:latin typeface="Carlito" pitchFamily="34" charset="0"/>
                <a:ea typeface="Carlito" pitchFamily="34" charset="-122"/>
                <a:cs typeface="Carlito" pitchFamily="34" charset="-120"/>
              </a:rPr>
              <a:t>Лучший способ: один файл стилей работает для всех страниц сайта.</a:t>
            </a:r>
            <a:endParaRPr lang="en-US" sz="1450" dirty="0"/>
          </a:p>
        </p:txBody>
      </p:sp>
      <p:sp>
        <p:nvSpPr>
          <p:cNvPr id="18" name="Text 15"/>
          <p:cNvSpPr/>
          <p:nvPr/>
        </p:nvSpPr>
        <p:spPr>
          <a:xfrm>
            <a:off x="635000" y="4118967"/>
            <a:ext cx="10795000" cy="717550"/>
          </a:xfrm>
          <a:prstGeom prst="roundRect">
            <a:avLst>
              <a:gd name="adj" fmla="val 10619"/>
            </a:avLst>
          </a:prstGeom>
          <a:solidFill>
            <a:srgbClr val="972996"/>
          </a:solidFill>
          <a:ln/>
        </p:spPr>
        <p:txBody>
          <a:bodyPr wrap="square" lIns="155482" tIns="79282" rIns="0" bIns="538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Если правила конфликтуют, побеждает более конкретное (стиль в теге сильнее всех). При равной силе выигрывает то, что написано ниже.</a:t>
            </a:r>
            <a:endParaRPr lang="en-US" sz="1500" dirty="0"/>
          </a:p>
        </p:txBody>
      </p:sp>
      <p:pic>
        <p:nvPicPr>
          <p:cNvPr id="19" name="Рисунок 18"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586618B4-C4B1-80F0-6324-8F98646832E4}"/>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Синтаксис CSS</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Правило состоит из селектора и блока деклараций</a:t>
            </a:r>
            <a:endParaRPr lang="en-US" sz="1600" dirty="0"/>
          </a:p>
        </p:txBody>
      </p:sp>
      <p:sp>
        <p:nvSpPr>
          <p:cNvPr id="6" name="Text 3"/>
          <p:cNvSpPr/>
          <p:nvPr/>
        </p:nvSpPr>
        <p:spPr>
          <a:xfrm>
            <a:off x="635000" y="1269901"/>
            <a:ext cx="4572000" cy="2379663"/>
          </a:xfrm>
          <a:prstGeom prst="roundRect">
            <a:avLst>
              <a:gd name="adj" fmla="val 3736"/>
            </a:avLst>
          </a:prstGeom>
          <a:solidFill>
            <a:srgbClr val="F6ECF6"/>
          </a:solidFill>
          <a:ln/>
        </p:spPr>
        <p:txBody>
          <a:bodyPr wrap="square" lIns="227962" tIns="164462" rIns="106042" bIns="139062" rtlCol="0" anchor="t">
            <a:normAutofit/>
          </a:bodyPr>
          <a:lstStyle/>
          <a:p>
            <a:pPr marL="0" indent="0" algn="l">
              <a:lnSpc>
                <a:spcPts val="3410"/>
              </a:lnSpc>
              <a:buNone/>
            </a:pPr>
            <a:r>
              <a:rPr lang="en-US" sz="2200" dirty="0">
                <a:solidFill>
                  <a:srgbClr val="A3005F"/>
                </a:solidFill>
                <a:latin typeface="JetBrains Mono" pitchFamily="49" charset="0"/>
                <a:ea typeface="JetBrains Mono" pitchFamily="49" charset="-122"/>
                <a:cs typeface="JetBrains Mono" pitchFamily="49" charset="-120"/>
              </a:rPr>
              <a:t>h1</a:t>
            </a:r>
            <a:r>
              <a:rPr lang="en-US" sz="2200" dirty="0">
                <a:solidFill>
                  <a:srgbClr val="111111"/>
                </a:solidFill>
                <a:latin typeface="JetBrains Mono" pitchFamily="49" charset="0"/>
                <a:ea typeface="JetBrains Mono" pitchFamily="49" charset="-122"/>
                <a:cs typeface="JetBrains Mono" pitchFamily="49" charset="-120"/>
              </a:rPr>
              <a:t> {</a:t>
            </a:r>
            <a:endParaRPr lang="en-US" sz="2200" dirty="0"/>
          </a:p>
          <a:p>
            <a:pPr marL="0" indent="0" algn="l">
              <a:lnSpc>
                <a:spcPts val="3410"/>
              </a:lnSpc>
              <a:buNone/>
            </a:pPr>
            <a:r>
              <a:rPr lang="en-US" sz="2200" dirty="0">
                <a:solidFill>
                  <a:srgbClr val="111111"/>
                </a:solidFill>
                <a:latin typeface="JetBrains Mono" pitchFamily="49" charset="0"/>
                <a:ea typeface="JetBrains Mono" pitchFamily="49" charset="-122"/>
                <a:cs typeface="JetBrains Mono" pitchFamily="49" charset="-120"/>
              </a:rPr>
              <a:t>  </a:t>
            </a:r>
            <a:r>
              <a:rPr lang="en-US" sz="2200" dirty="0">
                <a:solidFill>
                  <a:srgbClr val="7A4A00"/>
                </a:solidFill>
                <a:latin typeface="JetBrains Mono" pitchFamily="49" charset="0"/>
                <a:ea typeface="JetBrains Mono" pitchFamily="49" charset="-122"/>
                <a:cs typeface="JetBrains Mono" pitchFamily="49" charset="-120"/>
              </a:rPr>
              <a:t>color</a:t>
            </a:r>
            <a:r>
              <a:rPr lang="en-US" sz="2200" dirty="0">
                <a:solidFill>
                  <a:srgbClr val="111111"/>
                </a:solidFill>
                <a:latin typeface="JetBrains Mono" pitchFamily="49" charset="0"/>
                <a:ea typeface="JetBrains Mono" pitchFamily="49" charset="-122"/>
                <a:cs typeface="JetBrains Mono" pitchFamily="49" charset="-120"/>
              </a:rPr>
              <a:t>: </a:t>
            </a:r>
            <a:r>
              <a:rPr lang="en-US" sz="2200" dirty="0">
                <a:solidFill>
                  <a:srgbClr val="1B6B2F"/>
                </a:solidFill>
                <a:latin typeface="JetBrains Mono" pitchFamily="49" charset="0"/>
                <a:ea typeface="JetBrains Mono" pitchFamily="49" charset="-122"/>
                <a:cs typeface="JetBrains Mono" pitchFamily="49" charset="-120"/>
              </a:rPr>
              <a:t>purple</a:t>
            </a:r>
            <a:r>
              <a:rPr lang="en-US" sz="2200" dirty="0">
                <a:solidFill>
                  <a:srgbClr val="111111"/>
                </a:solidFill>
                <a:latin typeface="JetBrains Mono" pitchFamily="49" charset="0"/>
                <a:ea typeface="JetBrains Mono" pitchFamily="49" charset="-122"/>
                <a:cs typeface="JetBrains Mono" pitchFamily="49" charset="-120"/>
              </a:rPr>
              <a:t>;</a:t>
            </a:r>
            <a:endParaRPr lang="en-US" sz="2200" dirty="0"/>
          </a:p>
          <a:p>
            <a:pPr marL="0" indent="0" algn="l">
              <a:lnSpc>
                <a:spcPts val="3410"/>
              </a:lnSpc>
              <a:buNone/>
            </a:pPr>
            <a:r>
              <a:rPr lang="en-US" sz="2200" dirty="0">
                <a:solidFill>
                  <a:srgbClr val="111111"/>
                </a:solidFill>
                <a:latin typeface="JetBrains Mono" pitchFamily="49" charset="0"/>
                <a:ea typeface="JetBrains Mono" pitchFamily="49" charset="-122"/>
                <a:cs typeface="JetBrains Mono" pitchFamily="49" charset="-120"/>
              </a:rPr>
              <a:t>  </a:t>
            </a:r>
            <a:r>
              <a:rPr lang="en-US" sz="2200" dirty="0">
                <a:solidFill>
                  <a:srgbClr val="7A4A00"/>
                </a:solidFill>
                <a:latin typeface="JetBrains Mono" pitchFamily="49" charset="0"/>
                <a:ea typeface="JetBrains Mono" pitchFamily="49" charset="-122"/>
                <a:cs typeface="JetBrains Mono" pitchFamily="49" charset="-120"/>
              </a:rPr>
              <a:t>font-size</a:t>
            </a:r>
            <a:r>
              <a:rPr lang="en-US" sz="2200" dirty="0">
                <a:solidFill>
                  <a:srgbClr val="111111"/>
                </a:solidFill>
                <a:latin typeface="JetBrains Mono" pitchFamily="49" charset="0"/>
                <a:ea typeface="JetBrains Mono" pitchFamily="49" charset="-122"/>
                <a:cs typeface="JetBrains Mono" pitchFamily="49" charset="-120"/>
              </a:rPr>
              <a:t>: </a:t>
            </a:r>
            <a:r>
              <a:rPr lang="en-US" sz="2200" dirty="0">
                <a:solidFill>
                  <a:srgbClr val="1B6B2F"/>
                </a:solidFill>
                <a:latin typeface="JetBrains Mono" pitchFamily="49" charset="0"/>
                <a:ea typeface="JetBrains Mono" pitchFamily="49" charset="-122"/>
                <a:cs typeface="JetBrains Mono" pitchFamily="49" charset="-120"/>
              </a:rPr>
              <a:t>40px</a:t>
            </a:r>
            <a:r>
              <a:rPr lang="en-US" sz="2200" dirty="0">
                <a:solidFill>
                  <a:srgbClr val="111111"/>
                </a:solidFill>
                <a:latin typeface="JetBrains Mono" pitchFamily="49" charset="0"/>
                <a:ea typeface="JetBrains Mono" pitchFamily="49" charset="-122"/>
                <a:cs typeface="JetBrains Mono" pitchFamily="49" charset="-120"/>
              </a:rPr>
              <a:t>;</a:t>
            </a:r>
            <a:endParaRPr lang="en-US" sz="2200" dirty="0"/>
          </a:p>
          <a:p>
            <a:pPr marL="0" indent="0" algn="l">
              <a:lnSpc>
                <a:spcPts val="3410"/>
              </a:lnSpc>
              <a:buNone/>
            </a:pPr>
            <a:r>
              <a:rPr lang="en-US" sz="2200" dirty="0">
                <a:solidFill>
                  <a:srgbClr val="111111"/>
                </a:solidFill>
                <a:latin typeface="JetBrains Mono" pitchFamily="49" charset="0"/>
                <a:ea typeface="JetBrains Mono" pitchFamily="49" charset="-122"/>
                <a:cs typeface="JetBrains Mono" pitchFamily="49" charset="-120"/>
              </a:rPr>
              <a:t>}</a:t>
            </a:r>
            <a:endParaRPr lang="en-US" sz="2200" dirty="0"/>
          </a:p>
        </p:txBody>
      </p:sp>
      <p:sp>
        <p:nvSpPr>
          <p:cNvPr id="7" name="Shape 4"/>
          <p:cNvSpPr/>
          <p:nvPr/>
        </p:nvSpPr>
        <p:spPr>
          <a:xfrm>
            <a:off x="5518150" y="1269901"/>
            <a:ext cx="0" cy="528241"/>
          </a:xfrm>
          <a:prstGeom prst="line">
            <a:avLst/>
          </a:prstGeom>
          <a:noFill/>
          <a:ln w="63500">
            <a:solidFill>
              <a:srgbClr val="A3005F"/>
            </a:solidFill>
            <a:prstDash val="solid"/>
          </a:ln>
        </p:spPr>
      </p:sp>
      <p:sp>
        <p:nvSpPr>
          <p:cNvPr id="8" name="Text 5"/>
          <p:cNvSpPr/>
          <p:nvPr/>
        </p:nvSpPr>
        <p:spPr>
          <a:xfrm>
            <a:off x="5676900" y="1269901"/>
            <a:ext cx="605650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1111"/>
                </a:solidFill>
                <a:latin typeface="Carlito" pitchFamily="34" charset="0"/>
                <a:ea typeface="Carlito" pitchFamily="34" charset="-122"/>
                <a:cs typeface="Carlito" pitchFamily="34" charset="-120"/>
              </a:rPr>
              <a:t>Селектор — h1</a:t>
            </a:r>
            <a:endParaRPr lang="en-US" sz="1600" dirty="0"/>
          </a:p>
        </p:txBody>
      </p:sp>
      <p:sp>
        <p:nvSpPr>
          <p:cNvPr id="9" name="Text 6"/>
          <p:cNvSpPr/>
          <p:nvPr/>
        </p:nvSpPr>
        <p:spPr>
          <a:xfrm>
            <a:off x="5676900" y="1567061"/>
            <a:ext cx="6056503"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Кому адресовано правило: тегу, классу, id.</a:t>
            </a:r>
            <a:endParaRPr lang="en-US" sz="1400" dirty="0"/>
          </a:p>
        </p:txBody>
      </p:sp>
      <p:sp>
        <p:nvSpPr>
          <p:cNvPr id="10" name="Shape 7"/>
          <p:cNvSpPr/>
          <p:nvPr/>
        </p:nvSpPr>
        <p:spPr>
          <a:xfrm>
            <a:off x="5518150" y="1887041"/>
            <a:ext cx="0" cy="528241"/>
          </a:xfrm>
          <a:prstGeom prst="line">
            <a:avLst/>
          </a:prstGeom>
          <a:noFill/>
          <a:ln w="63500">
            <a:solidFill>
              <a:srgbClr val="111111"/>
            </a:solidFill>
            <a:prstDash val="solid"/>
          </a:ln>
        </p:spPr>
      </p:sp>
      <p:sp>
        <p:nvSpPr>
          <p:cNvPr id="11" name="Text 8"/>
          <p:cNvSpPr/>
          <p:nvPr/>
        </p:nvSpPr>
        <p:spPr>
          <a:xfrm>
            <a:off x="5676900" y="1887041"/>
            <a:ext cx="605650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1111"/>
                </a:solidFill>
                <a:latin typeface="Carlito" pitchFamily="34" charset="0"/>
                <a:ea typeface="Carlito" pitchFamily="34" charset="-122"/>
                <a:cs typeface="Carlito" pitchFamily="34" charset="-120"/>
              </a:rPr>
              <a:t>Фигурные скобки { }</a:t>
            </a:r>
            <a:endParaRPr lang="en-US" sz="1600" dirty="0"/>
          </a:p>
        </p:txBody>
      </p:sp>
      <p:sp>
        <p:nvSpPr>
          <p:cNvPr id="12" name="Text 9"/>
          <p:cNvSpPr/>
          <p:nvPr/>
        </p:nvSpPr>
        <p:spPr>
          <a:xfrm>
            <a:off x="5676900" y="2184202"/>
            <a:ext cx="6056503"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Внутри них — все объявления для этого селектора.</a:t>
            </a:r>
            <a:endParaRPr lang="en-US" sz="1400" dirty="0"/>
          </a:p>
        </p:txBody>
      </p:sp>
      <p:sp>
        <p:nvSpPr>
          <p:cNvPr id="13" name="Shape 10"/>
          <p:cNvSpPr/>
          <p:nvPr/>
        </p:nvSpPr>
        <p:spPr>
          <a:xfrm>
            <a:off x="5518150" y="2504182"/>
            <a:ext cx="0" cy="528241"/>
          </a:xfrm>
          <a:prstGeom prst="line">
            <a:avLst/>
          </a:prstGeom>
          <a:noFill/>
          <a:ln w="63500">
            <a:solidFill>
              <a:srgbClr val="7A4A00"/>
            </a:solidFill>
            <a:prstDash val="solid"/>
          </a:ln>
        </p:spPr>
      </p:sp>
      <p:sp>
        <p:nvSpPr>
          <p:cNvPr id="14" name="Text 11"/>
          <p:cNvSpPr/>
          <p:nvPr/>
        </p:nvSpPr>
        <p:spPr>
          <a:xfrm>
            <a:off x="5676900" y="2504182"/>
            <a:ext cx="605650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1111"/>
                </a:solidFill>
                <a:latin typeface="Carlito" pitchFamily="34" charset="0"/>
                <a:ea typeface="Carlito" pitchFamily="34" charset="-122"/>
                <a:cs typeface="Carlito" pitchFamily="34" charset="-120"/>
              </a:rPr>
              <a:t>Свойство — color</a:t>
            </a:r>
            <a:endParaRPr lang="en-US" sz="1600" dirty="0"/>
          </a:p>
        </p:txBody>
      </p:sp>
      <p:sp>
        <p:nvSpPr>
          <p:cNvPr id="15" name="Text 12"/>
          <p:cNvSpPr/>
          <p:nvPr/>
        </p:nvSpPr>
        <p:spPr>
          <a:xfrm>
            <a:off x="5676900" y="2801342"/>
            <a:ext cx="6056503"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Что именно меняем: цвет, размер, отступ.</a:t>
            </a:r>
            <a:endParaRPr lang="en-US" sz="1400" dirty="0"/>
          </a:p>
        </p:txBody>
      </p:sp>
      <p:sp>
        <p:nvSpPr>
          <p:cNvPr id="16" name="Shape 13"/>
          <p:cNvSpPr/>
          <p:nvPr/>
        </p:nvSpPr>
        <p:spPr>
          <a:xfrm>
            <a:off x="5518150" y="3121323"/>
            <a:ext cx="0" cy="528241"/>
          </a:xfrm>
          <a:prstGeom prst="line">
            <a:avLst/>
          </a:prstGeom>
          <a:noFill/>
          <a:ln w="63500">
            <a:solidFill>
              <a:srgbClr val="1B6B2F"/>
            </a:solidFill>
            <a:prstDash val="solid"/>
          </a:ln>
        </p:spPr>
      </p:sp>
      <p:sp>
        <p:nvSpPr>
          <p:cNvPr id="17" name="Text 14"/>
          <p:cNvSpPr/>
          <p:nvPr/>
        </p:nvSpPr>
        <p:spPr>
          <a:xfrm>
            <a:off x="5676900" y="3121323"/>
            <a:ext cx="605650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1111"/>
                </a:solidFill>
                <a:latin typeface="Carlito" pitchFamily="34" charset="0"/>
                <a:ea typeface="Carlito" pitchFamily="34" charset="-122"/>
                <a:cs typeface="Carlito" pitchFamily="34" charset="-120"/>
              </a:rPr>
              <a:t>Значение — purple</a:t>
            </a:r>
            <a:endParaRPr lang="en-US" sz="1600" dirty="0"/>
          </a:p>
        </p:txBody>
      </p:sp>
      <p:sp>
        <p:nvSpPr>
          <p:cNvPr id="18" name="Text 15"/>
          <p:cNvSpPr/>
          <p:nvPr/>
        </p:nvSpPr>
        <p:spPr>
          <a:xfrm>
            <a:off x="5676900" y="3418483"/>
            <a:ext cx="6056503"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На что меняем. Пишется после двоеточия.</a:t>
            </a:r>
            <a:endParaRPr lang="en-US" sz="1400" dirty="0"/>
          </a:p>
        </p:txBody>
      </p:sp>
      <p:sp>
        <p:nvSpPr>
          <p:cNvPr id="19" name="Shape 16"/>
          <p:cNvSpPr/>
          <p:nvPr/>
        </p:nvSpPr>
        <p:spPr>
          <a:xfrm>
            <a:off x="647700" y="3789263"/>
            <a:ext cx="5346700" cy="1051421"/>
          </a:xfrm>
          <a:prstGeom prst="roundRect">
            <a:avLst>
              <a:gd name="adj" fmla="val 8455"/>
            </a:avLst>
          </a:prstGeom>
          <a:noFill/>
          <a:ln w="25400">
            <a:solidFill>
              <a:srgbClr val="972996"/>
            </a:solidFill>
            <a:prstDash val="solid"/>
          </a:ln>
        </p:spPr>
      </p:sp>
      <p:sp>
        <p:nvSpPr>
          <p:cNvPr id="20" name="Text 17"/>
          <p:cNvSpPr/>
          <p:nvPr/>
        </p:nvSpPr>
        <p:spPr>
          <a:xfrm>
            <a:off x="825500" y="3916263"/>
            <a:ext cx="51408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972996"/>
                </a:solidFill>
                <a:latin typeface="Carlito" pitchFamily="34" charset="0"/>
                <a:ea typeface="Carlito" pitchFamily="34" charset="-122"/>
                <a:cs typeface="Carlito" pitchFamily="34" charset="-120"/>
              </a:rPr>
              <a:t>Точка с запятой</a:t>
            </a:r>
            <a:endParaRPr lang="en-US" sz="1600" dirty="0"/>
          </a:p>
        </p:txBody>
      </p:sp>
      <p:sp>
        <p:nvSpPr>
          <p:cNvPr id="21" name="Text 18"/>
          <p:cNvSpPr/>
          <p:nvPr/>
        </p:nvSpPr>
        <p:spPr>
          <a:xfrm>
            <a:off x="825500" y="4251523"/>
            <a:ext cx="5140833"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Каждое объявление заканчивается знаком ; — без него следующее свойство не сработает.</a:t>
            </a:r>
            <a:endParaRPr lang="en-US" sz="1400" dirty="0"/>
          </a:p>
        </p:txBody>
      </p:sp>
      <p:sp>
        <p:nvSpPr>
          <p:cNvPr id="22" name="Shape 19"/>
          <p:cNvSpPr/>
          <p:nvPr/>
        </p:nvSpPr>
        <p:spPr>
          <a:xfrm>
            <a:off x="6197600" y="3789263"/>
            <a:ext cx="5346700" cy="1051421"/>
          </a:xfrm>
          <a:prstGeom prst="roundRect">
            <a:avLst>
              <a:gd name="adj" fmla="val 8455"/>
            </a:avLst>
          </a:prstGeom>
          <a:noFill/>
          <a:ln w="25400">
            <a:solidFill>
              <a:srgbClr val="972996"/>
            </a:solidFill>
            <a:prstDash val="solid"/>
          </a:ln>
        </p:spPr>
      </p:sp>
      <p:sp>
        <p:nvSpPr>
          <p:cNvPr id="23" name="Text 20"/>
          <p:cNvSpPr/>
          <p:nvPr/>
        </p:nvSpPr>
        <p:spPr>
          <a:xfrm>
            <a:off x="6375400" y="3916263"/>
            <a:ext cx="51408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972996"/>
                </a:solidFill>
                <a:latin typeface="Carlito" pitchFamily="34" charset="0"/>
                <a:ea typeface="Carlito" pitchFamily="34" charset="-122"/>
                <a:cs typeface="Carlito" pitchFamily="34" charset="-120"/>
              </a:rPr>
              <a:t>Комментарии</a:t>
            </a:r>
            <a:endParaRPr lang="en-US" sz="1600" dirty="0"/>
          </a:p>
        </p:txBody>
      </p:sp>
      <p:sp>
        <p:nvSpPr>
          <p:cNvPr id="24" name="Text 21"/>
          <p:cNvSpPr/>
          <p:nvPr/>
        </p:nvSpPr>
        <p:spPr>
          <a:xfrm>
            <a:off x="6375400" y="4251523"/>
            <a:ext cx="5140833"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Браузер их пропускает: /* заметка для себя */. Группа селекторов: h1, h2 { … }.</a:t>
            </a:r>
            <a:endParaRPr lang="en-US" sz="1400" dirty="0"/>
          </a:p>
        </p:txBody>
      </p:sp>
      <p:pic>
        <p:nvPicPr>
          <p:cNvPr id="25" name="Рисунок 24"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CC554BC1-3EB5-2EB4-A0EF-4A42C565D34A}"/>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Селекторы</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Как выбрать элементы, к которым применится стиль</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1137841"/>
          </a:xfrm>
          <a:prstGeom prst="roundRect">
            <a:avLst>
              <a:gd name="adj" fmla="val 6697"/>
            </a:avLst>
          </a:prstGeom>
          <a:solidFill>
            <a:srgbClr val="2A002A"/>
          </a:solidFill>
          <a:ln/>
        </p:spPr>
        <p:txBody>
          <a:bodyPr wrap="square" lIns="130082" tIns="104682" rIns="0" bIns="792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&lt;p&gt;</a:t>
            </a:r>
            <a:r>
              <a:rPr lang="en-US" sz="1200" dirty="0">
                <a:solidFill>
                  <a:srgbClr val="FFFFFF"/>
                </a:solidFill>
                <a:latin typeface="JetBrains Mono" pitchFamily="49" charset="0"/>
                <a:ea typeface="JetBrains Mono" pitchFamily="49" charset="-122"/>
                <a:cs typeface="JetBrains Mono" pitchFamily="49" charset="-120"/>
              </a:rPr>
              <a:t>Обычный абзац</a:t>
            </a:r>
            <a:r>
              <a:rPr lang="en-US" sz="1200" dirty="0">
                <a:solidFill>
                  <a:srgbClr val="FF9DE2"/>
                </a:solidFill>
                <a:latin typeface="JetBrains Mono" pitchFamily="49" charset="0"/>
                <a:ea typeface="JetBrains Mono" pitchFamily="49" charset="-122"/>
                <a:cs typeface="JetBrains Mono" pitchFamily="49" charset="-120"/>
              </a:rPr>
              <a:t>&lt;/p&gt;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&lt;p</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"note"</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Заметка</a:t>
            </a:r>
            <a:r>
              <a:rPr lang="en-US" sz="1200" dirty="0">
                <a:solidFill>
                  <a:srgbClr val="FF9DE2"/>
                </a:solidFill>
                <a:latin typeface="JetBrains Mono" pitchFamily="49" charset="0"/>
                <a:ea typeface="JetBrains Mono" pitchFamily="49" charset="-122"/>
                <a:cs typeface="JetBrains Mono" pitchFamily="49" charset="-120"/>
              </a:rPr>
              <a:t>&lt;/p&gt;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&lt;p</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"main"</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Главный</a:t>
            </a:r>
            <a:r>
              <a:rPr lang="en-US" sz="1200" dirty="0">
                <a:solidFill>
                  <a:srgbClr val="FF9DE2"/>
                </a:solidFill>
                <a:latin typeface="JetBrains Mono" pitchFamily="49" charset="0"/>
                <a:ea typeface="JetBrains Mono" pitchFamily="49" charset="-122"/>
                <a:cs typeface="JetBrains Mono" pitchFamily="49" charset="-120"/>
              </a:rPr>
              <a:t>&lt;/p&gt;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&lt;ul&gt;&lt;li&gt;</a:t>
            </a:r>
            <a:r>
              <a:rPr lang="en-US" sz="1200" dirty="0">
                <a:solidFill>
                  <a:srgbClr val="FFFFFF"/>
                </a:solidFill>
                <a:latin typeface="JetBrains Mono" pitchFamily="49" charset="0"/>
                <a:ea typeface="JetBrains Mono" pitchFamily="49" charset="-122"/>
                <a:cs typeface="JetBrains Mono" pitchFamily="49" charset="-120"/>
              </a:rPr>
              <a:t>Пункт</a:t>
            </a:r>
            <a:r>
              <a:rPr lang="en-US" sz="1200" dirty="0">
                <a:solidFill>
                  <a:srgbClr val="FF9DE2"/>
                </a:solidFill>
                <a:latin typeface="JetBrains Mono" pitchFamily="49" charset="0"/>
                <a:ea typeface="JetBrains Mono" pitchFamily="49" charset="-122"/>
                <a:cs typeface="JetBrains Mono" pitchFamily="49" charset="-120"/>
              </a:rPr>
              <a:t>&lt;/li&gt;&lt;/ul&gt;</a:t>
            </a:r>
            <a:endParaRPr lang="en-US" sz="1200" dirty="0"/>
          </a:p>
        </p:txBody>
      </p:sp>
      <p:sp>
        <p:nvSpPr>
          <p:cNvPr id="8" name="Text 5"/>
          <p:cNvSpPr/>
          <p:nvPr/>
        </p:nvSpPr>
        <p:spPr>
          <a:xfrm>
            <a:off x="635000" y="2808982"/>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CSS</a:t>
            </a:r>
            <a:endParaRPr lang="en-US" sz="1400" dirty="0"/>
          </a:p>
        </p:txBody>
      </p:sp>
      <p:sp>
        <p:nvSpPr>
          <p:cNvPr id="9" name="Text 6"/>
          <p:cNvSpPr/>
          <p:nvPr/>
        </p:nvSpPr>
        <p:spPr>
          <a:xfrm>
            <a:off x="635000" y="3134023"/>
            <a:ext cx="5200650" cy="1137841"/>
          </a:xfrm>
          <a:prstGeom prst="roundRect">
            <a:avLst>
              <a:gd name="adj" fmla="val 6697"/>
            </a:avLst>
          </a:prstGeom>
          <a:solidFill>
            <a:srgbClr val="2A002A"/>
          </a:solidFill>
          <a:ln/>
        </p:spPr>
        <p:txBody>
          <a:bodyPr wrap="square" lIns="130082" tIns="104682" rIns="0" bIns="792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p</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FFD27F"/>
                </a:solidFill>
                <a:latin typeface="JetBrains Mono" pitchFamily="49" charset="0"/>
                <a:ea typeface="JetBrains Mono" pitchFamily="49" charset="-122"/>
                <a:cs typeface="JetBrains Mono" pitchFamily="49" charset="-120"/>
              </a:rPr>
              <a:t>color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gray</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.note</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FFD27F"/>
                </a:solidFill>
                <a:latin typeface="JetBrains Mono" pitchFamily="49" charset="0"/>
                <a:ea typeface="JetBrains Mono" pitchFamily="49" charset="-122"/>
                <a:cs typeface="JetBrains Mono" pitchFamily="49" charset="-120"/>
              </a:rPr>
              <a:t>color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red</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#main</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FFD27F"/>
                </a:solidFill>
                <a:latin typeface="JetBrains Mono" pitchFamily="49" charset="0"/>
                <a:ea typeface="JetBrains Mono" pitchFamily="49" charset="-122"/>
                <a:cs typeface="JetBrains Mono" pitchFamily="49" charset="-120"/>
              </a:rPr>
              <a:t>font-weight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bold</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ul li</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FFD27F"/>
                </a:solidFill>
                <a:latin typeface="JetBrains Mono" pitchFamily="49" charset="0"/>
                <a:ea typeface="JetBrains Mono" pitchFamily="49" charset="-122"/>
                <a:cs typeface="JetBrains Mono" pitchFamily="49" charset="-120"/>
              </a:rPr>
              <a:t>color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blue</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p:txBody>
      </p:sp>
      <p:sp>
        <p:nvSpPr>
          <p:cNvPr id="10" name="Shape 7"/>
          <p:cNvSpPr/>
          <p:nvPr/>
        </p:nvSpPr>
        <p:spPr>
          <a:xfrm>
            <a:off x="6089650" y="1269901"/>
            <a:ext cx="12700" cy="3001963"/>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2" name="Shape 9"/>
          <p:cNvSpPr/>
          <p:nvPr/>
        </p:nvSpPr>
        <p:spPr>
          <a:xfrm>
            <a:off x="6356350" y="1594941"/>
            <a:ext cx="5200650" cy="2062361"/>
          </a:xfrm>
          <a:prstGeom prst="roundRect">
            <a:avLst>
              <a:gd name="adj" fmla="val 3695"/>
            </a:avLst>
          </a:prstGeom>
          <a:solidFill>
            <a:srgbClr val="FFFFFF"/>
          </a:solidFill>
          <a:ln/>
        </p:spPr>
      </p:sp>
      <p:sp>
        <p:nvSpPr>
          <p:cNvPr id="13" name="Shape 10"/>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4" name="Shape 11"/>
          <p:cNvSpPr/>
          <p:nvPr/>
        </p:nvSpPr>
        <p:spPr>
          <a:xfrm>
            <a:off x="6483350" y="1739702"/>
            <a:ext cx="101600" cy="101600"/>
          </a:xfrm>
          <a:prstGeom prst="roundRect">
            <a:avLst>
              <a:gd name="adj" fmla="val 50000"/>
            </a:avLst>
          </a:prstGeom>
          <a:solidFill>
            <a:srgbClr val="E57373"/>
          </a:solidFill>
          <a:ln/>
        </p:spPr>
      </p:sp>
      <p:sp>
        <p:nvSpPr>
          <p:cNvPr id="15" name="Shape 12"/>
          <p:cNvSpPr/>
          <p:nvPr/>
        </p:nvSpPr>
        <p:spPr>
          <a:xfrm>
            <a:off x="6648450" y="1739702"/>
            <a:ext cx="101600" cy="101600"/>
          </a:xfrm>
          <a:prstGeom prst="roundRect">
            <a:avLst>
              <a:gd name="adj" fmla="val 50000"/>
            </a:avLst>
          </a:prstGeom>
          <a:solidFill>
            <a:srgbClr val="FFD54F"/>
          </a:solidFill>
          <a:ln/>
        </p:spPr>
      </p:sp>
      <p:sp>
        <p:nvSpPr>
          <p:cNvPr id="16" name="Shape 13"/>
          <p:cNvSpPr/>
          <p:nvPr/>
        </p:nvSpPr>
        <p:spPr>
          <a:xfrm>
            <a:off x="6813550" y="1739702"/>
            <a:ext cx="101600" cy="101600"/>
          </a:xfrm>
          <a:prstGeom prst="roundRect">
            <a:avLst>
              <a:gd name="adj" fmla="val 50000"/>
            </a:avLst>
          </a:prstGeom>
          <a:solidFill>
            <a:srgbClr val="81C784"/>
          </a:solidFill>
          <a:ln/>
        </p:spPr>
      </p:sp>
      <p:sp>
        <p:nvSpPr>
          <p:cNvPr id="17" name="Text 14"/>
          <p:cNvSpPr/>
          <p:nvPr/>
        </p:nvSpPr>
        <p:spPr>
          <a:xfrm>
            <a:off x="7054850" y="1683841"/>
            <a:ext cx="10508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selectors.html</a:t>
            </a:r>
            <a:endParaRPr lang="en-US" sz="1200" dirty="0"/>
          </a:p>
        </p:txBody>
      </p:sp>
      <p:sp>
        <p:nvSpPr>
          <p:cNvPr id="18" name="Text 15"/>
          <p:cNvSpPr/>
          <p:nvPr/>
        </p:nvSpPr>
        <p:spPr>
          <a:xfrm>
            <a:off x="6572250" y="2151162"/>
            <a:ext cx="4911916"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808080"/>
                </a:solidFill>
                <a:latin typeface="Times New Roman" pitchFamily="18" charset="0"/>
                <a:ea typeface="Times New Roman" pitchFamily="18" charset="-122"/>
                <a:cs typeface="Times New Roman" pitchFamily="18" charset="-120"/>
              </a:rPr>
              <a:t>Обычный абзац</a:t>
            </a:r>
            <a:endParaRPr lang="en-US" sz="1700" dirty="0"/>
          </a:p>
        </p:txBody>
      </p:sp>
      <p:sp>
        <p:nvSpPr>
          <p:cNvPr id="19" name="Text 16"/>
          <p:cNvSpPr/>
          <p:nvPr/>
        </p:nvSpPr>
        <p:spPr>
          <a:xfrm>
            <a:off x="6572250" y="2511822"/>
            <a:ext cx="4911916"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D32F2F"/>
                </a:solidFill>
                <a:latin typeface="Times New Roman" pitchFamily="18" charset="0"/>
                <a:ea typeface="Times New Roman" pitchFamily="18" charset="-122"/>
                <a:cs typeface="Times New Roman" pitchFamily="18" charset="-120"/>
              </a:rPr>
              <a:t>Заметка</a:t>
            </a:r>
            <a:endParaRPr lang="en-US" sz="1700" dirty="0"/>
          </a:p>
        </p:txBody>
      </p:sp>
      <p:sp>
        <p:nvSpPr>
          <p:cNvPr id="20" name="Text 17"/>
          <p:cNvSpPr/>
          <p:nvPr/>
        </p:nvSpPr>
        <p:spPr>
          <a:xfrm>
            <a:off x="6572250" y="2872482"/>
            <a:ext cx="491191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808080"/>
                </a:solidFill>
                <a:latin typeface="Times New Roman" pitchFamily="18" charset="0"/>
                <a:ea typeface="Times New Roman" pitchFamily="18" charset="-122"/>
                <a:cs typeface="Times New Roman" pitchFamily="18" charset="-120"/>
              </a:rPr>
              <a:t>Главный</a:t>
            </a:r>
            <a:endParaRPr lang="en-US" sz="1700" dirty="0"/>
          </a:p>
        </p:txBody>
      </p:sp>
      <p:sp>
        <p:nvSpPr>
          <p:cNvPr id="21" name="Text 18"/>
          <p:cNvSpPr/>
          <p:nvPr/>
        </p:nvSpPr>
        <p:spPr>
          <a:xfrm>
            <a:off x="6641846" y="3233142"/>
            <a:ext cx="4834700" cy="284460"/>
          </a:xfrm>
          <a:prstGeom prst="rect">
            <a:avLst/>
          </a:prstGeom>
          <a:noFill/>
          <a:ln/>
        </p:spPr>
        <p:txBody>
          <a:bodyPr wrap="square" lIns="0" tIns="0" rIns="0" bIns="0" rtlCol="0" anchor="t">
            <a:normAutofit/>
          </a:bodyPr>
          <a:lstStyle/>
          <a:p>
            <a:pPr marL="184404" indent="-184404" algn="l">
              <a:lnSpc>
                <a:spcPts val="2040"/>
              </a:lnSpc>
              <a:buSzPct val="100000"/>
              <a:buChar char="•"/>
            </a:pPr>
            <a:r>
              <a:rPr lang="en-US" sz="1700" dirty="0">
                <a:solidFill>
                  <a:srgbClr val="0000FF"/>
                </a:solidFill>
                <a:latin typeface="Times New Roman" pitchFamily="18" charset="0"/>
                <a:ea typeface="Times New Roman" pitchFamily="18" charset="-122"/>
                <a:cs typeface="Times New Roman" pitchFamily="18" charset="-120"/>
              </a:rPr>
              <a:t>Пункт</a:t>
            </a:r>
            <a:endParaRPr lang="en-US" sz="1700" dirty="0"/>
          </a:p>
        </p:txBody>
      </p:sp>
      <p:sp>
        <p:nvSpPr>
          <p:cNvPr id="22" name="Text 19"/>
          <p:cNvSpPr/>
          <p:nvPr/>
        </p:nvSpPr>
        <p:spPr>
          <a:xfrm>
            <a:off x="635000" y="4398863"/>
            <a:ext cx="10922000" cy="451743"/>
          </a:xfrm>
          <a:prstGeom prst="roundRect">
            <a:avLst>
              <a:gd name="adj" fmla="val 16868"/>
            </a:avLst>
          </a:prstGeom>
          <a:solidFill>
            <a:srgbClr val="7A1F79"/>
          </a:solidFill>
          <a:ln/>
        </p:spPr>
        <p:txBody>
          <a:bodyPr wrap="square" lIns="142782" tIns="79282" rIns="0" bIns="53882" rtlCol="0" anchor="t">
            <a:normAutofit/>
          </a:bodyPr>
          <a:lstStyle/>
          <a:p>
            <a:pPr marL="0" indent="0" algn="l">
              <a:lnSpc>
                <a:spcPts val="1958"/>
              </a:lnSpc>
              <a:buNone/>
            </a:pPr>
            <a:r>
              <a:rPr lang="en-US" sz="1450" dirty="0">
                <a:solidFill>
                  <a:srgbClr val="FFFFFF"/>
                </a:solidFill>
                <a:latin typeface="Carlito" pitchFamily="34" charset="0"/>
                <a:ea typeface="Carlito" pitchFamily="34" charset="-122"/>
                <a:cs typeface="Carlito" pitchFamily="34" charset="-120"/>
              </a:rPr>
              <a:t>Тег — p, класс — .note (точка), id — #main (решётка), потомок — ul li (пробел), группа — h1, h2 (запятая), псевдокласс — a:hover.</a:t>
            </a:r>
            <a:endParaRPr lang="en-US" sz="1450" dirty="0"/>
          </a:p>
        </p:txBody>
      </p:sp>
      <p:pic>
        <p:nvPicPr>
          <p:cNvPr id="23" name="Рисунок 22"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D0B66A30-090F-0EB5-B7B0-B94F4DDB8A2E}"/>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Приоритет селекторов</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Когда несколько правил задают одно и то же свойство, побеждает самое «весомое»</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7700" y="1282601"/>
          <a:ext cx="10782300" cy="2063750"/>
        </p:xfrm>
        <a:graphic>
          <a:graphicData uri="http://schemas.openxmlformats.org/drawingml/2006/table">
            <a:tbl>
              <a:tblPr/>
              <a:tblGrid>
                <a:gridCol w="1293876">
                  <a:extLst>
                    <a:ext uri="{9D8B030D-6E8A-4147-A177-3AD203B41FA5}">
                      <a16:colId xmlns:a16="http://schemas.microsoft.com/office/drawing/2014/main" val="20000"/>
                    </a:ext>
                  </a:extLst>
                </a:gridCol>
                <a:gridCol w="3881628">
                  <a:extLst>
                    <a:ext uri="{9D8B030D-6E8A-4147-A177-3AD203B41FA5}">
                      <a16:colId xmlns:a16="http://schemas.microsoft.com/office/drawing/2014/main" val="20001"/>
                    </a:ext>
                  </a:extLst>
                </a:gridCol>
                <a:gridCol w="5606796">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FFFFFF"/>
                          </a:solidFill>
                          <a:latin typeface="Carlito" pitchFamily="34" charset="0"/>
                          <a:ea typeface="Carlito" pitchFamily="34" charset="-122"/>
                          <a:cs typeface="Carlito" pitchFamily="34" charset="-120"/>
                        </a:rPr>
                        <a:t>Вес</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2100"/>
                        </a:lnSpc>
                        <a:buNone/>
                      </a:pPr>
                      <a:r>
                        <a:rPr lang="en-US" sz="1500" b="1" dirty="0">
                          <a:solidFill>
                            <a:srgbClr val="FFFFFF"/>
                          </a:solidFill>
                          <a:latin typeface="Carlito" pitchFamily="34" charset="0"/>
                          <a:ea typeface="Carlito" pitchFamily="34" charset="-122"/>
                          <a:cs typeface="Carlito" pitchFamily="34" charset="-120"/>
                        </a:rPr>
                        <a:t>Вид селектора</a:t>
                      </a:r>
                      <a:endParaRPr lang="en-US" sz="1500" dirty="0">
                        <a:latin typeface="Carlito" charset="0"/>
                        <a:ea typeface="Carlito" charset="0"/>
                        <a:cs typeface="Carlito" charset="0"/>
                      </a:endParaRPr>
                    </a:p>
                  </a:txBody>
                  <a:tcPr marL="66675" marR="66675" marT="66675" marB="66675">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2100"/>
                        </a:lnSpc>
                        <a:buNone/>
                      </a:pPr>
                      <a:r>
                        <a:rPr lang="en-US" sz="1500" b="1" dirty="0">
                          <a:solidFill>
                            <a:srgbClr val="FFFFFF"/>
                          </a:solidFill>
                          <a:latin typeface="Carlito" pitchFamily="34" charset="0"/>
                          <a:ea typeface="Carlito" pitchFamily="34" charset="-122"/>
                          <a:cs typeface="Carlito" pitchFamily="34" charset="-120"/>
                        </a:rPr>
                        <a:t>Пример</a:t>
                      </a:r>
                      <a:endParaRPr lang="en-US" sz="1500" dirty="0">
                        <a:latin typeface="Carlito" charset="0"/>
                        <a:ea typeface="Carlito" charset="0"/>
                        <a:cs typeface="Carlito" charset="0"/>
                      </a:endParaRPr>
                    </a:p>
                  </a:txBody>
                  <a:tcPr marL="66675" marR="66675" marT="66675" marB="66675">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1000</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Стиль в самом теге</a:t>
                      </a:r>
                      <a:endParaRPr lang="en-US" sz="1500" dirty="0">
                        <a:latin typeface="Carlito" charset="0"/>
                        <a:ea typeface="Carlito" charset="0"/>
                        <a:cs typeface="Carlito" charset="0"/>
                      </a:endParaRPr>
                    </a:p>
                  </a:txBody>
                  <a:tcPr marL="66675" marR="66675" marT="66675" marB="66675">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&lt;p style="color:red"&gt;</a:t>
                      </a:r>
                      <a:endParaRPr lang="en-US" sz="1500" dirty="0">
                        <a:latin typeface="Carlito" charset="0"/>
                        <a:ea typeface="Carlito" charset="0"/>
                        <a:cs typeface="Carlito" charset="0"/>
                      </a:endParaRPr>
                    </a:p>
                  </a:txBody>
                  <a:tcPr marL="66675" marR="66675" marT="66675" marB="66675">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100</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Идентификатор</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#main { … }</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10</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Класс, псевдокласс, атрибут</a:t>
                      </a:r>
                      <a:endParaRPr lang="en-US" sz="1500" dirty="0">
                        <a:latin typeface="Carlito" charset="0"/>
                        <a:ea typeface="Carlito" charset="0"/>
                        <a:cs typeface="Carlito" charset="0"/>
                      </a:endParaRPr>
                    </a:p>
                  </a:txBody>
                  <a:tcPr marL="66675" marR="66675" marT="66675" marB="66675">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.note { … }, a:hover { … }</a:t>
                      </a:r>
                      <a:endParaRPr lang="en-US" sz="1500" dirty="0">
                        <a:latin typeface="Carlito" charset="0"/>
                        <a:ea typeface="Carlito" charset="0"/>
                        <a:cs typeface="Carlito" charset="0"/>
                      </a:endParaRPr>
                    </a:p>
                  </a:txBody>
                  <a:tcPr marL="66675" marR="66675" marT="66675" marB="66675">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1</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Тег</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arlito" pitchFamily="34" charset="0"/>
                          <a:ea typeface="Carlito" pitchFamily="34" charset="-122"/>
                          <a:cs typeface="Carlito" pitchFamily="34" charset="-120"/>
                        </a:rPr>
                        <a:t>p { … }</a:t>
                      </a:r>
                      <a:endParaRPr lang="en-US" sz="1500" dirty="0">
                        <a:latin typeface="Carlito" charset="0"/>
                        <a:ea typeface="Carlito" charset="0"/>
                        <a:cs typeface="Carlito"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3"/>
          <p:cNvSpPr/>
          <p:nvPr/>
        </p:nvSpPr>
        <p:spPr>
          <a:xfrm>
            <a:off x="647700" y="3486051"/>
            <a:ext cx="5346700" cy="1728192"/>
          </a:xfrm>
          <a:prstGeom prst="roundRect">
            <a:avLst>
              <a:gd name="adj" fmla="val 5144"/>
            </a:avLst>
          </a:prstGeom>
          <a:noFill/>
          <a:ln w="25400">
            <a:solidFill>
              <a:srgbClr val="972996"/>
            </a:solidFill>
            <a:prstDash val="solid"/>
          </a:ln>
        </p:spPr>
      </p:sp>
      <p:sp>
        <p:nvSpPr>
          <p:cNvPr id="8" name="Text 4"/>
          <p:cNvSpPr/>
          <p:nvPr/>
        </p:nvSpPr>
        <p:spPr>
          <a:xfrm>
            <a:off x="825500" y="3625751"/>
            <a:ext cx="5140833"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972996"/>
                </a:solidFill>
                <a:latin typeface="Carlito" pitchFamily="34" charset="0"/>
                <a:ea typeface="Carlito" pitchFamily="34" charset="-122"/>
                <a:cs typeface="Carlito" pitchFamily="34" charset="-120"/>
              </a:rPr>
              <a:t>Пример</a:t>
            </a:r>
            <a:endParaRPr lang="en-US" sz="1700" dirty="0"/>
          </a:p>
        </p:txBody>
      </p:sp>
      <p:sp>
        <p:nvSpPr>
          <p:cNvPr id="9" name="Text 5"/>
          <p:cNvSpPr/>
          <p:nvPr/>
        </p:nvSpPr>
        <p:spPr>
          <a:xfrm>
            <a:off x="825500" y="4004171"/>
            <a:ext cx="4991100" cy="698500"/>
          </a:xfrm>
          <a:prstGeom prst="roundRect">
            <a:avLst>
              <a:gd name="adj" fmla="val 9091"/>
            </a:avLst>
          </a:prstGeom>
          <a:solidFill>
            <a:srgbClr val="F6ECF6"/>
          </a:solidFill>
          <a:ln/>
        </p:spPr>
        <p:txBody>
          <a:bodyPr wrap="square" lIns="108401" tIns="83001" rIns="0" bIns="57601" rtlCol="0" anchor="t">
            <a:normAutofit/>
          </a:bodyPr>
          <a:lstStyle/>
          <a:p>
            <a:pPr marL="0" indent="0" algn="l">
              <a:lnSpc>
                <a:spcPts val="1950"/>
              </a:lnSpc>
              <a:buNone/>
            </a:pPr>
            <a:r>
              <a:rPr lang="en-US" sz="1300" dirty="0">
                <a:solidFill>
                  <a:srgbClr val="A3005F"/>
                </a:solidFill>
                <a:latin typeface="JetBrains Mono" pitchFamily="49" charset="0"/>
                <a:ea typeface="JetBrains Mono" pitchFamily="49" charset="-122"/>
                <a:cs typeface="JetBrains Mono" pitchFamily="49" charset="-120"/>
              </a:rPr>
              <a:t>p</a:t>
            </a:r>
            <a:r>
              <a:rPr lang="en-US" sz="1300" dirty="0">
                <a:solidFill>
                  <a:srgbClr val="111111"/>
                </a:solidFill>
                <a:latin typeface="JetBrains Mono" pitchFamily="49" charset="0"/>
                <a:ea typeface="JetBrains Mono" pitchFamily="49" charset="-122"/>
                <a:cs typeface="JetBrains Mono" pitchFamily="49" charset="-120"/>
              </a:rPr>
              <a:t> { </a:t>
            </a:r>
            <a:r>
              <a:rPr lang="en-US" sz="1300" dirty="0">
                <a:solidFill>
                  <a:srgbClr val="7A4A00"/>
                </a:solidFill>
                <a:latin typeface="JetBrains Mono" pitchFamily="49" charset="0"/>
                <a:ea typeface="JetBrains Mono" pitchFamily="49" charset="-122"/>
                <a:cs typeface="JetBrains Mono" pitchFamily="49" charset="-120"/>
              </a:rPr>
              <a:t>color</a:t>
            </a:r>
            <a:r>
              <a:rPr lang="en-US" sz="1300" dirty="0">
                <a:solidFill>
                  <a:srgbClr val="111111"/>
                </a:solidFill>
                <a:latin typeface="JetBrains Mono" pitchFamily="49" charset="0"/>
                <a:ea typeface="JetBrains Mono" pitchFamily="49" charset="-122"/>
                <a:cs typeface="JetBrains Mono" pitchFamily="49" charset="-120"/>
              </a:rPr>
              <a:t>: </a:t>
            </a:r>
            <a:r>
              <a:rPr lang="en-US" sz="1300" dirty="0">
                <a:solidFill>
                  <a:srgbClr val="1B6B2F"/>
                </a:solidFill>
                <a:latin typeface="JetBrains Mono" pitchFamily="49" charset="0"/>
                <a:ea typeface="JetBrains Mono" pitchFamily="49" charset="-122"/>
                <a:cs typeface="JetBrains Mono" pitchFamily="49" charset="-120"/>
              </a:rPr>
              <a:t>gray</a:t>
            </a:r>
            <a:r>
              <a:rPr lang="en-US" sz="1300" dirty="0">
                <a:solidFill>
                  <a:srgbClr val="111111"/>
                </a:solidFill>
                <a:latin typeface="JetBrains Mono" pitchFamily="49" charset="0"/>
                <a:ea typeface="JetBrains Mono" pitchFamily="49" charset="-122"/>
                <a:cs typeface="JetBrains Mono" pitchFamily="49" charset="-120"/>
              </a:rPr>
              <a:t>; }</a:t>
            </a:r>
            <a:r>
              <a:rPr lang="en-US" sz="1300" dirty="0">
                <a:solidFill>
                  <a:srgbClr val="777777"/>
                </a:solidFill>
                <a:latin typeface="JetBrains Mono" pitchFamily="49" charset="0"/>
                <a:ea typeface="JetBrains Mono" pitchFamily="49" charset="-122"/>
                <a:cs typeface="JetBrains Mono" pitchFamily="49" charset="-120"/>
              </a:rPr>
              <a:t> /* 1 */</a:t>
            </a:r>
            <a:endParaRPr lang="en-US" sz="1300" dirty="0"/>
          </a:p>
          <a:p>
            <a:pPr marL="0" indent="0" algn="l">
              <a:lnSpc>
                <a:spcPts val="1950"/>
              </a:lnSpc>
              <a:buNone/>
            </a:pPr>
            <a:r>
              <a:rPr lang="en-US" sz="1300" dirty="0">
                <a:solidFill>
                  <a:srgbClr val="A3005F"/>
                </a:solidFill>
                <a:latin typeface="JetBrains Mono" pitchFamily="49" charset="0"/>
                <a:ea typeface="JetBrains Mono" pitchFamily="49" charset="-122"/>
                <a:cs typeface="JetBrains Mono" pitchFamily="49" charset="-120"/>
              </a:rPr>
              <a:t>.note</a:t>
            </a:r>
            <a:r>
              <a:rPr lang="en-US" sz="1300" dirty="0">
                <a:solidFill>
                  <a:srgbClr val="111111"/>
                </a:solidFill>
                <a:latin typeface="JetBrains Mono" pitchFamily="49" charset="0"/>
                <a:ea typeface="JetBrains Mono" pitchFamily="49" charset="-122"/>
                <a:cs typeface="JetBrains Mono" pitchFamily="49" charset="-120"/>
              </a:rPr>
              <a:t> { </a:t>
            </a:r>
            <a:r>
              <a:rPr lang="en-US" sz="1300" dirty="0">
                <a:solidFill>
                  <a:srgbClr val="7A4A00"/>
                </a:solidFill>
                <a:latin typeface="JetBrains Mono" pitchFamily="49" charset="0"/>
                <a:ea typeface="JetBrains Mono" pitchFamily="49" charset="-122"/>
                <a:cs typeface="JetBrains Mono" pitchFamily="49" charset="-120"/>
              </a:rPr>
              <a:t>color</a:t>
            </a:r>
            <a:r>
              <a:rPr lang="en-US" sz="1300" dirty="0">
                <a:solidFill>
                  <a:srgbClr val="111111"/>
                </a:solidFill>
                <a:latin typeface="JetBrains Mono" pitchFamily="49" charset="0"/>
                <a:ea typeface="JetBrains Mono" pitchFamily="49" charset="-122"/>
                <a:cs typeface="JetBrains Mono" pitchFamily="49" charset="-120"/>
              </a:rPr>
              <a:t>: </a:t>
            </a:r>
            <a:r>
              <a:rPr lang="en-US" sz="1300" dirty="0">
                <a:solidFill>
                  <a:srgbClr val="1B6B2F"/>
                </a:solidFill>
                <a:latin typeface="JetBrains Mono" pitchFamily="49" charset="0"/>
                <a:ea typeface="JetBrains Mono" pitchFamily="49" charset="-122"/>
                <a:cs typeface="JetBrains Mono" pitchFamily="49" charset="-120"/>
              </a:rPr>
              <a:t>red</a:t>
            </a:r>
            <a:r>
              <a:rPr lang="en-US" sz="1300" dirty="0">
                <a:solidFill>
                  <a:srgbClr val="111111"/>
                </a:solidFill>
                <a:latin typeface="JetBrains Mono" pitchFamily="49" charset="0"/>
                <a:ea typeface="JetBrains Mono" pitchFamily="49" charset="-122"/>
                <a:cs typeface="JetBrains Mono" pitchFamily="49" charset="-120"/>
              </a:rPr>
              <a:t>; }</a:t>
            </a:r>
            <a:r>
              <a:rPr lang="en-US" sz="1300" dirty="0">
                <a:solidFill>
                  <a:srgbClr val="777777"/>
                </a:solidFill>
                <a:latin typeface="JetBrains Mono" pitchFamily="49" charset="0"/>
                <a:ea typeface="JetBrains Mono" pitchFamily="49" charset="-122"/>
                <a:cs typeface="JetBrains Mono" pitchFamily="49" charset="-120"/>
              </a:rPr>
              <a:t> /* 10 */</a:t>
            </a:r>
            <a:endParaRPr lang="en-US" sz="1300" dirty="0"/>
          </a:p>
        </p:txBody>
      </p:sp>
      <p:sp>
        <p:nvSpPr>
          <p:cNvPr id="10" name="Text 6"/>
          <p:cNvSpPr/>
          <p:nvPr/>
        </p:nvSpPr>
        <p:spPr>
          <a:xfrm>
            <a:off x="825500" y="4778871"/>
            <a:ext cx="5140833" cy="273943"/>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111111"/>
                </a:solidFill>
                <a:latin typeface="Carlito" pitchFamily="34" charset="0"/>
                <a:ea typeface="Carlito" pitchFamily="34" charset="-122"/>
                <a:cs typeface="Carlito" pitchFamily="34" charset="-120"/>
              </a:rPr>
              <a:t>Абзац с классом note будет красным: 10 больше, чем 1.</a:t>
            </a:r>
            <a:endParaRPr lang="en-US" sz="1450" dirty="0"/>
          </a:p>
        </p:txBody>
      </p:sp>
      <p:sp>
        <p:nvSpPr>
          <p:cNvPr id="11" name="Shape 7"/>
          <p:cNvSpPr/>
          <p:nvPr/>
        </p:nvSpPr>
        <p:spPr>
          <a:xfrm>
            <a:off x="6197600" y="3486051"/>
            <a:ext cx="5346700" cy="1728192"/>
          </a:xfrm>
          <a:prstGeom prst="roundRect">
            <a:avLst>
              <a:gd name="adj" fmla="val 5144"/>
            </a:avLst>
          </a:prstGeom>
          <a:noFill/>
          <a:ln w="25400">
            <a:solidFill>
              <a:srgbClr val="972996"/>
            </a:solidFill>
            <a:prstDash val="solid"/>
          </a:ln>
        </p:spPr>
      </p:sp>
      <p:sp>
        <p:nvSpPr>
          <p:cNvPr id="12" name="Text 8"/>
          <p:cNvSpPr/>
          <p:nvPr/>
        </p:nvSpPr>
        <p:spPr>
          <a:xfrm>
            <a:off x="6375400" y="3625751"/>
            <a:ext cx="5140833"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972996"/>
                </a:solidFill>
                <a:latin typeface="Carlito" pitchFamily="34" charset="0"/>
                <a:ea typeface="Carlito" pitchFamily="34" charset="-122"/>
                <a:cs typeface="Carlito" pitchFamily="34" charset="-120"/>
              </a:rPr>
              <a:t>Ещё два правила</a:t>
            </a:r>
            <a:endParaRPr lang="en-US" sz="1700" dirty="0"/>
          </a:p>
        </p:txBody>
      </p:sp>
      <p:sp>
        <p:nvSpPr>
          <p:cNvPr id="13" name="Text 9"/>
          <p:cNvSpPr/>
          <p:nvPr/>
        </p:nvSpPr>
        <p:spPr>
          <a:xfrm>
            <a:off x="6375400" y="4004171"/>
            <a:ext cx="5140833" cy="522486"/>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111111"/>
                </a:solidFill>
                <a:latin typeface="Carlito" pitchFamily="34" charset="0"/>
                <a:ea typeface="Carlito" pitchFamily="34" charset="-122"/>
                <a:cs typeface="Carlito" pitchFamily="34" charset="-120"/>
              </a:rPr>
              <a:t>Вес одинаковый — выигрывает правило, написанное ниже в файле.</a:t>
            </a:r>
            <a:endParaRPr lang="en-US" sz="1450" dirty="0"/>
          </a:p>
        </p:txBody>
      </p:sp>
      <p:sp>
        <p:nvSpPr>
          <p:cNvPr id="14" name="Text 10"/>
          <p:cNvSpPr/>
          <p:nvPr/>
        </p:nvSpPr>
        <p:spPr>
          <a:xfrm>
            <a:off x="6375400" y="4577457"/>
            <a:ext cx="5140833" cy="522486"/>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111111"/>
                </a:solidFill>
                <a:latin typeface="Carlito" pitchFamily="34" charset="0"/>
                <a:ea typeface="Carlito" pitchFamily="34" charset="-122"/>
                <a:cs typeface="Carlito" pitchFamily="34" charset="-120"/>
              </a:rPr>
              <a:t>Запись !important после значения ломает порядок. Применять её стоит в крайнем случае.</a:t>
            </a:r>
            <a:endParaRPr lang="en-US" sz="1450" dirty="0"/>
          </a:p>
        </p:txBody>
      </p:sp>
      <p:pic>
        <p:nvPicPr>
          <p:cNvPr id="15" name="Рисунок 14"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4D6DAF6B-91AA-BC6C-9A15-1145F65CAE70}"/>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Цвета и единицы измерения</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Пять способов записать один и тот же цвет и самые частые единицы длины</a:t>
            </a:r>
            <a:endParaRPr lang="en-US" sz="1600" dirty="0"/>
          </a:p>
        </p:txBody>
      </p:sp>
      <p:sp>
        <p:nvSpPr>
          <p:cNvPr id="6" name="Shape 3"/>
          <p:cNvSpPr/>
          <p:nvPr/>
        </p:nvSpPr>
        <p:spPr>
          <a:xfrm>
            <a:off x="635000" y="1845072"/>
            <a:ext cx="5207000" cy="0"/>
          </a:xfrm>
          <a:prstGeom prst="line">
            <a:avLst/>
          </a:prstGeom>
          <a:noFill/>
          <a:ln w="12700">
            <a:solidFill>
              <a:srgbClr val="E6D3E6"/>
            </a:solidFill>
            <a:prstDash val="solid"/>
          </a:ln>
        </p:spPr>
      </p:sp>
      <p:sp>
        <p:nvSpPr>
          <p:cNvPr id="7" name="Shape 4"/>
          <p:cNvSpPr/>
          <p:nvPr/>
        </p:nvSpPr>
        <p:spPr>
          <a:xfrm>
            <a:off x="635000" y="1338362"/>
            <a:ext cx="533400" cy="355600"/>
          </a:xfrm>
          <a:prstGeom prst="roundRect">
            <a:avLst>
              <a:gd name="adj" fmla="val 17857"/>
            </a:avLst>
          </a:prstGeom>
          <a:solidFill>
            <a:srgbClr val="D32F2F"/>
          </a:solidFill>
          <a:ln/>
        </p:spPr>
      </p:sp>
      <p:sp>
        <p:nvSpPr>
          <p:cNvPr id="8" name="Text 5"/>
          <p:cNvSpPr/>
          <p:nvPr/>
        </p:nvSpPr>
        <p:spPr>
          <a:xfrm>
            <a:off x="1295400" y="1269901"/>
            <a:ext cx="223031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11111"/>
                </a:solidFill>
                <a:latin typeface="JetBrains Mono" pitchFamily="49" charset="0"/>
                <a:ea typeface="JetBrains Mono" pitchFamily="49" charset="-122"/>
                <a:cs typeface="JetBrains Mono" pitchFamily="49" charset="-120"/>
              </a:rPr>
              <a:t>red</a:t>
            </a:r>
            <a:endParaRPr lang="en-US" sz="1400" dirty="0"/>
          </a:p>
        </p:txBody>
      </p:sp>
      <p:sp>
        <p:nvSpPr>
          <p:cNvPr id="9" name="Text 6"/>
          <p:cNvSpPr/>
          <p:nvPr/>
        </p:nvSpPr>
        <p:spPr>
          <a:xfrm>
            <a:off x="1295400" y="1531441"/>
            <a:ext cx="259842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4444"/>
                </a:solidFill>
                <a:latin typeface="Carlito" pitchFamily="34" charset="0"/>
                <a:ea typeface="Carlito" pitchFamily="34" charset="-122"/>
                <a:cs typeface="Carlito" pitchFamily="34" charset="-120"/>
              </a:rPr>
              <a:t>Название цвета на английском</a:t>
            </a:r>
            <a:endParaRPr lang="en-US" sz="1300" dirty="0"/>
          </a:p>
        </p:txBody>
      </p:sp>
      <p:sp>
        <p:nvSpPr>
          <p:cNvPr id="10" name="Shape 7"/>
          <p:cNvSpPr/>
          <p:nvPr/>
        </p:nvSpPr>
        <p:spPr>
          <a:xfrm>
            <a:off x="635000" y="2515493"/>
            <a:ext cx="5207000" cy="0"/>
          </a:xfrm>
          <a:prstGeom prst="line">
            <a:avLst/>
          </a:prstGeom>
          <a:noFill/>
          <a:ln w="12700">
            <a:solidFill>
              <a:srgbClr val="E6D3E6"/>
            </a:solidFill>
            <a:prstDash val="solid"/>
          </a:ln>
        </p:spPr>
      </p:sp>
      <p:sp>
        <p:nvSpPr>
          <p:cNvPr id="11" name="Shape 8"/>
          <p:cNvSpPr/>
          <p:nvPr/>
        </p:nvSpPr>
        <p:spPr>
          <a:xfrm>
            <a:off x="635000" y="2008783"/>
            <a:ext cx="533400" cy="355600"/>
          </a:xfrm>
          <a:prstGeom prst="roundRect">
            <a:avLst>
              <a:gd name="adj" fmla="val 17857"/>
            </a:avLst>
          </a:prstGeom>
          <a:solidFill>
            <a:srgbClr val="972996"/>
          </a:solidFill>
          <a:ln/>
        </p:spPr>
      </p:sp>
      <p:sp>
        <p:nvSpPr>
          <p:cNvPr id="12" name="Text 9"/>
          <p:cNvSpPr/>
          <p:nvPr/>
        </p:nvSpPr>
        <p:spPr>
          <a:xfrm>
            <a:off x="1295400" y="1940322"/>
            <a:ext cx="424069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11111"/>
                </a:solidFill>
                <a:latin typeface="JetBrains Mono" pitchFamily="49" charset="0"/>
                <a:ea typeface="JetBrains Mono" pitchFamily="49" charset="-122"/>
                <a:cs typeface="JetBrains Mono" pitchFamily="49" charset="-120"/>
              </a:rPr>
              <a:t>#972996</a:t>
            </a:r>
            <a:endParaRPr lang="en-US" sz="1400" dirty="0"/>
          </a:p>
        </p:txBody>
      </p:sp>
      <p:sp>
        <p:nvSpPr>
          <p:cNvPr id="13" name="Text 10"/>
          <p:cNvSpPr/>
          <p:nvPr/>
        </p:nvSpPr>
        <p:spPr>
          <a:xfrm>
            <a:off x="1295400" y="2201863"/>
            <a:ext cx="45466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4444"/>
                </a:solidFill>
                <a:latin typeface="Carlito" pitchFamily="34" charset="0"/>
                <a:ea typeface="Carlito" pitchFamily="34" charset="-122"/>
                <a:cs typeface="Carlito" pitchFamily="34" charset="-120"/>
              </a:rPr>
              <a:t>HEX: красный, зелёный, синий в шестнадцатеричном виде</a:t>
            </a:r>
            <a:endParaRPr lang="en-US" sz="1300" dirty="0"/>
          </a:p>
        </p:txBody>
      </p:sp>
      <p:sp>
        <p:nvSpPr>
          <p:cNvPr id="14" name="Shape 11"/>
          <p:cNvSpPr/>
          <p:nvPr/>
        </p:nvSpPr>
        <p:spPr>
          <a:xfrm>
            <a:off x="635000" y="3185914"/>
            <a:ext cx="5207000" cy="0"/>
          </a:xfrm>
          <a:prstGeom prst="line">
            <a:avLst/>
          </a:prstGeom>
          <a:noFill/>
          <a:ln w="12700">
            <a:solidFill>
              <a:srgbClr val="E6D3E6"/>
            </a:solidFill>
            <a:prstDash val="solid"/>
          </a:ln>
        </p:spPr>
      </p:sp>
      <p:sp>
        <p:nvSpPr>
          <p:cNvPr id="15" name="Shape 12"/>
          <p:cNvSpPr/>
          <p:nvPr/>
        </p:nvSpPr>
        <p:spPr>
          <a:xfrm>
            <a:off x="635000" y="2679204"/>
            <a:ext cx="533400" cy="355600"/>
          </a:xfrm>
          <a:prstGeom prst="roundRect">
            <a:avLst>
              <a:gd name="adj" fmla="val 17857"/>
            </a:avLst>
          </a:prstGeom>
          <a:solidFill>
            <a:srgbClr val="972996"/>
          </a:solidFill>
          <a:ln/>
        </p:spPr>
      </p:sp>
      <p:sp>
        <p:nvSpPr>
          <p:cNvPr id="16" name="Text 13"/>
          <p:cNvSpPr/>
          <p:nvPr/>
        </p:nvSpPr>
        <p:spPr>
          <a:xfrm>
            <a:off x="1295400" y="2610743"/>
            <a:ext cx="217634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11111"/>
                </a:solidFill>
                <a:latin typeface="JetBrains Mono" pitchFamily="49" charset="0"/>
                <a:ea typeface="JetBrains Mono" pitchFamily="49" charset="-122"/>
                <a:cs typeface="JetBrains Mono" pitchFamily="49" charset="-120"/>
              </a:rPr>
              <a:t>rgb(151, 41, 150)</a:t>
            </a:r>
            <a:endParaRPr lang="en-US" sz="1400" dirty="0"/>
          </a:p>
        </p:txBody>
      </p:sp>
      <p:sp>
        <p:nvSpPr>
          <p:cNvPr id="17" name="Text 14"/>
          <p:cNvSpPr/>
          <p:nvPr/>
        </p:nvSpPr>
        <p:spPr>
          <a:xfrm>
            <a:off x="1295400" y="2872284"/>
            <a:ext cx="186802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4444"/>
                </a:solidFill>
                <a:latin typeface="Carlito" pitchFamily="34" charset="0"/>
                <a:ea typeface="Carlito" pitchFamily="34" charset="-122"/>
                <a:cs typeface="Carlito" pitchFamily="34" charset="-120"/>
              </a:rPr>
              <a:t>Три числа от 0 до 255</a:t>
            </a:r>
            <a:endParaRPr lang="en-US" sz="1300" dirty="0"/>
          </a:p>
        </p:txBody>
      </p:sp>
      <p:sp>
        <p:nvSpPr>
          <p:cNvPr id="18" name="Shape 15"/>
          <p:cNvSpPr/>
          <p:nvPr/>
        </p:nvSpPr>
        <p:spPr>
          <a:xfrm>
            <a:off x="635000" y="3856335"/>
            <a:ext cx="5207000" cy="0"/>
          </a:xfrm>
          <a:prstGeom prst="line">
            <a:avLst/>
          </a:prstGeom>
          <a:noFill/>
          <a:ln w="12700">
            <a:solidFill>
              <a:srgbClr val="E6D3E6"/>
            </a:solidFill>
            <a:prstDash val="solid"/>
          </a:ln>
        </p:spPr>
      </p:sp>
      <p:sp>
        <p:nvSpPr>
          <p:cNvPr id="19" name="Shape 16"/>
          <p:cNvSpPr/>
          <p:nvPr/>
        </p:nvSpPr>
        <p:spPr>
          <a:xfrm>
            <a:off x="635000" y="3349625"/>
            <a:ext cx="533400" cy="355600"/>
          </a:xfrm>
          <a:prstGeom prst="roundRect">
            <a:avLst>
              <a:gd name="adj" fmla="val 17857"/>
            </a:avLst>
          </a:prstGeom>
          <a:solidFill>
            <a:srgbClr val="972996">
              <a:alpha val="50000"/>
            </a:srgbClr>
          </a:solidFill>
          <a:ln/>
        </p:spPr>
      </p:sp>
      <p:sp>
        <p:nvSpPr>
          <p:cNvPr id="20" name="Text 17"/>
          <p:cNvSpPr/>
          <p:nvPr/>
        </p:nvSpPr>
        <p:spPr>
          <a:xfrm>
            <a:off x="1295400" y="3281164"/>
            <a:ext cx="307873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11111"/>
                </a:solidFill>
                <a:latin typeface="JetBrains Mono" pitchFamily="49" charset="0"/>
                <a:ea typeface="JetBrains Mono" pitchFamily="49" charset="-122"/>
                <a:cs typeface="JetBrains Mono" pitchFamily="49" charset="-120"/>
              </a:rPr>
              <a:t>rgba(151, 41, 150, 0.5)</a:t>
            </a:r>
            <a:endParaRPr lang="en-US" sz="1400" dirty="0"/>
          </a:p>
        </p:txBody>
      </p:sp>
      <p:sp>
        <p:nvSpPr>
          <p:cNvPr id="21" name="Text 18"/>
          <p:cNvSpPr/>
          <p:nvPr/>
        </p:nvSpPr>
        <p:spPr>
          <a:xfrm>
            <a:off x="1295400" y="3542705"/>
            <a:ext cx="358687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4444"/>
                </a:solidFill>
                <a:latin typeface="Carlito" pitchFamily="34" charset="0"/>
                <a:ea typeface="Carlito" pitchFamily="34" charset="-122"/>
                <a:cs typeface="Carlito" pitchFamily="34" charset="-120"/>
              </a:rPr>
              <a:t>Четвёртое число — прозрачность от 0 до 1</a:t>
            </a:r>
            <a:endParaRPr lang="en-US" sz="1300" dirty="0"/>
          </a:p>
        </p:txBody>
      </p:sp>
      <p:sp>
        <p:nvSpPr>
          <p:cNvPr id="22" name="Shape 19"/>
          <p:cNvSpPr/>
          <p:nvPr/>
        </p:nvSpPr>
        <p:spPr>
          <a:xfrm>
            <a:off x="635000" y="4020046"/>
            <a:ext cx="533400" cy="355600"/>
          </a:xfrm>
          <a:prstGeom prst="roundRect">
            <a:avLst>
              <a:gd name="adj" fmla="val 17857"/>
            </a:avLst>
          </a:prstGeom>
          <a:solidFill>
            <a:srgbClr val="982A98"/>
          </a:solidFill>
          <a:ln/>
        </p:spPr>
      </p:sp>
      <p:sp>
        <p:nvSpPr>
          <p:cNvPr id="23" name="Text 20"/>
          <p:cNvSpPr/>
          <p:nvPr/>
        </p:nvSpPr>
        <p:spPr>
          <a:xfrm>
            <a:off x="1295400" y="3951585"/>
            <a:ext cx="235948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11111"/>
                </a:solidFill>
                <a:latin typeface="JetBrains Mono" pitchFamily="49" charset="0"/>
                <a:ea typeface="JetBrains Mono" pitchFamily="49" charset="-122"/>
                <a:cs typeface="JetBrains Mono" pitchFamily="49" charset="-120"/>
              </a:rPr>
              <a:t>hsl(300, 57%, 38%)</a:t>
            </a:r>
            <a:endParaRPr lang="en-US" sz="1400" dirty="0"/>
          </a:p>
        </p:txBody>
      </p:sp>
      <p:sp>
        <p:nvSpPr>
          <p:cNvPr id="24" name="Text 21"/>
          <p:cNvSpPr/>
          <p:nvPr/>
        </p:nvSpPr>
        <p:spPr>
          <a:xfrm>
            <a:off x="1295400" y="4213126"/>
            <a:ext cx="274891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4444"/>
                </a:solidFill>
                <a:latin typeface="Carlito" pitchFamily="34" charset="0"/>
                <a:ea typeface="Carlito" pitchFamily="34" charset="-122"/>
                <a:cs typeface="Carlito" pitchFamily="34" charset="-120"/>
              </a:rPr>
              <a:t>Оттенок, насыщенность, яркость</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172200" y="1282601"/>
          <a:ext cx="5384800" cy="2235396"/>
        </p:xfrm>
        <a:graphic>
          <a:graphicData uri="http://schemas.openxmlformats.org/drawingml/2006/table">
            <a:tbl>
              <a:tblPr/>
              <a:tblGrid>
                <a:gridCol w="1076960">
                  <a:extLst>
                    <a:ext uri="{9D8B030D-6E8A-4147-A177-3AD203B41FA5}">
                      <a16:colId xmlns:a16="http://schemas.microsoft.com/office/drawing/2014/main" val="20000"/>
                    </a:ext>
                  </a:extLst>
                </a:gridCol>
                <a:gridCol w="2692400">
                  <a:extLst>
                    <a:ext uri="{9D8B030D-6E8A-4147-A177-3AD203B41FA5}">
                      <a16:colId xmlns:a16="http://schemas.microsoft.com/office/drawing/2014/main" val="20001"/>
                    </a:ext>
                  </a:extLst>
                </a:gridCol>
                <a:gridCol w="1615440">
                  <a:extLst>
                    <a:ext uri="{9D8B030D-6E8A-4147-A177-3AD203B41FA5}">
                      <a16:colId xmlns:a16="http://schemas.microsoft.com/office/drawing/2014/main" val="20002"/>
                    </a:ext>
                  </a:extLst>
                </a:gridCol>
              </a:tblGrid>
              <a:tr h="372566">
                <a:tc>
                  <a:txBody>
                    <a:bodyPr/>
                    <a:lstStyle/>
                    <a:p>
                      <a:pPr marL="0" indent="0">
                        <a:lnSpc>
                          <a:spcPts val="1890"/>
                        </a:lnSpc>
                        <a:buNone/>
                      </a:pPr>
                      <a:r>
                        <a:rPr lang="en-US" sz="1350" b="1" dirty="0">
                          <a:solidFill>
                            <a:srgbClr val="FFFFFF"/>
                          </a:solidFill>
                          <a:latin typeface="Carlito" pitchFamily="34" charset="0"/>
                          <a:ea typeface="Carlito" pitchFamily="34" charset="-122"/>
                          <a:cs typeface="Carlito" pitchFamily="34" charset="-120"/>
                        </a:rPr>
                        <a:t>Единица</a:t>
                      </a:r>
                      <a:endParaRPr lang="en-US" sz="1350" dirty="0">
                        <a:latin typeface="Carlito" charset="0"/>
                        <a:ea typeface="Carlito" charset="0"/>
                        <a:cs typeface="Carlito"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1890"/>
                        </a:lnSpc>
                        <a:buNone/>
                      </a:pPr>
                      <a:r>
                        <a:rPr lang="en-US" sz="1350" b="1" dirty="0">
                          <a:solidFill>
                            <a:srgbClr val="FFFFFF"/>
                          </a:solidFill>
                          <a:latin typeface="Carlito" pitchFamily="34" charset="0"/>
                          <a:ea typeface="Carlito" pitchFamily="34" charset="-122"/>
                          <a:cs typeface="Carlito" pitchFamily="34" charset="-120"/>
                        </a:rPr>
                        <a:t>Что означает</a:t>
                      </a:r>
                      <a:endParaRPr lang="en-US" sz="1350" dirty="0">
                        <a:latin typeface="Carlito" charset="0"/>
                        <a:ea typeface="Carlito" charset="0"/>
                        <a:cs typeface="Carlito" charset="0"/>
                      </a:endParaRPr>
                    </a:p>
                  </a:txBody>
                  <a:tcPr marL="60007" marR="60007" marT="60007" marB="60007">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1890"/>
                        </a:lnSpc>
                        <a:buNone/>
                      </a:pPr>
                      <a:r>
                        <a:rPr lang="en-US" sz="1350" b="1" dirty="0">
                          <a:solidFill>
                            <a:srgbClr val="FFFFFF"/>
                          </a:solidFill>
                          <a:latin typeface="Carlito" pitchFamily="34" charset="0"/>
                          <a:ea typeface="Carlito" pitchFamily="34" charset="-122"/>
                          <a:cs typeface="Carlito" pitchFamily="34" charset="-120"/>
                        </a:rPr>
                        <a:t>Пример</a:t>
                      </a:r>
                      <a:endParaRPr lang="en-US" sz="1350" dirty="0">
                        <a:latin typeface="Carlito" charset="0"/>
                        <a:ea typeface="Carlito" charset="0"/>
                        <a:cs typeface="Carlito" charset="0"/>
                      </a:endParaRPr>
                    </a:p>
                  </a:txBody>
                  <a:tcPr marL="60007" marR="60007" marT="60007" marB="60007">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extLst>
                  <a:ext uri="{0D108BD9-81ED-4DB2-BD59-A6C34878D82A}">
                    <a16:rowId xmlns:a16="http://schemas.microsoft.com/office/drawing/2014/main" val="10000"/>
                  </a:ext>
                </a:extLst>
              </a:tr>
              <a:tr h="372566">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px</a:t>
                      </a:r>
                      <a:endParaRPr lang="en-US" sz="1350" dirty="0">
                        <a:latin typeface="Carlito" charset="0"/>
                        <a:ea typeface="Carlito" charset="0"/>
                        <a:cs typeface="Carlito"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Пиксель: фиксированный размер</a:t>
                      </a:r>
                      <a:endParaRPr lang="en-US" sz="1350" dirty="0">
                        <a:latin typeface="Carlito" charset="0"/>
                        <a:ea typeface="Carlito" charset="0"/>
                        <a:cs typeface="Carlito" charset="0"/>
                      </a:endParaRPr>
                    </a:p>
                  </a:txBody>
                  <a:tcPr marL="60007" marR="60007" marT="60007" marB="60007">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16px</a:t>
                      </a:r>
                      <a:endParaRPr lang="en-US" sz="1350" dirty="0">
                        <a:latin typeface="Carlito" charset="0"/>
                        <a:ea typeface="Carlito" charset="0"/>
                        <a:cs typeface="Carlito" charset="0"/>
                      </a:endParaRPr>
                    </a:p>
                  </a:txBody>
                  <a:tcPr marL="60007" marR="60007" marT="60007" marB="60007">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1"/>
                  </a:ext>
                </a:extLst>
              </a:tr>
              <a:tr h="372566">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a:t>
                      </a:r>
                      <a:endParaRPr lang="en-US" sz="1350" dirty="0">
                        <a:latin typeface="Carlito" charset="0"/>
                        <a:ea typeface="Carlito" charset="0"/>
                        <a:cs typeface="Carlito"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Доля от размера родителя</a:t>
                      </a:r>
                      <a:endParaRPr lang="en-US" sz="1350" dirty="0">
                        <a:latin typeface="Carlito" charset="0"/>
                        <a:ea typeface="Carlito" charset="0"/>
                        <a:cs typeface="Carlito"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50%</a:t>
                      </a:r>
                      <a:endParaRPr lang="en-US" sz="1350" dirty="0">
                        <a:latin typeface="Carlito" charset="0"/>
                        <a:ea typeface="Carlito" charset="0"/>
                        <a:cs typeface="Carlito"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72566">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em</a:t>
                      </a:r>
                      <a:endParaRPr lang="en-US" sz="1350" dirty="0">
                        <a:latin typeface="Carlito" charset="0"/>
                        <a:ea typeface="Carlito" charset="0"/>
                        <a:cs typeface="Carlito"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Размер шрифта родителя</a:t>
                      </a:r>
                      <a:endParaRPr lang="en-US" sz="1350" dirty="0">
                        <a:latin typeface="Carlito" charset="0"/>
                        <a:ea typeface="Carlito" charset="0"/>
                        <a:cs typeface="Carlito" charset="0"/>
                      </a:endParaRPr>
                    </a:p>
                  </a:txBody>
                  <a:tcPr marL="60007" marR="60007" marT="60007" marB="60007">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1.5em</a:t>
                      </a:r>
                      <a:endParaRPr lang="en-US" sz="1350" dirty="0">
                        <a:latin typeface="Carlito" charset="0"/>
                        <a:ea typeface="Carlito" charset="0"/>
                        <a:cs typeface="Carlito" charset="0"/>
                      </a:endParaRPr>
                    </a:p>
                  </a:txBody>
                  <a:tcPr marL="60007" marR="60007" marT="60007" marB="60007">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3"/>
                  </a:ext>
                </a:extLst>
              </a:tr>
              <a:tr h="372566">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rem</a:t>
                      </a:r>
                      <a:endParaRPr lang="en-US" sz="1350" dirty="0">
                        <a:latin typeface="Carlito" charset="0"/>
                        <a:ea typeface="Carlito" charset="0"/>
                        <a:cs typeface="Carlito"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Размер шрифта страницы</a:t>
                      </a:r>
                      <a:endParaRPr lang="en-US" sz="1350" dirty="0">
                        <a:latin typeface="Carlito" charset="0"/>
                        <a:ea typeface="Carlito" charset="0"/>
                        <a:cs typeface="Carlito"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2rem</a:t>
                      </a:r>
                      <a:endParaRPr lang="en-US" sz="1350" dirty="0">
                        <a:latin typeface="Carlito" charset="0"/>
                        <a:ea typeface="Carlito" charset="0"/>
                        <a:cs typeface="Carlito"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72566">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vw, vh</a:t>
                      </a:r>
                      <a:endParaRPr lang="en-US" sz="1350" dirty="0">
                        <a:latin typeface="Carlito" charset="0"/>
                        <a:ea typeface="Carlito" charset="0"/>
                        <a:cs typeface="Carlito"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Доля ширины и высоты окна</a:t>
                      </a:r>
                      <a:endParaRPr lang="en-US" sz="1350" dirty="0">
                        <a:latin typeface="Carlito" charset="0"/>
                        <a:ea typeface="Carlito" charset="0"/>
                        <a:cs typeface="Carlito" charset="0"/>
                      </a:endParaRPr>
                    </a:p>
                  </a:txBody>
                  <a:tcPr marL="60007" marR="60007" marT="60007" marB="60007">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890"/>
                        </a:lnSpc>
                        <a:buNone/>
                      </a:pPr>
                      <a:r>
                        <a:rPr lang="en-US" sz="1350" dirty="0">
                          <a:solidFill>
                            <a:srgbClr val="111111"/>
                          </a:solidFill>
                          <a:latin typeface="Carlito" pitchFamily="34" charset="0"/>
                          <a:ea typeface="Carlito" pitchFamily="34" charset="-122"/>
                          <a:cs typeface="Carlito" pitchFamily="34" charset="-120"/>
                        </a:rPr>
                        <a:t>100vh</a:t>
                      </a:r>
                      <a:endParaRPr lang="en-US" sz="1350" dirty="0">
                        <a:latin typeface="Carlito" charset="0"/>
                        <a:ea typeface="Carlito" charset="0"/>
                        <a:cs typeface="Carlito" charset="0"/>
                      </a:endParaRPr>
                    </a:p>
                  </a:txBody>
                  <a:tcPr marL="60007" marR="60007" marT="60007" marB="60007">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5"/>
                  </a:ext>
                </a:extLst>
              </a:tr>
            </a:tbl>
          </a:graphicData>
        </a:graphic>
      </p:graphicFrame>
      <p:sp>
        <p:nvSpPr>
          <p:cNvPr id="26" name="Text 22"/>
          <p:cNvSpPr/>
          <p:nvPr/>
        </p:nvSpPr>
        <p:spPr>
          <a:xfrm>
            <a:off x="6159500" y="3606899"/>
            <a:ext cx="5397500" cy="657820"/>
          </a:xfrm>
          <a:prstGeom prst="roundRect">
            <a:avLst>
              <a:gd name="adj" fmla="val 11584"/>
            </a:avLst>
          </a:prstGeom>
          <a:solidFill>
            <a:srgbClr val="972996"/>
          </a:solidFill>
          <a:ln/>
        </p:spPr>
        <p:txBody>
          <a:bodyPr wrap="square" lIns="117382" tIns="66582" rIns="0" bIns="41182" rtlCol="0" anchor="t">
            <a:normAutofit/>
          </a:bodyPr>
          <a:lstStyle/>
          <a:p>
            <a:pPr marL="0" indent="0" algn="l">
              <a:lnSpc>
                <a:spcPts val="1890"/>
              </a:lnSpc>
              <a:buNone/>
            </a:pPr>
            <a:r>
              <a:rPr lang="en-US" sz="1400" dirty="0">
                <a:solidFill>
                  <a:srgbClr val="FFFFFF"/>
                </a:solidFill>
                <a:latin typeface="Carlito" pitchFamily="34" charset="0"/>
                <a:ea typeface="Carlito" pitchFamily="34" charset="-122"/>
                <a:cs typeface="Carlito" pitchFamily="34" charset="-120"/>
              </a:rPr>
              <a:t>Для текста чаще берут rem, для рамок — px, для ширины блоков — %.</a:t>
            </a:r>
            <a:endParaRPr lang="en-US" sz="1400" dirty="0"/>
          </a:p>
        </p:txBody>
      </p:sp>
      <p:pic>
        <p:nvPicPr>
          <p:cNvPr id="27" name="Рисунок 26"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144033FD-A547-6088-46F3-008522B928AB}"/>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CSS: текст и шрифты</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Цвет, размер, начертание и выравнивание</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670520"/>
          </a:xfrm>
          <a:prstGeom prst="roundRect">
            <a:avLst>
              <a:gd name="adj" fmla="val 11364"/>
            </a:avLst>
          </a:prstGeom>
          <a:solidFill>
            <a:srgbClr val="2A002A"/>
          </a:solidFill>
          <a:ln/>
        </p:spPr>
        <p:txBody>
          <a:bodyPr wrap="square" lIns="130082" tIns="91982" rIns="0" bIns="665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&lt;h1&gt;</a:t>
            </a:r>
            <a:r>
              <a:rPr lang="en-US" sz="1200" dirty="0">
                <a:solidFill>
                  <a:srgbClr val="FFFFFF"/>
                </a:solidFill>
                <a:latin typeface="JetBrains Mono" pitchFamily="49" charset="0"/>
                <a:ea typeface="JetBrains Mono" pitchFamily="49" charset="-122"/>
                <a:cs typeface="JetBrains Mono" pitchFamily="49" charset="-120"/>
              </a:rPr>
              <a:t>Заголовок</a:t>
            </a:r>
            <a:r>
              <a:rPr lang="en-US" sz="1200" dirty="0">
                <a:solidFill>
                  <a:srgbClr val="FF9DE2"/>
                </a:solidFill>
                <a:latin typeface="JetBrains Mono" pitchFamily="49" charset="0"/>
                <a:ea typeface="JetBrains Mono" pitchFamily="49" charset="-122"/>
                <a:cs typeface="JetBrains Mono" pitchFamily="49" charset="-120"/>
              </a:rPr>
              <a:t>&lt;/h1&gt;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&lt;p</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"lead"</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Вводный абзац</a:t>
            </a:r>
            <a:r>
              <a:rPr lang="en-US" sz="1200" dirty="0">
                <a:solidFill>
                  <a:srgbClr val="FF9DE2"/>
                </a:solidFill>
                <a:latin typeface="JetBrains Mono" pitchFamily="49" charset="0"/>
                <a:ea typeface="JetBrains Mono" pitchFamily="49" charset="-122"/>
                <a:cs typeface="JetBrains Mono" pitchFamily="49" charset="-120"/>
              </a:rPr>
              <a:t>&lt;/p&gt;</a:t>
            </a:r>
            <a:endParaRPr lang="en-US" sz="1200" dirty="0"/>
          </a:p>
        </p:txBody>
      </p:sp>
      <p:sp>
        <p:nvSpPr>
          <p:cNvPr id="8" name="Text 5"/>
          <p:cNvSpPr/>
          <p:nvPr/>
        </p:nvSpPr>
        <p:spPr>
          <a:xfrm>
            <a:off x="635000" y="2341662"/>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CSS</a:t>
            </a:r>
            <a:endParaRPr lang="en-US" sz="1400" dirty="0"/>
          </a:p>
        </p:txBody>
      </p:sp>
      <p:sp>
        <p:nvSpPr>
          <p:cNvPr id="9" name="Text 6"/>
          <p:cNvSpPr/>
          <p:nvPr/>
        </p:nvSpPr>
        <p:spPr>
          <a:xfrm>
            <a:off x="635000" y="2666702"/>
            <a:ext cx="5200650" cy="2438202"/>
          </a:xfrm>
          <a:prstGeom prst="roundRect">
            <a:avLst>
              <a:gd name="adj" fmla="val 3125"/>
            </a:avLst>
          </a:prstGeom>
          <a:solidFill>
            <a:srgbClr val="2A002A"/>
          </a:solidFill>
          <a:ln/>
        </p:spPr>
        <p:txBody>
          <a:bodyPr wrap="square" lIns="130082" tIns="91982" rIns="0" bIns="665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h1</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color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#ff9de2</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text-align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center</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text-transform</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uppercase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.lead</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font-size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20px</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font-style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italic</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line-height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1.5</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10" name="Shape 7"/>
          <p:cNvSpPr/>
          <p:nvPr/>
        </p:nvSpPr>
        <p:spPr>
          <a:xfrm>
            <a:off x="6089650" y="1269901"/>
            <a:ext cx="12700" cy="3835003"/>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2" name="Shape 9"/>
          <p:cNvSpPr/>
          <p:nvPr/>
        </p:nvSpPr>
        <p:spPr>
          <a:xfrm>
            <a:off x="6356350" y="1594941"/>
            <a:ext cx="5200650" cy="2146201"/>
          </a:xfrm>
          <a:prstGeom prst="roundRect">
            <a:avLst>
              <a:gd name="adj" fmla="val 3550"/>
            </a:avLst>
          </a:prstGeom>
          <a:solidFill>
            <a:srgbClr val="FFFFFF"/>
          </a:solidFill>
          <a:ln/>
        </p:spPr>
      </p:sp>
      <p:sp>
        <p:nvSpPr>
          <p:cNvPr id="13" name="Shape 10"/>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4" name="Shape 11"/>
          <p:cNvSpPr/>
          <p:nvPr/>
        </p:nvSpPr>
        <p:spPr>
          <a:xfrm>
            <a:off x="6483350" y="1739702"/>
            <a:ext cx="101600" cy="101600"/>
          </a:xfrm>
          <a:prstGeom prst="roundRect">
            <a:avLst>
              <a:gd name="adj" fmla="val 50000"/>
            </a:avLst>
          </a:prstGeom>
          <a:solidFill>
            <a:srgbClr val="E57373"/>
          </a:solidFill>
          <a:ln/>
        </p:spPr>
      </p:sp>
      <p:sp>
        <p:nvSpPr>
          <p:cNvPr id="15" name="Shape 12"/>
          <p:cNvSpPr/>
          <p:nvPr/>
        </p:nvSpPr>
        <p:spPr>
          <a:xfrm>
            <a:off x="6648450" y="1739702"/>
            <a:ext cx="101600" cy="101600"/>
          </a:xfrm>
          <a:prstGeom prst="roundRect">
            <a:avLst>
              <a:gd name="adj" fmla="val 50000"/>
            </a:avLst>
          </a:prstGeom>
          <a:solidFill>
            <a:srgbClr val="FFD54F"/>
          </a:solidFill>
          <a:ln/>
        </p:spPr>
      </p:sp>
      <p:sp>
        <p:nvSpPr>
          <p:cNvPr id="16" name="Shape 13"/>
          <p:cNvSpPr/>
          <p:nvPr/>
        </p:nvSpPr>
        <p:spPr>
          <a:xfrm>
            <a:off x="6813550" y="1739702"/>
            <a:ext cx="101600" cy="101600"/>
          </a:xfrm>
          <a:prstGeom prst="roundRect">
            <a:avLst>
              <a:gd name="adj" fmla="val 50000"/>
            </a:avLst>
          </a:prstGeom>
          <a:solidFill>
            <a:srgbClr val="81C784"/>
          </a:solidFill>
          <a:ln/>
        </p:spPr>
      </p:sp>
      <p:sp>
        <p:nvSpPr>
          <p:cNvPr id="17" name="Text 14"/>
          <p:cNvSpPr/>
          <p:nvPr/>
        </p:nvSpPr>
        <p:spPr>
          <a:xfrm>
            <a:off x="7054850" y="1683841"/>
            <a:ext cx="6784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text.html</a:t>
            </a:r>
            <a:endParaRPr lang="en-US" sz="1200" dirty="0"/>
          </a:p>
        </p:txBody>
      </p:sp>
      <p:sp>
        <p:nvSpPr>
          <p:cNvPr id="18" name="Text 15"/>
          <p:cNvSpPr/>
          <p:nvPr/>
        </p:nvSpPr>
        <p:spPr>
          <a:xfrm>
            <a:off x="6500717" y="2189262"/>
            <a:ext cx="4911916" cy="472380"/>
          </a:xfrm>
          <a:prstGeom prst="rect">
            <a:avLst/>
          </a:prstGeom>
          <a:noFill/>
          <a:ln/>
        </p:spPr>
        <p:txBody>
          <a:bodyPr wrap="square" lIns="0" tIns="0" rIns="0" bIns="0" rtlCol="0" anchor="t">
            <a:normAutofit/>
          </a:bodyPr>
          <a:lstStyle/>
          <a:p>
            <a:pPr marL="0" indent="0" algn="ctr">
              <a:lnSpc>
                <a:spcPts val="3520"/>
              </a:lnSpc>
              <a:buNone/>
            </a:pPr>
            <a:r>
              <a:rPr lang="en-US" sz="3200" b="1" dirty="0">
                <a:solidFill>
                  <a:srgbClr val="972996"/>
                </a:solidFill>
                <a:latin typeface="Times New Roman" pitchFamily="18" charset="0"/>
                <a:ea typeface="Times New Roman" pitchFamily="18" charset="-122"/>
                <a:cs typeface="Times New Roman" pitchFamily="18" charset="-120"/>
              </a:rPr>
              <a:t>ЗАГОЛОВОК</a:t>
            </a:r>
            <a:endParaRPr lang="en-US" sz="3200" dirty="0"/>
          </a:p>
        </p:txBody>
      </p:sp>
      <p:sp>
        <p:nvSpPr>
          <p:cNvPr id="19" name="Text 16"/>
          <p:cNvSpPr/>
          <p:nvPr/>
        </p:nvSpPr>
        <p:spPr>
          <a:xfrm>
            <a:off x="6572250" y="2775942"/>
            <a:ext cx="4911916" cy="787400"/>
          </a:xfrm>
          <a:prstGeom prst="rect">
            <a:avLst/>
          </a:prstGeom>
          <a:noFill/>
          <a:ln/>
        </p:spPr>
        <p:txBody>
          <a:bodyPr wrap="square" lIns="0" tIns="0" rIns="0" bIns="0" rtlCol="0" anchor="t">
            <a:normAutofit/>
          </a:bodyPr>
          <a:lstStyle/>
          <a:p>
            <a:pPr marL="0" indent="0" algn="l">
              <a:lnSpc>
                <a:spcPts val="3000"/>
              </a:lnSpc>
              <a:buNone/>
            </a:pPr>
            <a:r>
              <a:rPr lang="en-US" sz="2000" i="1" dirty="0">
                <a:solidFill>
                  <a:srgbClr val="111111"/>
                </a:solidFill>
                <a:latin typeface="Times New Roman" pitchFamily="18" charset="0"/>
                <a:ea typeface="Times New Roman" pitchFamily="18" charset="-122"/>
                <a:cs typeface="Times New Roman" pitchFamily="18" charset="-120"/>
              </a:rPr>
              <a:t>Вводный абзац страницы: курсив и увеличенный межстрочный интервал.</a:t>
            </a:r>
            <a:endParaRPr lang="en-US" sz="2000" dirty="0"/>
          </a:p>
        </p:txBody>
      </p:sp>
      <p:sp>
        <p:nvSpPr>
          <p:cNvPr id="20" name="Text 17"/>
          <p:cNvSpPr/>
          <p:nvPr/>
        </p:nvSpPr>
        <p:spPr>
          <a:xfrm>
            <a:off x="635000" y="5231904"/>
            <a:ext cx="10922000" cy="443210"/>
          </a:xfrm>
          <a:prstGeom prst="roundRect">
            <a:avLst>
              <a:gd name="adj" fmla="val 17193"/>
            </a:avLst>
          </a:prstGeom>
          <a:solidFill>
            <a:srgbClr val="7A1F79"/>
          </a:solidFill>
          <a:ln/>
        </p:spPr>
        <p:txBody>
          <a:bodyPr wrap="square" lIns="142782" tIns="79282" rIns="0" bIns="53882" rtlCol="0" anchor="t">
            <a:normAutofit/>
          </a:bodyPr>
          <a:lstStyle/>
          <a:p>
            <a:pPr marL="0" indent="0" algn="l">
              <a:lnSpc>
                <a:spcPts val="1890"/>
              </a:lnSpc>
              <a:buNone/>
            </a:pPr>
            <a:r>
              <a:rPr lang="en-US" sz="1400" dirty="0">
                <a:solidFill>
                  <a:srgbClr val="FFFFFF"/>
                </a:solidFill>
                <a:latin typeface="Carlito" pitchFamily="34" charset="0"/>
                <a:ea typeface="Carlito" pitchFamily="34" charset="-122"/>
                <a:cs typeface="Carlito" pitchFamily="34" charset="-120"/>
              </a:rPr>
              <a:t>Ещё: font-family — шрифт, font-weight — жирность, text-decoration — подчёркивание, letter-spacing — расстояние между буквами.</a:t>
            </a:r>
            <a:endParaRPr lang="en-US" sz="1400" dirty="0"/>
          </a:p>
        </p:txBody>
      </p:sp>
      <p:pic>
        <p:nvPicPr>
          <p:cNvPr id="21" name="Рисунок 20"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64B6A8B2-9319-D247-27FD-6003C7D0F755}"/>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56109"/>
          </a:xfrm>
          <a:prstGeom prst="rect">
            <a:avLst/>
          </a:prstGeom>
          <a:noFill/>
          <a:ln/>
        </p:spPr>
        <p:txBody>
          <a:bodyPr wrap="square" lIns="0" tIns="0" rIns="0" bIns="0" rtlCol="0" anchor="t">
            <a:normAutofit/>
          </a:bodyPr>
          <a:lstStyle/>
          <a:p>
            <a:pPr marL="0" indent="0" algn="l">
              <a:lnSpc>
                <a:spcPts val="3421"/>
              </a:lnSpc>
              <a:buNone/>
            </a:pPr>
            <a:r>
              <a:rPr lang="en-US" sz="3110" b="1" i="0" dirty="0">
                <a:solidFill>
                  <a:srgbClr val="FFFFFF"/>
                </a:solidFill>
                <a:latin typeface="Carlito" pitchFamily="34" charset="0"/>
                <a:ea typeface="Carlito" pitchFamily="34" charset="-122"/>
                <a:cs typeface="Carlito" pitchFamily="34" charset="-120"/>
              </a:rPr>
              <a:t>CSS: фон, рамка, тень</a:t>
            </a:r>
            <a:endParaRPr lang="en-US" sz="3110" dirty="0"/>
          </a:p>
        </p:txBody>
      </p:sp>
      <p:sp>
        <p:nvSpPr>
          <p:cNvPr id="5" name="Text 2"/>
          <p:cNvSpPr/>
          <p:nvPr/>
        </p:nvSpPr>
        <p:spPr>
          <a:xfrm>
            <a:off x="635000" y="862509"/>
            <a:ext cx="11249660" cy="279995"/>
          </a:xfrm>
          <a:prstGeom prst="rect">
            <a:avLst/>
          </a:prstGeom>
          <a:noFill/>
          <a:ln/>
        </p:spPr>
        <p:txBody>
          <a:bodyPr wrap="square" lIns="0" tIns="0" rIns="0" bIns="0" rtlCol="0" anchor="t">
            <a:normAutofit/>
          </a:bodyPr>
          <a:lstStyle/>
          <a:p>
            <a:pPr marL="0" indent="0" algn="l">
              <a:lnSpc>
                <a:spcPts val="2022"/>
              </a:lnSpc>
              <a:buNone/>
            </a:pPr>
            <a:r>
              <a:rPr lang="en-US" sz="1555" dirty="0">
                <a:solidFill>
                  <a:srgbClr val="FFFFFF"/>
                </a:solidFill>
                <a:latin typeface="Carlito" pitchFamily="34" charset="0"/>
                <a:ea typeface="Carlito" pitchFamily="34" charset="-122"/>
                <a:cs typeface="Carlito" pitchFamily="34" charset="-120"/>
              </a:rPr>
              <a:t>Превращаем обычный блок в карточку</a:t>
            </a:r>
            <a:endParaRPr lang="en-US" sz="1555" dirty="0"/>
          </a:p>
        </p:txBody>
      </p:sp>
      <p:sp>
        <p:nvSpPr>
          <p:cNvPr id="6" name="Text 3"/>
          <p:cNvSpPr/>
          <p:nvPr/>
        </p:nvSpPr>
        <p:spPr>
          <a:xfrm>
            <a:off x="635000" y="1244104"/>
            <a:ext cx="5356670" cy="263525"/>
          </a:xfrm>
          <a:prstGeom prst="rect">
            <a:avLst/>
          </a:prstGeom>
          <a:noFill/>
          <a:ln/>
        </p:spPr>
        <p:txBody>
          <a:bodyPr wrap="square" lIns="0" tIns="0" rIns="0" bIns="0" rtlCol="0" anchor="t">
            <a:normAutofit/>
          </a:bodyPr>
          <a:lstStyle/>
          <a:p>
            <a:pPr marL="0" indent="0" algn="l">
              <a:lnSpc>
                <a:spcPts val="1923"/>
              </a:lnSpc>
              <a:buNone/>
            </a:pPr>
            <a:r>
              <a:rPr lang="en-US" sz="1374" b="1" dirty="0">
                <a:solidFill>
                  <a:srgbClr val="FFD6FF"/>
                </a:solidFill>
                <a:latin typeface="Carlito" pitchFamily="34" charset="0"/>
                <a:ea typeface="Carlito" pitchFamily="34" charset="-122"/>
                <a:cs typeface="Carlito" pitchFamily="34" charset="-120"/>
              </a:rPr>
              <a:t>HTML</a:t>
            </a:r>
            <a:endParaRPr lang="en-US" sz="1374" dirty="0"/>
          </a:p>
        </p:txBody>
      </p:sp>
      <p:sp>
        <p:nvSpPr>
          <p:cNvPr id="7" name="Shape 4"/>
          <p:cNvSpPr/>
          <p:nvPr/>
        </p:nvSpPr>
        <p:spPr>
          <a:xfrm>
            <a:off x="635000" y="1558429"/>
            <a:ext cx="5200650" cy="651570"/>
          </a:xfrm>
          <a:prstGeom prst="roundRect">
            <a:avLst>
              <a:gd name="adj" fmla="val 11695"/>
            </a:avLst>
          </a:prstGeom>
          <a:solidFill>
            <a:srgbClr val="2A002A"/>
          </a:solidFill>
          <a:ln/>
        </p:spPr>
      </p:sp>
      <p:sp>
        <p:nvSpPr>
          <p:cNvPr id="8" name="Text 5"/>
          <p:cNvSpPr/>
          <p:nvPr/>
        </p:nvSpPr>
        <p:spPr>
          <a:xfrm>
            <a:off x="787400" y="1672729"/>
            <a:ext cx="5042726" cy="448370"/>
          </a:xfrm>
          <a:prstGeom prst="rect">
            <a:avLst/>
          </a:prstGeom>
          <a:noFill/>
          <a:ln/>
        </p:spPr>
        <p:txBody>
          <a:bodyPr wrap="square" lIns="0" tIns="0" rIns="0" bIns="0" rtlCol="0" anchor="t">
            <a:normAutofit/>
          </a:bodyPr>
          <a:lstStyle/>
          <a:p>
            <a:pPr marL="0" indent="0" algn="l">
              <a:lnSpc>
                <a:spcPts val="1686"/>
              </a:lnSpc>
              <a:buNone/>
            </a:pPr>
            <a:r>
              <a:rPr lang="en-US" sz="1163" dirty="0">
                <a:solidFill>
                  <a:srgbClr val="FF9DE2"/>
                </a:solidFill>
                <a:latin typeface="JetBrains Mono" pitchFamily="49" charset="0"/>
                <a:ea typeface="JetBrains Mono" pitchFamily="49" charset="-122"/>
                <a:cs typeface="JetBrains Mono" pitchFamily="49" charset="-120"/>
              </a:rPr>
              <a:t>&lt;div</a:t>
            </a:r>
            <a:r>
              <a:rPr lang="en-US" sz="1163" dirty="0">
                <a:solidFill>
                  <a:srgbClr val="FFFFFF"/>
                </a:solidFill>
                <a:latin typeface="JetBrains Mono" pitchFamily="49" charset="0"/>
                <a:ea typeface="JetBrains Mono" pitchFamily="49" charset="-122"/>
                <a:cs typeface="JetBrains Mono" pitchFamily="49" charset="-120"/>
              </a:rPr>
              <a:t> </a:t>
            </a:r>
            <a:r>
              <a:rPr lang="en-US" sz="1163" dirty="0">
                <a:solidFill>
                  <a:srgbClr val="FFD27F"/>
                </a:solidFill>
                <a:latin typeface="JetBrains Mono" pitchFamily="49" charset="0"/>
                <a:ea typeface="JetBrains Mono" pitchFamily="49" charset="-122"/>
                <a:cs typeface="JetBrains Mono" pitchFamily="49" charset="-120"/>
              </a:rPr>
              <a:t>class</a:t>
            </a:r>
            <a:r>
              <a:rPr lang="en-US" sz="1163" dirty="0">
                <a:solidFill>
                  <a:srgbClr val="FFFFFF"/>
                </a:solidFill>
                <a:latin typeface="JetBrains Mono" pitchFamily="49" charset="0"/>
                <a:ea typeface="JetBrains Mono" pitchFamily="49" charset="-122"/>
                <a:cs typeface="JetBrains Mono" pitchFamily="49" charset="-120"/>
              </a:rPr>
              <a:t>=</a:t>
            </a:r>
            <a:r>
              <a:rPr lang="en-US" sz="1163" dirty="0">
                <a:solidFill>
                  <a:srgbClr val="9EE6A8"/>
                </a:solidFill>
                <a:latin typeface="JetBrains Mono" pitchFamily="49" charset="0"/>
                <a:ea typeface="JetBrains Mono" pitchFamily="49" charset="-122"/>
                <a:cs typeface="JetBrains Mono" pitchFamily="49" charset="-120"/>
              </a:rPr>
              <a:t>"card"</a:t>
            </a:r>
            <a:r>
              <a:rPr lang="en-US" sz="1163" dirty="0">
                <a:solidFill>
                  <a:srgbClr val="FF9DE2"/>
                </a:solidFill>
                <a:latin typeface="JetBrains Mono" pitchFamily="49" charset="0"/>
                <a:ea typeface="JetBrains Mono" pitchFamily="49" charset="-122"/>
                <a:cs typeface="JetBrains Mono" pitchFamily="49" charset="-120"/>
              </a:rPr>
              <a:t>&gt;</a:t>
            </a:r>
            <a:r>
              <a:rPr lang="en-US" sz="1163" dirty="0">
                <a:solidFill>
                  <a:srgbClr val="FFFFFF"/>
                </a:solidFill>
                <a:latin typeface="JetBrains Mono" pitchFamily="49" charset="0"/>
                <a:ea typeface="JetBrains Mono" pitchFamily="49" charset="-122"/>
                <a:cs typeface="JetBrains Mono" pitchFamily="49" charset="-120"/>
              </a:rPr>
              <a:t>Карточка</a:t>
            </a:r>
            <a:r>
              <a:rPr lang="en-US" sz="1163" dirty="0">
                <a:solidFill>
                  <a:srgbClr val="FF9DE2"/>
                </a:solidFill>
                <a:latin typeface="JetBrains Mono" pitchFamily="49" charset="0"/>
                <a:ea typeface="JetBrains Mono" pitchFamily="49" charset="-122"/>
                <a:cs typeface="JetBrains Mono" pitchFamily="49" charset="-120"/>
              </a:rPr>
              <a:t>&lt;/div&gt;</a:t>
            </a:r>
            <a:endParaRPr lang="en-US" sz="1163" dirty="0"/>
          </a:p>
          <a:p>
            <a:pPr marL="0" indent="0" algn="l">
              <a:lnSpc>
                <a:spcPts val="1686"/>
              </a:lnSpc>
              <a:buNone/>
            </a:pPr>
            <a:r>
              <a:rPr lang="en-US" sz="1163" dirty="0">
                <a:solidFill>
                  <a:srgbClr val="FF9DE2"/>
                </a:solidFill>
                <a:latin typeface="JetBrains Mono" pitchFamily="49" charset="0"/>
                <a:ea typeface="JetBrains Mono" pitchFamily="49" charset="-122"/>
                <a:cs typeface="JetBrains Mono" pitchFamily="49" charset="-120"/>
              </a:rPr>
              <a:t>&lt;div</a:t>
            </a:r>
            <a:r>
              <a:rPr lang="en-US" sz="1163" dirty="0">
                <a:solidFill>
                  <a:srgbClr val="FFFFFF"/>
                </a:solidFill>
                <a:latin typeface="JetBrains Mono" pitchFamily="49" charset="0"/>
                <a:ea typeface="JetBrains Mono" pitchFamily="49" charset="-122"/>
                <a:cs typeface="JetBrains Mono" pitchFamily="49" charset="-120"/>
              </a:rPr>
              <a:t> </a:t>
            </a:r>
            <a:r>
              <a:rPr lang="en-US" sz="1163" dirty="0">
                <a:solidFill>
                  <a:srgbClr val="FFD27F"/>
                </a:solidFill>
                <a:latin typeface="JetBrains Mono" pitchFamily="49" charset="0"/>
                <a:ea typeface="JetBrains Mono" pitchFamily="49" charset="-122"/>
                <a:cs typeface="JetBrains Mono" pitchFamily="49" charset="-120"/>
              </a:rPr>
              <a:t>class</a:t>
            </a:r>
            <a:r>
              <a:rPr lang="en-US" sz="1163" dirty="0">
                <a:solidFill>
                  <a:srgbClr val="FFFFFF"/>
                </a:solidFill>
                <a:latin typeface="JetBrains Mono" pitchFamily="49" charset="0"/>
                <a:ea typeface="JetBrains Mono" pitchFamily="49" charset="-122"/>
                <a:cs typeface="JetBrains Mono" pitchFamily="49" charset="-120"/>
              </a:rPr>
              <a:t>=</a:t>
            </a:r>
            <a:r>
              <a:rPr lang="en-US" sz="1163" dirty="0">
                <a:solidFill>
                  <a:srgbClr val="9EE6A8"/>
                </a:solidFill>
                <a:latin typeface="JetBrains Mono" pitchFamily="49" charset="0"/>
                <a:ea typeface="JetBrains Mono" pitchFamily="49" charset="-122"/>
                <a:cs typeface="JetBrains Mono" pitchFamily="49" charset="-120"/>
              </a:rPr>
              <a:t>"bar"</a:t>
            </a:r>
            <a:r>
              <a:rPr lang="en-US" sz="1163" dirty="0">
                <a:solidFill>
                  <a:srgbClr val="FF9DE2"/>
                </a:solidFill>
                <a:latin typeface="JetBrains Mono" pitchFamily="49" charset="0"/>
                <a:ea typeface="JetBrains Mono" pitchFamily="49" charset="-122"/>
                <a:cs typeface="JetBrains Mono" pitchFamily="49" charset="-120"/>
              </a:rPr>
              <a:t>&gt;&lt;/div&gt;</a:t>
            </a:r>
            <a:endParaRPr lang="en-US" sz="1163" dirty="0"/>
          </a:p>
        </p:txBody>
      </p:sp>
      <p:sp>
        <p:nvSpPr>
          <p:cNvPr id="9" name="Text 6"/>
          <p:cNvSpPr/>
          <p:nvPr/>
        </p:nvSpPr>
        <p:spPr>
          <a:xfrm>
            <a:off x="635000" y="2286198"/>
            <a:ext cx="5356670" cy="263525"/>
          </a:xfrm>
          <a:prstGeom prst="rect">
            <a:avLst/>
          </a:prstGeom>
          <a:noFill/>
          <a:ln/>
        </p:spPr>
        <p:txBody>
          <a:bodyPr wrap="square" lIns="0" tIns="0" rIns="0" bIns="0" rtlCol="0" anchor="t">
            <a:normAutofit/>
          </a:bodyPr>
          <a:lstStyle/>
          <a:p>
            <a:pPr marL="0" indent="0" algn="l">
              <a:lnSpc>
                <a:spcPts val="1923"/>
              </a:lnSpc>
              <a:buNone/>
            </a:pPr>
            <a:r>
              <a:rPr lang="en-US" sz="1374" b="1" dirty="0">
                <a:solidFill>
                  <a:srgbClr val="FFD6FF"/>
                </a:solidFill>
                <a:latin typeface="Carlito" pitchFamily="34" charset="0"/>
                <a:ea typeface="Carlito" pitchFamily="34" charset="-122"/>
                <a:cs typeface="Carlito" pitchFamily="34" charset="-120"/>
              </a:rPr>
              <a:t>CSS</a:t>
            </a:r>
            <a:endParaRPr lang="en-US" sz="1374" dirty="0"/>
          </a:p>
        </p:txBody>
      </p:sp>
      <p:sp>
        <p:nvSpPr>
          <p:cNvPr id="10" name="Text 7"/>
          <p:cNvSpPr/>
          <p:nvPr/>
        </p:nvSpPr>
        <p:spPr>
          <a:xfrm>
            <a:off x="635000" y="2600523"/>
            <a:ext cx="5200650" cy="2766120"/>
          </a:xfrm>
          <a:prstGeom prst="roundRect">
            <a:avLst>
              <a:gd name="adj" fmla="val 2755"/>
            </a:avLst>
          </a:prstGeom>
          <a:solidFill>
            <a:srgbClr val="2A002A"/>
          </a:solidFill>
          <a:ln/>
        </p:spPr>
        <p:txBody>
          <a:bodyPr wrap="square" lIns="130082" tIns="91982" rIns="0" bIns="66582" rtlCol="0" anchor="t">
            <a:noAutofit/>
          </a:bodyPr>
          <a:lstStyle/>
          <a:p>
            <a:pPr marL="0" indent="0" algn="l">
              <a:lnSpc>
                <a:spcPts val="1664"/>
              </a:lnSpc>
              <a:buNone/>
            </a:pPr>
            <a:r>
              <a:rPr lang="en-US" sz="800" dirty="0">
                <a:solidFill>
                  <a:srgbClr val="FF9DE2"/>
                </a:solidFill>
                <a:latin typeface="JetBrains Mono" pitchFamily="49" charset="0"/>
                <a:ea typeface="JetBrains Mono" pitchFamily="49" charset="-122"/>
                <a:cs typeface="JetBrains Mono" pitchFamily="49" charset="-120"/>
              </a:rPr>
              <a:t>.card</a:t>
            </a:r>
            <a:r>
              <a:rPr lang="en-US" sz="800" dirty="0">
                <a:solidFill>
                  <a:srgbClr val="FFFFFF"/>
                </a:solidFill>
                <a:latin typeface="JetBrains Mono" pitchFamily="49" charset="0"/>
                <a:ea typeface="JetBrains Mono" pitchFamily="49" charset="-122"/>
                <a:cs typeface="JetBrains Mono" pitchFamily="49" charset="-120"/>
              </a:rPr>
              <a:t> {</a:t>
            </a:r>
            <a:endParaRPr lang="en-US" sz="800" dirty="0"/>
          </a:p>
          <a:p>
            <a:pPr marL="0" indent="0" algn="l">
              <a:lnSpc>
                <a:spcPts val="1664"/>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D27F"/>
                </a:solidFill>
                <a:latin typeface="JetBrains Mono" pitchFamily="49" charset="0"/>
                <a:ea typeface="JetBrains Mono" pitchFamily="49" charset="-122"/>
                <a:cs typeface="JetBrains Mono" pitchFamily="49" charset="-120"/>
              </a:rPr>
              <a:t>background</a:t>
            </a: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9EE6A8"/>
                </a:solidFill>
                <a:latin typeface="JetBrains Mono" pitchFamily="49" charset="0"/>
                <a:ea typeface="JetBrains Mono" pitchFamily="49" charset="-122"/>
                <a:cs typeface="JetBrains Mono" pitchFamily="49" charset="-120"/>
              </a:rPr>
              <a:t>#f3d9f3</a:t>
            </a:r>
            <a:r>
              <a:rPr lang="en-US" sz="800" dirty="0">
                <a:solidFill>
                  <a:srgbClr val="FFFFFF"/>
                </a:solidFill>
                <a:latin typeface="JetBrains Mono" pitchFamily="49" charset="0"/>
                <a:ea typeface="JetBrains Mono" pitchFamily="49" charset="-122"/>
                <a:cs typeface="JetBrains Mono" pitchFamily="49" charset="-120"/>
              </a:rPr>
              <a:t>;</a:t>
            </a:r>
            <a:endParaRPr lang="en-US" sz="800" dirty="0"/>
          </a:p>
          <a:p>
            <a:pPr marL="0" indent="0" algn="l">
              <a:lnSpc>
                <a:spcPts val="1664"/>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D27F"/>
                </a:solidFill>
                <a:latin typeface="JetBrains Mono" pitchFamily="49" charset="0"/>
                <a:ea typeface="JetBrains Mono" pitchFamily="49" charset="-122"/>
                <a:cs typeface="JetBrains Mono" pitchFamily="49" charset="-120"/>
              </a:rPr>
              <a:t>border</a:t>
            </a: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9EE6A8"/>
                </a:solidFill>
                <a:latin typeface="JetBrains Mono" pitchFamily="49" charset="0"/>
                <a:ea typeface="JetBrains Mono" pitchFamily="49" charset="-122"/>
                <a:cs typeface="JetBrains Mono" pitchFamily="49" charset="-120"/>
              </a:rPr>
              <a:t>3px solid #972996</a:t>
            </a:r>
            <a:r>
              <a:rPr lang="en-US" sz="800" dirty="0">
                <a:solidFill>
                  <a:srgbClr val="FFFFFF"/>
                </a:solidFill>
                <a:latin typeface="JetBrains Mono" pitchFamily="49" charset="0"/>
                <a:ea typeface="JetBrains Mono" pitchFamily="49" charset="-122"/>
                <a:cs typeface="JetBrains Mono" pitchFamily="49" charset="-120"/>
              </a:rPr>
              <a:t>;</a:t>
            </a:r>
            <a:endParaRPr lang="en-US" sz="800" dirty="0"/>
          </a:p>
          <a:p>
            <a:pPr marL="0" indent="0" algn="l">
              <a:lnSpc>
                <a:spcPts val="1664"/>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D27F"/>
                </a:solidFill>
                <a:latin typeface="JetBrains Mono" pitchFamily="49" charset="0"/>
                <a:ea typeface="JetBrains Mono" pitchFamily="49" charset="-122"/>
                <a:cs typeface="JetBrains Mono" pitchFamily="49" charset="-120"/>
              </a:rPr>
              <a:t>border-radius</a:t>
            </a: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9EE6A8"/>
                </a:solidFill>
                <a:latin typeface="JetBrains Mono" pitchFamily="49" charset="0"/>
                <a:ea typeface="JetBrains Mono" pitchFamily="49" charset="-122"/>
                <a:cs typeface="JetBrains Mono" pitchFamily="49" charset="-120"/>
              </a:rPr>
              <a:t>16px</a:t>
            </a:r>
            <a:r>
              <a:rPr lang="en-US" sz="800" dirty="0">
                <a:solidFill>
                  <a:srgbClr val="FFFFFF"/>
                </a:solidFill>
                <a:latin typeface="JetBrains Mono" pitchFamily="49" charset="0"/>
                <a:ea typeface="JetBrains Mono" pitchFamily="49" charset="-122"/>
                <a:cs typeface="JetBrains Mono" pitchFamily="49" charset="-120"/>
              </a:rPr>
              <a:t>;</a:t>
            </a:r>
            <a:endParaRPr lang="en-US" sz="800" dirty="0"/>
          </a:p>
          <a:p>
            <a:pPr marL="0" indent="0" algn="l">
              <a:lnSpc>
                <a:spcPts val="1664"/>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D27F"/>
                </a:solidFill>
                <a:latin typeface="JetBrains Mono" pitchFamily="49" charset="0"/>
                <a:ea typeface="JetBrains Mono" pitchFamily="49" charset="-122"/>
                <a:cs typeface="JetBrains Mono" pitchFamily="49" charset="-120"/>
              </a:rPr>
              <a:t>padding</a:t>
            </a: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9EE6A8"/>
                </a:solidFill>
                <a:latin typeface="JetBrains Mono" pitchFamily="49" charset="0"/>
                <a:ea typeface="JetBrains Mono" pitchFamily="49" charset="-122"/>
                <a:cs typeface="JetBrains Mono" pitchFamily="49" charset="-120"/>
              </a:rPr>
              <a:t>20px</a:t>
            </a:r>
            <a:r>
              <a:rPr lang="en-US" sz="800" dirty="0">
                <a:solidFill>
                  <a:srgbClr val="FFFFFF"/>
                </a:solidFill>
                <a:latin typeface="JetBrains Mono" pitchFamily="49" charset="0"/>
                <a:ea typeface="JetBrains Mono" pitchFamily="49" charset="-122"/>
                <a:cs typeface="JetBrains Mono" pitchFamily="49" charset="-120"/>
              </a:rPr>
              <a:t>;</a:t>
            </a:r>
            <a:endParaRPr lang="en-US" sz="800" dirty="0"/>
          </a:p>
          <a:p>
            <a:pPr marL="0" indent="0" algn="l">
              <a:lnSpc>
                <a:spcPts val="1664"/>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D27F"/>
                </a:solidFill>
                <a:latin typeface="JetBrains Mono" pitchFamily="49" charset="0"/>
                <a:ea typeface="JetBrains Mono" pitchFamily="49" charset="-122"/>
                <a:cs typeface="JetBrains Mono" pitchFamily="49" charset="-120"/>
              </a:rPr>
              <a:t>box-shadow</a:t>
            </a: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9EE6A8"/>
                </a:solidFill>
                <a:latin typeface="JetBrains Mono" pitchFamily="49" charset="0"/>
                <a:ea typeface="JetBrains Mono" pitchFamily="49" charset="-122"/>
                <a:cs typeface="JetBrains Mono" pitchFamily="49" charset="-120"/>
              </a:rPr>
              <a:t>4px 4px 12px gray</a:t>
            </a:r>
            <a:r>
              <a:rPr lang="en-US" sz="800" dirty="0">
                <a:solidFill>
                  <a:srgbClr val="FFFFFF"/>
                </a:solidFill>
                <a:latin typeface="JetBrains Mono" pitchFamily="49" charset="0"/>
                <a:ea typeface="JetBrains Mono" pitchFamily="49" charset="-122"/>
                <a:cs typeface="JetBrains Mono" pitchFamily="49" charset="-120"/>
              </a:rPr>
              <a:t>;</a:t>
            </a:r>
            <a:endParaRPr lang="en-US" sz="800" dirty="0"/>
          </a:p>
          <a:p>
            <a:pPr marL="0" indent="0" algn="l">
              <a:lnSpc>
                <a:spcPts val="1664"/>
              </a:lnSpc>
              <a:buNone/>
            </a:pPr>
            <a:r>
              <a:rPr lang="en-US" sz="800" dirty="0">
                <a:solidFill>
                  <a:srgbClr val="FFFFFF"/>
                </a:solidFill>
                <a:latin typeface="JetBrains Mono" pitchFamily="49" charset="0"/>
                <a:ea typeface="JetBrains Mono" pitchFamily="49" charset="-122"/>
                <a:cs typeface="JetBrains Mono" pitchFamily="49" charset="-120"/>
              </a:rPr>
              <a:t>}</a:t>
            </a:r>
            <a:endParaRPr lang="en-US" sz="800" dirty="0"/>
          </a:p>
          <a:p>
            <a:pPr marL="0" indent="0" algn="l">
              <a:lnSpc>
                <a:spcPts val="1664"/>
              </a:lnSpc>
              <a:buNone/>
            </a:pPr>
            <a:r>
              <a:rPr lang="en-US" sz="800" dirty="0">
                <a:solidFill>
                  <a:srgbClr val="FF9DE2"/>
                </a:solidFill>
                <a:latin typeface="JetBrains Mono" pitchFamily="49" charset="0"/>
                <a:ea typeface="JetBrains Mono" pitchFamily="49" charset="-122"/>
                <a:cs typeface="JetBrains Mono" pitchFamily="49" charset="-120"/>
              </a:rPr>
              <a:t>.bar</a:t>
            </a:r>
            <a:r>
              <a:rPr lang="en-US" sz="800" dirty="0">
                <a:solidFill>
                  <a:srgbClr val="FFFFFF"/>
                </a:solidFill>
                <a:latin typeface="JetBrains Mono" pitchFamily="49" charset="0"/>
                <a:ea typeface="JetBrains Mono" pitchFamily="49" charset="-122"/>
                <a:cs typeface="JetBrains Mono" pitchFamily="49" charset="-120"/>
              </a:rPr>
              <a:t> {</a:t>
            </a:r>
            <a:endParaRPr lang="en-US" sz="800" dirty="0"/>
          </a:p>
          <a:p>
            <a:pPr marL="0" indent="0" algn="l">
              <a:lnSpc>
                <a:spcPts val="1664"/>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D27F"/>
                </a:solidFill>
                <a:latin typeface="JetBrains Mono" pitchFamily="49" charset="0"/>
                <a:ea typeface="JetBrains Mono" pitchFamily="49" charset="-122"/>
                <a:cs typeface="JetBrains Mono" pitchFamily="49" charset="-120"/>
              </a:rPr>
              <a:t>height</a:t>
            </a: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9EE6A8"/>
                </a:solidFill>
                <a:latin typeface="JetBrains Mono" pitchFamily="49" charset="0"/>
                <a:ea typeface="JetBrains Mono" pitchFamily="49" charset="-122"/>
                <a:cs typeface="JetBrains Mono" pitchFamily="49" charset="-120"/>
              </a:rPr>
              <a:t>20px</a:t>
            </a:r>
            <a:r>
              <a:rPr lang="en-US" sz="800" dirty="0">
                <a:solidFill>
                  <a:srgbClr val="FFFFFF"/>
                </a:solidFill>
                <a:latin typeface="JetBrains Mono" pitchFamily="49" charset="0"/>
                <a:ea typeface="JetBrains Mono" pitchFamily="49" charset="-122"/>
                <a:cs typeface="JetBrains Mono" pitchFamily="49" charset="-120"/>
              </a:rPr>
              <a:t>;</a:t>
            </a:r>
            <a:endParaRPr lang="en-US" sz="800" dirty="0"/>
          </a:p>
          <a:p>
            <a:pPr marL="0" indent="0" algn="l">
              <a:lnSpc>
                <a:spcPts val="1664"/>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FFD27F"/>
                </a:solidFill>
                <a:latin typeface="JetBrains Mono" pitchFamily="49" charset="0"/>
                <a:ea typeface="JetBrains Mono" pitchFamily="49" charset="-122"/>
                <a:cs typeface="JetBrains Mono" pitchFamily="49" charset="-120"/>
              </a:rPr>
              <a:t>background</a:t>
            </a: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9EE6A8"/>
                </a:solidFill>
                <a:latin typeface="JetBrains Mono" pitchFamily="49" charset="0"/>
                <a:ea typeface="JetBrains Mono" pitchFamily="49" charset="-122"/>
                <a:cs typeface="JetBrains Mono" pitchFamily="49" charset="-120"/>
              </a:rPr>
              <a:t>linear-gradient(to right,</a:t>
            </a:r>
            <a:endParaRPr lang="en-US" sz="800" dirty="0"/>
          </a:p>
          <a:p>
            <a:pPr marL="0" indent="0" algn="l">
              <a:lnSpc>
                <a:spcPts val="1664"/>
              </a:lnSpc>
              <a:buNone/>
            </a:pPr>
            <a:r>
              <a:rPr lang="en-US" sz="800" dirty="0">
                <a:solidFill>
                  <a:srgbClr val="FFFFFF"/>
                </a:solidFill>
                <a:latin typeface="JetBrains Mono" pitchFamily="49" charset="0"/>
                <a:ea typeface="JetBrains Mono" pitchFamily="49" charset="-122"/>
                <a:cs typeface="JetBrains Mono" pitchFamily="49" charset="-120"/>
              </a:rPr>
              <a:t>    </a:t>
            </a:r>
            <a:r>
              <a:rPr lang="en-US" sz="800" dirty="0">
                <a:solidFill>
                  <a:srgbClr val="9EE6A8"/>
                </a:solidFill>
                <a:latin typeface="JetBrains Mono" pitchFamily="49" charset="0"/>
                <a:ea typeface="JetBrains Mono" pitchFamily="49" charset="-122"/>
                <a:cs typeface="JetBrains Mono" pitchFamily="49" charset="-120"/>
              </a:rPr>
              <a:t>#972996, #ff9de2)</a:t>
            </a:r>
            <a:r>
              <a:rPr lang="en-US" sz="800" dirty="0">
                <a:solidFill>
                  <a:srgbClr val="FFFFFF"/>
                </a:solidFill>
                <a:latin typeface="JetBrains Mono" pitchFamily="49" charset="0"/>
                <a:ea typeface="JetBrains Mono" pitchFamily="49" charset="-122"/>
                <a:cs typeface="JetBrains Mono" pitchFamily="49" charset="-120"/>
              </a:rPr>
              <a:t>;</a:t>
            </a:r>
            <a:endParaRPr lang="en-US" sz="800" dirty="0"/>
          </a:p>
          <a:p>
            <a:pPr marL="0" indent="0" algn="l">
              <a:lnSpc>
                <a:spcPts val="1664"/>
              </a:lnSpc>
              <a:buNone/>
            </a:pPr>
            <a:r>
              <a:rPr lang="en-US" sz="800" dirty="0">
                <a:solidFill>
                  <a:srgbClr val="FFFFFF"/>
                </a:solidFill>
                <a:latin typeface="JetBrains Mono" pitchFamily="49" charset="0"/>
                <a:ea typeface="JetBrains Mono" pitchFamily="49" charset="-122"/>
                <a:cs typeface="JetBrains Mono" pitchFamily="49" charset="-120"/>
              </a:rPr>
              <a:t>}</a:t>
            </a:r>
            <a:endParaRPr lang="en-US" sz="800" dirty="0"/>
          </a:p>
        </p:txBody>
      </p:sp>
      <p:sp>
        <p:nvSpPr>
          <p:cNvPr id="11" name="Shape 8"/>
          <p:cNvSpPr/>
          <p:nvPr/>
        </p:nvSpPr>
        <p:spPr>
          <a:xfrm>
            <a:off x="6089650" y="1244104"/>
            <a:ext cx="12700" cy="4122539"/>
          </a:xfrm>
          <a:prstGeom prst="rect">
            <a:avLst/>
          </a:prstGeom>
          <a:solidFill>
            <a:srgbClr val="FFFFFF"/>
          </a:solidFill>
          <a:ln/>
        </p:spPr>
      </p:sp>
      <p:sp>
        <p:nvSpPr>
          <p:cNvPr id="12" name="Text 9"/>
          <p:cNvSpPr/>
          <p:nvPr/>
        </p:nvSpPr>
        <p:spPr>
          <a:xfrm>
            <a:off x="6356350" y="1244104"/>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3" name="Shape 10"/>
          <p:cNvSpPr/>
          <p:nvPr/>
        </p:nvSpPr>
        <p:spPr>
          <a:xfrm>
            <a:off x="6356350" y="1569145"/>
            <a:ext cx="5200650" cy="2321520"/>
          </a:xfrm>
          <a:prstGeom prst="roundRect">
            <a:avLst>
              <a:gd name="adj" fmla="val 3282"/>
            </a:avLst>
          </a:prstGeom>
          <a:solidFill>
            <a:srgbClr val="FFFFFF"/>
          </a:solidFill>
          <a:ln/>
        </p:spPr>
      </p:sp>
      <p:sp>
        <p:nvSpPr>
          <p:cNvPr id="14" name="Shape 11"/>
          <p:cNvSpPr/>
          <p:nvPr/>
        </p:nvSpPr>
        <p:spPr>
          <a:xfrm>
            <a:off x="6356350" y="1569145"/>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5" name="Shape 12"/>
          <p:cNvSpPr/>
          <p:nvPr/>
        </p:nvSpPr>
        <p:spPr>
          <a:xfrm>
            <a:off x="6483350" y="1713905"/>
            <a:ext cx="101600" cy="101600"/>
          </a:xfrm>
          <a:prstGeom prst="roundRect">
            <a:avLst>
              <a:gd name="adj" fmla="val 50000"/>
            </a:avLst>
          </a:prstGeom>
          <a:solidFill>
            <a:srgbClr val="E57373"/>
          </a:solidFill>
          <a:ln/>
        </p:spPr>
      </p:sp>
      <p:sp>
        <p:nvSpPr>
          <p:cNvPr id="16" name="Shape 13"/>
          <p:cNvSpPr/>
          <p:nvPr/>
        </p:nvSpPr>
        <p:spPr>
          <a:xfrm>
            <a:off x="6648450" y="1713905"/>
            <a:ext cx="101600" cy="101600"/>
          </a:xfrm>
          <a:prstGeom prst="roundRect">
            <a:avLst>
              <a:gd name="adj" fmla="val 50000"/>
            </a:avLst>
          </a:prstGeom>
          <a:solidFill>
            <a:srgbClr val="FFD54F"/>
          </a:solidFill>
          <a:ln/>
        </p:spPr>
      </p:sp>
      <p:sp>
        <p:nvSpPr>
          <p:cNvPr id="17" name="Shape 14"/>
          <p:cNvSpPr/>
          <p:nvPr/>
        </p:nvSpPr>
        <p:spPr>
          <a:xfrm>
            <a:off x="6813550" y="1713905"/>
            <a:ext cx="101600" cy="101600"/>
          </a:xfrm>
          <a:prstGeom prst="roundRect">
            <a:avLst>
              <a:gd name="adj" fmla="val 50000"/>
            </a:avLst>
          </a:prstGeom>
          <a:solidFill>
            <a:srgbClr val="81C784"/>
          </a:solidFill>
          <a:ln/>
        </p:spPr>
      </p:sp>
      <p:sp>
        <p:nvSpPr>
          <p:cNvPr id="18" name="Text 15"/>
          <p:cNvSpPr/>
          <p:nvPr/>
        </p:nvSpPr>
        <p:spPr>
          <a:xfrm>
            <a:off x="7054850" y="1658045"/>
            <a:ext cx="7106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card.html</a:t>
            </a:r>
            <a:endParaRPr lang="en-US" sz="1200" dirty="0"/>
          </a:p>
        </p:txBody>
      </p:sp>
      <p:sp>
        <p:nvSpPr>
          <p:cNvPr id="19" name="Text 16"/>
          <p:cNvSpPr/>
          <p:nvPr/>
        </p:nvSpPr>
        <p:spPr>
          <a:xfrm>
            <a:off x="6654800" y="2233315"/>
            <a:ext cx="4603750" cy="901700"/>
          </a:xfrm>
          <a:prstGeom prst="roundRect">
            <a:avLst>
              <a:gd name="adj" fmla="val 20423"/>
            </a:avLst>
          </a:prstGeom>
          <a:solidFill>
            <a:srgbClr val="F3D9F3"/>
          </a:solidFill>
          <a:ln w="38100">
            <a:solidFill>
              <a:srgbClr val="972996"/>
            </a:solidFill>
            <a:prstDash val="solid"/>
          </a:ln>
          <a:effectLst>
            <a:outerShdw blurRad="152400" dist="71842" dir="2700000" algn="bl" rotWithShape="0">
              <a:srgbClr val="000000">
                <a:alpha val="35000"/>
              </a:srgbClr>
            </a:outerShdw>
          </a:effectLst>
        </p:spPr>
        <p:txBody>
          <a:bodyPr wrap="square" lIns="219114" tIns="219114" rIns="97385" bIns="193714" rtlCol="0" anchor="t">
            <a:normAutofit/>
          </a:bodyPr>
          <a:lstStyle/>
          <a:p>
            <a:pPr marL="0" indent="0" algn="l">
              <a:lnSpc>
                <a:spcPts val="2800"/>
              </a:lnSpc>
              <a:buNone/>
            </a:pPr>
            <a:r>
              <a:rPr lang="en-US" sz="2000" dirty="0">
                <a:solidFill>
                  <a:srgbClr val="111111"/>
                </a:solidFill>
                <a:latin typeface="Arial" pitchFamily="34" charset="0"/>
                <a:ea typeface="Arial" pitchFamily="34" charset="-122"/>
                <a:cs typeface="Arial" pitchFamily="34" charset="-120"/>
              </a:rPr>
              <a:t>Карточка</a:t>
            </a:r>
            <a:endParaRPr lang="en-US" sz="2000" dirty="0"/>
          </a:p>
        </p:txBody>
      </p:sp>
      <p:sp>
        <p:nvSpPr>
          <p:cNvPr id="20" name="Shape 17"/>
          <p:cNvSpPr/>
          <p:nvPr/>
        </p:nvSpPr>
        <p:spPr>
          <a:xfrm>
            <a:off x="6635750" y="3382665"/>
            <a:ext cx="4641850" cy="254000"/>
          </a:xfrm>
          <a:prstGeom prst="rect">
            <a:avLst/>
          </a:prstGeom>
          <a:gradFill rotWithShape="1">
            <a:gsLst>
              <a:gs pos="0">
                <a:srgbClr val="972996"/>
              </a:gs>
              <a:gs pos="100000">
                <a:srgbClr val="FF9DE2"/>
              </a:gs>
            </a:gsLst>
            <a:lin ang="0" scaled="0"/>
          </a:gradFill>
          <a:ln/>
        </p:spPr>
      </p:sp>
      <p:sp>
        <p:nvSpPr>
          <p:cNvPr id="21" name="Shape 18"/>
          <p:cNvSpPr/>
          <p:nvPr/>
        </p:nvSpPr>
        <p:spPr>
          <a:xfrm>
            <a:off x="635000" y="5493643"/>
            <a:ext cx="10922000" cy="665857"/>
          </a:xfrm>
          <a:prstGeom prst="roundRect">
            <a:avLst>
              <a:gd name="adj" fmla="val 11444"/>
            </a:avLst>
          </a:prstGeom>
          <a:solidFill>
            <a:srgbClr val="7A1F79"/>
          </a:solidFill>
          <a:ln/>
        </p:spPr>
      </p:sp>
      <p:sp>
        <p:nvSpPr>
          <p:cNvPr id="22" name="Text 19"/>
          <p:cNvSpPr/>
          <p:nvPr/>
        </p:nvSpPr>
        <p:spPr>
          <a:xfrm>
            <a:off x="800100" y="5595243"/>
            <a:ext cx="10909554" cy="488057"/>
          </a:xfrm>
          <a:prstGeom prst="rect">
            <a:avLst/>
          </a:prstGeom>
          <a:noFill/>
          <a:ln/>
        </p:spPr>
        <p:txBody>
          <a:bodyPr wrap="square" lIns="0" tIns="0" rIns="0" bIns="0" rtlCol="0" anchor="t">
            <a:normAutofit/>
          </a:bodyPr>
          <a:lstStyle/>
          <a:p>
            <a:pPr marL="0" indent="0" algn="l">
              <a:lnSpc>
                <a:spcPts val="1837"/>
              </a:lnSpc>
              <a:buNone/>
            </a:pPr>
            <a:r>
              <a:rPr lang="en-US" sz="1361" dirty="0">
                <a:solidFill>
                  <a:srgbClr val="FFFFFF"/>
                </a:solidFill>
                <a:latin typeface="Carlito" pitchFamily="34" charset="0"/>
                <a:ea typeface="Carlito" pitchFamily="34" charset="-122"/>
                <a:cs typeface="Carlito" pitchFamily="34" charset="-120"/>
              </a:rPr>
              <a:t>background — фон (цвет, градиент, картинка), border — рамка, border-radius — скругление углов, box-shadow — тень: сдвиг по x и y, размытие, цвет.</a:t>
            </a:r>
            <a:endParaRPr lang="en-US" sz="1361" dirty="0"/>
          </a:p>
        </p:txBody>
      </p:sp>
      <p:pic>
        <p:nvPicPr>
          <p:cNvPr id="23" name="Рисунок 22"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19306EDA-566E-FBD9-3C68-791E07C583A7}"/>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Блочная модель</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Каждый элемент — прямоугольник из четырёх слоёв</a:t>
            </a:r>
            <a:endParaRPr lang="en-US" sz="1600" dirty="0"/>
          </a:p>
        </p:txBody>
      </p:sp>
      <p:sp>
        <p:nvSpPr>
          <p:cNvPr id="6" name="Shape 3"/>
          <p:cNvSpPr/>
          <p:nvPr/>
        </p:nvSpPr>
        <p:spPr>
          <a:xfrm>
            <a:off x="644525" y="1279426"/>
            <a:ext cx="4806950" cy="3631208"/>
          </a:xfrm>
          <a:prstGeom prst="roundRect">
            <a:avLst>
              <a:gd name="adj" fmla="val 1137"/>
            </a:avLst>
          </a:prstGeom>
          <a:solidFill>
            <a:srgbClr val="FDE7C2"/>
          </a:solidFill>
          <a:ln w="19050">
            <a:solidFill>
              <a:srgbClr val="C58A00"/>
            </a:solidFill>
            <a:prstDash val="dash"/>
          </a:ln>
        </p:spPr>
      </p:sp>
      <p:sp>
        <p:nvSpPr>
          <p:cNvPr id="7" name="Text 4"/>
          <p:cNvSpPr/>
          <p:nvPr/>
        </p:nvSpPr>
        <p:spPr>
          <a:xfrm>
            <a:off x="793750" y="1377851"/>
            <a:ext cx="464375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7A4A00"/>
                </a:solidFill>
                <a:latin typeface="Carlito" pitchFamily="34" charset="0"/>
                <a:ea typeface="Carlito" pitchFamily="34" charset="-122"/>
                <a:cs typeface="Carlito" pitchFamily="34" charset="-120"/>
              </a:rPr>
              <a:t>margin — внешний отступ</a:t>
            </a:r>
            <a:endParaRPr lang="en-US" sz="1400" dirty="0"/>
          </a:p>
        </p:txBody>
      </p:sp>
      <p:sp>
        <p:nvSpPr>
          <p:cNvPr id="8" name="Shape 5"/>
          <p:cNvSpPr/>
          <p:nvPr/>
        </p:nvSpPr>
        <p:spPr>
          <a:xfrm>
            <a:off x="838200" y="1721941"/>
            <a:ext cx="4419600" cy="1346101"/>
          </a:xfrm>
          <a:prstGeom prst="rect">
            <a:avLst/>
          </a:prstGeom>
          <a:solidFill>
            <a:srgbClr val="E1BEE7"/>
          </a:solidFill>
          <a:ln w="88900">
            <a:solidFill>
              <a:srgbClr val="640064"/>
            </a:solidFill>
            <a:prstDash val="solid"/>
          </a:ln>
        </p:spPr>
      </p:sp>
      <p:sp>
        <p:nvSpPr>
          <p:cNvPr id="9" name="Text 6"/>
          <p:cNvSpPr/>
          <p:nvPr/>
        </p:nvSpPr>
        <p:spPr>
          <a:xfrm>
            <a:off x="1022350" y="1855291"/>
            <a:ext cx="417283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004A"/>
                </a:solidFill>
                <a:latin typeface="Carlito" pitchFamily="34" charset="0"/>
                <a:ea typeface="Carlito" pitchFamily="34" charset="-122"/>
                <a:cs typeface="Carlito" pitchFamily="34" charset="-120"/>
              </a:rPr>
              <a:t>padding — внутренний отступ</a:t>
            </a:r>
            <a:endParaRPr lang="en-US" sz="1400" dirty="0"/>
          </a:p>
        </p:txBody>
      </p:sp>
      <p:sp>
        <p:nvSpPr>
          <p:cNvPr id="10" name="Text 7"/>
          <p:cNvSpPr/>
          <p:nvPr/>
        </p:nvSpPr>
        <p:spPr>
          <a:xfrm>
            <a:off x="1022350" y="2154932"/>
            <a:ext cx="4051300" cy="716260"/>
          </a:xfrm>
          <a:prstGeom prst="rect">
            <a:avLst/>
          </a:prstGeom>
          <a:solidFill>
            <a:srgbClr val="972996"/>
          </a:solidFill>
          <a:ln/>
        </p:spPr>
        <p:txBody>
          <a:bodyPr wrap="square" lIns="127000" tIns="215900" rIns="127000" bIns="190500" rtlCol="0" anchor="t">
            <a:normAutofit/>
          </a:bodyPr>
          <a:lstStyle/>
          <a:p>
            <a:pPr marL="0" indent="0" algn="ctr">
              <a:lnSpc>
                <a:spcPts val="2240"/>
              </a:lnSpc>
              <a:buNone/>
            </a:pPr>
            <a:r>
              <a:rPr lang="en-US" sz="1600" b="1" dirty="0">
                <a:solidFill>
                  <a:srgbClr val="FFFFFF"/>
                </a:solidFill>
                <a:latin typeface="Carlito" pitchFamily="34" charset="0"/>
                <a:ea typeface="Carlito" pitchFamily="34" charset="-122"/>
                <a:cs typeface="Carlito" pitchFamily="34" charset="-120"/>
              </a:rPr>
              <a:t>content — содержимое</a:t>
            </a:r>
            <a:endParaRPr lang="en-US" sz="1600" dirty="0"/>
          </a:p>
        </p:txBody>
      </p:sp>
      <p:sp>
        <p:nvSpPr>
          <p:cNvPr id="11" name="Text 8"/>
          <p:cNvSpPr/>
          <p:nvPr/>
        </p:nvSpPr>
        <p:spPr>
          <a:xfrm>
            <a:off x="793750" y="3163292"/>
            <a:ext cx="464375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7A4A00"/>
                </a:solidFill>
                <a:latin typeface="Carlito" pitchFamily="34" charset="0"/>
                <a:ea typeface="Carlito" pitchFamily="34" charset="-122"/>
                <a:cs typeface="Carlito" pitchFamily="34" charset="-120"/>
              </a:rPr>
              <a:t>Тёмная рамка между padding и margin — это border</a:t>
            </a:r>
            <a:endParaRPr lang="en-US" sz="1300" dirty="0"/>
          </a:p>
        </p:txBody>
      </p:sp>
      <p:sp>
        <p:nvSpPr>
          <p:cNvPr id="12" name="Text 9"/>
          <p:cNvSpPr/>
          <p:nvPr/>
        </p:nvSpPr>
        <p:spPr>
          <a:xfrm>
            <a:off x="5778500" y="1269901"/>
            <a:ext cx="5778500" cy="1854200"/>
          </a:xfrm>
          <a:prstGeom prst="roundRect">
            <a:avLst>
              <a:gd name="adj" fmla="val 4110"/>
            </a:avLst>
          </a:prstGeom>
          <a:solidFill>
            <a:srgbClr val="F6ECF6"/>
          </a:solidFill>
          <a:ln/>
        </p:spPr>
        <p:txBody>
          <a:bodyPr wrap="square" lIns="142782" tIns="104682" rIns="0" bIns="79282" rtlCol="0" anchor="t">
            <a:normAutofit/>
          </a:bodyPr>
          <a:lstStyle/>
          <a:p>
            <a:pPr marL="0" indent="0" algn="l">
              <a:lnSpc>
                <a:spcPts val="2100"/>
              </a:lnSpc>
              <a:buNone/>
            </a:pPr>
            <a:r>
              <a:rPr lang="en-US" sz="1400" dirty="0">
                <a:solidFill>
                  <a:srgbClr val="A3005F"/>
                </a:solidFill>
                <a:latin typeface="JetBrains Mono" pitchFamily="49" charset="0"/>
                <a:ea typeface="JetBrains Mono" pitchFamily="49" charset="-122"/>
                <a:cs typeface="JetBrains Mono" pitchFamily="49" charset="-120"/>
              </a:rPr>
              <a:t>.box</a:t>
            </a:r>
            <a:r>
              <a:rPr lang="en-US" sz="1400" dirty="0">
                <a:solidFill>
                  <a:srgbClr val="111111"/>
                </a:solidFill>
                <a:latin typeface="JetBrains Mono" pitchFamily="49" charset="0"/>
                <a:ea typeface="JetBrains Mono" pitchFamily="49" charset="-122"/>
                <a:cs typeface="JetBrains Mono" pitchFamily="49" charset="-120"/>
              </a:rPr>
              <a:t> {</a:t>
            </a:r>
            <a:endParaRPr lang="en-US" sz="1400" dirty="0"/>
          </a:p>
          <a:p>
            <a:pPr marL="0" indent="0" algn="l">
              <a:lnSpc>
                <a:spcPts val="2100"/>
              </a:lnSpc>
              <a:buNone/>
            </a:pPr>
            <a:r>
              <a:rPr lang="en-US" sz="1400" dirty="0">
                <a:solidFill>
                  <a:srgbClr val="111111"/>
                </a:solidFill>
                <a:latin typeface="JetBrains Mono" pitchFamily="49" charset="0"/>
                <a:ea typeface="JetBrains Mono" pitchFamily="49" charset="-122"/>
                <a:cs typeface="JetBrains Mono" pitchFamily="49" charset="-120"/>
              </a:rPr>
              <a:t>  </a:t>
            </a:r>
            <a:r>
              <a:rPr lang="en-US" sz="1400" dirty="0">
                <a:solidFill>
                  <a:srgbClr val="7A4A00"/>
                </a:solidFill>
                <a:latin typeface="JetBrains Mono" pitchFamily="49" charset="0"/>
                <a:ea typeface="JetBrains Mono" pitchFamily="49" charset="-122"/>
                <a:cs typeface="JetBrains Mono" pitchFamily="49" charset="-120"/>
              </a:rPr>
              <a:t>width</a:t>
            </a:r>
            <a:r>
              <a:rPr lang="en-US" sz="1400" dirty="0">
                <a:solidFill>
                  <a:srgbClr val="111111"/>
                </a:solidFill>
                <a:latin typeface="JetBrains Mono" pitchFamily="49" charset="0"/>
                <a:ea typeface="JetBrains Mono" pitchFamily="49" charset="-122"/>
                <a:cs typeface="JetBrains Mono" pitchFamily="49" charset="-120"/>
              </a:rPr>
              <a:t>: </a:t>
            </a:r>
            <a:r>
              <a:rPr lang="en-US" sz="1400" dirty="0">
                <a:solidFill>
                  <a:srgbClr val="1B6B2F"/>
                </a:solidFill>
                <a:latin typeface="JetBrains Mono" pitchFamily="49" charset="0"/>
                <a:ea typeface="JetBrains Mono" pitchFamily="49" charset="-122"/>
                <a:cs typeface="JetBrains Mono" pitchFamily="49" charset="-120"/>
              </a:rPr>
              <a:t>200px</a:t>
            </a:r>
            <a:r>
              <a:rPr lang="en-US" sz="1400" dirty="0">
                <a:solidFill>
                  <a:srgbClr val="111111"/>
                </a:solidFill>
                <a:latin typeface="JetBrains Mono" pitchFamily="49" charset="0"/>
                <a:ea typeface="JetBrains Mono" pitchFamily="49" charset="-122"/>
                <a:cs typeface="JetBrains Mono" pitchFamily="49" charset="-120"/>
              </a:rPr>
              <a:t>;</a:t>
            </a:r>
            <a:endParaRPr lang="en-US" sz="1400" dirty="0"/>
          </a:p>
          <a:p>
            <a:pPr marL="0" indent="0" algn="l">
              <a:lnSpc>
                <a:spcPts val="2100"/>
              </a:lnSpc>
              <a:buNone/>
            </a:pPr>
            <a:r>
              <a:rPr lang="en-US" sz="1400" dirty="0">
                <a:solidFill>
                  <a:srgbClr val="111111"/>
                </a:solidFill>
                <a:latin typeface="JetBrains Mono" pitchFamily="49" charset="0"/>
                <a:ea typeface="JetBrains Mono" pitchFamily="49" charset="-122"/>
                <a:cs typeface="JetBrains Mono" pitchFamily="49" charset="-120"/>
              </a:rPr>
              <a:t>  </a:t>
            </a:r>
            <a:r>
              <a:rPr lang="en-US" sz="1400" dirty="0">
                <a:solidFill>
                  <a:srgbClr val="7A4A00"/>
                </a:solidFill>
                <a:latin typeface="JetBrains Mono" pitchFamily="49" charset="0"/>
                <a:ea typeface="JetBrains Mono" pitchFamily="49" charset="-122"/>
                <a:cs typeface="JetBrains Mono" pitchFamily="49" charset="-120"/>
              </a:rPr>
              <a:t>padding</a:t>
            </a:r>
            <a:r>
              <a:rPr lang="en-US" sz="1400" dirty="0">
                <a:solidFill>
                  <a:srgbClr val="111111"/>
                </a:solidFill>
                <a:latin typeface="JetBrains Mono" pitchFamily="49" charset="0"/>
                <a:ea typeface="JetBrains Mono" pitchFamily="49" charset="-122"/>
                <a:cs typeface="JetBrains Mono" pitchFamily="49" charset="-120"/>
              </a:rPr>
              <a:t>: </a:t>
            </a:r>
            <a:r>
              <a:rPr lang="en-US" sz="1400" dirty="0">
                <a:solidFill>
                  <a:srgbClr val="1B6B2F"/>
                </a:solidFill>
                <a:latin typeface="JetBrains Mono" pitchFamily="49" charset="0"/>
                <a:ea typeface="JetBrains Mono" pitchFamily="49" charset="-122"/>
                <a:cs typeface="JetBrains Mono" pitchFamily="49" charset="-120"/>
              </a:rPr>
              <a:t>20px</a:t>
            </a:r>
            <a:r>
              <a:rPr lang="en-US" sz="1400" dirty="0">
                <a:solidFill>
                  <a:srgbClr val="111111"/>
                </a:solidFill>
                <a:latin typeface="JetBrains Mono" pitchFamily="49" charset="0"/>
                <a:ea typeface="JetBrains Mono" pitchFamily="49" charset="-122"/>
                <a:cs typeface="JetBrains Mono" pitchFamily="49" charset="-120"/>
              </a:rPr>
              <a:t>;</a:t>
            </a:r>
            <a:endParaRPr lang="en-US" sz="1400" dirty="0"/>
          </a:p>
          <a:p>
            <a:pPr marL="0" indent="0" algn="l">
              <a:lnSpc>
                <a:spcPts val="2100"/>
              </a:lnSpc>
              <a:buNone/>
            </a:pPr>
            <a:r>
              <a:rPr lang="en-US" sz="1400" dirty="0">
                <a:solidFill>
                  <a:srgbClr val="111111"/>
                </a:solidFill>
                <a:latin typeface="JetBrains Mono" pitchFamily="49" charset="0"/>
                <a:ea typeface="JetBrains Mono" pitchFamily="49" charset="-122"/>
                <a:cs typeface="JetBrains Mono" pitchFamily="49" charset="-120"/>
              </a:rPr>
              <a:t>  </a:t>
            </a:r>
            <a:r>
              <a:rPr lang="en-US" sz="1400" dirty="0">
                <a:solidFill>
                  <a:srgbClr val="7A4A00"/>
                </a:solidFill>
                <a:latin typeface="JetBrains Mono" pitchFamily="49" charset="0"/>
                <a:ea typeface="JetBrains Mono" pitchFamily="49" charset="-122"/>
                <a:cs typeface="JetBrains Mono" pitchFamily="49" charset="-120"/>
              </a:rPr>
              <a:t>border</a:t>
            </a:r>
            <a:r>
              <a:rPr lang="en-US" sz="1400" dirty="0">
                <a:solidFill>
                  <a:srgbClr val="111111"/>
                </a:solidFill>
                <a:latin typeface="JetBrains Mono" pitchFamily="49" charset="0"/>
                <a:ea typeface="JetBrains Mono" pitchFamily="49" charset="-122"/>
                <a:cs typeface="JetBrains Mono" pitchFamily="49" charset="-120"/>
              </a:rPr>
              <a:t>: </a:t>
            </a:r>
            <a:r>
              <a:rPr lang="en-US" sz="1400" dirty="0">
                <a:solidFill>
                  <a:srgbClr val="1B6B2F"/>
                </a:solidFill>
                <a:latin typeface="JetBrains Mono" pitchFamily="49" charset="0"/>
                <a:ea typeface="JetBrains Mono" pitchFamily="49" charset="-122"/>
                <a:cs typeface="JetBrains Mono" pitchFamily="49" charset="-120"/>
              </a:rPr>
              <a:t>5px solid</a:t>
            </a:r>
            <a:r>
              <a:rPr lang="en-US" sz="1400" dirty="0">
                <a:solidFill>
                  <a:srgbClr val="111111"/>
                </a:solidFill>
                <a:latin typeface="JetBrains Mono" pitchFamily="49" charset="0"/>
                <a:ea typeface="JetBrains Mono" pitchFamily="49" charset="-122"/>
                <a:cs typeface="JetBrains Mono" pitchFamily="49" charset="-120"/>
              </a:rPr>
              <a:t>;</a:t>
            </a:r>
            <a:endParaRPr lang="en-US" sz="1400" dirty="0"/>
          </a:p>
          <a:p>
            <a:pPr marL="0" indent="0" algn="l">
              <a:lnSpc>
                <a:spcPts val="2100"/>
              </a:lnSpc>
              <a:buNone/>
            </a:pPr>
            <a:r>
              <a:rPr lang="en-US" sz="1400" dirty="0">
                <a:solidFill>
                  <a:srgbClr val="111111"/>
                </a:solidFill>
                <a:latin typeface="JetBrains Mono" pitchFamily="49" charset="0"/>
                <a:ea typeface="JetBrains Mono" pitchFamily="49" charset="-122"/>
                <a:cs typeface="JetBrains Mono" pitchFamily="49" charset="-120"/>
              </a:rPr>
              <a:t>  </a:t>
            </a:r>
            <a:r>
              <a:rPr lang="en-US" sz="1400" dirty="0">
                <a:solidFill>
                  <a:srgbClr val="7A4A00"/>
                </a:solidFill>
                <a:latin typeface="JetBrains Mono" pitchFamily="49" charset="0"/>
                <a:ea typeface="JetBrains Mono" pitchFamily="49" charset="-122"/>
                <a:cs typeface="JetBrains Mono" pitchFamily="49" charset="-120"/>
              </a:rPr>
              <a:t>margin</a:t>
            </a:r>
            <a:r>
              <a:rPr lang="en-US" sz="1400" dirty="0">
                <a:solidFill>
                  <a:srgbClr val="111111"/>
                </a:solidFill>
                <a:latin typeface="JetBrains Mono" pitchFamily="49" charset="0"/>
                <a:ea typeface="JetBrains Mono" pitchFamily="49" charset="-122"/>
                <a:cs typeface="JetBrains Mono" pitchFamily="49" charset="-120"/>
              </a:rPr>
              <a:t>: </a:t>
            </a:r>
            <a:r>
              <a:rPr lang="en-US" sz="1400" dirty="0">
                <a:solidFill>
                  <a:srgbClr val="1B6B2F"/>
                </a:solidFill>
                <a:latin typeface="JetBrains Mono" pitchFamily="49" charset="0"/>
                <a:ea typeface="JetBrains Mono" pitchFamily="49" charset="-122"/>
                <a:cs typeface="JetBrains Mono" pitchFamily="49" charset="-120"/>
              </a:rPr>
              <a:t>30px</a:t>
            </a:r>
            <a:r>
              <a:rPr lang="en-US" sz="1400" dirty="0">
                <a:solidFill>
                  <a:srgbClr val="111111"/>
                </a:solidFill>
                <a:latin typeface="JetBrains Mono" pitchFamily="49" charset="0"/>
                <a:ea typeface="JetBrains Mono" pitchFamily="49" charset="-122"/>
                <a:cs typeface="JetBrains Mono" pitchFamily="49" charset="-120"/>
              </a:rPr>
              <a:t>;</a:t>
            </a:r>
            <a:endParaRPr lang="en-US" sz="1400" dirty="0"/>
          </a:p>
          <a:p>
            <a:pPr marL="0" indent="0" algn="l">
              <a:lnSpc>
                <a:spcPts val="2100"/>
              </a:lnSpc>
              <a:buNone/>
            </a:pPr>
            <a:r>
              <a:rPr lang="en-US" sz="1400" dirty="0">
                <a:solidFill>
                  <a:srgbClr val="111111"/>
                </a:solidFill>
                <a:latin typeface="JetBrains Mono" pitchFamily="49" charset="0"/>
                <a:ea typeface="JetBrains Mono" pitchFamily="49" charset="-122"/>
                <a:cs typeface="JetBrains Mono" pitchFamily="49" charset="-120"/>
              </a:rPr>
              <a:t>}</a:t>
            </a:r>
            <a:endParaRPr lang="en-US" sz="1400" dirty="0"/>
          </a:p>
        </p:txBody>
      </p:sp>
      <p:sp>
        <p:nvSpPr>
          <p:cNvPr id="13" name="Text 10"/>
          <p:cNvSpPr/>
          <p:nvPr/>
        </p:nvSpPr>
        <p:spPr>
          <a:xfrm>
            <a:off x="5778500" y="3225701"/>
            <a:ext cx="5951855" cy="522486"/>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111111"/>
                </a:solidFill>
                <a:latin typeface="Carlito" pitchFamily="34" charset="0"/>
                <a:ea typeface="Carlito" pitchFamily="34" charset="-122"/>
                <a:cs typeface="Carlito" pitchFamily="34" charset="-120"/>
              </a:rPr>
              <a:t>Реальная ширина блока: 200 + 2×20 + 2×5 = </a:t>
            </a:r>
            <a:r>
              <a:rPr lang="en-US" sz="1450" b="1" dirty="0">
                <a:solidFill>
                  <a:srgbClr val="111111"/>
                </a:solidFill>
                <a:latin typeface="Carlito" pitchFamily="34" charset="0"/>
                <a:ea typeface="Carlito" pitchFamily="34" charset="-122"/>
                <a:cs typeface="Carlito" pitchFamily="34" charset="-120"/>
              </a:rPr>
              <a:t>250px</a:t>
            </a:r>
            <a:r>
              <a:rPr lang="en-US" sz="1450" dirty="0">
                <a:solidFill>
                  <a:srgbClr val="111111"/>
                </a:solidFill>
                <a:latin typeface="Carlito" pitchFamily="34" charset="0"/>
                <a:ea typeface="Carlito" pitchFamily="34" charset="-122"/>
                <a:cs typeface="Carlito" pitchFamily="34" charset="-120"/>
              </a:rPr>
              <a:t>, а вместе с внешними отступами — 310px.</a:t>
            </a:r>
            <a:endParaRPr lang="en-US" sz="1450" dirty="0"/>
          </a:p>
        </p:txBody>
      </p:sp>
      <p:sp>
        <p:nvSpPr>
          <p:cNvPr id="14" name="Text 11"/>
          <p:cNvSpPr/>
          <p:nvPr/>
        </p:nvSpPr>
        <p:spPr>
          <a:xfrm>
            <a:off x="5778500" y="3824387"/>
            <a:ext cx="5951855" cy="522486"/>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111111"/>
                </a:solidFill>
                <a:latin typeface="Carlito" pitchFamily="34" charset="0"/>
                <a:ea typeface="Carlito" pitchFamily="34" charset="-122"/>
                <a:cs typeface="Carlito" pitchFamily="34" charset="-120"/>
              </a:rPr>
              <a:t>Чтобы width включала padding и border, пишут </a:t>
            </a:r>
            <a:r>
              <a:rPr lang="en-US" sz="1450" b="1" dirty="0">
                <a:solidFill>
                  <a:srgbClr val="111111"/>
                </a:solidFill>
                <a:latin typeface="Carlito" pitchFamily="34" charset="0"/>
                <a:ea typeface="Carlito" pitchFamily="34" charset="-122"/>
                <a:cs typeface="Carlito" pitchFamily="34" charset="-120"/>
              </a:rPr>
              <a:t>box-sizing: border-box</a:t>
            </a:r>
            <a:r>
              <a:rPr lang="en-US" sz="1450" dirty="0">
                <a:solidFill>
                  <a:srgbClr val="111111"/>
                </a:solidFill>
                <a:latin typeface="Carlito" pitchFamily="34" charset="0"/>
                <a:ea typeface="Carlito" pitchFamily="34" charset="-122"/>
                <a:cs typeface="Carlito" pitchFamily="34" charset="-120"/>
              </a:rPr>
              <a:t>. Так считать размеры проще.</a:t>
            </a:r>
            <a:endParaRPr lang="en-US" sz="1450" dirty="0"/>
          </a:p>
        </p:txBody>
      </p:sp>
      <p:sp>
        <p:nvSpPr>
          <p:cNvPr id="15" name="Text 12"/>
          <p:cNvSpPr/>
          <p:nvPr/>
        </p:nvSpPr>
        <p:spPr>
          <a:xfrm>
            <a:off x="5778500" y="4423073"/>
            <a:ext cx="5951855" cy="522486"/>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111111"/>
                </a:solidFill>
                <a:latin typeface="Carlito" pitchFamily="34" charset="0"/>
                <a:ea typeface="Carlito" pitchFamily="34" charset="-122"/>
                <a:cs typeface="Carlito" pitchFamily="34" charset="-120"/>
              </a:rPr>
              <a:t>Отступы можно задавать по сторонам: padding-top, margin-left; короткая запись — «сверху справа снизу слева».</a:t>
            </a:r>
            <a:endParaRPr lang="en-US" sz="1450" dirty="0"/>
          </a:p>
        </p:txBody>
      </p:sp>
      <p:pic>
        <p:nvPicPr>
          <p:cNvPr id="16" name="Рисунок 15"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3B2ED5A0-4D05-1DB0-9BCE-8C9D9638403D}"/>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CSS: свойство display</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Как элемент ведёт себя в потоке страницы</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1287264"/>
          </a:xfrm>
          <a:prstGeom prst="roundRect">
            <a:avLst>
              <a:gd name="adj" fmla="val 5920"/>
            </a:avLst>
          </a:prstGeom>
          <a:solidFill>
            <a:srgbClr val="2A002A"/>
          </a:solidFill>
          <a:ln/>
        </p:spPr>
        <p:txBody>
          <a:bodyPr wrap="square" lIns="104682" tIns="91982" rIns="0" bIns="66582" rtlCol="0" anchor="t">
            <a:normAutofit/>
          </a:bodyPr>
          <a:lstStyle/>
          <a:p>
            <a:pPr marL="0" indent="0" algn="l">
              <a:lnSpc>
                <a:spcPts val="1668"/>
              </a:lnSpc>
              <a:buNone/>
            </a:pPr>
            <a:r>
              <a:rPr lang="en-US" sz="1150" dirty="0">
                <a:solidFill>
                  <a:srgbClr val="FF9DE2"/>
                </a:solidFill>
                <a:latin typeface="JetBrains Mono" pitchFamily="49" charset="0"/>
                <a:ea typeface="JetBrains Mono" pitchFamily="49" charset="-122"/>
                <a:cs typeface="JetBrains Mono" pitchFamily="49" charset="-120"/>
              </a:rPr>
              <a:t>&lt;div</a:t>
            </a:r>
            <a:r>
              <a:rPr lang="en-US" sz="1150" dirty="0">
                <a:solidFill>
                  <a:srgbClr val="FFFFFF"/>
                </a:solidFill>
                <a:latin typeface="JetBrains Mono" pitchFamily="49" charset="0"/>
                <a:ea typeface="JetBrains Mono" pitchFamily="49" charset="-122"/>
                <a:cs typeface="JetBrains Mono" pitchFamily="49" charset="-120"/>
              </a:rPr>
              <a:t> </a:t>
            </a:r>
            <a:r>
              <a:rPr lang="en-US" sz="1150" dirty="0">
                <a:solidFill>
                  <a:srgbClr val="FFD27F"/>
                </a:solidFill>
                <a:latin typeface="JetBrains Mono" pitchFamily="49" charset="0"/>
                <a:ea typeface="JetBrains Mono" pitchFamily="49" charset="-122"/>
                <a:cs typeface="JetBrains Mono" pitchFamily="49" charset="-120"/>
              </a:rPr>
              <a:t>class</a:t>
            </a:r>
            <a:r>
              <a:rPr lang="en-US" sz="1150" dirty="0">
                <a:solidFill>
                  <a:srgbClr val="FFFFFF"/>
                </a:solidFill>
                <a:latin typeface="JetBrains Mono" pitchFamily="49" charset="0"/>
                <a:ea typeface="JetBrains Mono" pitchFamily="49" charset="-122"/>
                <a:cs typeface="JetBrains Mono" pitchFamily="49" charset="-120"/>
              </a:rPr>
              <a:t>=</a:t>
            </a:r>
            <a:r>
              <a:rPr lang="en-US" sz="1150" dirty="0">
                <a:solidFill>
                  <a:srgbClr val="9EE6A8"/>
                </a:solidFill>
                <a:latin typeface="JetBrains Mono" pitchFamily="49" charset="0"/>
                <a:ea typeface="JetBrains Mono" pitchFamily="49" charset="-122"/>
                <a:cs typeface="JetBrains Mono" pitchFamily="49" charset="-120"/>
              </a:rPr>
              <a:t>"item block"</a:t>
            </a:r>
            <a:r>
              <a:rPr lang="en-US" sz="1150" dirty="0">
                <a:solidFill>
                  <a:srgbClr val="FF9DE2"/>
                </a:solidFill>
                <a:latin typeface="JetBrains Mono" pitchFamily="49" charset="0"/>
                <a:ea typeface="JetBrains Mono" pitchFamily="49" charset="-122"/>
                <a:cs typeface="JetBrains Mono" pitchFamily="49" charset="-120"/>
              </a:rPr>
              <a:t>&gt;</a:t>
            </a:r>
            <a:r>
              <a:rPr lang="en-US" sz="1150" dirty="0">
                <a:solidFill>
                  <a:srgbClr val="FFFFFF"/>
                </a:solidFill>
                <a:latin typeface="JetBrains Mono" pitchFamily="49" charset="0"/>
                <a:ea typeface="JetBrains Mono" pitchFamily="49" charset="-122"/>
                <a:cs typeface="JetBrains Mono" pitchFamily="49" charset="-120"/>
              </a:rPr>
              <a:t>Блок 1</a:t>
            </a:r>
            <a:r>
              <a:rPr lang="en-US" sz="1150" dirty="0">
                <a:solidFill>
                  <a:srgbClr val="FF9DE2"/>
                </a:solidFill>
                <a:latin typeface="JetBrains Mono" pitchFamily="49" charset="0"/>
                <a:ea typeface="JetBrains Mono" pitchFamily="49" charset="-122"/>
                <a:cs typeface="JetBrains Mono" pitchFamily="49" charset="-120"/>
              </a:rPr>
              <a:t>&lt;/div&gt;</a:t>
            </a:r>
            <a:endParaRPr lang="en-US" sz="1150" dirty="0"/>
          </a:p>
          <a:p>
            <a:pPr marL="0" indent="0" algn="l">
              <a:lnSpc>
                <a:spcPts val="1668"/>
              </a:lnSpc>
              <a:buNone/>
            </a:pPr>
            <a:r>
              <a:rPr lang="en-US" sz="1150" dirty="0">
                <a:solidFill>
                  <a:srgbClr val="FF9DE2"/>
                </a:solidFill>
                <a:latin typeface="JetBrains Mono" pitchFamily="49" charset="0"/>
                <a:ea typeface="JetBrains Mono" pitchFamily="49" charset="-122"/>
                <a:cs typeface="JetBrains Mono" pitchFamily="49" charset="-120"/>
              </a:rPr>
              <a:t>&lt;div</a:t>
            </a:r>
            <a:r>
              <a:rPr lang="en-US" sz="1150" dirty="0">
                <a:solidFill>
                  <a:srgbClr val="FFFFFF"/>
                </a:solidFill>
                <a:latin typeface="JetBrains Mono" pitchFamily="49" charset="0"/>
                <a:ea typeface="JetBrains Mono" pitchFamily="49" charset="-122"/>
                <a:cs typeface="JetBrains Mono" pitchFamily="49" charset="-120"/>
              </a:rPr>
              <a:t> </a:t>
            </a:r>
            <a:r>
              <a:rPr lang="en-US" sz="1150" dirty="0">
                <a:solidFill>
                  <a:srgbClr val="FFD27F"/>
                </a:solidFill>
                <a:latin typeface="JetBrains Mono" pitchFamily="49" charset="0"/>
                <a:ea typeface="JetBrains Mono" pitchFamily="49" charset="-122"/>
                <a:cs typeface="JetBrains Mono" pitchFamily="49" charset="-120"/>
              </a:rPr>
              <a:t>class</a:t>
            </a:r>
            <a:r>
              <a:rPr lang="en-US" sz="1150" dirty="0">
                <a:solidFill>
                  <a:srgbClr val="FFFFFF"/>
                </a:solidFill>
                <a:latin typeface="JetBrains Mono" pitchFamily="49" charset="0"/>
                <a:ea typeface="JetBrains Mono" pitchFamily="49" charset="-122"/>
                <a:cs typeface="JetBrains Mono" pitchFamily="49" charset="-120"/>
              </a:rPr>
              <a:t>=</a:t>
            </a:r>
            <a:r>
              <a:rPr lang="en-US" sz="1150" dirty="0">
                <a:solidFill>
                  <a:srgbClr val="9EE6A8"/>
                </a:solidFill>
                <a:latin typeface="JetBrains Mono" pitchFamily="49" charset="0"/>
                <a:ea typeface="JetBrains Mono" pitchFamily="49" charset="-122"/>
                <a:cs typeface="JetBrains Mono" pitchFamily="49" charset="-120"/>
              </a:rPr>
              <a:t>"item block"</a:t>
            </a:r>
            <a:r>
              <a:rPr lang="en-US" sz="1150" dirty="0">
                <a:solidFill>
                  <a:srgbClr val="FF9DE2"/>
                </a:solidFill>
                <a:latin typeface="JetBrains Mono" pitchFamily="49" charset="0"/>
                <a:ea typeface="JetBrains Mono" pitchFamily="49" charset="-122"/>
                <a:cs typeface="JetBrains Mono" pitchFamily="49" charset="-120"/>
              </a:rPr>
              <a:t>&gt;</a:t>
            </a:r>
            <a:r>
              <a:rPr lang="en-US" sz="1150" dirty="0">
                <a:solidFill>
                  <a:srgbClr val="FFFFFF"/>
                </a:solidFill>
                <a:latin typeface="JetBrains Mono" pitchFamily="49" charset="0"/>
                <a:ea typeface="JetBrains Mono" pitchFamily="49" charset="-122"/>
                <a:cs typeface="JetBrains Mono" pitchFamily="49" charset="-120"/>
              </a:rPr>
              <a:t>Блок 2</a:t>
            </a:r>
            <a:r>
              <a:rPr lang="en-US" sz="1150" dirty="0">
                <a:solidFill>
                  <a:srgbClr val="FF9DE2"/>
                </a:solidFill>
                <a:latin typeface="JetBrains Mono" pitchFamily="49" charset="0"/>
                <a:ea typeface="JetBrains Mono" pitchFamily="49" charset="-122"/>
                <a:cs typeface="JetBrains Mono" pitchFamily="49" charset="-120"/>
              </a:rPr>
              <a:t>&lt;/div&gt;</a:t>
            </a:r>
            <a:endParaRPr lang="en-US" sz="1150" dirty="0"/>
          </a:p>
          <a:p>
            <a:pPr marL="0" indent="0" algn="l">
              <a:lnSpc>
                <a:spcPts val="1668"/>
              </a:lnSpc>
              <a:buNone/>
            </a:pPr>
            <a:r>
              <a:rPr lang="en-US" sz="1150" dirty="0">
                <a:solidFill>
                  <a:srgbClr val="FF9DE2"/>
                </a:solidFill>
                <a:latin typeface="JetBrains Mono" pitchFamily="49" charset="0"/>
                <a:ea typeface="JetBrains Mono" pitchFamily="49" charset="-122"/>
                <a:cs typeface="JetBrains Mono" pitchFamily="49" charset="-120"/>
              </a:rPr>
              <a:t>&lt;div</a:t>
            </a:r>
            <a:r>
              <a:rPr lang="en-US" sz="1150" dirty="0">
                <a:solidFill>
                  <a:srgbClr val="FFFFFF"/>
                </a:solidFill>
                <a:latin typeface="JetBrains Mono" pitchFamily="49" charset="0"/>
                <a:ea typeface="JetBrains Mono" pitchFamily="49" charset="-122"/>
                <a:cs typeface="JetBrains Mono" pitchFamily="49" charset="-120"/>
              </a:rPr>
              <a:t> </a:t>
            </a:r>
            <a:r>
              <a:rPr lang="en-US" sz="1150" dirty="0">
                <a:solidFill>
                  <a:srgbClr val="FFD27F"/>
                </a:solidFill>
                <a:latin typeface="JetBrains Mono" pitchFamily="49" charset="0"/>
                <a:ea typeface="JetBrains Mono" pitchFamily="49" charset="-122"/>
                <a:cs typeface="JetBrains Mono" pitchFamily="49" charset="-120"/>
              </a:rPr>
              <a:t>class</a:t>
            </a:r>
            <a:r>
              <a:rPr lang="en-US" sz="1150" dirty="0">
                <a:solidFill>
                  <a:srgbClr val="FFFFFF"/>
                </a:solidFill>
                <a:latin typeface="JetBrains Mono" pitchFamily="49" charset="0"/>
                <a:ea typeface="JetBrains Mono" pitchFamily="49" charset="-122"/>
                <a:cs typeface="JetBrains Mono" pitchFamily="49" charset="-120"/>
              </a:rPr>
              <a:t>=</a:t>
            </a:r>
            <a:r>
              <a:rPr lang="en-US" sz="1150" dirty="0">
                <a:solidFill>
                  <a:srgbClr val="9EE6A8"/>
                </a:solidFill>
                <a:latin typeface="JetBrains Mono" pitchFamily="49" charset="0"/>
                <a:ea typeface="JetBrains Mono" pitchFamily="49" charset="-122"/>
                <a:cs typeface="JetBrains Mono" pitchFamily="49" charset="-120"/>
              </a:rPr>
              <a:t>"item inline"</a:t>
            </a:r>
            <a:r>
              <a:rPr lang="en-US" sz="1150" dirty="0">
                <a:solidFill>
                  <a:srgbClr val="FF9DE2"/>
                </a:solidFill>
                <a:latin typeface="JetBrains Mono" pitchFamily="49" charset="0"/>
                <a:ea typeface="JetBrains Mono" pitchFamily="49" charset="-122"/>
                <a:cs typeface="JetBrains Mono" pitchFamily="49" charset="-120"/>
              </a:rPr>
              <a:t>&gt;</a:t>
            </a:r>
            <a:r>
              <a:rPr lang="en-US" sz="1150" dirty="0">
                <a:solidFill>
                  <a:srgbClr val="FFFFFF"/>
                </a:solidFill>
                <a:latin typeface="JetBrains Mono" pitchFamily="49" charset="0"/>
                <a:ea typeface="JetBrains Mono" pitchFamily="49" charset="-122"/>
                <a:cs typeface="JetBrains Mono" pitchFamily="49" charset="-120"/>
              </a:rPr>
              <a:t>Блок 3</a:t>
            </a:r>
            <a:r>
              <a:rPr lang="en-US" sz="1150" dirty="0">
                <a:solidFill>
                  <a:srgbClr val="FF9DE2"/>
                </a:solidFill>
                <a:latin typeface="JetBrains Mono" pitchFamily="49" charset="0"/>
                <a:ea typeface="JetBrains Mono" pitchFamily="49" charset="-122"/>
                <a:cs typeface="JetBrains Mono" pitchFamily="49" charset="-120"/>
              </a:rPr>
              <a:t>&lt;/div&gt;</a:t>
            </a:r>
            <a:endParaRPr lang="en-US" sz="1150" dirty="0"/>
          </a:p>
          <a:p>
            <a:pPr marL="0" indent="0" algn="l">
              <a:lnSpc>
                <a:spcPts val="1668"/>
              </a:lnSpc>
              <a:buNone/>
            </a:pPr>
            <a:r>
              <a:rPr lang="en-US" sz="1150" dirty="0">
                <a:solidFill>
                  <a:srgbClr val="FF9DE2"/>
                </a:solidFill>
                <a:latin typeface="JetBrains Mono" pitchFamily="49" charset="0"/>
                <a:ea typeface="JetBrains Mono" pitchFamily="49" charset="-122"/>
                <a:cs typeface="JetBrains Mono" pitchFamily="49" charset="-120"/>
              </a:rPr>
              <a:t>&lt;div</a:t>
            </a:r>
            <a:r>
              <a:rPr lang="en-US" sz="1150" dirty="0">
                <a:solidFill>
                  <a:srgbClr val="FFFFFF"/>
                </a:solidFill>
                <a:latin typeface="JetBrains Mono" pitchFamily="49" charset="0"/>
                <a:ea typeface="JetBrains Mono" pitchFamily="49" charset="-122"/>
                <a:cs typeface="JetBrains Mono" pitchFamily="49" charset="-120"/>
              </a:rPr>
              <a:t> </a:t>
            </a:r>
            <a:r>
              <a:rPr lang="en-US" sz="1150" dirty="0">
                <a:solidFill>
                  <a:srgbClr val="FFD27F"/>
                </a:solidFill>
                <a:latin typeface="JetBrains Mono" pitchFamily="49" charset="0"/>
                <a:ea typeface="JetBrains Mono" pitchFamily="49" charset="-122"/>
                <a:cs typeface="JetBrains Mono" pitchFamily="49" charset="-120"/>
              </a:rPr>
              <a:t>class</a:t>
            </a:r>
            <a:r>
              <a:rPr lang="en-US" sz="1150" dirty="0">
                <a:solidFill>
                  <a:srgbClr val="FFFFFF"/>
                </a:solidFill>
                <a:latin typeface="JetBrains Mono" pitchFamily="49" charset="0"/>
                <a:ea typeface="JetBrains Mono" pitchFamily="49" charset="-122"/>
                <a:cs typeface="JetBrains Mono" pitchFamily="49" charset="-120"/>
              </a:rPr>
              <a:t>=</a:t>
            </a:r>
            <a:r>
              <a:rPr lang="en-US" sz="1150" dirty="0">
                <a:solidFill>
                  <a:srgbClr val="9EE6A8"/>
                </a:solidFill>
                <a:latin typeface="JetBrains Mono" pitchFamily="49" charset="0"/>
                <a:ea typeface="JetBrains Mono" pitchFamily="49" charset="-122"/>
                <a:cs typeface="JetBrains Mono" pitchFamily="49" charset="-120"/>
              </a:rPr>
              <a:t>"item inline"</a:t>
            </a:r>
            <a:r>
              <a:rPr lang="en-US" sz="1150" dirty="0">
                <a:solidFill>
                  <a:srgbClr val="FF9DE2"/>
                </a:solidFill>
                <a:latin typeface="JetBrains Mono" pitchFamily="49" charset="0"/>
                <a:ea typeface="JetBrains Mono" pitchFamily="49" charset="-122"/>
                <a:cs typeface="JetBrains Mono" pitchFamily="49" charset="-120"/>
              </a:rPr>
              <a:t>&gt;</a:t>
            </a:r>
            <a:r>
              <a:rPr lang="en-US" sz="1150" dirty="0">
                <a:solidFill>
                  <a:srgbClr val="FFFFFF"/>
                </a:solidFill>
                <a:latin typeface="JetBrains Mono" pitchFamily="49" charset="0"/>
                <a:ea typeface="JetBrains Mono" pitchFamily="49" charset="-122"/>
                <a:cs typeface="JetBrains Mono" pitchFamily="49" charset="-120"/>
              </a:rPr>
              <a:t>Блок 4</a:t>
            </a:r>
            <a:r>
              <a:rPr lang="en-US" sz="1150" dirty="0">
                <a:solidFill>
                  <a:srgbClr val="FF9DE2"/>
                </a:solidFill>
                <a:latin typeface="JetBrains Mono" pitchFamily="49" charset="0"/>
                <a:ea typeface="JetBrains Mono" pitchFamily="49" charset="-122"/>
                <a:cs typeface="JetBrains Mono" pitchFamily="49" charset="-120"/>
              </a:rPr>
              <a:t>&lt;/div&gt;</a:t>
            </a:r>
            <a:endParaRPr lang="en-US" sz="1150" dirty="0"/>
          </a:p>
          <a:p>
            <a:pPr marL="0" indent="0" algn="l">
              <a:lnSpc>
                <a:spcPts val="1668"/>
              </a:lnSpc>
              <a:buNone/>
            </a:pPr>
            <a:r>
              <a:rPr lang="en-US" sz="1150" dirty="0">
                <a:solidFill>
                  <a:srgbClr val="FF9DE2"/>
                </a:solidFill>
                <a:latin typeface="JetBrains Mono" pitchFamily="49" charset="0"/>
                <a:ea typeface="JetBrains Mono" pitchFamily="49" charset="-122"/>
                <a:cs typeface="JetBrains Mono" pitchFamily="49" charset="-120"/>
              </a:rPr>
              <a:t>&lt;div</a:t>
            </a:r>
            <a:r>
              <a:rPr lang="en-US" sz="1150" dirty="0">
                <a:solidFill>
                  <a:srgbClr val="FFFFFF"/>
                </a:solidFill>
                <a:latin typeface="JetBrains Mono" pitchFamily="49" charset="0"/>
                <a:ea typeface="JetBrains Mono" pitchFamily="49" charset="-122"/>
                <a:cs typeface="JetBrains Mono" pitchFamily="49" charset="-120"/>
              </a:rPr>
              <a:t> </a:t>
            </a:r>
            <a:r>
              <a:rPr lang="en-US" sz="1150" dirty="0">
                <a:solidFill>
                  <a:srgbClr val="FFD27F"/>
                </a:solidFill>
                <a:latin typeface="JetBrains Mono" pitchFamily="49" charset="0"/>
                <a:ea typeface="JetBrains Mono" pitchFamily="49" charset="-122"/>
                <a:cs typeface="JetBrains Mono" pitchFamily="49" charset="-120"/>
              </a:rPr>
              <a:t>class</a:t>
            </a:r>
            <a:r>
              <a:rPr lang="en-US" sz="1150" dirty="0">
                <a:solidFill>
                  <a:srgbClr val="FFFFFF"/>
                </a:solidFill>
                <a:latin typeface="JetBrains Mono" pitchFamily="49" charset="0"/>
                <a:ea typeface="JetBrains Mono" pitchFamily="49" charset="-122"/>
                <a:cs typeface="JetBrains Mono" pitchFamily="49" charset="-120"/>
              </a:rPr>
              <a:t>=</a:t>
            </a:r>
            <a:r>
              <a:rPr lang="en-US" sz="1150" dirty="0">
                <a:solidFill>
                  <a:srgbClr val="9EE6A8"/>
                </a:solidFill>
                <a:latin typeface="JetBrains Mono" pitchFamily="49" charset="0"/>
                <a:ea typeface="JetBrains Mono" pitchFamily="49" charset="-122"/>
                <a:cs typeface="JetBrains Mono" pitchFamily="49" charset="-120"/>
              </a:rPr>
              <a:t>"item hidden"</a:t>
            </a:r>
            <a:r>
              <a:rPr lang="en-US" sz="1150" dirty="0">
                <a:solidFill>
                  <a:srgbClr val="FF9DE2"/>
                </a:solidFill>
                <a:latin typeface="JetBrains Mono" pitchFamily="49" charset="0"/>
                <a:ea typeface="JetBrains Mono" pitchFamily="49" charset="-122"/>
                <a:cs typeface="JetBrains Mono" pitchFamily="49" charset="-120"/>
              </a:rPr>
              <a:t>&gt;</a:t>
            </a:r>
            <a:r>
              <a:rPr lang="en-US" sz="1150" dirty="0">
                <a:solidFill>
                  <a:srgbClr val="FFFFFF"/>
                </a:solidFill>
                <a:latin typeface="JetBrains Mono" pitchFamily="49" charset="0"/>
                <a:ea typeface="JetBrains Mono" pitchFamily="49" charset="-122"/>
                <a:cs typeface="JetBrains Mono" pitchFamily="49" charset="-120"/>
              </a:rPr>
              <a:t>Блок 5</a:t>
            </a:r>
            <a:r>
              <a:rPr lang="en-US" sz="1150" dirty="0">
                <a:solidFill>
                  <a:srgbClr val="FF9DE2"/>
                </a:solidFill>
                <a:latin typeface="JetBrains Mono" pitchFamily="49" charset="0"/>
                <a:ea typeface="JetBrains Mono" pitchFamily="49" charset="-122"/>
                <a:cs typeface="JetBrains Mono" pitchFamily="49" charset="-120"/>
              </a:rPr>
              <a:t>&lt;/div&gt;</a:t>
            </a:r>
            <a:endParaRPr lang="en-US" sz="1150" dirty="0"/>
          </a:p>
        </p:txBody>
      </p:sp>
      <p:sp>
        <p:nvSpPr>
          <p:cNvPr id="8" name="Text 5"/>
          <p:cNvSpPr/>
          <p:nvPr/>
        </p:nvSpPr>
        <p:spPr>
          <a:xfrm>
            <a:off x="635000" y="2958405"/>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CSS</a:t>
            </a:r>
            <a:endParaRPr lang="en-US" sz="1400" dirty="0"/>
          </a:p>
        </p:txBody>
      </p:sp>
      <p:sp>
        <p:nvSpPr>
          <p:cNvPr id="9" name="Text 6"/>
          <p:cNvSpPr/>
          <p:nvPr/>
        </p:nvSpPr>
        <p:spPr>
          <a:xfrm>
            <a:off x="635000" y="3283446"/>
            <a:ext cx="5200650" cy="1075531"/>
          </a:xfrm>
          <a:prstGeom prst="roundRect">
            <a:avLst>
              <a:gd name="adj" fmla="val 7085"/>
            </a:avLst>
          </a:prstGeom>
          <a:solidFill>
            <a:srgbClr val="2A002A"/>
          </a:solidFill>
          <a:ln/>
        </p:spPr>
        <p:txBody>
          <a:bodyPr wrap="square" lIns="104682" tIns="91982" rIns="0" bIns="66582" rtlCol="0" anchor="t">
            <a:normAutofit/>
          </a:bodyPr>
          <a:lstStyle/>
          <a:p>
            <a:pPr marL="0" indent="0" algn="l">
              <a:lnSpc>
                <a:spcPts val="1668"/>
              </a:lnSpc>
              <a:buNone/>
            </a:pPr>
            <a:r>
              <a:rPr lang="en-US" sz="1150" dirty="0">
                <a:solidFill>
                  <a:srgbClr val="FF9DE2"/>
                </a:solidFill>
                <a:latin typeface="JetBrains Mono" pitchFamily="49" charset="0"/>
                <a:ea typeface="JetBrains Mono" pitchFamily="49" charset="-122"/>
                <a:cs typeface="JetBrains Mono" pitchFamily="49" charset="-120"/>
              </a:rPr>
              <a:t>.item</a:t>
            </a:r>
            <a:r>
              <a:rPr lang="en-US" sz="1150" dirty="0">
                <a:solidFill>
                  <a:srgbClr val="FFFFFF"/>
                </a:solidFill>
                <a:latin typeface="JetBrains Mono" pitchFamily="49" charset="0"/>
                <a:ea typeface="JetBrains Mono" pitchFamily="49" charset="-122"/>
                <a:cs typeface="JetBrains Mono" pitchFamily="49" charset="-120"/>
              </a:rPr>
              <a:t> { </a:t>
            </a:r>
            <a:r>
              <a:rPr lang="en-US" sz="1150" dirty="0">
                <a:solidFill>
                  <a:srgbClr val="FFD27F"/>
                </a:solidFill>
                <a:latin typeface="JetBrains Mono" pitchFamily="49" charset="0"/>
                <a:ea typeface="JetBrains Mono" pitchFamily="49" charset="-122"/>
                <a:cs typeface="JetBrains Mono" pitchFamily="49" charset="-120"/>
              </a:rPr>
              <a:t>padding</a:t>
            </a:r>
            <a:r>
              <a:rPr lang="en-US" sz="1150" dirty="0">
                <a:solidFill>
                  <a:srgbClr val="FFFFFF"/>
                </a:solidFill>
                <a:latin typeface="JetBrains Mono" pitchFamily="49" charset="0"/>
                <a:ea typeface="JetBrains Mono" pitchFamily="49" charset="-122"/>
                <a:cs typeface="JetBrains Mono" pitchFamily="49" charset="-120"/>
              </a:rPr>
              <a:t>: </a:t>
            </a:r>
            <a:r>
              <a:rPr lang="en-US" sz="1150" dirty="0">
                <a:solidFill>
                  <a:srgbClr val="9EE6A8"/>
                </a:solidFill>
                <a:latin typeface="JetBrains Mono" pitchFamily="49" charset="0"/>
                <a:ea typeface="JetBrains Mono" pitchFamily="49" charset="-122"/>
                <a:cs typeface="JetBrains Mono" pitchFamily="49" charset="-120"/>
              </a:rPr>
              <a:t>10px</a:t>
            </a:r>
            <a:r>
              <a:rPr lang="en-US" sz="1150" dirty="0">
                <a:solidFill>
                  <a:srgbClr val="FFFFFF"/>
                </a:solidFill>
                <a:latin typeface="JetBrains Mono" pitchFamily="49" charset="0"/>
                <a:ea typeface="JetBrains Mono" pitchFamily="49" charset="-122"/>
                <a:cs typeface="JetBrains Mono" pitchFamily="49" charset="-120"/>
              </a:rPr>
              <a:t>; </a:t>
            </a:r>
            <a:r>
              <a:rPr lang="en-US" sz="1150" dirty="0">
                <a:solidFill>
                  <a:srgbClr val="FFD27F"/>
                </a:solidFill>
                <a:latin typeface="JetBrains Mono" pitchFamily="49" charset="0"/>
                <a:ea typeface="JetBrains Mono" pitchFamily="49" charset="-122"/>
                <a:cs typeface="JetBrains Mono" pitchFamily="49" charset="-120"/>
              </a:rPr>
              <a:t>background</a:t>
            </a:r>
            <a:r>
              <a:rPr lang="en-US" sz="1150" dirty="0">
                <a:solidFill>
                  <a:srgbClr val="FFFFFF"/>
                </a:solidFill>
                <a:latin typeface="JetBrains Mono" pitchFamily="49" charset="0"/>
                <a:ea typeface="JetBrains Mono" pitchFamily="49" charset="-122"/>
                <a:cs typeface="JetBrains Mono" pitchFamily="49" charset="-120"/>
              </a:rPr>
              <a:t>: </a:t>
            </a:r>
            <a:r>
              <a:rPr lang="en-US" sz="1150" dirty="0">
                <a:solidFill>
                  <a:srgbClr val="9EE6A8"/>
                </a:solidFill>
                <a:latin typeface="JetBrains Mono" pitchFamily="49" charset="0"/>
                <a:ea typeface="JetBrains Mono" pitchFamily="49" charset="-122"/>
                <a:cs typeface="JetBrains Mono" pitchFamily="49" charset="-120"/>
              </a:rPr>
              <a:t>#f3d9f3</a:t>
            </a:r>
            <a:r>
              <a:rPr lang="en-US" sz="1150" dirty="0">
                <a:solidFill>
                  <a:srgbClr val="FFFFFF"/>
                </a:solidFill>
                <a:latin typeface="JetBrains Mono" pitchFamily="49" charset="0"/>
                <a:ea typeface="JetBrains Mono" pitchFamily="49" charset="-122"/>
                <a:cs typeface="JetBrains Mono" pitchFamily="49" charset="-120"/>
              </a:rPr>
              <a:t>; }</a:t>
            </a:r>
            <a:endParaRPr lang="en-US" sz="1150" dirty="0"/>
          </a:p>
          <a:p>
            <a:pPr marL="0" indent="0" algn="l">
              <a:lnSpc>
                <a:spcPts val="1668"/>
              </a:lnSpc>
              <a:buNone/>
            </a:pPr>
            <a:r>
              <a:rPr lang="en-US" sz="1150" dirty="0">
                <a:solidFill>
                  <a:srgbClr val="FF9DE2"/>
                </a:solidFill>
                <a:latin typeface="JetBrains Mono" pitchFamily="49" charset="0"/>
                <a:ea typeface="JetBrains Mono" pitchFamily="49" charset="-122"/>
                <a:cs typeface="JetBrains Mono" pitchFamily="49" charset="-120"/>
              </a:rPr>
              <a:t>.block</a:t>
            </a:r>
            <a:r>
              <a:rPr lang="en-US" sz="1150" dirty="0">
                <a:solidFill>
                  <a:srgbClr val="FFFFFF"/>
                </a:solidFill>
                <a:latin typeface="JetBrains Mono" pitchFamily="49" charset="0"/>
                <a:ea typeface="JetBrains Mono" pitchFamily="49" charset="-122"/>
                <a:cs typeface="JetBrains Mono" pitchFamily="49" charset="-120"/>
              </a:rPr>
              <a:t> { </a:t>
            </a:r>
            <a:r>
              <a:rPr lang="en-US" sz="1150" dirty="0">
                <a:solidFill>
                  <a:srgbClr val="FFD27F"/>
                </a:solidFill>
                <a:latin typeface="JetBrains Mono" pitchFamily="49" charset="0"/>
                <a:ea typeface="JetBrains Mono" pitchFamily="49" charset="-122"/>
                <a:cs typeface="JetBrains Mono" pitchFamily="49" charset="-120"/>
              </a:rPr>
              <a:t>display</a:t>
            </a:r>
            <a:r>
              <a:rPr lang="en-US" sz="1150" dirty="0">
                <a:solidFill>
                  <a:srgbClr val="FFFFFF"/>
                </a:solidFill>
                <a:latin typeface="JetBrains Mono" pitchFamily="49" charset="0"/>
                <a:ea typeface="JetBrains Mono" pitchFamily="49" charset="-122"/>
                <a:cs typeface="JetBrains Mono" pitchFamily="49" charset="-120"/>
              </a:rPr>
              <a:t>: </a:t>
            </a:r>
            <a:r>
              <a:rPr lang="en-US" sz="1150" dirty="0">
                <a:solidFill>
                  <a:srgbClr val="9EE6A8"/>
                </a:solidFill>
                <a:latin typeface="JetBrains Mono" pitchFamily="49" charset="0"/>
                <a:ea typeface="JetBrains Mono" pitchFamily="49" charset="-122"/>
                <a:cs typeface="JetBrains Mono" pitchFamily="49" charset="-120"/>
              </a:rPr>
              <a:t>block</a:t>
            </a:r>
            <a:r>
              <a:rPr lang="en-US" sz="1150" dirty="0">
                <a:solidFill>
                  <a:srgbClr val="FFFFFF"/>
                </a:solidFill>
                <a:latin typeface="JetBrains Mono" pitchFamily="49" charset="0"/>
                <a:ea typeface="JetBrains Mono" pitchFamily="49" charset="-122"/>
                <a:cs typeface="JetBrains Mono" pitchFamily="49" charset="-120"/>
              </a:rPr>
              <a:t>; }</a:t>
            </a:r>
            <a:endParaRPr lang="en-US" sz="1150" dirty="0"/>
          </a:p>
          <a:p>
            <a:pPr marL="0" indent="0" algn="l">
              <a:lnSpc>
                <a:spcPts val="1668"/>
              </a:lnSpc>
              <a:buNone/>
            </a:pPr>
            <a:r>
              <a:rPr lang="en-US" sz="1150" dirty="0">
                <a:solidFill>
                  <a:srgbClr val="FF9DE2"/>
                </a:solidFill>
                <a:latin typeface="JetBrains Mono" pitchFamily="49" charset="0"/>
                <a:ea typeface="JetBrains Mono" pitchFamily="49" charset="-122"/>
                <a:cs typeface="JetBrains Mono" pitchFamily="49" charset="-120"/>
              </a:rPr>
              <a:t>.inline</a:t>
            </a:r>
            <a:r>
              <a:rPr lang="en-US" sz="1150" dirty="0">
                <a:solidFill>
                  <a:srgbClr val="FFFFFF"/>
                </a:solidFill>
                <a:latin typeface="JetBrains Mono" pitchFamily="49" charset="0"/>
                <a:ea typeface="JetBrains Mono" pitchFamily="49" charset="-122"/>
                <a:cs typeface="JetBrains Mono" pitchFamily="49" charset="-120"/>
              </a:rPr>
              <a:t> { </a:t>
            </a:r>
            <a:r>
              <a:rPr lang="en-US" sz="1150" dirty="0">
                <a:solidFill>
                  <a:srgbClr val="FFD27F"/>
                </a:solidFill>
                <a:latin typeface="JetBrains Mono" pitchFamily="49" charset="0"/>
                <a:ea typeface="JetBrains Mono" pitchFamily="49" charset="-122"/>
                <a:cs typeface="JetBrains Mono" pitchFamily="49" charset="-120"/>
              </a:rPr>
              <a:t>display</a:t>
            </a:r>
            <a:r>
              <a:rPr lang="en-US" sz="1150" dirty="0">
                <a:solidFill>
                  <a:srgbClr val="FFFFFF"/>
                </a:solidFill>
                <a:latin typeface="JetBrains Mono" pitchFamily="49" charset="0"/>
                <a:ea typeface="JetBrains Mono" pitchFamily="49" charset="-122"/>
                <a:cs typeface="JetBrains Mono" pitchFamily="49" charset="-120"/>
              </a:rPr>
              <a:t>: </a:t>
            </a:r>
            <a:r>
              <a:rPr lang="en-US" sz="1150" dirty="0">
                <a:solidFill>
                  <a:srgbClr val="9EE6A8"/>
                </a:solidFill>
                <a:latin typeface="JetBrains Mono" pitchFamily="49" charset="0"/>
                <a:ea typeface="JetBrains Mono" pitchFamily="49" charset="-122"/>
                <a:cs typeface="JetBrains Mono" pitchFamily="49" charset="-120"/>
              </a:rPr>
              <a:t>inline-block</a:t>
            </a:r>
            <a:r>
              <a:rPr lang="en-US" sz="1150" dirty="0">
                <a:solidFill>
                  <a:srgbClr val="FFFFFF"/>
                </a:solidFill>
                <a:latin typeface="JetBrains Mono" pitchFamily="49" charset="0"/>
                <a:ea typeface="JetBrains Mono" pitchFamily="49" charset="-122"/>
                <a:cs typeface="JetBrains Mono" pitchFamily="49" charset="-120"/>
              </a:rPr>
              <a:t>; }</a:t>
            </a:r>
            <a:endParaRPr lang="en-US" sz="1150" dirty="0"/>
          </a:p>
          <a:p>
            <a:pPr marL="0" indent="0" algn="l">
              <a:lnSpc>
                <a:spcPts val="1668"/>
              </a:lnSpc>
              <a:buNone/>
            </a:pPr>
            <a:r>
              <a:rPr lang="en-US" sz="1150" dirty="0">
                <a:solidFill>
                  <a:srgbClr val="FF9DE2"/>
                </a:solidFill>
                <a:latin typeface="JetBrains Mono" pitchFamily="49" charset="0"/>
                <a:ea typeface="JetBrains Mono" pitchFamily="49" charset="-122"/>
                <a:cs typeface="JetBrains Mono" pitchFamily="49" charset="-120"/>
              </a:rPr>
              <a:t>.hidden</a:t>
            </a:r>
            <a:r>
              <a:rPr lang="en-US" sz="1150" dirty="0">
                <a:solidFill>
                  <a:srgbClr val="FFFFFF"/>
                </a:solidFill>
                <a:latin typeface="JetBrains Mono" pitchFamily="49" charset="0"/>
                <a:ea typeface="JetBrains Mono" pitchFamily="49" charset="-122"/>
                <a:cs typeface="JetBrains Mono" pitchFamily="49" charset="-120"/>
              </a:rPr>
              <a:t> { </a:t>
            </a:r>
            <a:r>
              <a:rPr lang="en-US" sz="1150" dirty="0">
                <a:solidFill>
                  <a:srgbClr val="FFD27F"/>
                </a:solidFill>
                <a:latin typeface="JetBrains Mono" pitchFamily="49" charset="0"/>
                <a:ea typeface="JetBrains Mono" pitchFamily="49" charset="-122"/>
                <a:cs typeface="JetBrains Mono" pitchFamily="49" charset="-120"/>
              </a:rPr>
              <a:t>display</a:t>
            </a:r>
            <a:r>
              <a:rPr lang="en-US" sz="1150" dirty="0">
                <a:solidFill>
                  <a:srgbClr val="FFFFFF"/>
                </a:solidFill>
                <a:latin typeface="JetBrains Mono" pitchFamily="49" charset="0"/>
                <a:ea typeface="JetBrains Mono" pitchFamily="49" charset="-122"/>
                <a:cs typeface="JetBrains Mono" pitchFamily="49" charset="-120"/>
              </a:rPr>
              <a:t>: </a:t>
            </a:r>
            <a:r>
              <a:rPr lang="en-US" sz="1150" dirty="0">
                <a:solidFill>
                  <a:srgbClr val="9EE6A8"/>
                </a:solidFill>
                <a:latin typeface="JetBrains Mono" pitchFamily="49" charset="0"/>
                <a:ea typeface="JetBrains Mono" pitchFamily="49" charset="-122"/>
                <a:cs typeface="JetBrains Mono" pitchFamily="49" charset="-120"/>
              </a:rPr>
              <a:t>none</a:t>
            </a:r>
            <a:r>
              <a:rPr lang="en-US" sz="1150" dirty="0">
                <a:solidFill>
                  <a:srgbClr val="FFFFFF"/>
                </a:solidFill>
                <a:latin typeface="JetBrains Mono" pitchFamily="49" charset="0"/>
                <a:ea typeface="JetBrains Mono" pitchFamily="49" charset="-122"/>
                <a:cs typeface="JetBrains Mono" pitchFamily="49" charset="-120"/>
              </a:rPr>
              <a:t>; }</a:t>
            </a:r>
            <a:endParaRPr lang="en-US" sz="1150" dirty="0"/>
          </a:p>
        </p:txBody>
      </p:sp>
      <p:sp>
        <p:nvSpPr>
          <p:cNvPr id="10" name="Shape 7"/>
          <p:cNvSpPr/>
          <p:nvPr/>
        </p:nvSpPr>
        <p:spPr>
          <a:xfrm>
            <a:off x="6089650" y="1269901"/>
            <a:ext cx="12700" cy="3334544"/>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2" name="Shape 9"/>
          <p:cNvSpPr/>
          <p:nvPr/>
        </p:nvSpPr>
        <p:spPr>
          <a:xfrm>
            <a:off x="6356350" y="1594941"/>
            <a:ext cx="5200650" cy="3009503"/>
          </a:xfrm>
          <a:prstGeom prst="roundRect">
            <a:avLst>
              <a:gd name="adj" fmla="val 2532"/>
            </a:avLst>
          </a:prstGeom>
          <a:solidFill>
            <a:srgbClr val="FFFFFF"/>
          </a:solidFill>
          <a:ln/>
        </p:spPr>
      </p:sp>
      <p:sp>
        <p:nvSpPr>
          <p:cNvPr id="13" name="Shape 10"/>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4" name="Shape 11"/>
          <p:cNvSpPr/>
          <p:nvPr/>
        </p:nvSpPr>
        <p:spPr>
          <a:xfrm>
            <a:off x="6483350" y="1739702"/>
            <a:ext cx="101600" cy="101600"/>
          </a:xfrm>
          <a:prstGeom prst="roundRect">
            <a:avLst>
              <a:gd name="adj" fmla="val 50000"/>
            </a:avLst>
          </a:prstGeom>
          <a:solidFill>
            <a:srgbClr val="E57373"/>
          </a:solidFill>
          <a:ln/>
        </p:spPr>
      </p:sp>
      <p:sp>
        <p:nvSpPr>
          <p:cNvPr id="15" name="Shape 12"/>
          <p:cNvSpPr/>
          <p:nvPr/>
        </p:nvSpPr>
        <p:spPr>
          <a:xfrm>
            <a:off x="6648450" y="1739702"/>
            <a:ext cx="101600" cy="101600"/>
          </a:xfrm>
          <a:prstGeom prst="roundRect">
            <a:avLst>
              <a:gd name="adj" fmla="val 50000"/>
            </a:avLst>
          </a:prstGeom>
          <a:solidFill>
            <a:srgbClr val="FFD54F"/>
          </a:solidFill>
          <a:ln/>
        </p:spPr>
      </p:sp>
      <p:sp>
        <p:nvSpPr>
          <p:cNvPr id="16" name="Shape 13"/>
          <p:cNvSpPr/>
          <p:nvPr/>
        </p:nvSpPr>
        <p:spPr>
          <a:xfrm>
            <a:off x="6813550" y="1739702"/>
            <a:ext cx="101600" cy="101600"/>
          </a:xfrm>
          <a:prstGeom prst="roundRect">
            <a:avLst>
              <a:gd name="adj" fmla="val 50000"/>
            </a:avLst>
          </a:prstGeom>
          <a:solidFill>
            <a:srgbClr val="81C784"/>
          </a:solidFill>
          <a:ln/>
        </p:spPr>
      </p:sp>
      <p:sp>
        <p:nvSpPr>
          <p:cNvPr id="17" name="Text 14"/>
          <p:cNvSpPr/>
          <p:nvPr/>
        </p:nvSpPr>
        <p:spPr>
          <a:xfrm>
            <a:off x="7054850" y="1683841"/>
            <a:ext cx="8924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display.html</a:t>
            </a:r>
            <a:endParaRPr lang="en-US" sz="1200" dirty="0"/>
          </a:p>
        </p:txBody>
      </p:sp>
      <p:sp>
        <p:nvSpPr>
          <p:cNvPr id="18" name="Text 15"/>
          <p:cNvSpPr/>
          <p:nvPr/>
        </p:nvSpPr>
        <p:spPr>
          <a:xfrm>
            <a:off x="6546850" y="2138462"/>
            <a:ext cx="4819650" cy="426641"/>
          </a:xfrm>
          <a:prstGeom prst="rect">
            <a:avLst/>
          </a:prstGeom>
          <a:solidFill>
            <a:srgbClr val="F3D9F3"/>
          </a:solidFill>
          <a:ln/>
        </p:spPr>
        <p:txBody>
          <a:bodyPr wrap="square" lIns="127000" tIns="88900" rIns="0" bIns="63500" rtlCol="0" anchor="t">
            <a:normAutofit/>
          </a:bodyPr>
          <a:lstStyle/>
          <a:p>
            <a:pPr marL="0" indent="0" algn="l">
              <a:lnSpc>
                <a:spcPts val="1960"/>
              </a:lnSpc>
              <a:buNone/>
            </a:pPr>
            <a:r>
              <a:rPr lang="en-US" sz="1400" dirty="0">
                <a:solidFill>
                  <a:srgbClr val="111111"/>
                </a:solidFill>
                <a:latin typeface="Arial" pitchFamily="34" charset="0"/>
                <a:ea typeface="Arial" pitchFamily="34" charset="-122"/>
                <a:cs typeface="Arial" pitchFamily="34" charset="-120"/>
              </a:rPr>
              <a:t>Блок 1</a:t>
            </a:r>
            <a:endParaRPr lang="en-US" sz="1400" dirty="0"/>
          </a:p>
        </p:txBody>
      </p:sp>
      <p:sp>
        <p:nvSpPr>
          <p:cNvPr id="19" name="Text 16"/>
          <p:cNvSpPr/>
          <p:nvPr/>
        </p:nvSpPr>
        <p:spPr>
          <a:xfrm>
            <a:off x="6546850" y="2628602"/>
            <a:ext cx="4819650" cy="426641"/>
          </a:xfrm>
          <a:prstGeom prst="rect">
            <a:avLst/>
          </a:prstGeom>
          <a:solidFill>
            <a:srgbClr val="F3D9F3"/>
          </a:solidFill>
          <a:ln/>
        </p:spPr>
        <p:txBody>
          <a:bodyPr wrap="square" lIns="127000" tIns="88900" rIns="0" bIns="63500" rtlCol="0" anchor="t">
            <a:normAutofit/>
          </a:bodyPr>
          <a:lstStyle/>
          <a:p>
            <a:pPr marL="0" indent="0" algn="l">
              <a:lnSpc>
                <a:spcPts val="1960"/>
              </a:lnSpc>
              <a:buNone/>
            </a:pPr>
            <a:r>
              <a:rPr lang="en-US" sz="1400" dirty="0">
                <a:solidFill>
                  <a:srgbClr val="111111"/>
                </a:solidFill>
                <a:latin typeface="Arial" pitchFamily="34" charset="0"/>
                <a:ea typeface="Arial" pitchFamily="34" charset="-122"/>
                <a:cs typeface="Arial" pitchFamily="34" charset="-120"/>
              </a:rPr>
              <a:t>Блок 2</a:t>
            </a:r>
            <a:endParaRPr lang="en-US" sz="1400" dirty="0"/>
          </a:p>
        </p:txBody>
      </p:sp>
      <p:sp>
        <p:nvSpPr>
          <p:cNvPr id="20" name="Text 17"/>
          <p:cNvSpPr/>
          <p:nvPr/>
        </p:nvSpPr>
        <p:spPr>
          <a:xfrm>
            <a:off x="6546850" y="3118743"/>
            <a:ext cx="49642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 block: каждый — на новой строке</a:t>
            </a:r>
            <a:endParaRPr lang="en-US" sz="1200" dirty="0"/>
          </a:p>
        </p:txBody>
      </p:sp>
      <p:sp>
        <p:nvSpPr>
          <p:cNvPr id="21" name="Text 18"/>
          <p:cNvSpPr/>
          <p:nvPr/>
        </p:nvSpPr>
        <p:spPr>
          <a:xfrm>
            <a:off x="6546850" y="3433663"/>
            <a:ext cx="799405" cy="426641"/>
          </a:xfrm>
          <a:prstGeom prst="rect">
            <a:avLst/>
          </a:prstGeom>
          <a:solidFill>
            <a:srgbClr val="F3D9F3"/>
          </a:solidFill>
          <a:ln/>
        </p:spPr>
        <p:txBody>
          <a:bodyPr wrap="none" lIns="0" tIns="0" rIns="0" bIns="0" rtlCol="0" anchor="ctr">
            <a:normAutofit/>
          </a:bodyPr>
          <a:lstStyle/>
          <a:p>
            <a:pPr marL="0" indent="0" algn="ctr">
              <a:lnSpc>
                <a:spcPts val="1960"/>
              </a:lnSpc>
              <a:buNone/>
            </a:pPr>
            <a:r>
              <a:rPr lang="en-US" sz="1400" dirty="0">
                <a:solidFill>
                  <a:srgbClr val="111111"/>
                </a:solidFill>
                <a:latin typeface="Arial" pitchFamily="34" charset="0"/>
                <a:ea typeface="Arial" pitchFamily="34" charset="-122"/>
                <a:cs typeface="Arial" pitchFamily="34" charset="-120"/>
              </a:rPr>
              <a:t>Блок 3</a:t>
            </a:r>
            <a:endParaRPr lang="en-US" sz="1400" dirty="0"/>
          </a:p>
        </p:txBody>
      </p:sp>
      <p:sp>
        <p:nvSpPr>
          <p:cNvPr id="22" name="Text 19"/>
          <p:cNvSpPr/>
          <p:nvPr/>
        </p:nvSpPr>
        <p:spPr>
          <a:xfrm>
            <a:off x="7397055" y="3433663"/>
            <a:ext cx="799405" cy="426641"/>
          </a:xfrm>
          <a:prstGeom prst="rect">
            <a:avLst/>
          </a:prstGeom>
          <a:solidFill>
            <a:srgbClr val="F3D9F3"/>
          </a:solidFill>
          <a:ln/>
        </p:spPr>
        <p:txBody>
          <a:bodyPr wrap="none" lIns="0" tIns="0" rIns="0" bIns="0" rtlCol="0" anchor="ctr">
            <a:normAutofit/>
          </a:bodyPr>
          <a:lstStyle/>
          <a:p>
            <a:pPr marL="0" indent="0" algn="ctr">
              <a:lnSpc>
                <a:spcPts val="1960"/>
              </a:lnSpc>
              <a:buNone/>
            </a:pPr>
            <a:r>
              <a:rPr lang="en-US" sz="1400" dirty="0">
                <a:solidFill>
                  <a:srgbClr val="111111"/>
                </a:solidFill>
                <a:latin typeface="Arial" pitchFamily="34" charset="0"/>
                <a:ea typeface="Arial" pitchFamily="34" charset="-122"/>
                <a:cs typeface="Arial" pitchFamily="34" charset="-120"/>
              </a:rPr>
              <a:t>Блок 4</a:t>
            </a:r>
            <a:endParaRPr lang="en-US" sz="1400" dirty="0"/>
          </a:p>
        </p:txBody>
      </p:sp>
      <p:sp>
        <p:nvSpPr>
          <p:cNvPr id="23" name="Text 20"/>
          <p:cNvSpPr/>
          <p:nvPr/>
        </p:nvSpPr>
        <p:spPr>
          <a:xfrm>
            <a:off x="6546850" y="3923804"/>
            <a:ext cx="49642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 inline-block: в одну строку</a:t>
            </a:r>
            <a:endParaRPr lang="en-US" sz="1200" dirty="0"/>
          </a:p>
        </p:txBody>
      </p:sp>
      <p:sp>
        <p:nvSpPr>
          <p:cNvPr id="24" name="Text 21"/>
          <p:cNvSpPr/>
          <p:nvPr/>
        </p:nvSpPr>
        <p:spPr>
          <a:xfrm>
            <a:off x="6546850" y="4238724"/>
            <a:ext cx="49642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Блок 5 с display: none не виден</a:t>
            </a:r>
            <a:endParaRPr lang="en-US" sz="1200" dirty="0"/>
          </a:p>
        </p:txBody>
      </p:sp>
      <p:sp>
        <p:nvSpPr>
          <p:cNvPr id="25" name="Text 22"/>
          <p:cNvSpPr/>
          <p:nvPr/>
        </p:nvSpPr>
        <p:spPr>
          <a:xfrm>
            <a:off x="635000" y="4731445"/>
            <a:ext cx="10922000" cy="683220"/>
          </a:xfrm>
          <a:prstGeom prst="roundRect">
            <a:avLst>
              <a:gd name="adj" fmla="val 11153"/>
            </a:avLst>
          </a:prstGeom>
          <a:solidFill>
            <a:srgbClr val="7A1F79"/>
          </a:solidFill>
          <a:ln/>
        </p:spPr>
        <p:txBody>
          <a:bodyPr wrap="square" lIns="142782" tIns="79282" rIns="0" bIns="53882" rtlCol="0" anchor="t">
            <a:normAutofit/>
          </a:bodyPr>
          <a:lstStyle/>
          <a:p>
            <a:pPr marL="0" indent="0" algn="l">
              <a:lnSpc>
                <a:spcPts val="1890"/>
              </a:lnSpc>
              <a:buNone/>
            </a:pPr>
            <a:r>
              <a:rPr lang="en-US" sz="1400" dirty="0">
                <a:solidFill>
                  <a:srgbClr val="FFFFFF"/>
                </a:solidFill>
                <a:latin typeface="Carlito" pitchFamily="34" charset="0"/>
                <a:ea typeface="Carlito" pitchFamily="34" charset="-122"/>
                <a:cs typeface="Carlito" pitchFamily="34" charset="-120"/>
              </a:rPr>
              <a:t>block — во всю ширину (div, p, h1). inline — в строке, размеры не задать (span, a). inline-block — в строке, но размеры задаются. none — элемент убран со страницы.</a:t>
            </a:r>
            <a:endParaRPr lang="en-US" sz="1400" dirty="0"/>
          </a:p>
        </p:txBody>
      </p:sp>
      <p:pic>
        <p:nvPicPr>
          <p:cNvPr id="26" name="Рисунок 25"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6917ECA2-261A-6715-1E6A-AA3CA3CC2A0F}"/>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CSS: свойство position</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Управляет тем, как элемент размещается относительно остальных</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7700" y="1282601"/>
          <a:ext cx="10782300" cy="2564607"/>
        </p:xfrm>
        <a:graphic>
          <a:graphicData uri="http://schemas.openxmlformats.org/drawingml/2006/table">
            <a:tbl>
              <a:tblPr/>
              <a:tblGrid>
                <a:gridCol w="1617345">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3989451">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Значение</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Как ведёт себя элемент</a:t>
                      </a:r>
                      <a:endParaRPr lang="en-US" sz="1400" dirty="0">
                        <a:latin typeface="Carlito" charset="0"/>
                        <a:ea typeface="Carlito" charset="0"/>
                        <a:cs typeface="Carlito" charset="0"/>
                      </a:endParaRPr>
                    </a:p>
                  </a:txBody>
                  <a:tcPr marL="62230" marR="62230" marT="62230" marB="62230">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Где применяют</a:t>
                      </a:r>
                      <a:endParaRPr lang="en-US" sz="1400" dirty="0">
                        <a:latin typeface="Carlito" charset="0"/>
                        <a:ea typeface="Carlito" charset="0"/>
                        <a:cs typeface="Carlito" charset="0"/>
                      </a:endParaRPr>
                    </a:p>
                  </a:txBody>
                  <a:tcPr marL="62230" marR="62230" marT="62230" marB="62230">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static</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Обычное положение в потоке (по умолчанию)</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Почти все элементы</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relative</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Сдвигается от своего места, но остаётся в потоке</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Опора для вложенных absolute</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634802">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absolute</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Выходит из потока, позиция — от ближайшего родителя с position</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Значки, всплывающие подписи</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fixed</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Привязан к окну браузера и не прокручивается</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Закреплённая шапка, кнопка «Наверх»</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sticky</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Обычный, пока не дойдёт до края окна, затем «прилипает»</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Заголовки разделов, меню</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5"/>
                  </a:ext>
                </a:extLst>
              </a:tr>
            </a:tbl>
          </a:graphicData>
        </a:graphic>
      </p:graphicFrame>
      <p:sp>
        <p:nvSpPr>
          <p:cNvPr id="7" name="Shape 3"/>
          <p:cNvSpPr/>
          <p:nvPr/>
        </p:nvSpPr>
        <p:spPr>
          <a:xfrm>
            <a:off x="647700" y="3986907"/>
            <a:ext cx="5346700" cy="1884561"/>
          </a:xfrm>
          <a:prstGeom prst="roundRect">
            <a:avLst>
              <a:gd name="adj" fmla="val 4717"/>
            </a:avLst>
          </a:prstGeom>
          <a:noFill/>
          <a:ln w="25400">
            <a:solidFill>
              <a:srgbClr val="972996"/>
            </a:solidFill>
            <a:prstDash val="solid"/>
          </a:ln>
        </p:spPr>
      </p:sp>
      <p:sp>
        <p:nvSpPr>
          <p:cNvPr id="8" name="Text 4"/>
          <p:cNvSpPr/>
          <p:nvPr/>
        </p:nvSpPr>
        <p:spPr>
          <a:xfrm>
            <a:off x="825500" y="4113907"/>
            <a:ext cx="51408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972996"/>
                </a:solidFill>
                <a:latin typeface="Carlito" pitchFamily="34" charset="0"/>
                <a:ea typeface="Carlito" pitchFamily="34" charset="-122"/>
                <a:cs typeface="Carlito" pitchFamily="34" charset="-120"/>
              </a:rPr>
              <a:t>Пример: значок в углу карточки</a:t>
            </a:r>
            <a:endParaRPr lang="en-US" sz="1600" dirty="0"/>
          </a:p>
        </p:txBody>
      </p:sp>
      <p:sp>
        <p:nvSpPr>
          <p:cNvPr id="9" name="Text 5"/>
          <p:cNvSpPr/>
          <p:nvPr/>
        </p:nvSpPr>
        <p:spPr>
          <a:xfrm>
            <a:off x="825500" y="4461867"/>
            <a:ext cx="4991100" cy="1282601"/>
          </a:xfrm>
          <a:prstGeom prst="roundRect">
            <a:avLst>
              <a:gd name="adj" fmla="val 4951"/>
            </a:avLst>
          </a:prstGeom>
          <a:solidFill>
            <a:srgbClr val="F6ECF6"/>
          </a:solidFill>
          <a:ln/>
        </p:spPr>
        <p:txBody>
          <a:bodyPr wrap="square" lIns="95701" tIns="70301" rIns="0" bIns="44901" rtlCol="0" anchor="t">
            <a:normAutofit/>
          </a:bodyPr>
          <a:lstStyle/>
          <a:p>
            <a:pPr marL="0" indent="0" algn="l">
              <a:lnSpc>
                <a:spcPts val="1740"/>
              </a:lnSpc>
              <a:buNone/>
            </a:pPr>
            <a:r>
              <a:rPr lang="en-US" sz="1200" dirty="0">
                <a:solidFill>
                  <a:srgbClr val="A3005F"/>
                </a:solidFill>
                <a:latin typeface="JetBrains Mono" pitchFamily="49" charset="0"/>
                <a:ea typeface="JetBrains Mono" pitchFamily="49" charset="-122"/>
                <a:cs typeface="JetBrains Mono" pitchFamily="49" charset="-120"/>
              </a:rPr>
              <a:t>.card</a:t>
            </a:r>
            <a:r>
              <a:rPr lang="en-US" sz="1200" dirty="0">
                <a:solidFill>
                  <a:srgbClr val="111111"/>
                </a:solidFill>
                <a:latin typeface="JetBrains Mono" pitchFamily="49" charset="0"/>
                <a:ea typeface="JetBrains Mono" pitchFamily="49" charset="-122"/>
                <a:cs typeface="JetBrains Mono" pitchFamily="49" charset="-120"/>
              </a:rPr>
              <a:t> { </a:t>
            </a:r>
            <a:r>
              <a:rPr lang="en-US" sz="1200" dirty="0">
                <a:solidFill>
                  <a:srgbClr val="7A4A00"/>
                </a:solidFill>
                <a:latin typeface="JetBrains Mono" pitchFamily="49" charset="0"/>
                <a:ea typeface="JetBrains Mono" pitchFamily="49" charset="-122"/>
                <a:cs typeface="JetBrains Mono" pitchFamily="49" charset="-120"/>
              </a:rPr>
              <a:t>position</a:t>
            </a: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1B6B2F"/>
                </a:solidFill>
                <a:latin typeface="JetBrains Mono" pitchFamily="49" charset="0"/>
                <a:ea typeface="JetBrains Mono" pitchFamily="49" charset="-122"/>
                <a:cs typeface="JetBrains Mono" pitchFamily="49" charset="-120"/>
              </a:rPr>
              <a:t>relative</a:t>
            </a:r>
            <a:r>
              <a:rPr lang="en-US" sz="1200" dirty="0">
                <a:solidFill>
                  <a:srgbClr val="111111"/>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A3005F"/>
                </a:solidFill>
                <a:latin typeface="JetBrains Mono" pitchFamily="49" charset="0"/>
                <a:ea typeface="JetBrains Mono" pitchFamily="49" charset="-122"/>
                <a:cs typeface="JetBrains Mono" pitchFamily="49" charset="-120"/>
              </a:rPr>
              <a:t>.badge</a:t>
            </a:r>
            <a:r>
              <a:rPr lang="en-US" sz="1200" dirty="0">
                <a:solidFill>
                  <a:srgbClr val="111111"/>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7A4A00"/>
                </a:solidFill>
                <a:latin typeface="JetBrains Mono" pitchFamily="49" charset="0"/>
                <a:ea typeface="JetBrains Mono" pitchFamily="49" charset="-122"/>
                <a:cs typeface="JetBrains Mono" pitchFamily="49" charset="-120"/>
              </a:rPr>
              <a:t>position</a:t>
            </a: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1B6B2F"/>
                </a:solidFill>
                <a:latin typeface="JetBrains Mono" pitchFamily="49" charset="0"/>
                <a:ea typeface="JetBrains Mono" pitchFamily="49" charset="-122"/>
                <a:cs typeface="JetBrains Mono" pitchFamily="49" charset="-120"/>
              </a:rPr>
              <a:t>absolute</a:t>
            </a:r>
            <a:r>
              <a:rPr lang="en-US" sz="1200" dirty="0">
                <a:solidFill>
                  <a:srgbClr val="111111"/>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7A4A00"/>
                </a:solidFill>
                <a:latin typeface="JetBrains Mono" pitchFamily="49" charset="0"/>
                <a:ea typeface="JetBrains Mono" pitchFamily="49" charset="-122"/>
                <a:cs typeface="JetBrains Mono" pitchFamily="49" charset="-120"/>
              </a:rPr>
              <a:t>top</a:t>
            </a: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1B6B2F"/>
                </a:solidFill>
                <a:latin typeface="JetBrains Mono" pitchFamily="49" charset="0"/>
                <a:ea typeface="JetBrains Mono" pitchFamily="49" charset="-122"/>
                <a:cs typeface="JetBrains Mono" pitchFamily="49" charset="-120"/>
              </a:rPr>
              <a:t>10px</a:t>
            </a: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7A4A00"/>
                </a:solidFill>
                <a:latin typeface="JetBrains Mono" pitchFamily="49" charset="0"/>
                <a:ea typeface="JetBrains Mono" pitchFamily="49" charset="-122"/>
                <a:cs typeface="JetBrains Mono" pitchFamily="49" charset="-120"/>
              </a:rPr>
              <a:t>right</a:t>
            </a:r>
            <a:r>
              <a:rPr lang="en-US" sz="1200" dirty="0">
                <a:solidFill>
                  <a:srgbClr val="111111"/>
                </a:solidFill>
                <a:latin typeface="JetBrains Mono" pitchFamily="49" charset="0"/>
                <a:ea typeface="JetBrains Mono" pitchFamily="49" charset="-122"/>
                <a:cs typeface="JetBrains Mono" pitchFamily="49" charset="-120"/>
              </a:rPr>
              <a:t>: </a:t>
            </a:r>
            <a:r>
              <a:rPr lang="en-US" sz="1200" dirty="0">
                <a:solidFill>
                  <a:srgbClr val="1B6B2F"/>
                </a:solidFill>
                <a:latin typeface="JetBrains Mono" pitchFamily="49" charset="0"/>
                <a:ea typeface="JetBrains Mono" pitchFamily="49" charset="-122"/>
                <a:cs typeface="JetBrains Mono" pitchFamily="49" charset="-120"/>
              </a:rPr>
              <a:t>10px</a:t>
            </a:r>
            <a:r>
              <a:rPr lang="en-US" sz="1200" dirty="0">
                <a:solidFill>
                  <a:srgbClr val="111111"/>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111111"/>
                </a:solidFill>
                <a:latin typeface="JetBrains Mono" pitchFamily="49" charset="0"/>
                <a:ea typeface="JetBrains Mono" pitchFamily="49" charset="-122"/>
                <a:cs typeface="JetBrains Mono" pitchFamily="49" charset="-120"/>
              </a:rPr>
              <a:t>}</a:t>
            </a:r>
            <a:endParaRPr lang="en-US" sz="1200" dirty="0"/>
          </a:p>
        </p:txBody>
      </p:sp>
      <p:sp>
        <p:nvSpPr>
          <p:cNvPr id="10" name="Shape 6"/>
          <p:cNvSpPr/>
          <p:nvPr/>
        </p:nvSpPr>
        <p:spPr>
          <a:xfrm>
            <a:off x="6197600" y="3986907"/>
            <a:ext cx="5346700" cy="1884561"/>
          </a:xfrm>
          <a:prstGeom prst="roundRect">
            <a:avLst>
              <a:gd name="adj" fmla="val 4717"/>
            </a:avLst>
          </a:prstGeom>
          <a:noFill/>
          <a:ln w="25400">
            <a:solidFill>
              <a:srgbClr val="972996"/>
            </a:solidFill>
            <a:prstDash val="solid"/>
          </a:ln>
        </p:spPr>
      </p:sp>
      <p:sp>
        <p:nvSpPr>
          <p:cNvPr id="11" name="Text 7"/>
          <p:cNvSpPr/>
          <p:nvPr/>
        </p:nvSpPr>
        <p:spPr>
          <a:xfrm>
            <a:off x="6375400" y="4113907"/>
            <a:ext cx="51408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972996"/>
                </a:solidFill>
                <a:latin typeface="Carlito" pitchFamily="34" charset="0"/>
                <a:ea typeface="Carlito" pitchFamily="34" charset="-122"/>
                <a:cs typeface="Carlito" pitchFamily="34" charset="-120"/>
              </a:rPr>
              <a:t>Результат</a:t>
            </a:r>
            <a:endParaRPr lang="en-US" sz="1600" dirty="0"/>
          </a:p>
        </p:txBody>
      </p:sp>
      <p:sp>
        <p:nvSpPr>
          <p:cNvPr id="12" name="Text 8"/>
          <p:cNvSpPr/>
          <p:nvPr/>
        </p:nvSpPr>
        <p:spPr>
          <a:xfrm>
            <a:off x="6388100" y="4474567"/>
            <a:ext cx="4965700" cy="723900"/>
          </a:xfrm>
          <a:prstGeom prst="roundRect">
            <a:avLst>
              <a:gd name="adj" fmla="val 8772"/>
            </a:avLst>
          </a:prstGeom>
          <a:solidFill>
            <a:srgbClr val="F6ECF6"/>
          </a:solidFill>
          <a:ln w="25400">
            <a:solidFill>
              <a:srgbClr val="972996"/>
            </a:solidFill>
            <a:prstDash val="solid"/>
          </a:ln>
        </p:spPr>
        <p:txBody>
          <a:bodyPr wrap="square" lIns="146501" tIns="210001" rIns="7436" bIns="184601" rtlCol="0" anchor="t">
            <a:normAutofit/>
          </a:bodyPr>
          <a:lstStyle/>
          <a:p>
            <a:pPr marL="0" indent="0" algn="l">
              <a:lnSpc>
                <a:spcPts val="2100"/>
              </a:lnSpc>
              <a:buNone/>
            </a:pPr>
            <a:r>
              <a:rPr lang="en-US" sz="1500" dirty="0">
                <a:solidFill>
                  <a:srgbClr val="111111"/>
                </a:solidFill>
                <a:latin typeface="Carlito" pitchFamily="34" charset="0"/>
                <a:ea typeface="Carlito" pitchFamily="34" charset="-122"/>
                <a:cs typeface="Carlito" pitchFamily="34" charset="-120"/>
              </a:rPr>
              <a:t>Карточка товара</a:t>
            </a:r>
            <a:endParaRPr lang="en-US" sz="1500" dirty="0"/>
          </a:p>
        </p:txBody>
      </p:sp>
      <p:sp>
        <p:nvSpPr>
          <p:cNvPr id="13" name="Text 9"/>
          <p:cNvSpPr/>
          <p:nvPr/>
        </p:nvSpPr>
        <p:spPr>
          <a:xfrm>
            <a:off x="10642600" y="4550767"/>
            <a:ext cx="635000" cy="279400"/>
          </a:xfrm>
          <a:custGeom>
            <a:avLst/>
            <a:gdLst/>
            <a:ahLst/>
            <a:cxnLst/>
            <a:rect l="l" t="t" r="r" b="b"/>
            <a:pathLst>
              <a:path w="635000" h="279400">
                <a:moveTo>
                  <a:pt x="139700" y="0"/>
                </a:moveTo>
                <a:lnTo>
                  <a:pt x="495300" y="0"/>
                </a:lnTo>
                <a:arcTo wR="139700" hR="139700" stAng="16200000" swAng="5400000"/>
                <a:lnTo>
                  <a:pt x="635000" y="139700"/>
                </a:lnTo>
                <a:arcTo wR="139700" hR="139700" stAng="0" swAng="5400000"/>
                <a:lnTo>
                  <a:pt x="139700" y="279400"/>
                </a:lnTo>
                <a:arcTo wR="139700" hR="139700" stAng="5400000" swAng="5400000"/>
                <a:lnTo>
                  <a:pt x="0" y="139700"/>
                </a:lnTo>
                <a:arcTo wR="139700" hR="139700" stAng="10800000" swAng="5400000"/>
                <a:close/>
              </a:path>
            </a:pathLst>
          </a:custGeom>
          <a:solidFill>
            <a:srgbClr val="972996"/>
          </a:solidFill>
          <a:ln/>
        </p:spPr>
        <p:txBody>
          <a:bodyPr wrap="square" lIns="0" tIns="0" rIns="0" bIns="0" rtlCol="0" anchor="ctr">
            <a:normAutofit/>
          </a:bodyPr>
          <a:lstStyle/>
          <a:p>
            <a:pPr marL="0" indent="0" algn="ctr">
              <a:lnSpc>
                <a:spcPts val="1820"/>
              </a:lnSpc>
              <a:buNone/>
            </a:pPr>
            <a:r>
              <a:rPr lang="en-US" sz="1300" b="1" dirty="0">
                <a:solidFill>
                  <a:srgbClr val="FFFFFF"/>
                </a:solidFill>
                <a:latin typeface="Carlito" pitchFamily="34" charset="0"/>
                <a:ea typeface="Carlito" pitchFamily="34" charset="-122"/>
                <a:cs typeface="Carlito" pitchFamily="34" charset="-120"/>
              </a:rPr>
              <a:t>NEW</a:t>
            </a:r>
            <a:endParaRPr lang="en-US" sz="1300" dirty="0"/>
          </a:p>
        </p:txBody>
      </p:sp>
      <p:pic>
        <p:nvPicPr>
          <p:cNvPr id="14" name="Рисунок 13"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1568FED-C73C-CD8E-E349-F37C649C374E}"/>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CSS: Flexbox</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Раскладка элементов в ряд или в столбец</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1333401"/>
          </a:xfrm>
          <a:prstGeom prst="roundRect">
            <a:avLst>
              <a:gd name="adj" fmla="val 5715"/>
            </a:avLst>
          </a:prstGeom>
          <a:solidFill>
            <a:srgbClr val="2A002A"/>
          </a:solidFill>
          <a:ln/>
        </p:spPr>
        <p:txBody>
          <a:bodyPr wrap="square" lIns="130082" tIns="91982" rIns="0" bIns="665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&lt;div</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"row"</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&lt;div&gt;</a:t>
            </a:r>
            <a:r>
              <a:rPr lang="en-US" sz="1200" dirty="0">
                <a:solidFill>
                  <a:srgbClr val="FFFFFF"/>
                </a:solidFill>
                <a:latin typeface="JetBrains Mono" pitchFamily="49" charset="0"/>
                <a:ea typeface="JetBrains Mono" pitchFamily="49" charset="-122"/>
                <a:cs typeface="JetBrains Mono" pitchFamily="49" charset="-120"/>
              </a:rPr>
              <a:t>1</a:t>
            </a:r>
            <a:r>
              <a:rPr lang="en-US" sz="1200" dirty="0">
                <a:solidFill>
                  <a:srgbClr val="FF9DE2"/>
                </a:solidFill>
                <a:latin typeface="JetBrains Mono" pitchFamily="49" charset="0"/>
                <a:ea typeface="JetBrains Mono" pitchFamily="49" charset="-122"/>
                <a:cs typeface="JetBrains Mono" pitchFamily="49" charset="-120"/>
              </a:rPr>
              <a:t>&lt;/div&gt;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&lt;div</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"tall"</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2</a:t>
            </a:r>
            <a:r>
              <a:rPr lang="en-US" sz="1200" dirty="0">
                <a:solidFill>
                  <a:srgbClr val="FF9DE2"/>
                </a:solidFill>
                <a:latin typeface="JetBrains Mono" pitchFamily="49" charset="0"/>
                <a:ea typeface="JetBrains Mono" pitchFamily="49" charset="-122"/>
                <a:cs typeface="JetBrains Mono" pitchFamily="49" charset="-120"/>
              </a:rPr>
              <a:t>&lt;/div&gt;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&lt;div&gt;</a:t>
            </a:r>
            <a:r>
              <a:rPr lang="en-US" sz="1200" dirty="0">
                <a:solidFill>
                  <a:srgbClr val="FFFFFF"/>
                </a:solidFill>
                <a:latin typeface="JetBrains Mono" pitchFamily="49" charset="0"/>
                <a:ea typeface="JetBrains Mono" pitchFamily="49" charset="-122"/>
                <a:cs typeface="JetBrains Mono" pitchFamily="49" charset="-120"/>
              </a:rPr>
              <a:t>3</a:t>
            </a:r>
            <a:r>
              <a:rPr lang="en-US" sz="1200" dirty="0">
                <a:solidFill>
                  <a:srgbClr val="FF9DE2"/>
                </a:solidFill>
                <a:latin typeface="JetBrains Mono" pitchFamily="49" charset="0"/>
                <a:ea typeface="JetBrains Mono" pitchFamily="49" charset="-122"/>
                <a:cs typeface="JetBrains Mono" pitchFamily="49" charset="-120"/>
              </a:rPr>
              <a:t>&lt;/div&gt;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&lt;/div&gt;</a:t>
            </a:r>
            <a:endParaRPr lang="en-US" sz="1200" dirty="0"/>
          </a:p>
        </p:txBody>
      </p:sp>
      <p:sp>
        <p:nvSpPr>
          <p:cNvPr id="8" name="Text 5"/>
          <p:cNvSpPr/>
          <p:nvPr/>
        </p:nvSpPr>
        <p:spPr>
          <a:xfrm>
            <a:off x="635000" y="3004542"/>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CSS</a:t>
            </a:r>
            <a:endParaRPr lang="en-US" sz="1400" dirty="0"/>
          </a:p>
        </p:txBody>
      </p:sp>
      <p:sp>
        <p:nvSpPr>
          <p:cNvPr id="9" name="Text 6"/>
          <p:cNvSpPr/>
          <p:nvPr/>
        </p:nvSpPr>
        <p:spPr>
          <a:xfrm>
            <a:off x="635000" y="3329583"/>
            <a:ext cx="5200650" cy="1554361"/>
          </a:xfrm>
          <a:prstGeom prst="roundRect">
            <a:avLst>
              <a:gd name="adj" fmla="val 4902"/>
            </a:avLst>
          </a:prstGeom>
          <a:solidFill>
            <a:srgbClr val="2A002A"/>
          </a:solidFill>
          <a:ln/>
        </p:spPr>
        <p:txBody>
          <a:bodyPr wrap="square" lIns="130082" tIns="91982" rIns="0" bIns="665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.row</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display</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flex</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justify-content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space-between</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align-items</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center</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.tall</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FFD27F"/>
                </a:solidFill>
                <a:latin typeface="JetBrains Mono" pitchFamily="49" charset="0"/>
                <a:ea typeface="JetBrains Mono" pitchFamily="49" charset="-122"/>
                <a:cs typeface="JetBrains Mono" pitchFamily="49" charset="-120"/>
              </a:rPr>
              <a:t>height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80px</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p:txBody>
      </p:sp>
      <p:sp>
        <p:nvSpPr>
          <p:cNvPr id="10" name="Shape 7"/>
          <p:cNvSpPr/>
          <p:nvPr/>
        </p:nvSpPr>
        <p:spPr>
          <a:xfrm>
            <a:off x="6089650" y="1269901"/>
            <a:ext cx="12700" cy="3614043"/>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2" name="Shape 9"/>
          <p:cNvSpPr/>
          <p:nvPr/>
        </p:nvSpPr>
        <p:spPr>
          <a:xfrm>
            <a:off x="6356350" y="1594941"/>
            <a:ext cx="5200650" cy="2738041"/>
          </a:xfrm>
          <a:prstGeom prst="roundRect">
            <a:avLst>
              <a:gd name="adj" fmla="val 2783"/>
            </a:avLst>
          </a:prstGeom>
          <a:solidFill>
            <a:srgbClr val="FFFFFF"/>
          </a:solidFill>
          <a:ln/>
        </p:spPr>
      </p:sp>
      <p:sp>
        <p:nvSpPr>
          <p:cNvPr id="13" name="Shape 10"/>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4" name="Shape 11"/>
          <p:cNvSpPr/>
          <p:nvPr/>
        </p:nvSpPr>
        <p:spPr>
          <a:xfrm>
            <a:off x="6483350" y="1739702"/>
            <a:ext cx="101600" cy="101600"/>
          </a:xfrm>
          <a:prstGeom prst="roundRect">
            <a:avLst>
              <a:gd name="adj" fmla="val 50000"/>
            </a:avLst>
          </a:prstGeom>
          <a:solidFill>
            <a:srgbClr val="E57373"/>
          </a:solidFill>
          <a:ln/>
        </p:spPr>
      </p:sp>
      <p:sp>
        <p:nvSpPr>
          <p:cNvPr id="15" name="Shape 12"/>
          <p:cNvSpPr/>
          <p:nvPr/>
        </p:nvSpPr>
        <p:spPr>
          <a:xfrm>
            <a:off x="6648450" y="1739702"/>
            <a:ext cx="101600" cy="101600"/>
          </a:xfrm>
          <a:prstGeom prst="roundRect">
            <a:avLst>
              <a:gd name="adj" fmla="val 50000"/>
            </a:avLst>
          </a:prstGeom>
          <a:solidFill>
            <a:srgbClr val="FFD54F"/>
          </a:solidFill>
          <a:ln/>
        </p:spPr>
      </p:sp>
      <p:sp>
        <p:nvSpPr>
          <p:cNvPr id="16" name="Shape 13"/>
          <p:cNvSpPr/>
          <p:nvPr/>
        </p:nvSpPr>
        <p:spPr>
          <a:xfrm>
            <a:off x="6813550" y="1739702"/>
            <a:ext cx="101600" cy="101600"/>
          </a:xfrm>
          <a:prstGeom prst="roundRect">
            <a:avLst>
              <a:gd name="adj" fmla="val 50000"/>
            </a:avLst>
          </a:prstGeom>
          <a:solidFill>
            <a:srgbClr val="81C784"/>
          </a:solidFill>
          <a:ln/>
        </p:spPr>
      </p:sp>
      <p:sp>
        <p:nvSpPr>
          <p:cNvPr id="17" name="Text 14"/>
          <p:cNvSpPr/>
          <p:nvPr/>
        </p:nvSpPr>
        <p:spPr>
          <a:xfrm>
            <a:off x="7054850" y="1683841"/>
            <a:ext cx="65412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flex.html</a:t>
            </a:r>
            <a:endParaRPr lang="en-US" sz="1200" dirty="0"/>
          </a:p>
        </p:txBody>
      </p:sp>
      <p:sp>
        <p:nvSpPr>
          <p:cNvPr id="18" name="Shape 15"/>
          <p:cNvSpPr/>
          <p:nvPr/>
        </p:nvSpPr>
        <p:spPr>
          <a:xfrm>
            <a:off x="6556375" y="2211487"/>
            <a:ext cx="4800600" cy="1352550"/>
          </a:xfrm>
          <a:prstGeom prst="rect">
            <a:avLst/>
          </a:prstGeom>
          <a:noFill/>
          <a:ln w="19050">
            <a:solidFill>
              <a:srgbClr val="972996"/>
            </a:solidFill>
            <a:prstDash val="dash"/>
          </a:ln>
        </p:spPr>
      </p:sp>
      <p:sp>
        <p:nvSpPr>
          <p:cNvPr id="19" name="Text 16"/>
          <p:cNvSpPr/>
          <p:nvPr/>
        </p:nvSpPr>
        <p:spPr>
          <a:xfrm>
            <a:off x="6692900" y="2602012"/>
            <a:ext cx="698500" cy="571500"/>
          </a:xfrm>
          <a:prstGeom prst="rect">
            <a:avLst/>
          </a:prstGeom>
          <a:solidFill>
            <a:srgbClr val="972996"/>
          </a:solidFill>
          <a:ln/>
        </p:spPr>
        <p:txBody>
          <a:bodyPr wrap="square" lIns="0" tIns="0" rIns="0" bIns="0" rtlCol="0" anchor="ctr">
            <a:normAutofit/>
          </a:bodyPr>
          <a:lstStyle/>
          <a:p>
            <a:pPr marL="0" indent="0" algn="ctr">
              <a:lnSpc>
                <a:spcPts val="2380"/>
              </a:lnSpc>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20" name="Text 17"/>
          <p:cNvSpPr/>
          <p:nvPr/>
        </p:nvSpPr>
        <p:spPr>
          <a:xfrm>
            <a:off x="8607425" y="2348012"/>
            <a:ext cx="698500" cy="1079500"/>
          </a:xfrm>
          <a:prstGeom prst="rect">
            <a:avLst/>
          </a:prstGeom>
          <a:solidFill>
            <a:srgbClr val="972996"/>
          </a:solidFill>
          <a:ln/>
        </p:spPr>
        <p:txBody>
          <a:bodyPr wrap="square" lIns="0" tIns="0" rIns="0" bIns="0" rtlCol="0" anchor="ctr">
            <a:normAutofit/>
          </a:bodyPr>
          <a:lstStyle/>
          <a:p>
            <a:pPr marL="0" indent="0" algn="ctr">
              <a:lnSpc>
                <a:spcPts val="2380"/>
              </a:lnSpc>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21" name="Text 18"/>
          <p:cNvSpPr/>
          <p:nvPr/>
        </p:nvSpPr>
        <p:spPr>
          <a:xfrm>
            <a:off x="10521950" y="2602012"/>
            <a:ext cx="698500" cy="571500"/>
          </a:xfrm>
          <a:prstGeom prst="rect">
            <a:avLst/>
          </a:prstGeom>
          <a:solidFill>
            <a:srgbClr val="972996"/>
          </a:solidFill>
          <a:ln/>
        </p:spPr>
        <p:txBody>
          <a:bodyPr wrap="square" lIns="0" tIns="0" rIns="0" bIns="0" rtlCol="0" anchor="ctr">
            <a:normAutofit/>
          </a:bodyPr>
          <a:lstStyle/>
          <a:p>
            <a:pPr marL="0" indent="0" algn="ctr">
              <a:lnSpc>
                <a:spcPts val="2380"/>
              </a:lnSpc>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2" name="Text 19"/>
          <p:cNvSpPr/>
          <p:nvPr/>
        </p:nvSpPr>
        <p:spPr>
          <a:xfrm>
            <a:off x="6546850" y="3687862"/>
            <a:ext cx="4964240"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5555"/>
                </a:solidFill>
                <a:latin typeface="Arial" pitchFamily="34" charset="0"/>
                <a:ea typeface="Arial" pitchFamily="34" charset="-122"/>
                <a:cs typeface="Arial" pitchFamily="34" charset="-120"/>
              </a:rPr>
              <a:t>Пунктир — контейнер .row. Блоки расставлены по краям и выровнены по центру высоты.</a:t>
            </a:r>
            <a:endParaRPr lang="en-US" sz="1300" dirty="0"/>
          </a:p>
        </p:txBody>
      </p:sp>
      <p:sp>
        <p:nvSpPr>
          <p:cNvPr id="23" name="Text 20"/>
          <p:cNvSpPr/>
          <p:nvPr/>
        </p:nvSpPr>
        <p:spPr>
          <a:xfrm>
            <a:off x="635000" y="5010944"/>
            <a:ext cx="10922000" cy="683220"/>
          </a:xfrm>
          <a:prstGeom prst="roundRect">
            <a:avLst>
              <a:gd name="adj" fmla="val 11153"/>
            </a:avLst>
          </a:prstGeom>
          <a:solidFill>
            <a:srgbClr val="7A1F79"/>
          </a:solidFill>
          <a:ln/>
        </p:spPr>
        <p:txBody>
          <a:bodyPr wrap="square" lIns="142782" tIns="79282" rIns="0" bIns="53882" rtlCol="0" anchor="t">
            <a:normAutofit/>
          </a:bodyPr>
          <a:lstStyle/>
          <a:p>
            <a:pPr marL="0" indent="0" algn="l">
              <a:lnSpc>
                <a:spcPts val="1890"/>
              </a:lnSpc>
              <a:buNone/>
            </a:pPr>
            <a:r>
              <a:rPr lang="en-US" sz="1400" dirty="0">
                <a:solidFill>
                  <a:srgbClr val="FFFFFF"/>
                </a:solidFill>
                <a:latin typeface="Carlito" pitchFamily="34" charset="0"/>
                <a:ea typeface="Carlito" pitchFamily="34" charset="-122"/>
                <a:cs typeface="Carlito" pitchFamily="34" charset="-120"/>
              </a:rPr>
              <a:t>justify-content — по основной оси, align-items — по поперечной, gap — промежутки, flex-direction: column — в столбик, flex-wrap: wrap — перенос, flex: 1 — растянуть элемент.</a:t>
            </a:r>
            <a:endParaRPr lang="en-US" sz="1400" dirty="0"/>
          </a:p>
        </p:txBody>
      </p:sp>
      <p:pic>
        <p:nvPicPr>
          <p:cNvPr id="24" name="Рисунок 23"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63ABBB75-F648-C6F1-6CEF-F3A0DFAAE89A}"/>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CSS: Grid</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Сетка из строк и столбцов</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1112441"/>
          </a:xfrm>
          <a:prstGeom prst="roundRect">
            <a:avLst>
              <a:gd name="adj" fmla="val 6850"/>
            </a:avLst>
          </a:prstGeom>
          <a:solidFill>
            <a:srgbClr val="2A002A"/>
          </a:solidFill>
          <a:ln/>
        </p:spPr>
        <p:txBody>
          <a:bodyPr wrap="square" lIns="130082" tIns="91982" rIns="0" bIns="665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&lt;div</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"grid"</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&lt;div&gt;</a:t>
            </a:r>
            <a:r>
              <a:rPr lang="en-US" sz="1200" dirty="0">
                <a:solidFill>
                  <a:srgbClr val="FFFFFF"/>
                </a:solidFill>
                <a:latin typeface="JetBrains Mono" pitchFamily="49" charset="0"/>
                <a:ea typeface="JetBrains Mono" pitchFamily="49" charset="-122"/>
                <a:cs typeface="JetBrains Mono" pitchFamily="49" charset="-120"/>
              </a:rPr>
              <a:t>1</a:t>
            </a:r>
            <a:r>
              <a:rPr lang="en-US" sz="1200" dirty="0">
                <a:solidFill>
                  <a:srgbClr val="FF9DE2"/>
                </a:solidFill>
                <a:latin typeface="JetBrains Mono" pitchFamily="49" charset="0"/>
                <a:ea typeface="JetBrains Mono" pitchFamily="49" charset="-122"/>
                <a:cs typeface="JetBrains Mono" pitchFamily="49" charset="-120"/>
              </a:rPr>
              <a:t>&lt;/div&gt;&lt;div</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"wide"</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2</a:t>
            </a:r>
            <a:r>
              <a:rPr lang="en-US" sz="1200" dirty="0">
                <a:solidFill>
                  <a:srgbClr val="FF9DE2"/>
                </a:solidFill>
                <a:latin typeface="JetBrains Mono" pitchFamily="49" charset="0"/>
                <a:ea typeface="JetBrains Mono" pitchFamily="49" charset="-122"/>
                <a:cs typeface="JetBrains Mono" pitchFamily="49" charset="-120"/>
              </a:rPr>
              <a:t>&lt;/div&gt;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&lt;div&gt;</a:t>
            </a:r>
            <a:r>
              <a:rPr lang="en-US" sz="1200" dirty="0">
                <a:solidFill>
                  <a:srgbClr val="FFFFFF"/>
                </a:solidFill>
                <a:latin typeface="JetBrains Mono" pitchFamily="49" charset="0"/>
                <a:ea typeface="JetBrains Mono" pitchFamily="49" charset="-122"/>
                <a:cs typeface="JetBrains Mono" pitchFamily="49" charset="-120"/>
              </a:rPr>
              <a:t>3</a:t>
            </a:r>
            <a:r>
              <a:rPr lang="en-US" sz="1200" dirty="0">
                <a:solidFill>
                  <a:srgbClr val="FF9DE2"/>
                </a:solidFill>
                <a:latin typeface="JetBrains Mono" pitchFamily="49" charset="0"/>
                <a:ea typeface="JetBrains Mono" pitchFamily="49" charset="-122"/>
                <a:cs typeface="JetBrains Mono" pitchFamily="49" charset="-120"/>
              </a:rPr>
              <a:t>&lt;/div&gt;&lt;div&gt;</a:t>
            </a:r>
            <a:r>
              <a:rPr lang="en-US" sz="1200" dirty="0">
                <a:solidFill>
                  <a:srgbClr val="FFFFFF"/>
                </a:solidFill>
                <a:latin typeface="JetBrains Mono" pitchFamily="49" charset="0"/>
                <a:ea typeface="JetBrains Mono" pitchFamily="49" charset="-122"/>
                <a:cs typeface="JetBrains Mono" pitchFamily="49" charset="-120"/>
              </a:rPr>
              <a:t>4</a:t>
            </a:r>
            <a:r>
              <a:rPr lang="en-US" sz="1200" dirty="0">
                <a:solidFill>
                  <a:srgbClr val="FF9DE2"/>
                </a:solidFill>
                <a:latin typeface="JetBrains Mono" pitchFamily="49" charset="0"/>
                <a:ea typeface="JetBrains Mono" pitchFamily="49" charset="-122"/>
                <a:cs typeface="JetBrains Mono" pitchFamily="49" charset="-120"/>
              </a:rPr>
              <a:t>&lt;/div&gt;&lt;div&gt;</a:t>
            </a:r>
            <a:r>
              <a:rPr lang="en-US" sz="1200" dirty="0">
                <a:solidFill>
                  <a:srgbClr val="FFFFFF"/>
                </a:solidFill>
                <a:latin typeface="JetBrains Mono" pitchFamily="49" charset="0"/>
                <a:ea typeface="JetBrains Mono" pitchFamily="49" charset="-122"/>
                <a:cs typeface="JetBrains Mono" pitchFamily="49" charset="-120"/>
              </a:rPr>
              <a:t>5</a:t>
            </a:r>
            <a:r>
              <a:rPr lang="en-US" sz="1200" dirty="0">
                <a:solidFill>
                  <a:srgbClr val="FF9DE2"/>
                </a:solidFill>
                <a:latin typeface="JetBrains Mono" pitchFamily="49" charset="0"/>
                <a:ea typeface="JetBrains Mono" pitchFamily="49" charset="-122"/>
                <a:cs typeface="JetBrains Mono" pitchFamily="49" charset="-120"/>
              </a:rPr>
              <a:t>&lt;/div&gt;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&lt;/div&gt;</a:t>
            </a:r>
            <a:endParaRPr lang="en-US" sz="1200" dirty="0"/>
          </a:p>
        </p:txBody>
      </p:sp>
      <p:sp>
        <p:nvSpPr>
          <p:cNvPr id="8" name="Text 5"/>
          <p:cNvSpPr/>
          <p:nvPr/>
        </p:nvSpPr>
        <p:spPr>
          <a:xfrm>
            <a:off x="635000" y="2783582"/>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CSS</a:t>
            </a:r>
            <a:endParaRPr lang="en-US" sz="1400" dirty="0"/>
          </a:p>
        </p:txBody>
      </p:sp>
      <p:sp>
        <p:nvSpPr>
          <p:cNvPr id="9" name="Text 6"/>
          <p:cNvSpPr/>
          <p:nvPr/>
        </p:nvSpPr>
        <p:spPr>
          <a:xfrm>
            <a:off x="635000" y="3108623"/>
            <a:ext cx="5200650" cy="1554361"/>
          </a:xfrm>
          <a:prstGeom prst="roundRect">
            <a:avLst>
              <a:gd name="adj" fmla="val 4902"/>
            </a:avLst>
          </a:prstGeom>
          <a:solidFill>
            <a:srgbClr val="2A002A"/>
          </a:solidFill>
          <a:ln/>
        </p:spPr>
        <p:txBody>
          <a:bodyPr wrap="square" lIns="130082" tIns="91982" rIns="0" bIns="665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.grid</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display</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grid</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grid-template-columns</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1fr 1fr 1fr</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gap</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10px</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.wide</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FFD27F"/>
                </a:solidFill>
                <a:latin typeface="JetBrains Mono" pitchFamily="49" charset="0"/>
                <a:ea typeface="JetBrains Mono" pitchFamily="49" charset="-122"/>
                <a:cs typeface="JetBrains Mono" pitchFamily="49" charset="-120"/>
              </a:rPr>
              <a:t>grid-column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span 2</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p:txBody>
      </p:sp>
      <p:sp>
        <p:nvSpPr>
          <p:cNvPr id="10" name="Shape 7"/>
          <p:cNvSpPr/>
          <p:nvPr/>
        </p:nvSpPr>
        <p:spPr>
          <a:xfrm>
            <a:off x="6089650" y="1269901"/>
            <a:ext cx="12700" cy="3393083"/>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2" name="Shape 9"/>
          <p:cNvSpPr/>
          <p:nvPr/>
        </p:nvSpPr>
        <p:spPr>
          <a:xfrm>
            <a:off x="6356350" y="1594941"/>
            <a:ext cx="5200650" cy="2498030"/>
          </a:xfrm>
          <a:prstGeom prst="roundRect">
            <a:avLst>
              <a:gd name="adj" fmla="val 3050"/>
            </a:avLst>
          </a:prstGeom>
          <a:solidFill>
            <a:srgbClr val="FFFFFF"/>
          </a:solidFill>
          <a:ln/>
        </p:spPr>
      </p:sp>
      <p:sp>
        <p:nvSpPr>
          <p:cNvPr id="13" name="Shape 10"/>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4" name="Shape 11"/>
          <p:cNvSpPr/>
          <p:nvPr/>
        </p:nvSpPr>
        <p:spPr>
          <a:xfrm>
            <a:off x="6483350" y="1739702"/>
            <a:ext cx="101600" cy="101600"/>
          </a:xfrm>
          <a:prstGeom prst="roundRect">
            <a:avLst>
              <a:gd name="adj" fmla="val 50000"/>
            </a:avLst>
          </a:prstGeom>
          <a:solidFill>
            <a:srgbClr val="E57373"/>
          </a:solidFill>
          <a:ln/>
        </p:spPr>
      </p:sp>
      <p:sp>
        <p:nvSpPr>
          <p:cNvPr id="15" name="Shape 12"/>
          <p:cNvSpPr/>
          <p:nvPr/>
        </p:nvSpPr>
        <p:spPr>
          <a:xfrm>
            <a:off x="6648450" y="1739702"/>
            <a:ext cx="101600" cy="101600"/>
          </a:xfrm>
          <a:prstGeom prst="roundRect">
            <a:avLst>
              <a:gd name="adj" fmla="val 50000"/>
            </a:avLst>
          </a:prstGeom>
          <a:solidFill>
            <a:srgbClr val="FFD54F"/>
          </a:solidFill>
          <a:ln/>
        </p:spPr>
      </p:sp>
      <p:sp>
        <p:nvSpPr>
          <p:cNvPr id="16" name="Shape 13"/>
          <p:cNvSpPr/>
          <p:nvPr/>
        </p:nvSpPr>
        <p:spPr>
          <a:xfrm>
            <a:off x="6813550" y="1739702"/>
            <a:ext cx="101600" cy="101600"/>
          </a:xfrm>
          <a:prstGeom prst="roundRect">
            <a:avLst>
              <a:gd name="adj" fmla="val 50000"/>
            </a:avLst>
          </a:prstGeom>
          <a:solidFill>
            <a:srgbClr val="81C784"/>
          </a:solidFill>
          <a:ln/>
        </p:spPr>
      </p:sp>
      <p:sp>
        <p:nvSpPr>
          <p:cNvPr id="17" name="Text 14"/>
          <p:cNvSpPr/>
          <p:nvPr/>
        </p:nvSpPr>
        <p:spPr>
          <a:xfrm>
            <a:off x="7054850" y="1683841"/>
            <a:ext cx="6778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grid.html</a:t>
            </a:r>
            <a:endParaRPr lang="en-US" sz="1200" dirty="0"/>
          </a:p>
        </p:txBody>
      </p:sp>
      <p:sp>
        <p:nvSpPr>
          <p:cNvPr id="18" name="Text 15"/>
          <p:cNvSpPr/>
          <p:nvPr/>
        </p:nvSpPr>
        <p:spPr>
          <a:xfrm>
            <a:off x="6546850" y="2201962"/>
            <a:ext cx="1555750" cy="635000"/>
          </a:xfrm>
          <a:prstGeom prst="rect">
            <a:avLst/>
          </a:prstGeom>
          <a:solidFill>
            <a:srgbClr val="972996"/>
          </a:solidFill>
          <a:ln/>
        </p:spPr>
        <p:txBody>
          <a:bodyPr wrap="square" lIns="0" tIns="0" rIns="0" bIns="0" rtlCol="0" anchor="ctr">
            <a:normAutofit/>
          </a:bodyPr>
          <a:lstStyle/>
          <a:p>
            <a:pPr marL="0" indent="0" algn="ctr">
              <a:lnSpc>
                <a:spcPts val="2380"/>
              </a:lnSpc>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9" name="Text 16"/>
          <p:cNvSpPr/>
          <p:nvPr/>
        </p:nvSpPr>
        <p:spPr>
          <a:xfrm>
            <a:off x="8178800" y="2201962"/>
            <a:ext cx="3187700" cy="635000"/>
          </a:xfrm>
          <a:prstGeom prst="rect">
            <a:avLst/>
          </a:prstGeom>
          <a:solidFill>
            <a:srgbClr val="B95FB8"/>
          </a:solidFill>
          <a:ln/>
        </p:spPr>
        <p:txBody>
          <a:bodyPr wrap="square" lIns="0" tIns="0" rIns="0" bIns="0" rtlCol="0" anchor="ctr">
            <a:normAutofit/>
          </a:bodyPr>
          <a:lstStyle/>
          <a:p>
            <a:pPr marL="0" indent="0" algn="ctr">
              <a:lnSpc>
                <a:spcPts val="2380"/>
              </a:lnSpc>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20" name="Text 17"/>
          <p:cNvSpPr/>
          <p:nvPr/>
        </p:nvSpPr>
        <p:spPr>
          <a:xfrm>
            <a:off x="6546850" y="2913162"/>
            <a:ext cx="1555750" cy="635000"/>
          </a:xfrm>
          <a:prstGeom prst="rect">
            <a:avLst/>
          </a:prstGeom>
          <a:solidFill>
            <a:srgbClr val="B95FB8"/>
          </a:solidFill>
          <a:ln/>
        </p:spPr>
        <p:txBody>
          <a:bodyPr wrap="square" lIns="0" tIns="0" rIns="0" bIns="0" rtlCol="0" anchor="ctr">
            <a:normAutofit/>
          </a:bodyPr>
          <a:lstStyle/>
          <a:p>
            <a:pPr marL="0" indent="0" algn="ctr">
              <a:lnSpc>
                <a:spcPts val="2380"/>
              </a:lnSpc>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1" name="Text 18"/>
          <p:cNvSpPr/>
          <p:nvPr/>
        </p:nvSpPr>
        <p:spPr>
          <a:xfrm>
            <a:off x="8178800" y="2913162"/>
            <a:ext cx="1555750" cy="635000"/>
          </a:xfrm>
          <a:prstGeom prst="rect">
            <a:avLst/>
          </a:prstGeom>
          <a:solidFill>
            <a:srgbClr val="972996"/>
          </a:solidFill>
          <a:ln/>
        </p:spPr>
        <p:txBody>
          <a:bodyPr wrap="square" lIns="0" tIns="0" rIns="0" bIns="0" rtlCol="0" anchor="ctr">
            <a:normAutofit/>
          </a:bodyPr>
          <a:lstStyle/>
          <a:p>
            <a:pPr marL="0" indent="0" algn="ctr">
              <a:lnSpc>
                <a:spcPts val="2380"/>
              </a:lnSpc>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2" name="Text 19"/>
          <p:cNvSpPr/>
          <p:nvPr/>
        </p:nvSpPr>
        <p:spPr>
          <a:xfrm>
            <a:off x="9810750" y="2913162"/>
            <a:ext cx="1555750" cy="635000"/>
          </a:xfrm>
          <a:prstGeom prst="rect">
            <a:avLst/>
          </a:prstGeom>
          <a:solidFill>
            <a:srgbClr val="B95FB8"/>
          </a:solidFill>
          <a:ln/>
        </p:spPr>
        <p:txBody>
          <a:bodyPr wrap="square" lIns="0" tIns="0" rIns="0" bIns="0" rtlCol="0" anchor="ctr">
            <a:normAutofit/>
          </a:bodyPr>
          <a:lstStyle/>
          <a:p>
            <a:pPr marL="0" indent="0" algn="ctr">
              <a:lnSpc>
                <a:spcPts val="2380"/>
              </a:lnSpc>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3" name="Text 20"/>
          <p:cNvSpPr/>
          <p:nvPr/>
        </p:nvSpPr>
        <p:spPr>
          <a:xfrm>
            <a:off x="6546850" y="3662462"/>
            <a:ext cx="496424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5555"/>
                </a:solidFill>
                <a:latin typeface="Arial" pitchFamily="34" charset="0"/>
                <a:ea typeface="Arial" pitchFamily="34" charset="-122"/>
                <a:cs typeface="Arial" pitchFamily="34" charset="-120"/>
              </a:rPr>
              <a:t>Три равных столбца; ячейка 2 занимает сразу два.</a:t>
            </a:r>
            <a:endParaRPr lang="en-US" sz="1300" dirty="0"/>
          </a:p>
        </p:txBody>
      </p:sp>
      <p:sp>
        <p:nvSpPr>
          <p:cNvPr id="24" name="Text 21"/>
          <p:cNvSpPr/>
          <p:nvPr/>
        </p:nvSpPr>
        <p:spPr>
          <a:xfrm>
            <a:off x="635000" y="4789984"/>
            <a:ext cx="10922000" cy="683220"/>
          </a:xfrm>
          <a:prstGeom prst="roundRect">
            <a:avLst>
              <a:gd name="adj" fmla="val 11153"/>
            </a:avLst>
          </a:prstGeom>
          <a:solidFill>
            <a:srgbClr val="7A1F79"/>
          </a:solidFill>
          <a:ln/>
        </p:spPr>
        <p:txBody>
          <a:bodyPr wrap="square" lIns="142782" tIns="79282" rIns="0" bIns="53882" rtlCol="0" anchor="t">
            <a:normAutofit/>
          </a:bodyPr>
          <a:lstStyle/>
          <a:p>
            <a:pPr marL="0" indent="0" algn="l">
              <a:lnSpc>
                <a:spcPts val="1890"/>
              </a:lnSpc>
              <a:buNone/>
            </a:pPr>
            <a:r>
              <a:rPr lang="en-US" sz="1400" dirty="0">
                <a:solidFill>
                  <a:srgbClr val="FFFFFF"/>
                </a:solidFill>
                <a:latin typeface="Carlito" pitchFamily="34" charset="0"/>
                <a:ea typeface="Carlito" pitchFamily="34" charset="-122"/>
                <a:cs typeface="Carlito" pitchFamily="34" charset="-120"/>
              </a:rPr>
              <a:t>grid-template-columns задаёт столбцы (fr — доля свободного места), gap — промежутки, grid-column: span 2 — растянуть ячейку. Flex удобен для ряда, grid — для всей страницы или галереи.</a:t>
            </a:r>
            <a:endParaRPr lang="en-US" sz="1400" dirty="0"/>
          </a:p>
        </p:txBody>
      </p:sp>
      <p:pic>
        <p:nvPicPr>
          <p:cNvPr id="25" name="Рисунок 24"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1D76D572-47F9-4E03-E3D9-C67FFB6C2426}"/>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CSS: псевдоклассы и переходы</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Кнопка, которая меняется при наведении курсора</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449560"/>
          </a:xfrm>
          <a:prstGeom prst="roundRect">
            <a:avLst>
              <a:gd name="adj" fmla="val 16950"/>
            </a:avLst>
          </a:prstGeom>
          <a:solidFill>
            <a:srgbClr val="2A002A"/>
          </a:solidFill>
          <a:ln/>
        </p:spPr>
        <p:txBody>
          <a:bodyPr wrap="square" lIns="130082" tIns="91982" rIns="0" bIns="665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&lt;a</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"btn"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href</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Нажми</a:t>
            </a:r>
            <a:r>
              <a:rPr lang="en-US" sz="1200" dirty="0">
                <a:solidFill>
                  <a:srgbClr val="FF9DE2"/>
                </a:solidFill>
                <a:latin typeface="JetBrains Mono" pitchFamily="49" charset="0"/>
                <a:ea typeface="JetBrains Mono" pitchFamily="49" charset="-122"/>
                <a:cs typeface="JetBrains Mono" pitchFamily="49" charset="-120"/>
              </a:rPr>
              <a:t>&lt;/a&gt;</a:t>
            </a:r>
            <a:endParaRPr lang="en-US" sz="1200" dirty="0"/>
          </a:p>
        </p:txBody>
      </p:sp>
      <p:sp>
        <p:nvSpPr>
          <p:cNvPr id="8" name="Text 5"/>
          <p:cNvSpPr/>
          <p:nvPr/>
        </p:nvSpPr>
        <p:spPr>
          <a:xfrm>
            <a:off x="635000" y="2120702"/>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CSS</a:t>
            </a:r>
            <a:endParaRPr lang="en-US" sz="1400" dirty="0"/>
          </a:p>
        </p:txBody>
      </p:sp>
      <p:sp>
        <p:nvSpPr>
          <p:cNvPr id="9" name="Text 6"/>
          <p:cNvSpPr/>
          <p:nvPr/>
        </p:nvSpPr>
        <p:spPr>
          <a:xfrm>
            <a:off x="635000" y="2445742"/>
            <a:ext cx="5200650" cy="2659162"/>
          </a:xfrm>
          <a:prstGeom prst="roundRect">
            <a:avLst>
              <a:gd name="adj" fmla="val 2866"/>
            </a:avLst>
          </a:prstGeom>
          <a:solidFill>
            <a:srgbClr val="2A002A"/>
          </a:solidFill>
          <a:ln/>
        </p:spPr>
        <p:txBody>
          <a:bodyPr wrap="square" lIns="130082" tIns="91982" rIns="0" bIns="665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.btn</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background</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#972996</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color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white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padding</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10px 20px</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border-radius</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8px</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transition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0.3s</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.btn:hover</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background</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#ff9de2</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color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black</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10" name="Shape 7"/>
          <p:cNvSpPr/>
          <p:nvPr/>
        </p:nvSpPr>
        <p:spPr>
          <a:xfrm>
            <a:off x="6089650" y="1269901"/>
            <a:ext cx="12700" cy="3835003"/>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2" name="Shape 9"/>
          <p:cNvSpPr/>
          <p:nvPr/>
        </p:nvSpPr>
        <p:spPr>
          <a:xfrm>
            <a:off x="6356350" y="1594941"/>
            <a:ext cx="5200650" cy="2877542"/>
          </a:xfrm>
          <a:prstGeom prst="roundRect">
            <a:avLst>
              <a:gd name="adj" fmla="val 2648"/>
            </a:avLst>
          </a:prstGeom>
          <a:solidFill>
            <a:srgbClr val="FFFFFF"/>
          </a:solidFill>
          <a:ln/>
        </p:spPr>
      </p:sp>
      <p:sp>
        <p:nvSpPr>
          <p:cNvPr id="13" name="Shape 10"/>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4" name="Shape 11"/>
          <p:cNvSpPr/>
          <p:nvPr/>
        </p:nvSpPr>
        <p:spPr>
          <a:xfrm>
            <a:off x="6483350" y="1739702"/>
            <a:ext cx="101600" cy="101600"/>
          </a:xfrm>
          <a:prstGeom prst="roundRect">
            <a:avLst>
              <a:gd name="adj" fmla="val 50000"/>
            </a:avLst>
          </a:prstGeom>
          <a:solidFill>
            <a:srgbClr val="E57373"/>
          </a:solidFill>
          <a:ln/>
        </p:spPr>
      </p:sp>
      <p:sp>
        <p:nvSpPr>
          <p:cNvPr id="15" name="Shape 12"/>
          <p:cNvSpPr/>
          <p:nvPr/>
        </p:nvSpPr>
        <p:spPr>
          <a:xfrm>
            <a:off x="6648450" y="1739702"/>
            <a:ext cx="101600" cy="101600"/>
          </a:xfrm>
          <a:prstGeom prst="roundRect">
            <a:avLst>
              <a:gd name="adj" fmla="val 50000"/>
            </a:avLst>
          </a:prstGeom>
          <a:solidFill>
            <a:srgbClr val="FFD54F"/>
          </a:solidFill>
          <a:ln/>
        </p:spPr>
      </p:sp>
      <p:sp>
        <p:nvSpPr>
          <p:cNvPr id="16" name="Shape 13"/>
          <p:cNvSpPr/>
          <p:nvPr/>
        </p:nvSpPr>
        <p:spPr>
          <a:xfrm>
            <a:off x="6813550" y="1739702"/>
            <a:ext cx="101600" cy="101600"/>
          </a:xfrm>
          <a:prstGeom prst="roundRect">
            <a:avLst>
              <a:gd name="adj" fmla="val 50000"/>
            </a:avLst>
          </a:prstGeom>
          <a:solidFill>
            <a:srgbClr val="81C784"/>
          </a:solidFill>
          <a:ln/>
        </p:spPr>
      </p:sp>
      <p:sp>
        <p:nvSpPr>
          <p:cNvPr id="17" name="Text 14"/>
          <p:cNvSpPr/>
          <p:nvPr/>
        </p:nvSpPr>
        <p:spPr>
          <a:xfrm>
            <a:off x="7054850" y="1683841"/>
            <a:ext cx="7987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hover.html</a:t>
            </a:r>
            <a:endParaRPr lang="en-US" sz="1200" dirty="0"/>
          </a:p>
        </p:txBody>
      </p:sp>
      <p:sp>
        <p:nvSpPr>
          <p:cNvPr id="18" name="Text 15"/>
          <p:cNvSpPr/>
          <p:nvPr/>
        </p:nvSpPr>
        <p:spPr>
          <a:xfrm>
            <a:off x="6572250" y="2240062"/>
            <a:ext cx="1288852" cy="573980"/>
          </a:xfrm>
          <a:prstGeom prst="roundRect">
            <a:avLst>
              <a:gd name="adj" fmla="val 17701"/>
            </a:avLst>
          </a:prstGeom>
          <a:solidFill>
            <a:srgbClr val="972996"/>
          </a:solidFill>
          <a:ln/>
        </p:spPr>
        <p:txBody>
          <a:bodyPr wrap="none" lIns="0" tIns="0" rIns="0" bIns="0" rtlCol="0" anchor="ctr">
            <a:normAutofit/>
          </a:bodyPr>
          <a:lstStyle/>
          <a:p>
            <a:pPr marL="0" indent="0" algn="ctr">
              <a:lnSpc>
                <a:spcPts val="2520"/>
              </a:lnSpc>
              <a:buNone/>
            </a:pPr>
            <a:r>
              <a:rPr lang="en-US" sz="1800" dirty="0">
                <a:solidFill>
                  <a:srgbClr val="FFFFFF"/>
                </a:solidFill>
                <a:latin typeface="Arial" pitchFamily="34" charset="0"/>
                <a:ea typeface="Arial" pitchFamily="34" charset="-122"/>
                <a:cs typeface="Arial" pitchFamily="34" charset="-120"/>
              </a:rPr>
              <a:t>Нажми</a:t>
            </a:r>
            <a:endParaRPr lang="en-US" sz="1800" dirty="0"/>
          </a:p>
        </p:txBody>
      </p:sp>
      <p:sp>
        <p:nvSpPr>
          <p:cNvPr id="19" name="Text 16"/>
          <p:cNvSpPr/>
          <p:nvPr/>
        </p:nvSpPr>
        <p:spPr>
          <a:xfrm>
            <a:off x="6572250" y="2890242"/>
            <a:ext cx="491191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55555"/>
                </a:solidFill>
                <a:latin typeface="Arial" pitchFamily="34" charset="0"/>
                <a:ea typeface="Arial" pitchFamily="34" charset="-122"/>
                <a:cs typeface="Arial" pitchFamily="34" charset="-120"/>
              </a:rPr>
              <a:t>Обычное состояние</a:t>
            </a:r>
            <a:endParaRPr lang="en-US" sz="1300" dirty="0"/>
          </a:p>
        </p:txBody>
      </p:sp>
      <p:sp>
        <p:nvSpPr>
          <p:cNvPr id="20" name="Text 17"/>
          <p:cNvSpPr/>
          <p:nvPr/>
        </p:nvSpPr>
        <p:spPr>
          <a:xfrm>
            <a:off x="6572250" y="3337223"/>
            <a:ext cx="1288852" cy="573980"/>
          </a:xfrm>
          <a:prstGeom prst="roundRect">
            <a:avLst>
              <a:gd name="adj" fmla="val 17701"/>
            </a:avLst>
          </a:prstGeom>
          <a:solidFill>
            <a:srgbClr val="FF9DE2"/>
          </a:solidFill>
          <a:ln/>
        </p:spPr>
        <p:txBody>
          <a:bodyPr wrap="none" lIns="0" tIns="0" rIns="0" bIns="0" rtlCol="0" anchor="ctr">
            <a:normAutofit/>
          </a:bodyPr>
          <a:lstStyle/>
          <a:p>
            <a:pPr marL="0" indent="0" algn="ctr">
              <a:lnSpc>
                <a:spcPts val="2520"/>
              </a:lnSpc>
              <a:buNone/>
            </a:pPr>
            <a:r>
              <a:rPr lang="en-US" sz="1800" dirty="0">
                <a:solidFill>
                  <a:srgbClr val="111111"/>
                </a:solidFill>
                <a:latin typeface="Arial" pitchFamily="34" charset="0"/>
                <a:ea typeface="Arial" pitchFamily="34" charset="-122"/>
                <a:cs typeface="Arial" pitchFamily="34" charset="-120"/>
              </a:rPr>
              <a:t>Нажми</a:t>
            </a:r>
            <a:endParaRPr lang="en-US" sz="1800" dirty="0"/>
          </a:p>
        </p:txBody>
      </p:sp>
      <p:sp>
        <p:nvSpPr>
          <p:cNvPr id="21" name="Text 18"/>
          <p:cNvSpPr/>
          <p:nvPr/>
        </p:nvSpPr>
        <p:spPr>
          <a:xfrm>
            <a:off x="6572250" y="3987403"/>
            <a:ext cx="491191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55555"/>
                </a:solidFill>
                <a:latin typeface="Arial" pitchFamily="34" charset="0"/>
                <a:ea typeface="Arial" pitchFamily="34" charset="-122"/>
                <a:cs typeface="Arial" pitchFamily="34" charset="-120"/>
              </a:rPr>
              <a:t>Курсор над кнопкой (:hover)</a:t>
            </a:r>
            <a:endParaRPr lang="en-US" sz="1300" dirty="0"/>
          </a:p>
        </p:txBody>
      </p:sp>
      <p:sp>
        <p:nvSpPr>
          <p:cNvPr id="22" name="Text 19"/>
          <p:cNvSpPr/>
          <p:nvPr/>
        </p:nvSpPr>
        <p:spPr>
          <a:xfrm>
            <a:off x="635000" y="5231904"/>
            <a:ext cx="10922000" cy="683220"/>
          </a:xfrm>
          <a:prstGeom prst="roundRect">
            <a:avLst>
              <a:gd name="adj" fmla="val 11153"/>
            </a:avLst>
          </a:prstGeom>
          <a:solidFill>
            <a:srgbClr val="7A1F79"/>
          </a:solidFill>
          <a:ln/>
        </p:spPr>
        <p:txBody>
          <a:bodyPr wrap="square" lIns="142782" tIns="79282" rIns="0" bIns="53882" rtlCol="0" anchor="t">
            <a:normAutofit/>
          </a:bodyPr>
          <a:lstStyle/>
          <a:p>
            <a:pPr marL="0" indent="0" algn="l">
              <a:lnSpc>
                <a:spcPts val="1890"/>
              </a:lnSpc>
              <a:buNone/>
            </a:pPr>
            <a:r>
              <a:rPr lang="en-US" sz="1400" dirty="0">
                <a:solidFill>
                  <a:srgbClr val="FFFFFF"/>
                </a:solidFill>
                <a:latin typeface="Carlito" pitchFamily="34" charset="0"/>
                <a:ea typeface="Carlito" pitchFamily="34" charset="-122"/>
                <a:cs typeface="Carlito" pitchFamily="34" charset="-120"/>
              </a:rPr>
              <a:t>Псевдокласс описывает состояние: :hover — курсор над элементом, :focus — поле в фокусе, :active — нажатие, :first-child — первый вложенный элемент. transition делает смену плавной.</a:t>
            </a:r>
            <a:endParaRPr lang="en-US" sz="1400" dirty="0"/>
          </a:p>
        </p:txBody>
      </p:sp>
      <p:pic>
        <p:nvPicPr>
          <p:cNvPr id="23" name="Рисунок 22"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31F16C57-5930-4DCC-DECE-7F9E6FDA0683}"/>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CSS: адаптивность и @media</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Одна страница — разная раскладка на телефоне и на компьютере</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 (в head)</a:t>
            </a:r>
            <a:endParaRPr lang="en-US" sz="1400" dirty="0"/>
          </a:p>
        </p:txBody>
      </p:sp>
      <p:sp>
        <p:nvSpPr>
          <p:cNvPr id="7" name="Text 4"/>
          <p:cNvSpPr/>
          <p:nvPr/>
        </p:nvSpPr>
        <p:spPr>
          <a:xfrm>
            <a:off x="635000" y="1594941"/>
            <a:ext cx="5200650" cy="891480"/>
          </a:xfrm>
          <a:prstGeom prst="roundRect">
            <a:avLst>
              <a:gd name="adj" fmla="val 8548"/>
            </a:avLst>
          </a:prstGeom>
          <a:solidFill>
            <a:srgbClr val="2A002A"/>
          </a:solidFill>
          <a:ln/>
        </p:spPr>
        <p:txBody>
          <a:bodyPr wrap="square" lIns="130082" tIns="91982" rIns="0" bIns="665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&lt;meta</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name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"viewport"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content</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"width=device-width,</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initial-scale=1"</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p:txBody>
      </p:sp>
      <p:sp>
        <p:nvSpPr>
          <p:cNvPr id="8" name="Text 5"/>
          <p:cNvSpPr/>
          <p:nvPr/>
        </p:nvSpPr>
        <p:spPr>
          <a:xfrm>
            <a:off x="635000" y="2562622"/>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CSS</a:t>
            </a:r>
            <a:endParaRPr lang="en-US" sz="1400" dirty="0"/>
          </a:p>
        </p:txBody>
      </p:sp>
      <p:sp>
        <p:nvSpPr>
          <p:cNvPr id="9" name="Text 6"/>
          <p:cNvSpPr/>
          <p:nvPr/>
        </p:nvSpPr>
        <p:spPr>
          <a:xfrm>
            <a:off x="635000" y="2887663"/>
            <a:ext cx="5200650" cy="2438202"/>
          </a:xfrm>
          <a:prstGeom prst="roundRect">
            <a:avLst>
              <a:gd name="adj" fmla="val 3125"/>
            </a:avLst>
          </a:prstGeom>
          <a:solidFill>
            <a:srgbClr val="2A002A"/>
          </a:solidFill>
          <a:ln/>
        </p:spPr>
        <p:txBody>
          <a:bodyPr wrap="square" lIns="130082" tIns="91982" rIns="0" bIns="665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.cards</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display</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flex</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gap</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10px</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@media</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max-width</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600px</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.cards</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flex-direction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column</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10" name="Shape 7"/>
          <p:cNvSpPr/>
          <p:nvPr/>
        </p:nvSpPr>
        <p:spPr>
          <a:xfrm>
            <a:off x="6089650" y="1269901"/>
            <a:ext cx="12700" cy="4055963"/>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2" name="Shape 9"/>
          <p:cNvSpPr/>
          <p:nvPr/>
        </p:nvSpPr>
        <p:spPr>
          <a:xfrm>
            <a:off x="6356350" y="1594941"/>
            <a:ext cx="5200650" cy="2677021"/>
          </a:xfrm>
          <a:prstGeom prst="roundRect">
            <a:avLst>
              <a:gd name="adj" fmla="val 2846"/>
            </a:avLst>
          </a:prstGeom>
          <a:solidFill>
            <a:srgbClr val="FFFFFF"/>
          </a:solidFill>
          <a:ln/>
        </p:spPr>
      </p:sp>
      <p:sp>
        <p:nvSpPr>
          <p:cNvPr id="13" name="Shape 10"/>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4" name="Shape 11"/>
          <p:cNvSpPr/>
          <p:nvPr/>
        </p:nvSpPr>
        <p:spPr>
          <a:xfrm>
            <a:off x="6483350" y="1739702"/>
            <a:ext cx="101600" cy="101600"/>
          </a:xfrm>
          <a:prstGeom prst="roundRect">
            <a:avLst>
              <a:gd name="adj" fmla="val 50000"/>
            </a:avLst>
          </a:prstGeom>
          <a:solidFill>
            <a:srgbClr val="E57373"/>
          </a:solidFill>
          <a:ln/>
        </p:spPr>
      </p:sp>
      <p:sp>
        <p:nvSpPr>
          <p:cNvPr id="15" name="Shape 12"/>
          <p:cNvSpPr/>
          <p:nvPr/>
        </p:nvSpPr>
        <p:spPr>
          <a:xfrm>
            <a:off x="6648450" y="1739702"/>
            <a:ext cx="101600" cy="101600"/>
          </a:xfrm>
          <a:prstGeom prst="roundRect">
            <a:avLst>
              <a:gd name="adj" fmla="val 50000"/>
            </a:avLst>
          </a:prstGeom>
          <a:solidFill>
            <a:srgbClr val="FFD54F"/>
          </a:solidFill>
          <a:ln/>
        </p:spPr>
      </p:sp>
      <p:sp>
        <p:nvSpPr>
          <p:cNvPr id="16" name="Shape 13"/>
          <p:cNvSpPr/>
          <p:nvPr/>
        </p:nvSpPr>
        <p:spPr>
          <a:xfrm>
            <a:off x="6813550" y="1739702"/>
            <a:ext cx="101600" cy="101600"/>
          </a:xfrm>
          <a:prstGeom prst="roundRect">
            <a:avLst>
              <a:gd name="adj" fmla="val 50000"/>
            </a:avLst>
          </a:prstGeom>
          <a:solidFill>
            <a:srgbClr val="81C784"/>
          </a:solidFill>
          <a:ln/>
        </p:spPr>
      </p:sp>
      <p:sp>
        <p:nvSpPr>
          <p:cNvPr id="17" name="Text 14"/>
          <p:cNvSpPr/>
          <p:nvPr/>
        </p:nvSpPr>
        <p:spPr>
          <a:xfrm>
            <a:off x="7054850" y="1683841"/>
            <a:ext cx="103012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adaptive.html</a:t>
            </a:r>
            <a:endParaRPr lang="en-US" sz="1200" dirty="0"/>
          </a:p>
        </p:txBody>
      </p:sp>
      <p:sp>
        <p:nvSpPr>
          <p:cNvPr id="18" name="Text 15"/>
          <p:cNvSpPr/>
          <p:nvPr/>
        </p:nvSpPr>
        <p:spPr>
          <a:xfrm>
            <a:off x="6546850" y="2176562"/>
            <a:ext cx="248539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11111"/>
                </a:solidFill>
                <a:latin typeface="Arial" pitchFamily="34" charset="0"/>
                <a:ea typeface="Arial" pitchFamily="34" charset="-122"/>
                <a:cs typeface="Arial" pitchFamily="34" charset="-120"/>
              </a:rPr>
              <a:t>Шире 600px</a:t>
            </a:r>
            <a:endParaRPr lang="en-US" sz="1300" dirty="0"/>
          </a:p>
        </p:txBody>
      </p:sp>
      <p:sp>
        <p:nvSpPr>
          <p:cNvPr id="19" name="Shape 16"/>
          <p:cNvSpPr/>
          <p:nvPr/>
        </p:nvSpPr>
        <p:spPr>
          <a:xfrm>
            <a:off x="6559550" y="2496542"/>
            <a:ext cx="2387600" cy="774700"/>
          </a:xfrm>
          <a:prstGeom prst="roundRect">
            <a:avLst>
              <a:gd name="adj" fmla="val 6557"/>
            </a:avLst>
          </a:prstGeom>
          <a:noFill/>
          <a:ln w="25400">
            <a:solidFill>
              <a:srgbClr val="972996"/>
            </a:solidFill>
            <a:prstDash val="solid"/>
          </a:ln>
        </p:spPr>
      </p:sp>
      <p:sp>
        <p:nvSpPr>
          <p:cNvPr id="20" name="Shape 17"/>
          <p:cNvSpPr/>
          <p:nvPr/>
        </p:nvSpPr>
        <p:spPr>
          <a:xfrm>
            <a:off x="6661150" y="2598142"/>
            <a:ext cx="685800" cy="571500"/>
          </a:xfrm>
          <a:prstGeom prst="rect">
            <a:avLst/>
          </a:prstGeom>
          <a:solidFill>
            <a:srgbClr val="972996"/>
          </a:solidFill>
          <a:ln/>
        </p:spPr>
      </p:sp>
      <p:sp>
        <p:nvSpPr>
          <p:cNvPr id="21" name="Shape 18"/>
          <p:cNvSpPr/>
          <p:nvPr/>
        </p:nvSpPr>
        <p:spPr>
          <a:xfrm>
            <a:off x="7410450" y="2598142"/>
            <a:ext cx="685800" cy="571500"/>
          </a:xfrm>
          <a:prstGeom prst="rect">
            <a:avLst/>
          </a:prstGeom>
          <a:solidFill>
            <a:srgbClr val="B95FB8"/>
          </a:solidFill>
          <a:ln/>
        </p:spPr>
      </p:sp>
      <p:sp>
        <p:nvSpPr>
          <p:cNvPr id="22" name="Shape 19"/>
          <p:cNvSpPr/>
          <p:nvPr/>
        </p:nvSpPr>
        <p:spPr>
          <a:xfrm>
            <a:off x="8159750" y="2598142"/>
            <a:ext cx="685800" cy="571500"/>
          </a:xfrm>
          <a:prstGeom prst="rect">
            <a:avLst/>
          </a:prstGeom>
          <a:solidFill>
            <a:srgbClr val="972996"/>
          </a:solidFill>
          <a:ln/>
        </p:spPr>
      </p:sp>
      <p:sp>
        <p:nvSpPr>
          <p:cNvPr id="23" name="Text 20"/>
          <p:cNvSpPr/>
          <p:nvPr/>
        </p:nvSpPr>
        <p:spPr>
          <a:xfrm>
            <a:off x="6546850" y="3360142"/>
            <a:ext cx="24853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Карточки в ряд</a:t>
            </a:r>
            <a:endParaRPr lang="en-US" sz="1200" dirty="0"/>
          </a:p>
        </p:txBody>
      </p:sp>
      <p:sp>
        <p:nvSpPr>
          <p:cNvPr id="24" name="Text 21"/>
          <p:cNvSpPr/>
          <p:nvPr/>
        </p:nvSpPr>
        <p:spPr>
          <a:xfrm>
            <a:off x="9150350" y="2176562"/>
            <a:ext cx="1511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11111"/>
                </a:solidFill>
                <a:latin typeface="Arial" pitchFamily="34" charset="0"/>
                <a:ea typeface="Arial" pitchFamily="34" charset="-122"/>
                <a:cs typeface="Arial" pitchFamily="34" charset="-120"/>
              </a:rPr>
              <a:t>Уже 600px</a:t>
            </a:r>
            <a:endParaRPr lang="en-US" sz="1300" dirty="0"/>
          </a:p>
        </p:txBody>
      </p:sp>
      <p:sp>
        <p:nvSpPr>
          <p:cNvPr id="25" name="Shape 22"/>
          <p:cNvSpPr/>
          <p:nvPr/>
        </p:nvSpPr>
        <p:spPr>
          <a:xfrm>
            <a:off x="9163050" y="2496542"/>
            <a:ext cx="1435100" cy="1282700"/>
          </a:xfrm>
          <a:prstGeom prst="roundRect">
            <a:avLst>
              <a:gd name="adj" fmla="val 3960"/>
            </a:avLst>
          </a:prstGeom>
          <a:noFill/>
          <a:ln w="25400">
            <a:solidFill>
              <a:srgbClr val="972996"/>
            </a:solidFill>
            <a:prstDash val="solid"/>
          </a:ln>
        </p:spPr>
      </p:sp>
      <p:sp>
        <p:nvSpPr>
          <p:cNvPr id="26" name="Shape 23"/>
          <p:cNvSpPr/>
          <p:nvPr/>
        </p:nvSpPr>
        <p:spPr>
          <a:xfrm>
            <a:off x="9264650" y="2598142"/>
            <a:ext cx="1231900" cy="317500"/>
          </a:xfrm>
          <a:prstGeom prst="rect">
            <a:avLst/>
          </a:prstGeom>
          <a:solidFill>
            <a:srgbClr val="972996"/>
          </a:solidFill>
          <a:ln/>
        </p:spPr>
      </p:sp>
      <p:sp>
        <p:nvSpPr>
          <p:cNvPr id="27" name="Shape 24"/>
          <p:cNvSpPr/>
          <p:nvPr/>
        </p:nvSpPr>
        <p:spPr>
          <a:xfrm>
            <a:off x="9264650" y="2979142"/>
            <a:ext cx="1231900" cy="317500"/>
          </a:xfrm>
          <a:prstGeom prst="rect">
            <a:avLst/>
          </a:prstGeom>
          <a:solidFill>
            <a:srgbClr val="B95FB8"/>
          </a:solidFill>
          <a:ln/>
        </p:spPr>
      </p:sp>
      <p:sp>
        <p:nvSpPr>
          <p:cNvPr id="28" name="Shape 25"/>
          <p:cNvSpPr/>
          <p:nvPr/>
        </p:nvSpPr>
        <p:spPr>
          <a:xfrm>
            <a:off x="9264650" y="3360142"/>
            <a:ext cx="1231900" cy="317500"/>
          </a:xfrm>
          <a:prstGeom prst="rect">
            <a:avLst/>
          </a:prstGeom>
          <a:solidFill>
            <a:srgbClr val="972996"/>
          </a:solidFill>
          <a:ln/>
        </p:spPr>
      </p:sp>
      <p:sp>
        <p:nvSpPr>
          <p:cNvPr id="29" name="Text 26"/>
          <p:cNvSpPr/>
          <p:nvPr/>
        </p:nvSpPr>
        <p:spPr>
          <a:xfrm>
            <a:off x="9150350" y="3868142"/>
            <a:ext cx="1511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В столбик</a:t>
            </a:r>
            <a:endParaRPr lang="en-US" sz="1200" dirty="0"/>
          </a:p>
        </p:txBody>
      </p:sp>
      <p:sp>
        <p:nvSpPr>
          <p:cNvPr id="30" name="Text 27"/>
          <p:cNvSpPr/>
          <p:nvPr/>
        </p:nvSpPr>
        <p:spPr>
          <a:xfrm>
            <a:off x="635000" y="5452864"/>
            <a:ext cx="10922000" cy="683220"/>
          </a:xfrm>
          <a:prstGeom prst="roundRect">
            <a:avLst>
              <a:gd name="adj" fmla="val 11153"/>
            </a:avLst>
          </a:prstGeom>
          <a:solidFill>
            <a:srgbClr val="7A1F79"/>
          </a:solidFill>
          <a:ln/>
        </p:spPr>
        <p:txBody>
          <a:bodyPr wrap="square" lIns="142782" tIns="79282" rIns="0" bIns="53882" rtlCol="0" anchor="t">
            <a:normAutofit/>
          </a:bodyPr>
          <a:lstStyle/>
          <a:p>
            <a:pPr marL="0" indent="0" algn="l">
              <a:lnSpc>
                <a:spcPts val="1890"/>
              </a:lnSpc>
              <a:buNone/>
            </a:pPr>
            <a:r>
              <a:rPr lang="en-US" sz="1400" dirty="0">
                <a:solidFill>
                  <a:srgbClr val="FFFFFF"/>
                </a:solidFill>
                <a:latin typeface="Carlito" pitchFamily="34" charset="0"/>
                <a:ea typeface="Carlito" pitchFamily="34" charset="-122"/>
                <a:cs typeface="Carlito" pitchFamily="34" charset="-120"/>
              </a:rPr>
              <a:t>@media применяет правила, только когда условие выполнено (здесь — окно уже 600px). Тег meta viewport нужен, чтобы телефон не уменьшал страницу целиком.</a:t>
            </a:r>
            <a:endParaRPr lang="en-US" sz="1400" dirty="0"/>
          </a:p>
        </p:txBody>
      </p:sp>
      <p:pic>
        <p:nvPicPr>
          <p:cNvPr id="31" name="Рисунок 30"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C0271F20-EA4D-F272-F0DD-896C117E35E1}"/>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Итоговый пример: визитка</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Всё изученное в одной небольшой странице</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index.html</a:t>
            </a:r>
            <a:endParaRPr lang="en-US" sz="1400" dirty="0"/>
          </a:p>
        </p:txBody>
      </p:sp>
      <p:sp>
        <p:nvSpPr>
          <p:cNvPr id="7" name="Text 4"/>
          <p:cNvSpPr/>
          <p:nvPr/>
        </p:nvSpPr>
        <p:spPr>
          <a:xfrm>
            <a:off x="635000" y="1594941"/>
            <a:ext cx="5200650" cy="3006527"/>
          </a:xfrm>
          <a:prstGeom prst="roundRect">
            <a:avLst>
              <a:gd name="adj" fmla="val 2534"/>
            </a:avLst>
          </a:prstGeom>
          <a:solidFill>
            <a:srgbClr val="2A002A"/>
          </a:solidFill>
          <a:ln/>
        </p:spPr>
        <p:txBody>
          <a:bodyPr wrap="square" lIns="117382" tIns="104682" rIns="0" bIns="79282" rtlCol="0" anchor="t">
            <a:noAutofit/>
          </a:bodyPr>
          <a:lstStyle/>
          <a:p>
            <a:pPr marL="0" indent="0" algn="l">
              <a:lnSpc>
                <a:spcPts val="1668"/>
              </a:lnSpc>
              <a:buNone/>
            </a:pPr>
            <a:r>
              <a:rPr lang="en-US" sz="1000" dirty="0">
                <a:solidFill>
                  <a:srgbClr val="FF9DE2"/>
                </a:solidFill>
                <a:latin typeface="JetBrains Mono" pitchFamily="49" charset="0"/>
                <a:ea typeface="JetBrains Mono" pitchFamily="49" charset="-122"/>
                <a:cs typeface="JetBrains Mono" pitchFamily="49" charset="-120"/>
              </a:rPr>
              <a:t>&lt;body&gt;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9DE2"/>
                </a:solidFill>
                <a:latin typeface="JetBrains Mono" pitchFamily="49" charset="0"/>
                <a:ea typeface="JetBrains Mono" pitchFamily="49" charset="-122"/>
                <a:cs typeface="JetBrains Mono" pitchFamily="49" charset="-120"/>
              </a:rPr>
              <a:t>&lt;header&gt;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9DE2"/>
                </a:solidFill>
                <a:latin typeface="JetBrains Mono" pitchFamily="49" charset="0"/>
                <a:ea typeface="JetBrains Mono" pitchFamily="49" charset="-122"/>
                <a:cs typeface="JetBrains Mono" pitchFamily="49" charset="-120"/>
              </a:rPr>
              <a:t>&lt;h1&gt;</a:t>
            </a:r>
            <a:r>
              <a:rPr lang="en-US" sz="1000" dirty="0">
                <a:solidFill>
                  <a:srgbClr val="FFFFFF"/>
                </a:solidFill>
                <a:latin typeface="JetBrains Mono" pitchFamily="49" charset="0"/>
                <a:ea typeface="JetBrains Mono" pitchFamily="49" charset="-122"/>
                <a:cs typeface="JetBrains Mono" pitchFamily="49" charset="-120"/>
              </a:rPr>
              <a:t>Анна Смирнова</a:t>
            </a:r>
            <a:r>
              <a:rPr lang="en-US" sz="1000" dirty="0">
                <a:solidFill>
                  <a:srgbClr val="FF9DE2"/>
                </a:solidFill>
                <a:latin typeface="JetBrains Mono" pitchFamily="49" charset="0"/>
                <a:ea typeface="JetBrains Mono" pitchFamily="49" charset="-122"/>
                <a:cs typeface="JetBrains Mono" pitchFamily="49" charset="-120"/>
              </a:rPr>
              <a:t>&lt;/h1&gt;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9DE2"/>
                </a:solidFill>
                <a:latin typeface="JetBrains Mono" pitchFamily="49" charset="0"/>
                <a:ea typeface="JetBrains Mono" pitchFamily="49" charset="-122"/>
                <a:cs typeface="JetBrains Mono" pitchFamily="49" charset="-120"/>
              </a:rPr>
              <a:t>&lt;p&gt;</a:t>
            </a:r>
            <a:r>
              <a:rPr lang="en-US" sz="1000" dirty="0">
                <a:solidFill>
                  <a:srgbClr val="FFFFFF"/>
                </a:solidFill>
                <a:latin typeface="JetBrains Mono" pitchFamily="49" charset="0"/>
                <a:ea typeface="JetBrains Mono" pitchFamily="49" charset="-122"/>
                <a:cs typeface="JetBrains Mono" pitchFamily="49" charset="-120"/>
              </a:rPr>
              <a:t>Веб-дизайнер</a:t>
            </a:r>
            <a:r>
              <a:rPr lang="en-US" sz="1000" dirty="0">
                <a:solidFill>
                  <a:srgbClr val="FF9DE2"/>
                </a:solidFill>
                <a:latin typeface="JetBrains Mono" pitchFamily="49" charset="0"/>
                <a:ea typeface="JetBrains Mono" pitchFamily="49" charset="-122"/>
                <a:cs typeface="JetBrains Mono" pitchFamily="49" charset="-120"/>
              </a:rPr>
              <a:t>&lt;/p&gt;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9DE2"/>
                </a:solidFill>
                <a:latin typeface="JetBrains Mono" pitchFamily="49" charset="0"/>
                <a:ea typeface="JetBrains Mono" pitchFamily="49" charset="-122"/>
                <a:cs typeface="JetBrains Mono" pitchFamily="49" charset="-120"/>
              </a:rPr>
              <a:t>&lt;/header&gt;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9DE2"/>
                </a:solidFill>
                <a:latin typeface="JetBrains Mono" pitchFamily="49" charset="0"/>
                <a:ea typeface="JetBrains Mono" pitchFamily="49" charset="-122"/>
                <a:cs typeface="JetBrains Mono" pitchFamily="49" charset="-120"/>
              </a:rPr>
              <a:t>&lt;main</a:t>
            </a: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D27F"/>
                </a:solidFill>
                <a:latin typeface="JetBrains Mono" pitchFamily="49" charset="0"/>
                <a:ea typeface="JetBrains Mono" pitchFamily="49" charset="-122"/>
                <a:cs typeface="JetBrains Mono" pitchFamily="49" charset="-120"/>
              </a:rPr>
              <a:t>class</a:t>
            </a:r>
            <a:r>
              <a:rPr lang="en-US" sz="1000" dirty="0">
                <a:solidFill>
                  <a:srgbClr val="FFFFFF"/>
                </a:solidFill>
                <a:latin typeface="JetBrains Mono" pitchFamily="49" charset="0"/>
                <a:ea typeface="JetBrains Mono" pitchFamily="49" charset="-122"/>
                <a:cs typeface="JetBrains Mono" pitchFamily="49" charset="-120"/>
              </a:rPr>
              <a:t>=</a:t>
            </a:r>
            <a:r>
              <a:rPr lang="en-US" sz="1000" dirty="0">
                <a:solidFill>
                  <a:srgbClr val="9EE6A8"/>
                </a:solidFill>
                <a:latin typeface="JetBrains Mono" pitchFamily="49" charset="0"/>
                <a:ea typeface="JetBrains Mono" pitchFamily="49" charset="-122"/>
                <a:cs typeface="JetBrains Mono" pitchFamily="49" charset="-120"/>
              </a:rPr>
              <a:t>"card"</a:t>
            </a:r>
            <a:r>
              <a:rPr lang="en-US" sz="1000" dirty="0">
                <a:solidFill>
                  <a:srgbClr val="FF9DE2"/>
                </a:solidFill>
                <a:latin typeface="JetBrains Mono" pitchFamily="49" charset="0"/>
                <a:ea typeface="JetBrains Mono" pitchFamily="49" charset="-122"/>
                <a:cs typeface="JetBrains Mono" pitchFamily="49" charset="-120"/>
              </a:rPr>
              <a:t>&gt;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9DE2"/>
                </a:solidFill>
                <a:latin typeface="JetBrains Mono" pitchFamily="49" charset="0"/>
                <a:ea typeface="JetBrains Mono" pitchFamily="49" charset="-122"/>
                <a:cs typeface="JetBrains Mono" pitchFamily="49" charset="-120"/>
              </a:rPr>
              <a:t>&lt;h2&gt;</a:t>
            </a:r>
            <a:r>
              <a:rPr lang="en-US" sz="1000" dirty="0">
                <a:solidFill>
                  <a:srgbClr val="FFFFFF"/>
                </a:solidFill>
                <a:latin typeface="JetBrains Mono" pitchFamily="49" charset="0"/>
                <a:ea typeface="JetBrains Mono" pitchFamily="49" charset="-122"/>
                <a:cs typeface="JetBrains Mono" pitchFamily="49" charset="-120"/>
              </a:rPr>
              <a:t>Обо мне</a:t>
            </a:r>
            <a:r>
              <a:rPr lang="en-US" sz="1000" dirty="0">
                <a:solidFill>
                  <a:srgbClr val="FF9DE2"/>
                </a:solidFill>
                <a:latin typeface="JetBrains Mono" pitchFamily="49" charset="0"/>
                <a:ea typeface="JetBrains Mono" pitchFamily="49" charset="-122"/>
                <a:cs typeface="JetBrains Mono" pitchFamily="49" charset="-120"/>
              </a:rPr>
              <a:t>&lt;/h2&gt;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9DE2"/>
                </a:solidFill>
                <a:latin typeface="JetBrains Mono" pitchFamily="49" charset="0"/>
                <a:ea typeface="JetBrains Mono" pitchFamily="49" charset="-122"/>
                <a:cs typeface="JetBrains Mono" pitchFamily="49" charset="-120"/>
              </a:rPr>
              <a:t>&lt;p&gt;</a:t>
            </a:r>
            <a:r>
              <a:rPr lang="en-US" sz="1000" dirty="0">
                <a:solidFill>
                  <a:srgbClr val="FFFFFF"/>
                </a:solidFill>
                <a:latin typeface="JetBrains Mono" pitchFamily="49" charset="0"/>
                <a:ea typeface="JetBrains Mono" pitchFamily="49" charset="-122"/>
                <a:cs typeface="JetBrains Mono" pitchFamily="49" charset="-120"/>
              </a:rPr>
              <a:t>Люблю чистый код.</a:t>
            </a:r>
            <a:r>
              <a:rPr lang="en-US" sz="1000" dirty="0">
                <a:solidFill>
                  <a:srgbClr val="FF9DE2"/>
                </a:solidFill>
                <a:latin typeface="JetBrains Mono" pitchFamily="49" charset="0"/>
                <a:ea typeface="JetBrains Mono" pitchFamily="49" charset="-122"/>
                <a:cs typeface="JetBrains Mono" pitchFamily="49" charset="-120"/>
              </a:rPr>
              <a:t>&lt;/p&gt;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9DE2"/>
                </a:solidFill>
                <a:latin typeface="JetBrains Mono" pitchFamily="49" charset="0"/>
                <a:ea typeface="JetBrains Mono" pitchFamily="49" charset="-122"/>
                <a:cs typeface="JetBrains Mono" pitchFamily="49" charset="-120"/>
              </a:rPr>
              <a:t>&lt;a</a:t>
            </a: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D27F"/>
                </a:solidFill>
                <a:latin typeface="JetBrains Mono" pitchFamily="49" charset="0"/>
                <a:ea typeface="JetBrains Mono" pitchFamily="49" charset="-122"/>
                <a:cs typeface="JetBrains Mono" pitchFamily="49" charset="-120"/>
              </a:rPr>
              <a:t>class</a:t>
            </a:r>
            <a:r>
              <a:rPr lang="en-US" sz="1000" dirty="0">
                <a:solidFill>
                  <a:srgbClr val="FFFFFF"/>
                </a:solidFill>
                <a:latin typeface="JetBrains Mono" pitchFamily="49" charset="0"/>
                <a:ea typeface="JetBrains Mono" pitchFamily="49" charset="-122"/>
                <a:cs typeface="JetBrains Mono" pitchFamily="49" charset="-120"/>
              </a:rPr>
              <a:t>=</a:t>
            </a:r>
            <a:r>
              <a:rPr lang="en-US" sz="1000" dirty="0">
                <a:solidFill>
                  <a:srgbClr val="9EE6A8"/>
                </a:solidFill>
                <a:latin typeface="JetBrains Mono" pitchFamily="49" charset="0"/>
                <a:ea typeface="JetBrains Mono" pitchFamily="49" charset="-122"/>
                <a:cs typeface="JetBrains Mono" pitchFamily="49" charset="-120"/>
              </a:rPr>
              <a:t>"btn"</a:t>
            </a: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D27F"/>
                </a:solidFill>
                <a:latin typeface="JetBrains Mono" pitchFamily="49" charset="0"/>
                <a:ea typeface="JetBrains Mono" pitchFamily="49" charset="-122"/>
                <a:cs typeface="JetBrains Mono" pitchFamily="49" charset="-120"/>
              </a:rPr>
              <a:t>href</a:t>
            </a:r>
            <a:r>
              <a:rPr lang="en-US" sz="1000" dirty="0">
                <a:solidFill>
                  <a:srgbClr val="FFFFFF"/>
                </a:solidFill>
                <a:latin typeface="JetBrains Mono" pitchFamily="49" charset="0"/>
                <a:ea typeface="JetBrains Mono" pitchFamily="49" charset="-122"/>
                <a:cs typeface="JetBrains Mono" pitchFamily="49" charset="-120"/>
              </a:rPr>
              <a:t>=</a:t>
            </a:r>
            <a:r>
              <a:rPr lang="en-US" sz="1000" dirty="0">
                <a:solidFill>
                  <a:srgbClr val="9EE6A8"/>
                </a:solidFill>
                <a:latin typeface="JetBrains Mono" pitchFamily="49" charset="0"/>
                <a:ea typeface="JetBrains Mono" pitchFamily="49" charset="-122"/>
                <a:cs typeface="JetBrains Mono" pitchFamily="49" charset="-120"/>
              </a:rPr>
              <a:t>"#"</a:t>
            </a:r>
            <a:r>
              <a:rPr lang="en-US" sz="1000" dirty="0">
                <a:solidFill>
                  <a:srgbClr val="FF9DE2"/>
                </a:solidFill>
                <a:latin typeface="JetBrains Mono" pitchFamily="49" charset="0"/>
                <a:ea typeface="JetBrains Mono" pitchFamily="49" charset="-122"/>
                <a:cs typeface="JetBrains Mono" pitchFamily="49" charset="-120"/>
              </a:rPr>
              <a:t>&gt;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Связаться</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9DE2"/>
                </a:solidFill>
                <a:latin typeface="JetBrains Mono" pitchFamily="49" charset="0"/>
                <a:ea typeface="JetBrains Mono" pitchFamily="49" charset="-122"/>
                <a:cs typeface="JetBrains Mono" pitchFamily="49" charset="-120"/>
              </a:rPr>
              <a:t>&lt;/a&gt;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9DE2"/>
                </a:solidFill>
                <a:latin typeface="JetBrains Mono" pitchFamily="49" charset="0"/>
                <a:ea typeface="JetBrains Mono" pitchFamily="49" charset="-122"/>
                <a:cs typeface="JetBrains Mono" pitchFamily="49" charset="-120"/>
              </a:rPr>
              <a:t>&lt;/main&gt;</a:t>
            </a:r>
            <a:endParaRPr lang="en-US" sz="1000" dirty="0"/>
          </a:p>
          <a:p>
            <a:pPr marL="0" indent="0" algn="l">
              <a:lnSpc>
                <a:spcPts val="1668"/>
              </a:lnSpc>
              <a:buNone/>
            </a:pPr>
            <a:r>
              <a:rPr lang="en-US" sz="1000" dirty="0">
                <a:solidFill>
                  <a:srgbClr val="FF9DE2"/>
                </a:solidFill>
                <a:latin typeface="JetBrains Mono" pitchFamily="49" charset="0"/>
                <a:ea typeface="JetBrains Mono" pitchFamily="49" charset="-122"/>
                <a:cs typeface="JetBrains Mono" pitchFamily="49" charset="-120"/>
              </a:rPr>
              <a:t>&lt;/body&gt;</a:t>
            </a:r>
            <a:endParaRPr lang="en-US" sz="1000" dirty="0"/>
          </a:p>
        </p:txBody>
      </p:sp>
      <p:sp>
        <p:nvSpPr>
          <p:cNvPr id="8" name="Shape 5"/>
          <p:cNvSpPr/>
          <p:nvPr/>
        </p:nvSpPr>
        <p:spPr>
          <a:xfrm>
            <a:off x="6089650" y="1269901"/>
            <a:ext cx="12700" cy="3755033"/>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style.css</a:t>
            </a:r>
            <a:endParaRPr lang="en-US" sz="1400" dirty="0"/>
          </a:p>
        </p:txBody>
      </p:sp>
      <p:sp>
        <p:nvSpPr>
          <p:cNvPr id="10" name="Text 7"/>
          <p:cNvSpPr/>
          <p:nvPr/>
        </p:nvSpPr>
        <p:spPr>
          <a:xfrm>
            <a:off x="6356350" y="1594941"/>
            <a:ext cx="5200650" cy="3429992"/>
          </a:xfrm>
          <a:prstGeom prst="roundRect">
            <a:avLst>
              <a:gd name="adj" fmla="val 2222"/>
            </a:avLst>
          </a:prstGeom>
          <a:solidFill>
            <a:srgbClr val="2A002A"/>
          </a:solidFill>
          <a:ln/>
        </p:spPr>
        <p:txBody>
          <a:bodyPr wrap="square" lIns="117382" tIns="104682" rIns="0" bIns="79282" rtlCol="0" anchor="t">
            <a:noAutofit/>
          </a:bodyPr>
          <a:lstStyle/>
          <a:p>
            <a:pPr marL="0" indent="0" algn="l">
              <a:lnSpc>
                <a:spcPts val="1668"/>
              </a:lnSpc>
              <a:buNone/>
            </a:pPr>
            <a:r>
              <a:rPr lang="en-US" sz="1000" dirty="0">
                <a:solidFill>
                  <a:srgbClr val="FF9DE2"/>
                </a:solidFill>
                <a:latin typeface="JetBrains Mono" pitchFamily="49" charset="0"/>
                <a:ea typeface="JetBrains Mono" pitchFamily="49" charset="-122"/>
                <a:cs typeface="JetBrains Mono" pitchFamily="49" charset="-120"/>
              </a:rPr>
              <a:t>body</a:t>
            </a:r>
            <a:r>
              <a:rPr lang="en-US" sz="1000" dirty="0">
                <a:solidFill>
                  <a:srgbClr val="FFFFFF"/>
                </a:solidFill>
                <a:latin typeface="JetBrains Mono" pitchFamily="49" charset="0"/>
                <a:ea typeface="JetBrains Mono" pitchFamily="49" charset="-122"/>
                <a:cs typeface="JetBrains Mono" pitchFamily="49" charset="-120"/>
              </a:rPr>
              <a:t> {</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D27F"/>
                </a:solidFill>
                <a:latin typeface="JetBrains Mono" pitchFamily="49" charset="0"/>
                <a:ea typeface="JetBrains Mono" pitchFamily="49" charset="-122"/>
                <a:cs typeface="JetBrains Mono" pitchFamily="49" charset="-120"/>
              </a:rPr>
              <a:t>font-family</a:t>
            </a: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9EE6A8"/>
                </a:solidFill>
                <a:latin typeface="JetBrains Mono" pitchFamily="49" charset="0"/>
                <a:ea typeface="JetBrains Mono" pitchFamily="49" charset="-122"/>
                <a:cs typeface="JetBrains Mono" pitchFamily="49" charset="-120"/>
              </a:rPr>
              <a:t>Arial, sans-serif</a:t>
            </a:r>
            <a:r>
              <a:rPr lang="en-US" sz="1000" dirty="0">
                <a:solidFill>
                  <a:srgbClr val="FFFFFF"/>
                </a:solidFill>
                <a:latin typeface="JetBrains Mono" pitchFamily="49" charset="0"/>
                <a:ea typeface="JetBrains Mono" pitchFamily="49" charset="-122"/>
                <a:cs typeface="JetBrains Mono" pitchFamily="49" charset="-120"/>
              </a:rPr>
              <a: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D27F"/>
                </a:solidFill>
                <a:latin typeface="JetBrains Mono" pitchFamily="49" charset="0"/>
                <a:ea typeface="JetBrains Mono" pitchFamily="49" charset="-122"/>
                <a:cs typeface="JetBrains Mono" pitchFamily="49" charset="-120"/>
              </a:rPr>
              <a:t>background</a:t>
            </a: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9EE6A8"/>
                </a:solidFill>
                <a:latin typeface="JetBrains Mono" pitchFamily="49" charset="0"/>
                <a:ea typeface="JetBrains Mono" pitchFamily="49" charset="-122"/>
                <a:cs typeface="JetBrains Mono" pitchFamily="49" charset="-120"/>
              </a:rPr>
              <a:t>#f3d9f3</a:t>
            </a:r>
            <a:r>
              <a:rPr lang="en-US" sz="1000" dirty="0">
                <a:solidFill>
                  <a:srgbClr val="FFFFFF"/>
                </a:solidFill>
                <a:latin typeface="JetBrains Mono" pitchFamily="49" charset="0"/>
                <a:ea typeface="JetBrains Mono" pitchFamily="49" charset="-122"/>
                <a:cs typeface="JetBrains Mono" pitchFamily="49" charset="-120"/>
              </a:rPr>
              <a: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D27F"/>
                </a:solidFill>
                <a:latin typeface="JetBrains Mono" pitchFamily="49" charset="0"/>
                <a:ea typeface="JetBrains Mono" pitchFamily="49" charset="-122"/>
                <a:cs typeface="JetBrains Mono" pitchFamily="49" charset="-120"/>
              </a:rPr>
              <a:t>text-align</a:t>
            </a: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9EE6A8"/>
                </a:solidFill>
                <a:latin typeface="JetBrains Mono" pitchFamily="49" charset="0"/>
                <a:ea typeface="JetBrains Mono" pitchFamily="49" charset="-122"/>
                <a:cs typeface="JetBrains Mono" pitchFamily="49" charset="-120"/>
              </a:rPr>
              <a:t>center</a:t>
            </a:r>
            <a:r>
              <a:rPr lang="en-US" sz="1000" dirty="0">
                <a:solidFill>
                  <a:srgbClr val="FFFFFF"/>
                </a:solidFill>
                <a:latin typeface="JetBrains Mono" pitchFamily="49" charset="0"/>
                <a:ea typeface="JetBrains Mono" pitchFamily="49" charset="-122"/>
                <a:cs typeface="JetBrains Mono" pitchFamily="49" charset="-120"/>
              </a:rPr>
              <a: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a:t>
            </a:r>
            <a:endParaRPr lang="en-US" sz="1000" dirty="0"/>
          </a:p>
          <a:p>
            <a:pPr marL="0" indent="0" algn="l">
              <a:lnSpc>
                <a:spcPts val="1668"/>
              </a:lnSpc>
              <a:buNone/>
            </a:pPr>
            <a:r>
              <a:rPr lang="en-US" sz="1000" dirty="0">
                <a:solidFill>
                  <a:srgbClr val="FF9DE2"/>
                </a:solidFill>
                <a:latin typeface="JetBrains Mono" pitchFamily="49" charset="0"/>
                <a:ea typeface="JetBrains Mono" pitchFamily="49" charset="-122"/>
                <a:cs typeface="JetBrains Mono" pitchFamily="49" charset="-120"/>
              </a:rPr>
              <a:t>.card</a:t>
            </a:r>
            <a:r>
              <a:rPr lang="en-US" sz="1000" dirty="0">
                <a:solidFill>
                  <a:srgbClr val="FFFFFF"/>
                </a:solidFill>
                <a:latin typeface="JetBrains Mono" pitchFamily="49" charset="0"/>
                <a:ea typeface="JetBrains Mono" pitchFamily="49" charset="-122"/>
                <a:cs typeface="JetBrains Mono" pitchFamily="49" charset="-120"/>
              </a:rPr>
              <a:t> {</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D27F"/>
                </a:solidFill>
                <a:latin typeface="JetBrains Mono" pitchFamily="49" charset="0"/>
                <a:ea typeface="JetBrains Mono" pitchFamily="49" charset="-122"/>
                <a:cs typeface="JetBrains Mono" pitchFamily="49" charset="-120"/>
              </a:rPr>
              <a:t>background</a:t>
            </a: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9EE6A8"/>
                </a:solidFill>
                <a:latin typeface="JetBrains Mono" pitchFamily="49" charset="0"/>
                <a:ea typeface="JetBrains Mono" pitchFamily="49" charset="-122"/>
                <a:cs typeface="JetBrains Mono" pitchFamily="49" charset="-120"/>
              </a:rPr>
              <a:t>white</a:t>
            </a:r>
            <a:r>
              <a:rPr lang="en-US" sz="1000" dirty="0">
                <a:solidFill>
                  <a:srgbClr val="FFFFFF"/>
                </a:solidFill>
                <a:latin typeface="JetBrains Mono" pitchFamily="49" charset="0"/>
                <a:ea typeface="JetBrains Mono" pitchFamily="49" charset="-122"/>
                <a:cs typeface="JetBrains Mono" pitchFamily="49" charset="-120"/>
              </a:rPr>
              <a: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D27F"/>
                </a:solidFill>
                <a:latin typeface="JetBrains Mono" pitchFamily="49" charset="0"/>
                <a:ea typeface="JetBrains Mono" pitchFamily="49" charset="-122"/>
                <a:cs typeface="JetBrains Mono" pitchFamily="49" charset="-120"/>
              </a:rPr>
              <a:t>padding</a:t>
            </a: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9EE6A8"/>
                </a:solidFill>
                <a:latin typeface="JetBrains Mono" pitchFamily="49" charset="0"/>
                <a:ea typeface="JetBrains Mono" pitchFamily="49" charset="-122"/>
                <a:cs typeface="JetBrains Mono" pitchFamily="49" charset="-120"/>
              </a:rPr>
              <a:t>20px</a:t>
            </a:r>
            <a:r>
              <a:rPr lang="en-US" sz="1000" dirty="0">
                <a:solidFill>
                  <a:srgbClr val="FFFFFF"/>
                </a:solidFill>
                <a:latin typeface="JetBrains Mono" pitchFamily="49" charset="0"/>
                <a:ea typeface="JetBrains Mono" pitchFamily="49" charset="-122"/>
                <a:cs typeface="JetBrains Mono" pitchFamily="49" charset="-120"/>
              </a:rPr>
              <a: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D27F"/>
                </a:solidFill>
                <a:latin typeface="JetBrains Mono" pitchFamily="49" charset="0"/>
                <a:ea typeface="JetBrains Mono" pitchFamily="49" charset="-122"/>
                <a:cs typeface="JetBrains Mono" pitchFamily="49" charset="-120"/>
              </a:rPr>
              <a:t>border-radius</a:t>
            </a: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9EE6A8"/>
                </a:solidFill>
                <a:latin typeface="JetBrains Mono" pitchFamily="49" charset="0"/>
                <a:ea typeface="JetBrains Mono" pitchFamily="49" charset="-122"/>
                <a:cs typeface="JetBrains Mono" pitchFamily="49" charset="-120"/>
              </a:rPr>
              <a:t>16px</a:t>
            </a:r>
            <a:r>
              <a:rPr lang="en-US" sz="1000" dirty="0">
                <a:solidFill>
                  <a:srgbClr val="FFFFFF"/>
                </a:solidFill>
                <a:latin typeface="JetBrains Mono" pitchFamily="49" charset="0"/>
                <a:ea typeface="JetBrains Mono" pitchFamily="49" charset="-122"/>
                <a:cs typeface="JetBrains Mono" pitchFamily="49" charset="-120"/>
              </a:rPr>
              <a: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a:t>
            </a:r>
            <a:endParaRPr lang="en-US" sz="1000" dirty="0"/>
          </a:p>
          <a:p>
            <a:pPr marL="0" indent="0" algn="l">
              <a:lnSpc>
                <a:spcPts val="1668"/>
              </a:lnSpc>
              <a:buNone/>
            </a:pPr>
            <a:r>
              <a:rPr lang="en-US" sz="1000" dirty="0">
                <a:solidFill>
                  <a:srgbClr val="FF9DE2"/>
                </a:solidFill>
                <a:latin typeface="JetBrains Mono" pitchFamily="49" charset="0"/>
                <a:ea typeface="JetBrains Mono" pitchFamily="49" charset="-122"/>
                <a:cs typeface="JetBrains Mono" pitchFamily="49" charset="-120"/>
              </a:rPr>
              <a:t>.btn</a:t>
            </a:r>
            <a:r>
              <a:rPr lang="en-US" sz="1000" dirty="0">
                <a:solidFill>
                  <a:srgbClr val="FFFFFF"/>
                </a:solidFill>
                <a:latin typeface="JetBrains Mono" pitchFamily="49" charset="0"/>
                <a:ea typeface="JetBrains Mono" pitchFamily="49" charset="-122"/>
                <a:cs typeface="JetBrains Mono" pitchFamily="49" charset="-120"/>
              </a:rPr>
              <a:t> {</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D27F"/>
                </a:solidFill>
                <a:latin typeface="JetBrains Mono" pitchFamily="49" charset="0"/>
                <a:ea typeface="JetBrains Mono" pitchFamily="49" charset="-122"/>
                <a:cs typeface="JetBrains Mono" pitchFamily="49" charset="-120"/>
              </a:rPr>
              <a:t>background</a:t>
            </a: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9EE6A8"/>
                </a:solidFill>
                <a:latin typeface="JetBrains Mono" pitchFamily="49" charset="0"/>
                <a:ea typeface="JetBrains Mono" pitchFamily="49" charset="-122"/>
                <a:cs typeface="JetBrains Mono" pitchFamily="49" charset="-120"/>
              </a:rPr>
              <a:t>#972996</a:t>
            </a:r>
            <a:r>
              <a:rPr lang="en-US" sz="1000" dirty="0">
                <a:solidFill>
                  <a:srgbClr val="FFFFFF"/>
                </a:solidFill>
                <a:latin typeface="JetBrains Mono" pitchFamily="49" charset="0"/>
                <a:ea typeface="JetBrains Mono" pitchFamily="49" charset="-122"/>
                <a:cs typeface="JetBrains Mono" pitchFamily="49" charset="-120"/>
              </a:rPr>
              <a: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D27F"/>
                </a:solidFill>
                <a:latin typeface="JetBrains Mono" pitchFamily="49" charset="0"/>
                <a:ea typeface="JetBrains Mono" pitchFamily="49" charset="-122"/>
                <a:cs typeface="JetBrains Mono" pitchFamily="49" charset="-120"/>
              </a:rPr>
              <a:t>color</a:t>
            </a: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9EE6A8"/>
                </a:solidFill>
                <a:latin typeface="JetBrains Mono" pitchFamily="49" charset="0"/>
                <a:ea typeface="JetBrains Mono" pitchFamily="49" charset="-122"/>
                <a:cs typeface="JetBrains Mono" pitchFamily="49" charset="-120"/>
              </a:rPr>
              <a:t>white</a:t>
            </a:r>
            <a:r>
              <a:rPr lang="en-US" sz="1000" dirty="0">
                <a:solidFill>
                  <a:srgbClr val="FFFFFF"/>
                </a:solidFill>
                <a:latin typeface="JetBrains Mono" pitchFamily="49" charset="0"/>
                <a:ea typeface="JetBrains Mono" pitchFamily="49" charset="-122"/>
                <a:cs typeface="JetBrains Mono" pitchFamily="49" charset="-120"/>
              </a:rPr>
              <a: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FFD27F"/>
                </a:solidFill>
                <a:latin typeface="JetBrains Mono" pitchFamily="49" charset="0"/>
                <a:ea typeface="JetBrains Mono" pitchFamily="49" charset="-122"/>
                <a:cs typeface="JetBrains Mono" pitchFamily="49" charset="-120"/>
              </a:rPr>
              <a:t>padding</a:t>
            </a:r>
            <a:r>
              <a:rPr lang="en-US" sz="1000" dirty="0">
                <a:solidFill>
                  <a:srgbClr val="FFFFFF"/>
                </a:solidFill>
                <a:latin typeface="JetBrains Mono" pitchFamily="49" charset="0"/>
                <a:ea typeface="JetBrains Mono" pitchFamily="49" charset="-122"/>
                <a:cs typeface="JetBrains Mono" pitchFamily="49" charset="-120"/>
              </a:rPr>
              <a:t>: </a:t>
            </a:r>
            <a:r>
              <a:rPr lang="en-US" sz="1000" dirty="0">
                <a:solidFill>
                  <a:srgbClr val="9EE6A8"/>
                </a:solidFill>
                <a:latin typeface="JetBrains Mono" pitchFamily="49" charset="0"/>
                <a:ea typeface="JetBrains Mono" pitchFamily="49" charset="-122"/>
                <a:cs typeface="JetBrains Mono" pitchFamily="49" charset="-120"/>
              </a:rPr>
              <a:t>10px 20px</a:t>
            </a:r>
            <a:r>
              <a:rPr lang="en-US" sz="1000" dirty="0">
                <a:solidFill>
                  <a:srgbClr val="FFFFFF"/>
                </a:solidFill>
                <a:latin typeface="JetBrains Mono" pitchFamily="49" charset="0"/>
                <a:ea typeface="JetBrains Mono" pitchFamily="49" charset="-122"/>
                <a:cs typeface="JetBrains Mono" pitchFamily="49" charset="-120"/>
              </a:rPr>
              <a:t>;</a:t>
            </a:r>
            <a:endParaRPr lang="en-US" sz="1000" dirty="0"/>
          </a:p>
          <a:p>
            <a:pPr marL="0" indent="0" algn="l">
              <a:lnSpc>
                <a:spcPts val="1668"/>
              </a:lnSpc>
              <a:buNone/>
            </a:pPr>
            <a:r>
              <a:rPr lang="en-US" sz="1000" dirty="0">
                <a:solidFill>
                  <a:srgbClr val="FFFFFF"/>
                </a:solidFill>
                <a:latin typeface="JetBrains Mono" pitchFamily="49" charset="0"/>
                <a:ea typeface="JetBrains Mono" pitchFamily="49" charset="-122"/>
                <a:cs typeface="JetBrains Mono" pitchFamily="49" charset="-120"/>
              </a:rPr>
              <a:t>}</a:t>
            </a:r>
            <a:endParaRPr lang="en-US" sz="1000" dirty="0"/>
          </a:p>
        </p:txBody>
      </p:sp>
      <p:pic>
        <p:nvPicPr>
          <p:cNvPr id="11" name="Рисунок 10"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9DE83EB4-375F-F244-6CFA-6F6521E30B92}"/>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Что получилось</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Страница-визитка в браузере</a:t>
            </a:r>
            <a:endParaRPr lang="en-US" sz="1600" dirty="0"/>
          </a:p>
        </p:txBody>
      </p:sp>
      <p:sp>
        <p:nvSpPr>
          <p:cNvPr id="6" name="Shape 3"/>
          <p:cNvSpPr/>
          <p:nvPr/>
        </p:nvSpPr>
        <p:spPr>
          <a:xfrm>
            <a:off x="644525" y="1279426"/>
            <a:ext cx="5695950" cy="3615531"/>
          </a:xfrm>
          <a:prstGeom prst="roundRect">
            <a:avLst>
              <a:gd name="adj" fmla="val 1844"/>
            </a:avLst>
          </a:prstGeom>
          <a:solidFill>
            <a:srgbClr val="FFFFFF"/>
          </a:solidFill>
          <a:ln w="19050">
            <a:solidFill>
              <a:srgbClr val="972996"/>
            </a:solidFill>
            <a:prstDash val="solid"/>
          </a:ln>
        </p:spPr>
      </p:sp>
      <p:sp>
        <p:nvSpPr>
          <p:cNvPr id="7" name="Shape 4"/>
          <p:cNvSpPr/>
          <p:nvPr/>
        </p:nvSpPr>
        <p:spPr>
          <a:xfrm>
            <a:off x="654050" y="1288951"/>
            <a:ext cx="5676900" cy="391120"/>
          </a:xfrm>
          <a:custGeom>
            <a:avLst/>
            <a:gdLst/>
            <a:ahLst/>
            <a:cxnLst/>
            <a:rect l="l" t="t" r="r" b="b"/>
            <a:pathLst>
              <a:path w="5676900" h="391120">
                <a:moveTo>
                  <a:pt x="0" y="57150"/>
                </a:moveTo>
                <a:arcTo wR="57150" hR="57150" stAng="10800000" swAng="5400000"/>
                <a:lnTo>
                  <a:pt x="5619750" y="0"/>
                </a:lnTo>
                <a:arcTo wR="57150" hR="57150" stAng="16200000" swAng="5400000"/>
                <a:lnTo>
                  <a:pt x="5676900" y="391120"/>
                </a:lnTo>
                <a:lnTo>
                  <a:pt x="0" y="391120"/>
                </a:lnTo>
                <a:close/>
              </a:path>
            </a:pathLst>
          </a:custGeom>
          <a:solidFill>
            <a:srgbClr val="E6E6E6"/>
          </a:solidFill>
          <a:ln/>
        </p:spPr>
      </p:sp>
      <p:sp>
        <p:nvSpPr>
          <p:cNvPr id="8" name="Shape 5"/>
          <p:cNvSpPr/>
          <p:nvPr/>
        </p:nvSpPr>
        <p:spPr>
          <a:xfrm>
            <a:off x="781050" y="1433711"/>
            <a:ext cx="101600" cy="101600"/>
          </a:xfrm>
          <a:prstGeom prst="roundRect">
            <a:avLst>
              <a:gd name="adj" fmla="val 50000"/>
            </a:avLst>
          </a:prstGeom>
          <a:solidFill>
            <a:srgbClr val="E57373"/>
          </a:solidFill>
          <a:ln/>
        </p:spPr>
      </p:sp>
      <p:sp>
        <p:nvSpPr>
          <p:cNvPr id="9" name="Shape 6"/>
          <p:cNvSpPr/>
          <p:nvPr/>
        </p:nvSpPr>
        <p:spPr>
          <a:xfrm>
            <a:off x="946150" y="1433711"/>
            <a:ext cx="101600" cy="101600"/>
          </a:xfrm>
          <a:prstGeom prst="roundRect">
            <a:avLst>
              <a:gd name="adj" fmla="val 50000"/>
            </a:avLst>
          </a:prstGeom>
          <a:solidFill>
            <a:srgbClr val="FFD54F"/>
          </a:solidFill>
          <a:ln/>
        </p:spPr>
      </p:sp>
      <p:sp>
        <p:nvSpPr>
          <p:cNvPr id="10" name="Shape 7"/>
          <p:cNvSpPr/>
          <p:nvPr/>
        </p:nvSpPr>
        <p:spPr>
          <a:xfrm>
            <a:off x="1111250" y="1433711"/>
            <a:ext cx="101600" cy="101600"/>
          </a:xfrm>
          <a:prstGeom prst="roundRect">
            <a:avLst>
              <a:gd name="adj" fmla="val 50000"/>
            </a:avLst>
          </a:prstGeom>
          <a:solidFill>
            <a:srgbClr val="81C784"/>
          </a:solidFill>
          <a:ln/>
        </p:spPr>
      </p:sp>
      <p:sp>
        <p:nvSpPr>
          <p:cNvPr id="11" name="Text 8"/>
          <p:cNvSpPr/>
          <p:nvPr/>
        </p:nvSpPr>
        <p:spPr>
          <a:xfrm>
            <a:off x="1352550" y="1377851"/>
            <a:ext cx="7915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index.html</a:t>
            </a:r>
            <a:endParaRPr lang="en-US" sz="1200" dirty="0"/>
          </a:p>
        </p:txBody>
      </p:sp>
      <p:sp>
        <p:nvSpPr>
          <p:cNvPr id="12" name="Shape 9"/>
          <p:cNvSpPr/>
          <p:nvPr/>
        </p:nvSpPr>
        <p:spPr>
          <a:xfrm>
            <a:off x="654050" y="1680071"/>
            <a:ext cx="5676900" cy="3205361"/>
          </a:xfrm>
          <a:custGeom>
            <a:avLst/>
            <a:gdLst/>
            <a:ahLst/>
            <a:cxnLst/>
            <a:rect l="l" t="t" r="r" b="b"/>
            <a:pathLst>
              <a:path w="5676900" h="3205361">
                <a:moveTo>
                  <a:pt x="5676900" y="3148211"/>
                </a:moveTo>
                <a:arcTo wR="57150" hR="57150" stAng="0" swAng="5400000"/>
                <a:lnTo>
                  <a:pt x="57150" y="3205361"/>
                </a:lnTo>
                <a:arcTo wR="57150" hR="57150" stAng="5400000" swAng="5400000"/>
                <a:lnTo>
                  <a:pt x="0" y="0"/>
                </a:lnTo>
                <a:lnTo>
                  <a:pt x="5676900" y="0"/>
                </a:lnTo>
                <a:close/>
              </a:path>
            </a:pathLst>
          </a:custGeom>
          <a:solidFill>
            <a:srgbClr val="F3D9F3"/>
          </a:solidFill>
          <a:ln/>
        </p:spPr>
      </p:sp>
      <p:sp>
        <p:nvSpPr>
          <p:cNvPr id="13" name="Text 10"/>
          <p:cNvSpPr/>
          <p:nvPr/>
        </p:nvSpPr>
        <p:spPr>
          <a:xfrm>
            <a:off x="1703834" y="1895971"/>
            <a:ext cx="3577233" cy="444500"/>
          </a:xfrm>
          <a:prstGeom prst="rect">
            <a:avLst/>
          </a:prstGeom>
          <a:noFill/>
          <a:ln/>
        </p:spPr>
        <p:txBody>
          <a:bodyPr wrap="square" lIns="0" tIns="0" rIns="0" bIns="0" rtlCol="0" anchor="t">
            <a:normAutofit/>
          </a:bodyPr>
          <a:lstStyle/>
          <a:p>
            <a:pPr marL="0" indent="0" algn="ctr">
              <a:lnSpc>
                <a:spcPts val="3300"/>
              </a:lnSpc>
              <a:buNone/>
            </a:pPr>
            <a:r>
              <a:rPr lang="en-US" sz="3000" b="1" dirty="0">
                <a:solidFill>
                  <a:srgbClr val="111111"/>
                </a:solidFill>
                <a:latin typeface="Arial" pitchFamily="34" charset="0"/>
                <a:ea typeface="Arial" pitchFamily="34" charset="-122"/>
                <a:cs typeface="Arial" pitchFamily="34" charset="-120"/>
              </a:rPr>
              <a:t>Анна Смирнова</a:t>
            </a:r>
            <a:endParaRPr lang="en-US" sz="3000" dirty="0"/>
          </a:p>
        </p:txBody>
      </p:sp>
      <p:sp>
        <p:nvSpPr>
          <p:cNvPr id="14" name="Text 11"/>
          <p:cNvSpPr/>
          <p:nvPr/>
        </p:nvSpPr>
        <p:spPr>
          <a:xfrm>
            <a:off x="2700268" y="2429371"/>
            <a:ext cx="1584365" cy="309860"/>
          </a:xfrm>
          <a:prstGeom prst="rect">
            <a:avLst/>
          </a:prstGeom>
          <a:noFill/>
          <a:ln/>
        </p:spPr>
        <p:txBody>
          <a:bodyPr wrap="square" lIns="0" tIns="0" rIns="0" bIns="0" rtlCol="0" anchor="t">
            <a:normAutofit/>
          </a:bodyPr>
          <a:lstStyle/>
          <a:p>
            <a:pPr marL="0" indent="0" algn="ctr">
              <a:lnSpc>
                <a:spcPts val="2240"/>
              </a:lnSpc>
              <a:buNone/>
            </a:pPr>
            <a:r>
              <a:rPr lang="en-US" sz="1600" dirty="0">
                <a:solidFill>
                  <a:srgbClr val="111111"/>
                </a:solidFill>
                <a:latin typeface="Arial" pitchFamily="34" charset="0"/>
                <a:ea typeface="Arial" pitchFamily="34" charset="-122"/>
                <a:cs typeface="Arial" pitchFamily="34" charset="-120"/>
              </a:rPr>
              <a:t>Веб-дизайнер</a:t>
            </a:r>
            <a:endParaRPr lang="en-US" sz="1600" dirty="0"/>
          </a:p>
        </p:txBody>
      </p:sp>
      <p:sp>
        <p:nvSpPr>
          <p:cNvPr id="15" name="Shape 12"/>
          <p:cNvSpPr/>
          <p:nvPr/>
        </p:nvSpPr>
        <p:spPr>
          <a:xfrm>
            <a:off x="1035050" y="2828131"/>
            <a:ext cx="4914900" cy="1841401"/>
          </a:xfrm>
          <a:prstGeom prst="roundRect">
            <a:avLst>
              <a:gd name="adj" fmla="val 11035"/>
            </a:avLst>
          </a:prstGeom>
          <a:solidFill>
            <a:srgbClr val="FFFFFF"/>
          </a:solidFill>
          <a:ln/>
        </p:spPr>
      </p:sp>
      <p:sp>
        <p:nvSpPr>
          <p:cNvPr id="16" name="Text 13"/>
          <p:cNvSpPr/>
          <p:nvPr/>
        </p:nvSpPr>
        <p:spPr>
          <a:xfrm>
            <a:off x="2759194" y="3044031"/>
            <a:ext cx="1466612" cy="434280"/>
          </a:xfrm>
          <a:prstGeom prst="rect">
            <a:avLst/>
          </a:prstGeom>
          <a:noFill/>
          <a:ln/>
        </p:spPr>
        <p:txBody>
          <a:bodyPr wrap="square" lIns="0" tIns="0" rIns="0" bIns="0" rtlCol="0" anchor="t">
            <a:normAutofit/>
          </a:bodyPr>
          <a:lstStyle/>
          <a:p>
            <a:pPr marL="0" indent="0" algn="ctr">
              <a:lnSpc>
                <a:spcPts val="3220"/>
              </a:lnSpc>
              <a:buNone/>
            </a:pPr>
            <a:r>
              <a:rPr lang="en-US" sz="2300" b="1" dirty="0">
                <a:solidFill>
                  <a:srgbClr val="111111"/>
                </a:solidFill>
                <a:latin typeface="Arial" pitchFamily="34" charset="0"/>
                <a:ea typeface="Arial" pitchFamily="34" charset="-122"/>
                <a:cs typeface="Arial" pitchFamily="34" charset="-120"/>
              </a:rPr>
              <a:t>Обо мне</a:t>
            </a:r>
            <a:endParaRPr lang="en-US" sz="2300" dirty="0"/>
          </a:p>
        </p:txBody>
      </p:sp>
      <p:sp>
        <p:nvSpPr>
          <p:cNvPr id="17" name="Text 14"/>
          <p:cNvSpPr/>
          <p:nvPr/>
        </p:nvSpPr>
        <p:spPr>
          <a:xfrm>
            <a:off x="2397363" y="3554512"/>
            <a:ext cx="2190274" cy="309860"/>
          </a:xfrm>
          <a:prstGeom prst="rect">
            <a:avLst/>
          </a:prstGeom>
          <a:noFill/>
          <a:ln/>
        </p:spPr>
        <p:txBody>
          <a:bodyPr wrap="square" lIns="0" tIns="0" rIns="0" bIns="0" rtlCol="0" anchor="t">
            <a:normAutofit/>
          </a:bodyPr>
          <a:lstStyle/>
          <a:p>
            <a:pPr marL="0" indent="0" algn="ctr">
              <a:lnSpc>
                <a:spcPts val="2240"/>
              </a:lnSpc>
              <a:buNone/>
            </a:pPr>
            <a:r>
              <a:rPr lang="en-US" sz="1600" dirty="0">
                <a:solidFill>
                  <a:srgbClr val="111111"/>
                </a:solidFill>
                <a:latin typeface="Arial" pitchFamily="34" charset="0"/>
                <a:ea typeface="Arial" pitchFamily="34" charset="-122"/>
                <a:cs typeface="Arial" pitchFamily="34" charset="-120"/>
              </a:rPr>
              <a:t>Люблю чистый код.</a:t>
            </a:r>
            <a:endParaRPr lang="en-US" sz="1600" dirty="0"/>
          </a:p>
        </p:txBody>
      </p:sp>
      <p:sp>
        <p:nvSpPr>
          <p:cNvPr id="18" name="Text 15"/>
          <p:cNvSpPr/>
          <p:nvPr/>
        </p:nvSpPr>
        <p:spPr>
          <a:xfrm>
            <a:off x="2725738" y="3940572"/>
            <a:ext cx="1533525" cy="513060"/>
          </a:xfrm>
          <a:prstGeom prst="rect">
            <a:avLst/>
          </a:prstGeom>
          <a:solidFill>
            <a:srgbClr val="972996"/>
          </a:solidFill>
          <a:ln/>
        </p:spPr>
        <p:txBody>
          <a:bodyPr wrap="none" lIns="0" tIns="0" rIns="0" bIns="0" rtlCol="0" anchor="ctr">
            <a:normAutofit/>
          </a:bodyPr>
          <a:lstStyle/>
          <a:p>
            <a:pPr marL="0" indent="0" algn="ctr">
              <a:lnSpc>
                <a:spcPts val="2240"/>
              </a:lnSpc>
              <a:buNone/>
            </a:pPr>
            <a:r>
              <a:rPr lang="en-US" sz="1600" dirty="0">
                <a:solidFill>
                  <a:srgbClr val="FFFFFF"/>
                </a:solidFill>
                <a:latin typeface="Arial" pitchFamily="34" charset="0"/>
                <a:ea typeface="Arial" pitchFamily="34" charset="-122"/>
                <a:cs typeface="Arial" pitchFamily="34" charset="-120"/>
              </a:rPr>
              <a:t>Связаться</a:t>
            </a:r>
            <a:endParaRPr lang="en-US" sz="1600" dirty="0"/>
          </a:p>
        </p:txBody>
      </p:sp>
      <p:sp>
        <p:nvSpPr>
          <p:cNvPr id="19" name="Text 16"/>
          <p:cNvSpPr/>
          <p:nvPr/>
        </p:nvSpPr>
        <p:spPr>
          <a:xfrm>
            <a:off x="6667500" y="1269901"/>
            <a:ext cx="5036185"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972996"/>
                </a:solidFill>
                <a:latin typeface="Carlito" pitchFamily="34" charset="0"/>
                <a:ea typeface="Carlito" pitchFamily="34" charset="-122"/>
                <a:cs typeface="Carlito" pitchFamily="34" charset="-120"/>
              </a:rPr>
              <a:t>Что здесь использовано</a:t>
            </a:r>
            <a:endParaRPr lang="en-US" sz="1800" dirty="0"/>
          </a:p>
        </p:txBody>
      </p:sp>
      <p:sp>
        <p:nvSpPr>
          <p:cNvPr id="20" name="Shape 17"/>
          <p:cNvSpPr/>
          <p:nvPr/>
        </p:nvSpPr>
        <p:spPr>
          <a:xfrm>
            <a:off x="6699250" y="1678781"/>
            <a:ext cx="0" cy="510480"/>
          </a:xfrm>
          <a:prstGeom prst="line">
            <a:avLst/>
          </a:prstGeom>
          <a:noFill/>
          <a:ln w="63500">
            <a:solidFill>
              <a:srgbClr val="972996"/>
            </a:solidFill>
            <a:prstDash val="solid"/>
          </a:ln>
        </p:spPr>
      </p:sp>
      <p:sp>
        <p:nvSpPr>
          <p:cNvPr id="21" name="Text 18"/>
          <p:cNvSpPr/>
          <p:nvPr/>
        </p:nvSpPr>
        <p:spPr>
          <a:xfrm>
            <a:off x="6858000" y="1678781"/>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Семантика</a:t>
            </a:r>
            <a:endParaRPr lang="en-US" sz="1500" dirty="0"/>
          </a:p>
        </p:txBody>
      </p:sp>
      <p:sp>
        <p:nvSpPr>
          <p:cNvPr id="22" name="Text 19"/>
          <p:cNvSpPr/>
          <p:nvPr/>
        </p:nvSpPr>
        <p:spPr>
          <a:xfrm>
            <a:off x="6858000" y="1958181"/>
            <a:ext cx="483997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header и main вместо безымянных div.</a:t>
            </a:r>
            <a:endParaRPr lang="en-US" sz="1400" dirty="0"/>
          </a:p>
        </p:txBody>
      </p:sp>
      <p:sp>
        <p:nvSpPr>
          <p:cNvPr id="23" name="Shape 20"/>
          <p:cNvSpPr/>
          <p:nvPr/>
        </p:nvSpPr>
        <p:spPr>
          <a:xfrm>
            <a:off x="6699250" y="2278162"/>
            <a:ext cx="0" cy="510480"/>
          </a:xfrm>
          <a:prstGeom prst="line">
            <a:avLst/>
          </a:prstGeom>
          <a:noFill/>
          <a:ln w="63500">
            <a:solidFill>
              <a:srgbClr val="972996"/>
            </a:solidFill>
            <a:prstDash val="solid"/>
          </a:ln>
        </p:spPr>
      </p:sp>
      <p:sp>
        <p:nvSpPr>
          <p:cNvPr id="24" name="Text 21"/>
          <p:cNvSpPr/>
          <p:nvPr/>
        </p:nvSpPr>
        <p:spPr>
          <a:xfrm>
            <a:off x="6858000" y="2278162"/>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Заголовки и текст</a:t>
            </a:r>
            <a:endParaRPr lang="en-US" sz="1500" dirty="0"/>
          </a:p>
        </p:txBody>
      </p:sp>
      <p:sp>
        <p:nvSpPr>
          <p:cNvPr id="25" name="Text 22"/>
          <p:cNvSpPr/>
          <p:nvPr/>
        </p:nvSpPr>
        <p:spPr>
          <a:xfrm>
            <a:off x="6858000" y="2557562"/>
            <a:ext cx="483997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h1 — имя, h2 — раздел, p — абзацы.</a:t>
            </a:r>
            <a:endParaRPr lang="en-US" sz="1400" dirty="0"/>
          </a:p>
        </p:txBody>
      </p:sp>
      <p:sp>
        <p:nvSpPr>
          <p:cNvPr id="26" name="Shape 23"/>
          <p:cNvSpPr/>
          <p:nvPr/>
        </p:nvSpPr>
        <p:spPr>
          <a:xfrm>
            <a:off x="6699250" y="2877542"/>
            <a:ext cx="0" cy="510480"/>
          </a:xfrm>
          <a:prstGeom prst="line">
            <a:avLst/>
          </a:prstGeom>
          <a:noFill/>
          <a:ln w="63500">
            <a:solidFill>
              <a:srgbClr val="972996"/>
            </a:solidFill>
            <a:prstDash val="solid"/>
          </a:ln>
        </p:spPr>
      </p:sp>
      <p:sp>
        <p:nvSpPr>
          <p:cNvPr id="27" name="Text 24"/>
          <p:cNvSpPr/>
          <p:nvPr/>
        </p:nvSpPr>
        <p:spPr>
          <a:xfrm>
            <a:off x="6858000" y="2877542"/>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Классы</a:t>
            </a:r>
            <a:endParaRPr lang="en-US" sz="1500" dirty="0"/>
          </a:p>
        </p:txBody>
      </p:sp>
      <p:sp>
        <p:nvSpPr>
          <p:cNvPr id="28" name="Text 25"/>
          <p:cNvSpPr/>
          <p:nvPr/>
        </p:nvSpPr>
        <p:spPr>
          <a:xfrm>
            <a:off x="6858000" y="3156942"/>
            <a:ext cx="483997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.card и .btn связывают разметку со стилями.</a:t>
            </a:r>
            <a:endParaRPr lang="en-US" sz="1400" dirty="0"/>
          </a:p>
        </p:txBody>
      </p:sp>
      <p:sp>
        <p:nvSpPr>
          <p:cNvPr id="29" name="Shape 26"/>
          <p:cNvSpPr/>
          <p:nvPr/>
        </p:nvSpPr>
        <p:spPr>
          <a:xfrm>
            <a:off x="6699250" y="3476923"/>
            <a:ext cx="0" cy="510480"/>
          </a:xfrm>
          <a:prstGeom prst="line">
            <a:avLst/>
          </a:prstGeom>
          <a:noFill/>
          <a:ln w="63500">
            <a:solidFill>
              <a:srgbClr val="972996"/>
            </a:solidFill>
            <a:prstDash val="solid"/>
          </a:ln>
        </p:spPr>
      </p:sp>
      <p:sp>
        <p:nvSpPr>
          <p:cNvPr id="30" name="Text 27"/>
          <p:cNvSpPr/>
          <p:nvPr/>
        </p:nvSpPr>
        <p:spPr>
          <a:xfrm>
            <a:off x="6858000" y="3476923"/>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Оформление</a:t>
            </a:r>
            <a:endParaRPr lang="en-US" sz="1500" dirty="0"/>
          </a:p>
        </p:txBody>
      </p:sp>
      <p:sp>
        <p:nvSpPr>
          <p:cNvPr id="31" name="Text 28"/>
          <p:cNvSpPr/>
          <p:nvPr/>
        </p:nvSpPr>
        <p:spPr>
          <a:xfrm>
            <a:off x="6858000" y="3756323"/>
            <a:ext cx="483997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Фон, шрифт, выравнивание, отступы, скругление.</a:t>
            </a:r>
            <a:endParaRPr lang="en-US" sz="1400" dirty="0"/>
          </a:p>
        </p:txBody>
      </p:sp>
      <p:sp>
        <p:nvSpPr>
          <p:cNvPr id="32" name="Shape 29"/>
          <p:cNvSpPr/>
          <p:nvPr/>
        </p:nvSpPr>
        <p:spPr>
          <a:xfrm>
            <a:off x="6699250" y="4076303"/>
            <a:ext cx="0" cy="741561"/>
          </a:xfrm>
          <a:prstGeom prst="line">
            <a:avLst/>
          </a:prstGeom>
          <a:noFill/>
          <a:ln w="63500">
            <a:solidFill>
              <a:srgbClr val="972996"/>
            </a:solidFill>
            <a:prstDash val="solid"/>
          </a:ln>
        </p:spPr>
      </p:sp>
      <p:sp>
        <p:nvSpPr>
          <p:cNvPr id="33" name="Text 30"/>
          <p:cNvSpPr/>
          <p:nvPr/>
        </p:nvSpPr>
        <p:spPr>
          <a:xfrm>
            <a:off x="6858000" y="4076303"/>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Что добавить самому</a:t>
            </a:r>
            <a:endParaRPr lang="en-US" sz="1500" dirty="0"/>
          </a:p>
        </p:txBody>
      </p:sp>
      <p:sp>
        <p:nvSpPr>
          <p:cNvPr id="34" name="Text 31"/>
          <p:cNvSpPr/>
          <p:nvPr/>
        </p:nvSpPr>
        <p:spPr>
          <a:xfrm>
            <a:off x="6858000" y="4355703"/>
            <a:ext cx="4839970"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Фото через img, :hover для кнопки, адаптивность через @media.</a:t>
            </a:r>
            <a:endParaRPr lang="en-US" sz="1400" dirty="0"/>
          </a:p>
        </p:txBody>
      </p:sp>
      <p:pic>
        <p:nvPicPr>
          <p:cNvPr id="35" name="Рисунок 34"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A91A22DF-51C9-DC38-5C34-A9EA1AA34C1E}"/>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Шпаргалка по тегам</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Самые нужные теги на одном слайде</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7700" y="1282601"/>
          <a:ext cx="10782300" cy="3473649"/>
        </p:xfrm>
        <a:graphic>
          <a:graphicData uri="http://schemas.openxmlformats.org/drawingml/2006/table">
            <a:tbl>
              <a:tblPr/>
              <a:tblGrid>
                <a:gridCol w="1832991">
                  <a:extLst>
                    <a:ext uri="{9D8B030D-6E8A-4147-A177-3AD203B41FA5}">
                      <a16:colId xmlns:a16="http://schemas.microsoft.com/office/drawing/2014/main" val="20000"/>
                    </a:ext>
                  </a:extLst>
                </a:gridCol>
                <a:gridCol w="3558159">
                  <a:extLst>
                    <a:ext uri="{9D8B030D-6E8A-4147-A177-3AD203B41FA5}">
                      <a16:colId xmlns:a16="http://schemas.microsoft.com/office/drawing/2014/main" val="20001"/>
                    </a:ext>
                  </a:extLst>
                </a:gridCol>
                <a:gridCol w="1832991">
                  <a:extLst>
                    <a:ext uri="{9D8B030D-6E8A-4147-A177-3AD203B41FA5}">
                      <a16:colId xmlns:a16="http://schemas.microsoft.com/office/drawing/2014/main" val="20002"/>
                    </a:ext>
                  </a:extLst>
                </a:gridCol>
                <a:gridCol w="3558159">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Тег</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Назначение</a:t>
                      </a:r>
                      <a:endParaRPr lang="en-US" sz="1400" dirty="0">
                        <a:latin typeface="Carlito" charset="0"/>
                        <a:ea typeface="Carlito" charset="0"/>
                        <a:cs typeface="Carlito" charset="0"/>
                      </a:endParaRPr>
                    </a:p>
                  </a:txBody>
                  <a:tcPr marL="62230" marR="62230" marT="62230" marB="62230">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Тег</a:t>
                      </a:r>
                      <a:endParaRPr lang="en-US" sz="1400" dirty="0">
                        <a:latin typeface="Carlito" charset="0"/>
                        <a:ea typeface="Carlito" charset="0"/>
                        <a:cs typeface="Carlito" charset="0"/>
                      </a:endParaRPr>
                    </a:p>
                  </a:txBody>
                  <a:tcPr marL="62230" marR="62230" marT="62230" marB="62230">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tc>
                  <a:txBody>
                    <a:bodyPr/>
                    <a:lstStyle/>
                    <a:p>
                      <a:pPr marL="0" indent="0">
                        <a:lnSpc>
                          <a:spcPts val="1960"/>
                        </a:lnSpc>
                        <a:buNone/>
                      </a:pPr>
                      <a:r>
                        <a:rPr lang="en-US" sz="1400" b="1" dirty="0">
                          <a:solidFill>
                            <a:srgbClr val="FFFFFF"/>
                          </a:solidFill>
                          <a:latin typeface="Carlito" pitchFamily="34" charset="0"/>
                          <a:ea typeface="Carlito" pitchFamily="34" charset="-122"/>
                          <a:cs typeface="Carlito" pitchFamily="34" charset="-120"/>
                        </a:rPr>
                        <a:t>Назначение</a:t>
                      </a:r>
                      <a:endParaRPr lang="en-US" sz="1400" dirty="0">
                        <a:latin typeface="Carlito" charset="0"/>
                        <a:ea typeface="Carlito" charset="0"/>
                        <a:cs typeface="Carlito" charset="0"/>
                      </a:endParaRPr>
                    </a:p>
                  </a:txBody>
                  <a:tcPr marL="62230" marR="62230" marT="62230" marB="62230">
                    <a:lnL w="12700" cap="flat" cmpd="sng" algn="ctr">
                      <a:solidFill>
                        <a:srgbClr val="7A2479"/>
                      </a:solidFill>
                      <a:prstDash val="solid"/>
                      <a:round/>
                      <a:headEnd type="none" w="med" len="med"/>
                      <a:tailEnd type="none" w="med" len="med"/>
                    </a:lnL>
                    <a:lnR w="12700" cap="flat" cmpd="sng" algn="ctr">
                      <a:solidFill>
                        <a:srgbClr val="7A247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7A2479"/>
                      </a:solidFill>
                      <a:prstDash val="solid"/>
                      <a:round/>
                      <a:headEnd type="none" w="med" len="med"/>
                      <a:tailEnd type="none" w="med" len="med"/>
                    </a:lnB>
                    <a:solidFill>
                      <a:srgbClr val="972996"/>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html</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Корень документа</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a</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Ссылка</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7A2479"/>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head</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Служебная часть страницы</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img</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Изображение</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body</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Видимое содержимое</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ul, ol, li</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Списки</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h1–h6</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Заголовки</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table, tr, td</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Таблица</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p</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Абзац</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form, input</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Форма и поля ввода</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div, span</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Блок и часть строки</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button</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Кнопка</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br, hr</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Перенос строки и линия</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strong, em</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Важное и акцент</a:t>
                      </a:r>
                      <a:endParaRPr lang="en-US" sz="1400" dirty="0">
                        <a:latin typeface="Carlito" charset="0"/>
                        <a:ea typeface="Carlito" charset="0"/>
                        <a:cs typeface="Carlito" charset="0"/>
                      </a:endParaRPr>
                    </a:p>
                  </a:txBody>
                  <a:tcPr marL="62230" marR="62230" marT="62230" marB="62230">
                    <a:lnL w="12700" cap="flat" cmpd="sng" algn="ctr">
                      <a:solidFill>
                        <a:srgbClr val="C4BCC4"/>
                      </a:solidFill>
                      <a:prstDash val="solid"/>
                      <a:round/>
                      <a:headEnd type="none" w="med" len="med"/>
                      <a:tailEnd type="none" w="med" len="med"/>
                    </a:lnL>
                    <a:lnR w="12700" cap="flat" cmpd="sng" algn="ctr">
                      <a:solidFill>
                        <a:srgbClr val="C4BC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BCC4"/>
                      </a:solidFill>
                      <a:prstDash val="solid"/>
                      <a:round/>
                      <a:headEnd type="none" w="med" len="med"/>
                      <a:tailEnd type="none" w="med" len="med"/>
                    </a:lnB>
                    <a:solidFill>
                      <a:srgbClr val="F6ECF6"/>
                    </a:solidFill>
                  </a:tcPr>
                </a:tc>
                <a:extLst>
                  <a:ext uri="{0D108BD9-81ED-4DB2-BD59-A6C34878D82A}">
                    <a16:rowId xmlns:a16="http://schemas.microsoft.com/office/drawing/2014/main" val="10007"/>
                  </a:ext>
                </a:extLst>
              </a:tr>
              <a:tr h="385961">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header, main, footer</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Смысловые части страницы</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link, style</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11111"/>
                          </a:solidFill>
                          <a:latin typeface="Carlito" pitchFamily="34" charset="0"/>
                          <a:ea typeface="Carlito" pitchFamily="34" charset="-122"/>
                          <a:cs typeface="Carlito" pitchFamily="34" charset="-120"/>
                        </a:rPr>
                        <a:t>Подключение CSS</a:t>
                      </a:r>
                      <a:endParaRPr lang="en-US" sz="1400" dirty="0">
                        <a:latin typeface="Carlito" charset="0"/>
                        <a:ea typeface="Carlito" charset="0"/>
                        <a:cs typeface="Carli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BC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pic>
        <p:nvPicPr>
          <p:cNvPr id="7" name="Рисунок 6"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30875C11-9F96-FBC4-16F5-0A68ACE9C475}"/>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698500"/>
            <a:ext cx="8175625" cy="61208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FFFFF"/>
                </a:solidFill>
                <a:latin typeface="Carlito" pitchFamily="34" charset="0"/>
                <a:ea typeface="Carlito" pitchFamily="34" charset="-122"/>
                <a:cs typeface="Carlito" pitchFamily="34" charset="-120"/>
              </a:rPr>
              <a:t>Итоги</a:t>
            </a:r>
            <a:endParaRPr lang="en-US" sz="4200" dirty="0"/>
          </a:p>
        </p:txBody>
      </p:sp>
      <p:sp>
        <p:nvSpPr>
          <p:cNvPr id="5" name="Text 2"/>
          <p:cNvSpPr/>
          <p:nvPr/>
        </p:nvSpPr>
        <p:spPr>
          <a:xfrm>
            <a:off x="635000" y="1450280"/>
            <a:ext cx="8175625" cy="652661"/>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FFFFFF"/>
                </a:solidFill>
                <a:latin typeface="Carlito" pitchFamily="34" charset="0"/>
                <a:ea typeface="Carlito" pitchFamily="34" charset="-122"/>
                <a:cs typeface="Carlito" pitchFamily="34" charset="-120"/>
              </a:rPr>
              <a:t>HTML</a:t>
            </a:r>
            <a:r>
              <a:rPr lang="en-US" sz="1900" dirty="0">
                <a:solidFill>
                  <a:srgbClr val="FFFFFF"/>
                </a:solidFill>
                <a:latin typeface="Carlito" pitchFamily="34" charset="0"/>
                <a:ea typeface="Carlito" pitchFamily="34" charset="-122"/>
                <a:cs typeface="Carlito" pitchFamily="34" charset="-120"/>
              </a:rPr>
              <a:t> описывает структуру: заголовки, текст, списки, ссылки, картинки, таблицы и формы.</a:t>
            </a:r>
            <a:endParaRPr lang="en-US" sz="1900" dirty="0"/>
          </a:p>
        </p:txBody>
      </p:sp>
      <p:sp>
        <p:nvSpPr>
          <p:cNvPr id="6" name="Text 3"/>
          <p:cNvSpPr/>
          <p:nvPr/>
        </p:nvSpPr>
        <p:spPr>
          <a:xfrm>
            <a:off x="635000" y="2204541"/>
            <a:ext cx="8175625" cy="339030"/>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FFFFFF"/>
                </a:solidFill>
                <a:latin typeface="Carlito" pitchFamily="34" charset="0"/>
                <a:ea typeface="Carlito" pitchFamily="34" charset="-122"/>
                <a:cs typeface="Carlito" pitchFamily="34" charset="-120"/>
              </a:rPr>
              <a:t>CSS</a:t>
            </a:r>
            <a:r>
              <a:rPr lang="en-US" sz="1900" dirty="0">
                <a:solidFill>
                  <a:srgbClr val="FFFFFF"/>
                </a:solidFill>
                <a:latin typeface="Carlito" pitchFamily="34" charset="0"/>
                <a:ea typeface="Carlito" pitchFamily="34" charset="-122"/>
                <a:cs typeface="Carlito" pitchFamily="34" charset="-120"/>
              </a:rPr>
              <a:t> отвечает за вид: цвета, шрифты, отступы, фон и раскладку блоков.</a:t>
            </a:r>
            <a:endParaRPr lang="en-US" sz="1900" dirty="0"/>
          </a:p>
        </p:txBody>
      </p:sp>
      <p:sp>
        <p:nvSpPr>
          <p:cNvPr id="7" name="Text 4"/>
          <p:cNvSpPr/>
          <p:nvPr/>
        </p:nvSpPr>
        <p:spPr>
          <a:xfrm>
            <a:off x="635000" y="2645172"/>
            <a:ext cx="8175625" cy="652661"/>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FFFFFF"/>
                </a:solidFill>
                <a:latin typeface="Carlito" pitchFamily="34" charset="0"/>
                <a:ea typeface="Carlito" pitchFamily="34" charset="-122"/>
                <a:cs typeface="Carlito" pitchFamily="34" charset="-120"/>
              </a:rPr>
              <a:t>Вместе они работают так: сначала разметка со смыслом, потом оформление через классы.</a:t>
            </a:r>
            <a:endParaRPr lang="en-US" sz="1900" dirty="0"/>
          </a:p>
        </p:txBody>
      </p:sp>
      <p:sp>
        <p:nvSpPr>
          <p:cNvPr id="9" name="Text 6"/>
          <p:cNvSpPr/>
          <p:nvPr/>
        </p:nvSpPr>
        <p:spPr>
          <a:xfrm>
            <a:off x="635000" y="5572820"/>
            <a:ext cx="8175625" cy="612080"/>
          </a:xfrm>
          <a:prstGeom prst="rect">
            <a:avLst/>
          </a:prstGeom>
          <a:noFill/>
          <a:ln/>
        </p:spPr>
        <p:txBody>
          <a:bodyPr wrap="square" lIns="0" tIns="0" rIns="0" bIns="0" rtlCol="0" anchor="t">
            <a:normAutofit/>
          </a:bodyPr>
          <a:lstStyle/>
          <a:p>
            <a:pPr marL="0" indent="0" algn="l">
              <a:lnSpc>
                <a:spcPts val="4620"/>
              </a:lnSpc>
              <a:buNone/>
            </a:pPr>
            <a:r>
              <a:rPr lang="en-US" sz="4200" b="1" dirty="0">
                <a:solidFill>
                  <a:srgbClr val="FFFFFF"/>
                </a:solidFill>
                <a:latin typeface="Carlito" pitchFamily="34" charset="0"/>
                <a:ea typeface="Carlito" pitchFamily="34" charset="-122"/>
                <a:cs typeface="Carlito" pitchFamily="34" charset="-120"/>
              </a:rPr>
              <a:t>Спасибо за внимание!</a:t>
            </a:r>
            <a:endParaRPr lang="en-US" sz="4200" dirty="0"/>
          </a:p>
        </p:txBody>
      </p:sp>
      <p:pic>
        <p:nvPicPr>
          <p:cNvPr id="10" name="Рисунок 9"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AD714C2B-3EB6-3E6F-A501-44DCA9FE21C3}"/>
              </a:ext>
            </a:extLst>
          </p:cNvPr>
          <p:cNvPicPr>
            <a:picLocks noChangeAspect="1"/>
          </p:cNvPicPr>
          <p:nvPr/>
        </p:nvPicPr>
        <p:blipFill>
          <a:blip r:embed="rId3"/>
          <a:stretch>
            <a:fillRect/>
          </a:stretch>
        </p:blipFill>
        <p:spPr>
          <a:xfrm>
            <a:off x="10425270" y="127401"/>
            <a:ext cx="737272" cy="725979"/>
          </a:xfrm>
          <a:prstGeom prst="rect">
            <a:avLst/>
          </a:prstGeom>
        </p:spPr>
      </p:pic>
    </p:spTree>
  </p:cSld>
  <p:clrMapOvr>
    <a:masterClrMapping/>
  </p:clrMapOvr>
</p:sld>
</file>

<file path=ppt/theme/theme1.xml><?xml version="1.0" encoding="utf-8"?>
<a:theme xmlns:a="http://schemas.openxmlformats.org/drawingml/2006/main" name="HTML и CSS: основные теги">
  <a:themeElements>
    <a:clrScheme name="HTML и CSS: основные теги">
      <a:dk1>
        <a:srgbClr val="972996"/>
      </a:dk1>
      <a:lt1>
        <a:srgbClr val="FFFFFF"/>
      </a:lt1>
      <a:dk2>
        <a:srgbClr val="A13EA1"/>
      </a:dk2>
      <a:lt2>
        <a:srgbClr val="E5CAE5"/>
      </a:lt2>
      <a:accent1>
        <a:srgbClr val="FFD6FF"/>
      </a:accent1>
      <a:accent2>
        <a:srgbClr val="2A002A"/>
      </a:accent2>
      <a:accent3>
        <a:srgbClr val="E57373"/>
      </a:accent3>
      <a:accent4>
        <a:srgbClr val="FFD54F"/>
      </a:accent4>
      <a:accent5>
        <a:srgbClr val="81C784"/>
      </a:accent5>
      <a:accent6>
        <a:srgbClr val="7A1F79"/>
      </a:accent6>
      <a:hlink>
        <a:srgbClr val="0563C1"/>
      </a:hlink>
      <a:folHlink>
        <a:srgbClr val="954F72"/>
      </a:folHlink>
    </a:clrScheme>
    <a:fontScheme name="HTML и CSS: основные теги">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5479</Words>
  <Application>Microsoft Office PowerPoint</Application>
  <PresentationFormat>Широкоэкранный</PresentationFormat>
  <Paragraphs>900</Paragraphs>
  <Slides>39</Slides>
  <Notes>39</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39</vt:i4>
      </vt:variant>
    </vt:vector>
  </HeadingPairs>
  <TitlesOfParts>
    <vt:vector size="45" baseType="lpstr">
      <vt:lpstr>Times New Roman</vt:lpstr>
      <vt:lpstr>JetBrains Mono</vt:lpstr>
      <vt:lpstr>Courier New</vt:lpstr>
      <vt:lpstr>Carlito</vt:lpstr>
      <vt:lpstr>Arial</vt:lpstr>
      <vt:lpstr>HTML и CSS: основные теги</vt:lpstr>
      <vt:lpstr>HTML и CSS</vt:lpstr>
      <vt:lpstr>Что такое HTML и CSS</vt:lpstr>
      <vt:lpstr>Каркас HTML-документа</vt:lpstr>
      <vt:lpstr>Как устроен тег</vt:lpstr>
      <vt:lpstr>Моя первая страница</vt:lpstr>
      <vt:lpstr>Текст на странице</vt:lpstr>
      <vt:lpstr>Заголовки h1–h6</vt:lpstr>
      <vt:lpstr>Абзацы, переносы и линии</vt:lpstr>
      <vt:lpstr>Выделение текста</vt:lpstr>
      <vt:lpstr>Списки: ul, ol, li</vt:lpstr>
      <vt:lpstr>Вложенные списки и dl</vt:lpstr>
      <vt:lpstr>Ссылки: тег a</vt:lpstr>
      <vt:lpstr>Изображения: img и figure</vt:lpstr>
      <vt:lpstr>Таблицы: table, tr, th, td</vt:lpstr>
      <vt:lpstr>Формы: form, input, button</vt:lpstr>
      <vt:lpstr>Типы поля input</vt:lpstr>
      <vt:lpstr>Семантические теги</vt:lpstr>
      <vt:lpstr>Страница из семантических тегов</vt:lpstr>
      <vt:lpstr>Контейнеры div и span</vt:lpstr>
      <vt:lpstr>Общие атрибуты</vt:lpstr>
      <vt:lpstr>Видео, аудио и iframe</vt:lpstr>
      <vt:lpstr>Как подключить CSS</vt:lpstr>
      <vt:lpstr>Синтаксис CSS</vt:lpstr>
      <vt:lpstr>Селекторы</vt:lpstr>
      <vt:lpstr>Приоритет селекторов</vt:lpstr>
      <vt:lpstr>Цвета и единицы измерения</vt:lpstr>
      <vt:lpstr>CSS: текст и шрифты</vt:lpstr>
      <vt:lpstr>CSS: фон, рамка, тень</vt:lpstr>
      <vt:lpstr>Блочная модель</vt:lpstr>
      <vt:lpstr>CSS: свойство display</vt:lpstr>
      <vt:lpstr>CSS: свойство position</vt:lpstr>
      <vt:lpstr>CSS: Flexbox</vt:lpstr>
      <vt:lpstr>CSS: Grid</vt:lpstr>
      <vt:lpstr>CSS: псевдоклассы и переходы</vt:lpstr>
      <vt:lpstr>CSS: адаптивность и @media</vt:lpstr>
      <vt:lpstr>Итоговый пример: визитка</vt:lpstr>
      <vt:lpstr>Что получилось</vt:lpstr>
      <vt:lpstr>Шпаргалка по тегам</vt:lpstr>
      <vt:lpstr>Итоги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и CSS: основные теги</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Илья Паньковский</cp:lastModifiedBy>
  <cp:revision>40</cp:revision>
  <dcterms:created xsi:type="dcterms:W3CDTF">2026-10-24T06:21:25Z</dcterms:created>
  <dcterms:modified xsi:type="dcterms:W3CDTF">2026-10-24T20:58:39Z</dcterms:modified>
</cp:coreProperties>
</file>